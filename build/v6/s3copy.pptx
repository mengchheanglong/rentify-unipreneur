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[0:40–1:05]
Merchants already have tools, and each solves one piece. A Facebook page or a website builder gives them their own store. Khmer24, VTENH and Smile Shop give them a marketplace. POS apps and cash boxes handle the counter. Khmum is the closest to combining them, and we respect it. Tesla wasn't the first electric car. Rentify brings all three pieces together on one stock — so merchants don't have to stitch them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slideLayout" Target="../slideLayouts/slideLayout1.xml"/><Relationship Id="rId9"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640080"/>
          </a:xfrm>
          <a:prstGeom prst="rect">
            <a:avLst/>
          </a:prstGeom>
          <a:noFill/>
          <a:ln/>
        </p:spPr>
        <p:txBody>
          <a:bodyPr wrap="square" lIns="0" tIns="0" rIns="0" bIns="0" rtlCol="0" anchor="ctr"/>
          <a:lstStyle/>
          <a:p>
            <a:pPr algn="ctr" indent="0" marL="0">
              <a:buNone/>
            </a:pPr>
            <a:r>
              <a:rPr lang="en-US" sz="3200" b="1" dirty="0">
                <a:solidFill>
                  <a:srgbClr val="15243A"/>
                </a:solidFill>
                <a:latin typeface="Arial" pitchFamily="34" charset="0"/>
                <a:ea typeface="Arial" pitchFamily="34" charset="-122"/>
                <a:cs typeface="Arial" pitchFamily="34" charset="-120"/>
              </a:rPr>
              <a:t>Today, merchants use a different tool for each piece.</a:t>
            </a:r>
            <a:endParaRPr lang="en-US" sz="3200" dirty="0"/>
          </a:p>
        </p:txBody>
      </p:sp>
      <p:sp>
        <p:nvSpPr>
          <p:cNvPr id="3" name="Shape 1"/>
          <p:cNvSpPr/>
          <p:nvPr/>
        </p:nvSpPr>
        <p:spPr>
          <a:xfrm>
            <a:off x="1843888" y="1188720"/>
            <a:ext cx="914400" cy="914400"/>
          </a:xfrm>
          <a:prstGeom prst="roundRect">
            <a:avLst>
              <a:gd name="adj" fmla="val 22000"/>
            </a:avLst>
          </a:prstGeom>
          <a:solidFill>
            <a:srgbClr val="2463E8"/>
          </a:solidFill>
          <a:ln/>
          <a:effectLst>
            <a:outerShdw sx="100000" sy="100000" kx="0" ky="0" algn="bl" rotWithShape="0" blurRad="101600" dist="38100" dir="5400000">
              <a:srgbClr val="1A2A4A">
                <a:alpha val="18000"/>
              </a:srgbClr>
            </a:outerShdw>
          </a:effectLst>
        </p:spPr>
      </p:sp>
      <p:pic>
        <p:nvPicPr>
          <p:cNvPr id="4" name="Image 0" descr="preencoded.png">    </p:cNvPr>
          <p:cNvPicPr>
            <a:picLocks noChangeAspect="1"/>
          </p:cNvPicPr>
          <p:nvPr/>
        </p:nvPicPr>
        <p:blipFill>
          <a:blip r:embed="rId1"/>
          <a:stretch>
            <a:fillRect/>
          </a:stretch>
        </p:blipFill>
        <p:spPr>
          <a:xfrm>
            <a:off x="2054200" y="1399032"/>
            <a:ext cx="493776" cy="493776"/>
          </a:xfrm>
          <a:prstGeom prst="rect">
            <a:avLst/>
          </a:prstGeom>
        </p:spPr>
      </p:pic>
      <p:sp>
        <p:nvSpPr>
          <p:cNvPr id="5" name="Text 2"/>
          <p:cNvSpPr txBox="1"/>
          <p:nvPr/>
        </p:nvSpPr>
        <p:spPr>
          <a:xfrm>
            <a:off x="609448" y="2212848"/>
            <a:ext cx="3383280" cy="411480"/>
          </a:xfrm>
          <a:prstGeom prst="rect">
            <a:avLst/>
          </a:prstGeom>
          <a:noFill/>
          <a:ln/>
        </p:spPr>
        <p:txBody>
          <a:bodyPr wrap="square" lIns="0" tIns="0" rIns="0" bIns="0" rtlCol="0" anchor="ctr"/>
          <a:lstStyle/>
          <a:p>
            <a:pPr algn="ctr" indent="0" marL="0">
              <a:buNone/>
            </a:pPr>
            <a:r>
              <a:rPr lang="en-US" sz="2100" b="1" dirty="0">
                <a:solidFill>
                  <a:srgbClr val="15243A"/>
                </a:solidFill>
                <a:latin typeface="Arial" pitchFamily="34" charset="0"/>
                <a:ea typeface="Arial" pitchFamily="34" charset="-122"/>
                <a:cs typeface="Arial" pitchFamily="34" charset="-120"/>
              </a:rPr>
              <a:t>Your own store</a:t>
            </a:r>
            <a:endParaRPr lang="en-US" sz="2100" dirty="0"/>
          </a:p>
        </p:txBody>
      </p:sp>
      <p:sp>
        <p:nvSpPr>
          <p:cNvPr id="6" name="Text 3"/>
          <p:cNvSpPr txBox="1"/>
          <p:nvPr/>
        </p:nvSpPr>
        <p:spPr>
          <a:xfrm>
            <a:off x="1020928" y="2743200"/>
            <a:ext cx="2560320" cy="420624"/>
          </a:xfrm>
          <a:prstGeom prst="roundRect">
            <a:avLst>
              <a:gd name="adj" fmla="val 50000"/>
            </a:avLst>
          </a:prstGeom>
          <a:solidFill>
            <a:srgbClr val="DCEBFF"/>
          </a:solidFill>
          <a:ln/>
        </p:spPr>
        <p:txBody>
          <a:bodyPr wrap="square" lIns="0" tIns="0" rIns="0" bIns="0" rtlCol="0" anchor="ctr"/>
          <a:lstStyle/>
          <a:p>
            <a:pPr algn="ctr" indent="0" marL="0">
              <a:buNone/>
            </a:pPr>
            <a:r>
              <a:rPr lang="en-US" sz="1400" b="1" dirty="0">
                <a:solidFill>
                  <a:srgbClr val="2463E8"/>
                </a:solidFill>
                <a:latin typeface="Arial" pitchFamily="34" charset="0"/>
                <a:ea typeface="Arial" pitchFamily="34" charset="-122"/>
                <a:cs typeface="Arial" pitchFamily="34" charset="-120"/>
              </a:rPr>
              <a:t>Facebook page</a:t>
            </a:r>
            <a:endParaRPr lang="en-US" sz="1400" dirty="0"/>
          </a:p>
        </p:txBody>
      </p:sp>
      <p:sp>
        <p:nvSpPr>
          <p:cNvPr id="7" name="Text 4"/>
          <p:cNvSpPr txBox="1"/>
          <p:nvPr/>
        </p:nvSpPr>
        <p:spPr>
          <a:xfrm>
            <a:off x="1020928" y="3255264"/>
            <a:ext cx="2560320" cy="420624"/>
          </a:xfrm>
          <a:prstGeom prst="roundRect">
            <a:avLst>
              <a:gd name="adj" fmla="val 50000"/>
            </a:avLst>
          </a:prstGeom>
          <a:solidFill>
            <a:srgbClr val="DCEBFF"/>
          </a:solidFill>
          <a:ln/>
        </p:spPr>
        <p:txBody>
          <a:bodyPr wrap="square" lIns="0" tIns="0" rIns="0" bIns="0" rtlCol="0" anchor="ctr"/>
          <a:lstStyle/>
          <a:p>
            <a:pPr algn="ctr" indent="0" marL="0">
              <a:buNone/>
            </a:pPr>
            <a:r>
              <a:rPr lang="en-US" sz="1400" b="1" dirty="0">
                <a:solidFill>
                  <a:srgbClr val="2463E8"/>
                </a:solidFill>
                <a:latin typeface="Arial" pitchFamily="34" charset="0"/>
                <a:ea typeface="Arial" pitchFamily="34" charset="-122"/>
                <a:cs typeface="Arial" pitchFamily="34" charset="-120"/>
              </a:rPr>
              <a:t>Website builders</a:t>
            </a:r>
            <a:endParaRPr lang="en-US" sz="1400" dirty="0"/>
          </a:p>
        </p:txBody>
      </p:sp>
      <p:sp>
        <p:nvSpPr>
          <p:cNvPr id="8" name="Shape 5"/>
          <p:cNvSpPr/>
          <p:nvPr/>
        </p:nvSpPr>
        <p:spPr>
          <a:xfrm>
            <a:off x="5638648" y="1188720"/>
            <a:ext cx="914400" cy="914400"/>
          </a:xfrm>
          <a:prstGeom prst="roundRect">
            <a:avLst>
              <a:gd name="adj" fmla="val 22000"/>
            </a:avLst>
          </a:prstGeom>
          <a:solidFill>
            <a:srgbClr val="F97316"/>
          </a:solidFill>
          <a:ln/>
          <a:effectLst>
            <a:outerShdw sx="100000" sy="100000" kx="0" ky="0" algn="bl" rotWithShape="0" blurRad="101600" dist="38100" dir="5400000">
              <a:srgbClr val="1A2A4A">
                <a:alpha val="18000"/>
              </a:srgbClr>
            </a:outerShdw>
          </a:effectLst>
        </p:spPr>
      </p:sp>
      <p:pic>
        <p:nvPicPr>
          <p:cNvPr id="9" name="Image 1" descr="preencoded.png">    </p:cNvPr>
          <p:cNvPicPr>
            <a:picLocks noChangeAspect="1"/>
          </p:cNvPicPr>
          <p:nvPr/>
        </p:nvPicPr>
        <p:blipFill>
          <a:blip r:embed="rId2"/>
          <a:stretch>
            <a:fillRect/>
          </a:stretch>
        </p:blipFill>
        <p:spPr>
          <a:xfrm>
            <a:off x="5848960" y="1399032"/>
            <a:ext cx="493776" cy="493776"/>
          </a:xfrm>
          <a:prstGeom prst="rect">
            <a:avLst/>
          </a:prstGeom>
        </p:spPr>
      </p:pic>
      <p:sp>
        <p:nvSpPr>
          <p:cNvPr id="10" name="Text 6"/>
          <p:cNvSpPr txBox="1"/>
          <p:nvPr/>
        </p:nvSpPr>
        <p:spPr>
          <a:xfrm>
            <a:off x="4404208" y="2212848"/>
            <a:ext cx="3383280" cy="411480"/>
          </a:xfrm>
          <a:prstGeom prst="rect">
            <a:avLst/>
          </a:prstGeom>
          <a:noFill/>
          <a:ln/>
        </p:spPr>
        <p:txBody>
          <a:bodyPr wrap="square" lIns="0" tIns="0" rIns="0" bIns="0" rtlCol="0" anchor="ctr"/>
          <a:lstStyle/>
          <a:p>
            <a:pPr algn="ctr" indent="0" marL="0">
              <a:buNone/>
            </a:pPr>
            <a:r>
              <a:rPr lang="en-US" sz="2100" b="1" dirty="0">
                <a:solidFill>
                  <a:srgbClr val="15243A"/>
                </a:solidFill>
                <a:latin typeface="Arial" pitchFamily="34" charset="0"/>
                <a:ea typeface="Arial" pitchFamily="34" charset="-122"/>
                <a:cs typeface="Arial" pitchFamily="34" charset="-120"/>
              </a:rPr>
              <a:t>Marketplace</a:t>
            </a:r>
            <a:endParaRPr lang="en-US" sz="2100" dirty="0"/>
          </a:p>
        </p:txBody>
      </p:sp>
      <p:sp>
        <p:nvSpPr>
          <p:cNvPr id="11" name="Text 7"/>
          <p:cNvSpPr txBox="1"/>
          <p:nvPr/>
        </p:nvSpPr>
        <p:spPr>
          <a:xfrm>
            <a:off x="4815688" y="2743200"/>
            <a:ext cx="2560320" cy="420624"/>
          </a:xfrm>
          <a:prstGeom prst="roundRect">
            <a:avLst>
              <a:gd name="adj" fmla="val 50000"/>
            </a:avLst>
          </a:prstGeom>
          <a:solidFill>
            <a:srgbClr val="FFEDD5"/>
          </a:solidFill>
          <a:ln/>
        </p:spPr>
        <p:txBody>
          <a:bodyPr wrap="square" lIns="0" tIns="0" rIns="0" bIns="0" rtlCol="0" anchor="ctr"/>
          <a:lstStyle/>
          <a:p>
            <a:pPr algn="ctr" indent="0" marL="0">
              <a:buNone/>
            </a:pPr>
            <a:r>
              <a:rPr lang="en-US" sz="1400" b="1" dirty="0">
                <a:solidFill>
                  <a:srgbClr val="F97316"/>
                </a:solidFill>
                <a:latin typeface="Arial" pitchFamily="34" charset="0"/>
                <a:ea typeface="Arial" pitchFamily="34" charset="-122"/>
                <a:cs typeface="Arial" pitchFamily="34" charset="-120"/>
              </a:rPr>
              <a:t>Khmer24</a:t>
            </a:r>
            <a:endParaRPr lang="en-US" sz="1400" dirty="0"/>
          </a:p>
        </p:txBody>
      </p:sp>
      <p:sp>
        <p:nvSpPr>
          <p:cNvPr id="12" name="Text 8"/>
          <p:cNvSpPr txBox="1"/>
          <p:nvPr/>
        </p:nvSpPr>
        <p:spPr>
          <a:xfrm>
            <a:off x="4815688" y="3255264"/>
            <a:ext cx="2560320" cy="420624"/>
          </a:xfrm>
          <a:prstGeom prst="roundRect">
            <a:avLst>
              <a:gd name="adj" fmla="val 50000"/>
            </a:avLst>
          </a:prstGeom>
          <a:solidFill>
            <a:srgbClr val="FFEDD5"/>
          </a:solidFill>
          <a:ln/>
        </p:spPr>
        <p:txBody>
          <a:bodyPr wrap="square" lIns="0" tIns="0" rIns="0" bIns="0" rtlCol="0" anchor="ctr"/>
          <a:lstStyle/>
          <a:p>
            <a:pPr algn="ctr" indent="0" marL="0">
              <a:buNone/>
            </a:pPr>
            <a:r>
              <a:rPr lang="en-US" sz="1400" b="1" dirty="0">
                <a:solidFill>
                  <a:srgbClr val="F97316"/>
                </a:solidFill>
                <a:latin typeface="Arial" pitchFamily="34" charset="0"/>
                <a:ea typeface="Arial" pitchFamily="34" charset="-122"/>
                <a:cs typeface="Arial" pitchFamily="34" charset="-120"/>
              </a:rPr>
              <a:t>VTENH</a:t>
            </a:r>
            <a:endParaRPr lang="en-US" sz="1400" dirty="0"/>
          </a:p>
        </p:txBody>
      </p:sp>
      <p:sp>
        <p:nvSpPr>
          <p:cNvPr id="13" name="Text 9"/>
          <p:cNvSpPr txBox="1"/>
          <p:nvPr/>
        </p:nvSpPr>
        <p:spPr>
          <a:xfrm>
            <a:off x="4815688" y="3767328"/>
            <a:ext cx="2560320" cy="420624"/>
          </a:xfrm>
          <a:prstGeom prst="roundRect">
            <a:avLst>
              <a:gd name="adj" fmla="val 50000"/>
            </a:avLst>
          </a:prstGeom>
          <a:solidFill>
            <a:srgbClr val="FFEDD5"/>
          </a:solidFill>
          <a:ln/>
        </p:spPr>
        <p:txBody>
          <a:bodyPr wrap="square" lIns="0" tIns="0" rIns="0" bIns="0" rtlCol="0" anchor="ctr"/>
          <a:lstStyle/>
          <a:p>
            <a:pPr algn="ctr" indent="0" marL="0">
              <a:buNone/>
            </a:pPr>
            <a:r>
              <a:rPr lang="en-US" sz="1400" b="1" dirty="0">
                <a:solidFill>
                  <a:srgbClr val="F97316"/>
                </a:solidFill>
                <a:latin typeface="Arial" pitchFamily="34" charset="0"/>
                <a:ea typeface="Arial" pitchFamily="34" charset="-122"/>
                <a:cs typeface="Arial" pitchFamily="34" charset="-120"/>
              </a:rPr>
              <a:t>Smile Shop</a:t>
            </a:r>
            <a:endParaRPr lang="en-US" sz="1400" dirty="0"/>
          </a:p>
        </p:txBody>
      </p:sp>
      <p:sp>
        <p:nvSpPr>
          <p:cNvPr id="14" name="Shape 10"/>
          <p:cNvSpPr/>
          <p:nvPr/>
        </p:nvSpPr>
        <p:spPr>
          <a:xfrm>
            <a:off x="9433408" y="1188720"/>
            <a:ext cx="914400" cy="914400"/>
          </a:xfrm>
          <a:prstGeom prst="roundRect">
            <a:avLst>
              <a:gd name="adj" fmla="val 22000"/>
            </a:avLst>
          </a:prstGeom>
          <a:solidFill>
            <a:srgbClr val="0AA7A2"/>
          </a:solidFill>
          <a:ln/>
          <a:effectLst>
            <a:outerShdw sx="100000" sy="100000" kx="0" ky="0" algn="bl" rotWithShape="0" blurRad="101600" dist="38100" dir="5400000">
              <a:srgbClr val="1A2A4A">
                <a:alpha val="18000"/>
              </a:srgbClr>
            </a:outerShdw>
          </a:effectLst>
        </p:spPr>
      </p:sp>
      <p:pic>
        <p:nvPicPr>
          <p:cNvPr id="15" name="Image 2" descr="preencoded.png">    </p:cNvPr>
          <p:cNvPicPr>
            <a:picLocks noChangeAspect="1"/>
          </p:cNvPicPr>
          <p:nvPr/>
        </p:nvPicPr>
        <p:blipFill>
          <a:blip r:embed="rId3"/>
          <a:stretch>
            <a:fillRect/>
          </a:stretch>
        </p:blipFill>
        <p:spPr>
          <a:xfrm>
            <a:off x="9643720" y="1399032"/>
            <a:ext cx="493776" cy="493776"/>
          </a:xfrm>
          <a:prstGeom prst="rect">
            <a:avLst/>
          </a:prstGeom>
        </p:spPr>
      </p:pic>
      <p:sp>
        <p:nvSpPr>
          <p:cNvPr id="16" name="Text 11"/>
          <p:cNvSpPr txBox="1"/>
          <p:nvPr/>
        </p:nvSpPr>
        <p:spPr>
          <a:xfrm>
            <a:off x="8198968" y="2212848"/>
            <a:ext cx="3383280" cy="411480"/>
          </a:xfrm>
          <a:prstGeom prst="rect">
            <a:avLst/>
          </a:prstGeom>
          <a:noFill/>
          <a:ln/>
        </p:spPr>
        <p:txBody>
          <a:bodyPr wrap="square" lIns="0" tIns="0" rIns="0" bIns="0" rtlCol="0" anchor="ctr"/>
          <a:lstStyle/>
          <a:p>
            <a:pPr algn="ctr" indent="0" marL="0">
              <a:buNone/>
            </a:pPr>
            <a:r>
              <a:rPr lang="en-US" sz="2100" b="1" dirty="0">
                <a:solidFill>
                  <a:srgbClr val="15243A"/>
                </a:solidFill>
                <a:latin typeface="Arial" pitchFamily="34" charset="0"/>
                <a:ea typeface="Arial" pitchFamily="34" charset="-122"/>
                <a:cs typeface="Arial" pitchFamily="34" charset="-120"/>
              </a:rPr>
              <a:t>Shop counter</a:t>
            </a:r>
            <a:endParaRPr lang="en-US" sz="2100" dirty="0"/>
          </a:p>
        </p:txBody>
      </p:sp>
      <p:sp>
        <p:nvSpPr>
          <p:cNvPr id="17" name="Text 12"/>
          <p:cNvSpPr txBox="1"/>
          <p:nvPr/>
        </p:nvSpPr>
        <p:spPr>
          <a:xfrm>
            <a:off x="8610448" y="2743200"/>
            <a:ext cx="2560320" cy="420624"/>
          </a:xfrm>
          <a:prstGeom prst="roundRect">
            <a:avLst>
              <a:gd name="adj" fmla="val 50000"/>
            </a:avLst>
          </a:prstGeom>
          <a:solidFill>
            <a:srgbClr val="D6F4F0"/>
          </a:solidFill>
          <a:ln/>
        </p:spPr>
        <p:txBody>
          <a:bodyPr wrap="square" lIns="0" tIns="0" rIns="0" bIns="0" rtlCol="0" anchor="ctr"/>
          <a:lstStyle/>
          <a:p>
            <a:pPr algn="ctr" indent="0" marL="0">
              <a:buNone/>
            </a:pPr>
            <a:r>
              <a:rPr lang="en-US" sz="1400" b="1" dirty="0">
                <a:solidFill>
                  <a:srgbClr val="0AA7A2"/>
                </a:solidFill>
                <a:latin typeface="Arial" pitchFamily="34" charset="0"/>
                <a:ea typeface="Arial" pitchFamily="34" charset="-122"/>
                <a:cs typeface="Arial" pitchFamily="34" charset="-120"/>
              </a:rPr>
              <a:t>POS apps</a:t>
            </a:r>
            <a:endParaRPr lang="en-US" sz="1400" dirty="0"/>
          </a:p>
        </p:txBody>
      </p:sp>
      <p:sp>
        <p:nvSpPr>
          <p:cNvPr id="18" name="Text 13"/>
          <p:cNvSpPr txBox="1"/>
          <p:nvPr/>
        </p:nvSpPr>
        <p:spPr>
          <a:xfrm>
            <a:off x="8610448" y="3255264"/>
            <a:ext cx="2560320" cy="420624"/>
          </a:xfrm>
          <a:prstGeom prst="roundRect">
            <a:avLst>
              <a:gd name="adj" fmla="val 50000"/>
            </a:avLst>
          </a:prstGeom>
          <a:solidFill>
            <a:srgbClr val="D6F4F0"/>
          </a:solidFill>
          <a:ln/>
        </p:spPr>
        <p:txBody>
          <a:bodyPr wrap="square" lIns="0" tIns="0" rIns="0" bIns="0" rtlCol="0" anchor="ctr"/>
          <a:lstStyle/>
          <a:p>
            <a:pPr algn="ctr" indent="0" marL="0">
              <a:buNone/>
            </a:pPr>
            <a:r>
              <a:rPr lang="en-US" sz="1400" b="1" dirty="0">
                <a:solidFill>
                  <a:srgbClr val="0AA7A2"/>
                </a:solidFill>
                <a:latin typeface="Arial" pitchFamily="34" charset="0"/>
                <a:ea typeface="Arial" pitchFamily="34" charset="-122"/>
                <a:cs typeface="Arial" pitchFamily="34" charset="-120"/>
              </a:rPr>
              <a:t>Cash box</a:t>
            </a:r>
            <a:endParaRPr lang="en-US" sz="1400" dirty="0"/>
          </a:p>
        </p:txBody>
      </p:sp>
      <p:sp>
        <p:nvSpPr>
          <p:cNvPr id="19" name="Shape 14"/>
          <p:cNvSpPr/>
          <p:nvPr/>
        </p:nvSpPr>
        <p:spPr>
          <a:xfrm>
            <a:off x="4198468" y="1234440"/>
            <a:ext cx="0" cy="3017520"/>
          </a:xfrm>
          <a:prstGeom prst="line">
            <a:avLst/>
          </a:prstGeom>
          <a:noFill/>
          <a:ln w="19050">
            <a:solidFill>
              <a:srgbClr val="CBD5E1"/>
            </a:solidFill>
            <a:prstDash val="dash"/>
          </a:ln>
        </p:spPr>
      </p:sp>
      <p:sp>
        <p:nvSpPr>
          <p:cNvPr id="20" name="Shape 15"/>
          <p:cNvSpPr/>
          <p:nvPr/>
        </p:nvSpPr>
        <p:spPr>
          <a:xfrm>
            <a:off x="7993228" y="1234440"/>
            <a:ext cx="0" cy="3017520"/>
          </a:xfrm>
          <a:prstGeom prst="line">
            <a:avLst/>
          </a:prstGeom>
          <a:noFill/>
          <a:ln w="19050">
            <a:solidFill>
              <a:srgbClr val="CBD5E1"/>
            </a:solidFill>
            <a:prstDash val="dash"/>
          </a:ln>
        </p:spPr>
      </p:sp>
      <p:sp>
        <p:nvSpPr>
          <p:cNvPr id="21" name="Shape 16"/>
          <p:cNvSpPr/>
          <p:nvPr/>
        </p:nvSpPr>
        <p:spPr>
          <a:xfrm>
            <a:off x="2301088" y="4343400"/>
            <a:ext cx="1965960" cy="603504"/>
          </a:xfrm>
          <a:prstGeom prst="line">
            <a:avLst/>
          </a:prstGeom>
          <a:noFill/>
          <a:ln w="38100">
            <a:solidFill>
              <a:srgbClr val="2463E8"/>
            </a:solidFill>
            <a:prstDash val="solid"/>
            <a:tailEnd type="triangle"/>
          </a:ln>
        </p:spPr>
      </p:sp>
      <p:sp>
        <p:nvSpPr>
          <p:cNvPr id="22" name="Shape 17"/>
          <p:cNvSpPr/>
          <p:nvPr/>
        </p:nvSpPr>
        <p:spPr>
          <a:xfrm>
            <a:off x="6095848" y="4343400"/>
            <a:ext cx="0" cy="603504"/>
          </a:xfrm>
          <a:prstGeom prst="line">
            <a:avLst/>
          </a:prstGeom>
          <a:noFill/>
          <a:ln w="38100">
            <a:solidFill>
              <a:srgbClr val="F97316"/>
            </a:solidFill>
            <a:prstDash val="solid"/>
            <a:tailEnd type="triangle"/>
          </a:ln>
        </p:spPr>
      </p:sp>
      <p:sp>
        <p:nvSpPr>
          <p:cNvPr id="23" name="Shape 18"/>
          <p:cNvSpPr/>
          <p:nvPr/>
        </p:nvSpPr>
        <p:spPr>
          <a:xfrm flipH="1">
            <a:off x="7924648" y="4343400"/>
            <a:ext cx="1965960" cy="603504"/>
          </a:xfrm>
          <a:prstGeom prst="line">
            <a:avLst/>
          </a:prstGeom>
          <a:noFill/>
          <a:ln w="38100">
            <a:solidFill>
              <a:srgbClr val="0AA7A2"/>
            </a:solidFill>
            <a:prstDash val="solid"/>
            <a:tailEnd type="triangle"/>
          </a:ln>
        </p:spPr>
      </p:sp>
      <p:sp>
        <p:nvSpPr>
          <p:cNvPr id="24" name="Shape 19"/>
          <p:cNvSpPr/>
          <p:nvPr/>
        </p:nvSpPr>
        <p:spPr>
          <a:xfrm>
            <a:off x="3169768" y="4983480"/>
            <a:ext cx="5852160" cy="1097280"/>
          </a:xfrm>
          <a:prstGeom prst="roundRect">
            <a:avLst>
              <a:gd name="adj" fmla="val 20833"/>
            </a:avLst>
          </a:prstGeom>
          <a:solidFill>
            <a:srgbClr val="111D35"/>
          </a:solidFill>
          <a:ln/>
          <a:effectLst>
            <a:outerShdw sx="100000" sy="100000" kx="0" ky="0" algn="bl" rotWithShape="0" blurRad="101600" dist="38100" dir="5400000">
              <a:srgbClr val="1A2A4A">
                <a:alpha val="18000"/>
              </a:srgbClr>
            </a:outerShdw>
          </a:effectLst>
        </p:spPr>
      </p:sp>
      <p:pic>
        <p:nvPicPr>
          <p:cNvPr id="25" name="Image 3" descr="Rentify logo">    </p:cNvPr>
          <p:cNvPicPr>
            <a:picLocks noChangeAspect="1"/>
          </p:cNvPicPr>
          <p:nvPr/>
        </p:nvPicPr>
        <p:blipFill>
          <a:blip r:embed="rId4"/>
          <a:stretch>
            <a:fillRect/>
          </a:stretch>
        </p:blipFill>
        <p:spPr>
          <a:xfrm>
            <a:off x="3398368" y="5166360"/>
            <a:ext cx="731520" cy="731520"/>
          </a:xfrm>
          <a:prstGeom prst="rect">
            <a:avLst/>
          </a:prstGeom>
        </p:spPr>
      </p:pic>
      <p:sp>
        <p:nvSpPr>
          <p:cNvPr id="26" name="Text 20"/>
          <p:cNvSpPr txBox="1"/>
          <p:nvPr/>
        </p:nvSpPr>
        <p:spPr>
          <a:xfrm>
            <a:off x="4312768" y="4983480"/>
            <a:ext cx="2743200" cy="109728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Rentify</a:t>
            </a:r>
            <a:endParaRPr lang="en-US" sz="2600" dirty="0"/>
          </a:p>
          <a:p>
            <a:pPr indent="0" marL="0">
              <a:buNone/>
            </a:pPr>
            <a:r>
              <a:rPr lang="en-US" sz="1600" b="1" dirty="0">
                <a:solidFill>
                  <a:srgbClr val="A7F3D0"/>
                </a:solidFill>
                <a:latin typeface="Arial" pitchFamily="34" charset="0"/>
                <a:ea typeface="Arial" pitchFamily="34" charset="-122"/>
                <a:cs typeface="Arial" pitchFamily="34" charset="-120"/>
              </a:rPr>
              <a:t>All three. One stock.</a:t>
            </a:r>
            <a:endParaRPr lang="en-US" sz="2600" dirty="0"/>
          </a:p>
        </p:txBody>
      </p:sp>
      <p:sp>
        <p:nvSpPr>
          <p:cNvPr id="27" name="Shape 21"/>
          <p:cNvSpPr/>
          <p:nvPr/>
        </p:nvSpPr>
        <p:spPr>
          <a:xfrm>
            <a:off x="6790792" y="5248656"/>
            <a:ext cx="566928" cy="566928"/>
          </a:xfrm>
          <a:prstGeom prst="roundRect">
            <a:avLst>
              <a:gd name="adj" fmla="val 22581"/>
            </a:avLst>
          </a:prstGeom>
          <a:solidFill>
            <a:srgbClr val="2463E8"/>
          </a:solidFill>
          <a:ln/>
        </p:spPr>
      </p:sp>
      <p:pic>
        <p:nvPicPr>
          <p:cNvPr id="28" name="Image 4" descr="preencoded.png">    </p:cNvPr>
          <p:cNvPicPr>
            <a:picLocks noChangeAspect="1"/>
          </p:cNvPicPr>
          <p:nvPr/>
        </p:nvPicPr>
        <p:blipFill>
          <a:blip r:embed="rId5"/>
          <a:stretch>
            <a:fillRect/>
          </a:stretch>
        </p:blipFill>
        <p:spPr>
          <a:xfrm>
            <a:off x="6927952" y="5385816"/>
            <a:ext cx="292608" cy="292608"/>
          </a:xfrm>
          <a:prstGeom prst="rect">
            <a:avLst/>
          </a:prstGeom>
        </p:spPr>
      </p:pic>
      <p:sp>
        <p:nvSpPr>
          <p:cNvPr id="29" name="Shape 22"/>
          <p:cNvSpPr/>
          <p:nvPr/>
        </p:nvSpPr>
        <p:spPr>
          <a:xfrm>
            <a:off x="7485736" y="5248656"/>
            <a:ext cx="566928" cy="566928"/>
          </a:xfrm>
          <a:prstGeom prst="roundRect">
            <a:avLst>
              <a:gd name="adj" fmla="val 22581"/>
            </a:avLst>
          </a:prstGeom>
          <a:solidFill>
            <a:srgbClr val="F97316"/>
          </a:solidFill>
          <a:ln/>
        </p:spPr>
      </p:sp>
      <p:pic>
        <p:nvPicPr>
          <p:cNvPr id="30" name="Image 5" descr="preencoded.png">    </p:cNvPr>
          <p:cNvPicPr>
            <a:picLocks noChangeAspect="1"/>
          </p:cNvPicPr>
          <p:nvPr/>
        </p:nvPicPr>
        <p:blipFill>
          <a:blip r:embed="rId6"/>
          <a:stretch>
            <a:fillRect/>
          </a:stretch>
        </p:blipFill>
        <p:spPr>
          <a:xfrm>
            <a:off x="7622896" y="5385816"/>
            <a:ext cx="292608" cy="292608"/>
          </a:xfrm>
          <a:prstGeom prst="rect">
            <a:avLst/>
          </a:prstGeom>
        </p:spPr>
      </p:pic>
      <p:sp>
        <p:nvSpPr>
          <p:cNvPr id="31" name="Shape 23"/>
          <p:cNvSpPr/>
          <p:nvPr/>
        </p:nvSpPr>
        <p:spPr>
          <a:xfrm>
            <a:off x="8180680" y="5248656"/>
            <a:ext cx="566928" cy="566928"/>
          </a:xfrm>
          <a:prstGeom prst="roundRect">
            <a:avLst>
              <a:gd name="adj" fmla="val 22581"/>
            </a:avLst>
          </a:prstGeom>
          <a:solidFill>
            <a:srgbClr val="0AA7A2"/>
          </a:solidFill>
          <a:ln/>
        </p:spPr>
      </p:sp>
      <p:pic>
        <p:nvPicPr>
          <p:cNvPr id="32" name="Image 6" descr="preencoded.png">    </p:cNvPr>
          <p:cNvPicPr>
            <a:picLocks noChangeAspect="1"/>
          </p:cNvPicPr>
          <p:nvPr/>
        </p:nvPicPr>
        <p:blipFill>
          <a:blip r:embed="rId7"/>
          <a:stretch>
            <a:fillRect/>
          </a:stretch>
        </p:blipFill>
        <p:spPr>
          <a:xfrm>
            <a:off x="8317840" y="5385816"/>
            <a:ext cx="292608" cy="292608"/>
          </a:xfrm>
          <a:prstGeom prst="rect">
            <a:avLst/>
          </a:prstGeom>
        </p:spPr>
      </p:pic>
      <p:sp>
        <p:nvSpPr>
          <p:cNvPr id="33" name="Text 24"/>
          <p:cNvSpPr txBox="1"/>
          <p:nvPr/>
        </p:nvSpPr>
        <p:spPr>
          <a:xfrm>
            <a:off x="548640" y="6355080"/>
            <a:ext cx="10424160" cy="274320"/>
          </a:xfrm>
          <a:prstGeom prst="rect">
            <a:avLst/>
          </a:prstGeom>
          <a:noFill/>
          <a:ln/>
        </p:spPr>
        <p:txBody>
          <a:bodyPr wrap="square" lIns="0" tIns="0" rIns="0" bIns="0" rtlCol="0" anchor="ctr"/>
          <a:lstStyle/>
          <a:p>
            <a:pPr indent="0" marL="0">
              <a:buNone/>
            </a:pPr>
            <a:r>
              <a:rPr lang="en-US" sz="1000" dirty="0">
                <a:solidFill>
                  <a:srgbClr val="52637A"/>
                </a:solidFill>
                <a:latin typeface="Arial" pitchFamily="34" charset="0"/>
                <a:ea typeface="Arial" pitchFamily="34" charset="-122"/>
                <a:cs typeface="Arial" pitchFamily="34" charset="-120"/>
              </a:rPr>
              <a:t>Khmum eShop also combines several pieces; our comparison is in the appendix.</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2026-09-25T14:34:12Z</dcterms:created>
  <dcterms:modified xsi:type="dcterms:W3CDTF">2026-09-25T14:34:12Z</dcterms:modified>
</cp:coreProperties>
</file>