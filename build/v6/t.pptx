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[3:20–3:45]
Here is our growth plan. We start now with ten pilot shops in Phnom Penh, found through shop visits and Facebook seller groups. In 2027 we launch publicly with KHQR payments and reach about 60 paying shops. In year two, shops bring their own buyers through their storefront links and we grow to about 420. In year three, referrals and partners take us to about 1,100. We break even at about 1,900 paying shops — only 3% of the stores we target.
(Q&amp;A: numbers are yearly averages from our model. The pilot passes if 7 of 10 shops stay active, stock stays 99% accurate, and 6 of 10 will pay. Marketplace commission starts when online payments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20040"/>
            <a:ext cx="11091672" cy="640080"/>
          </a:xfrm>
          <a:prstGeom prst="rect">
            <a:avLst/>
          </a:prstGeom>
          <a:noFill/>
          <a:ln/>
        </p:spPr>
        <p:txBody>
          <a:bodyPr wrap="square" lIns="0" tIns="0" rIns="0" bIns="0" rtlCol="0" anchor="ctr"/>
          <a:lstStyle/>
          <a:p>
            <a:pPr algn="ctr" indent="0" marL="0">
              <a:buNone/>
            </a:pPr>
            <a:r>
              <a:rPr lang="en-US" sz="3200" b="1" dirty="0">
                <a:solidFill>
                  <a:srgbClr val="15243A"/>
                </a:solidFill>
                <a:latin typeface="Arial" pitchFamily="34" charset="0"/>
                <a:ea typeface="Arial" pitchFamily="34" charset="-122"/>
                <a:cs typeface="Arial" pitchFamily="34" charset="-120"/>
              </a:rPr>
              <a:t>From 10 shops to break-even</a:t>
            </a:r>
            <a:endParaRPr lang="en-US" sz="3200" dirty="0"/>
          </a:p>
        </p:txBody>
      </p:sp>
      <p:sp>
        <p:nvSpPr>
          <p:cNvPr id="3" name="Shape 1"/>
          <p:cNvSpPr/>
          <p:nvPr/>
        </p:nvSpPr>
        <p:spPr>
          <a:xfrm flipV="1">
            <a:off x="1094080" y="1417320"/>
            <a:ext cx="10003536" cy="4023360"/>
          </a:xfrm>
          <a:prstGeom prst="line">
            <a:avLst/>
          </a:prstGeom>
          <a:noFill/>
          <a:ln w="177800">
            <a:solidFill>
              <a:srgbClr val="CCFBF1"/>
            </a:solidFill>
            <a:prstDash val="solid"/>
            <a:tailEnd type="triangle"/>
          </a:ln>
        </p:spPr>
      </p:sp>
      <p:sp>
        <p:nvSpPr>
          <p:cNvPr id="4" name="Shape 2"/>
          <p:cNvSpPr/>
          <p:nvPr/>
        </p:nvSpPr>
        <p:spPr>
          <a:xfrm>
            <a:off x="545440" y="3977640"/>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5" name="Text 3"/>
          <p:cNvSpPr txBox="1"/>
          <p:nvPr/>
        </p:nvSpPr>
        <p:spPr>
          <a:xfrm>
            <a:off x="728320" y="4142232"/>
            <a:ext cx="1737360" cy="256032"/>
          </a:xfrm>
          <a:prstGeom prst="rect">
            <a:avLst/>
          </a:prstGeom>
          <a:noFill/>
          <a:ln/>
        </p:spPr>
        <p:txBody>
          <a:bodyPr wrap="square" lIns="0" tIns="0" rIns="0" bIns="0" rtlCol="0" anchor="ctr"/>
          <a:lstStyle/>
          <a:p>
            <a:pPr algn="l" indent="0" marL="0">
              <a:buNone/>
            </a:pPr>
            <a:r>
              <a:rPr lang="en-US" sz="1050" b="1" spc="100" kern="0" dirty="0">
                <a:solidFill>
                  <a:srgbClr val="0AA7A2"/>
                </a:solidFill>
                <a:latin typeface="Arial" pitchFamily="34" charset="0"/>
                <a:ea typeface="Arial" pitchFamily="34" charset="-122"/>
                <a:cs typeface="Arial" pitchFamily="34" charset="-120"/>
              </a:rPr>
              <a:t>NOW · Q4 2026</a:t>
            </a:r>
            <a:endParaRPr lang="en-US" sz="1050" dirty="0"/>
          </a:p>
        </p:txBody>
      </p:sp>
      <p:sp>
        <p:nvSpPr>
          <p:cNvPr id="6" name="Text 4"/>
          <p:cNvSpPr txBox="1"/>
          <p:nvPr/>
        </p:nvSpPr>
        <p:spPr>
          <a:xfrm>
            <a:off x="728320" y="4434840"/>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10</a:t>
            </a:r>
            <a:endParaRPr lang="en-US" sz="3400" dirty="0"/>
          </a:p>
        </p:txBody>
      </p:sp>
      <p:sp>
        <p:nvSpPr>
          <p:cNvPr id="7" name="Text 5"/>
          <p:cNvSpPr txBox="1"/>
          <p:nvPr/>
        </p:nvSpPr>
        <p:spPr>
          <a:xfrm>
            <a:off x="728320" y="5001768"/>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pilot shops</a:t>
            </a:r>
            <a:endParaRPr lang="en-US" sz="1250" dirty="0"/>
          </a:p>
        </p:txBody>
      </p:sp>
      <p:sp>
        <p:nvSpPr>
          <p:cNvPr id="8" name="Shape 6"/>
          <p:cNvSpPr/>
          <p:nvPr/>
        </p:nvSpPr>
        <p:spPr>
          <a:xfrm>
            <a:off x="728320" y="5440680"/>
            <a:ext cx="384048" cy="384048"/>
          </a:xfrm>
          <a:prstGeom prst="ellipse">
            <a:avLst/>
          </a:prstGeom>
          <a:solidFill>
            <a:srgbClr val="CCFBF1"/>
          </a:solidFill>
          <a:ln/>
        </p:spPr>
      </p:sp>
      <p:pic>
        <p:nvPicPr>
          <p:cNvPr id="9" name="Image 0" descr="preencoded.png">    </p:cNvPr>
          <p:cNvPicPr>
            <a:picLocks noChangeAspect="1"/>
          </p:cNvPicPr>
          <p:nvPr/>
        </p:nvPicPr>
        <p:blipFill>
          <a:blip r:embed="rId1"/>
          <a:stretch>
            <a:fillRect/>
          </a:stretch>
        </p:blipFill>
        <p:spPr>
          <a:xfrm>
            <a:off x="810616" y="5522976"/>
            <a:ext cx="219456" cy="219456"/>
          </a:xfrm>
          <a:prstGeom prst="rect">
            <a:avLst/>
          </a:prstGeom>
        </p:spPr>
      </p:pic>
      <p:sp>
        <p:nvSpPr>
          <p:cNvPr id="10" name="Text 7"/>
          <p:cNvSpPr txBox="1"/>
          <p:nvPr/>
        </p:nvSpPr>
        <p:spPr>
          <a:xfrm>
            <a:off x="1185520" y="5367528"/>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Shop visits, Facebook groups</a:t>
            </a:r>
            <a:endParaRPr lang="en-US" sz="1100" dirty="0"/>
          </a:p>
        </p:txBody>
      </p:sp>
      <p:sp>
        <p:nvSpPr>
          <p:cNvPr id="11" name="Shape 8"/>
          <p:cNvSpPr/>
          <p:nvPr/>
        </p:nvSpPr>
        <p:spPr>
          <a:xfrm>
            <a:off x="2794864" y="3410712"/>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12" name="Text 9"/>
          <p:cNvSpPr txBox="1"/>
          <p:nvPr/>
        </p:nvSpPr>
        <p:spPr>
          <a:xfrm>
            <a:off x="2977744" y="3575304"/>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1 · 2027</a:t>
            </a:r>
            <a:endParaRPr lang="en-US" sz="1050" dirty="0"/>
          </a:p>
        </p:txBody>
      </p:sp>
      <p:sp>
        <p:nvSpPr>
          <p:cNvPr id="13" name="Text 10"/>
          <p:cNvSpPr txBox="1"/>
          <p:nvPr/>
        </p:nvSpPr>
        <p:spPr>
          <a:xfrm>
            <a:off x="2977744" y="3867912"/>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~60</a:t>
            </a:r>
            <a:endParaRPr lang="en-US" sz="3400" dirty="0"/>
          </a:p>
        </p:txBody>
      </p:sp>
      <p:sp>
        <p:nvSpPr>
          <p:cNvPr id="14" name="Text 11"/>
          <p:cNvSpPr txBox="1"/>
          <p:nvPr/>
        </p:nvSpPr>
        <p:spPr>
          <a:xfrm>
            <a:off x="2977744" y="4434840"/>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15" name="Shape 12"/>
          <p:cNvSpPr/>
          <p:nvPr/>
        </p:nvSpPr>
        <p:spPr>
          <a:xfrm>
            <a:off x="2977744" y="4873752"/>
            <a:ext cx="384048" cy="384048"/>
          </a:xfrm>
          <a:prstGeom prst="ellipse">
            <a:avLst/>
          </a:prstGeom>
          <a:solidFill>
            <a:srgbClr val="CCFBF1"/>
          </a:solidFill>
          <a:ln/>
        </p:spPr>
      </p:sp>
      <p:pic>
        <p:nvPicPr>
          <p:cNvPr id="16" name="Image 1" descr="preencoded.png">    </p:cNvPr>
          <p:cNvPicPr>
            <a:picLocks noChangeAspect="1"/>
          </p:cNvPicPr>
          <p:nvPr/>
        </p:nvPicPr>
        <p:blipFill>
          <a:blip r:embed="rId2"/>
          <a:stretch>
            <a:fillRect/>
          </a:stretch>
        </p:blipFill>
        <p:spPr>
          <a:xfrm>
            <a:off x="3060040" y="4956048"/>
            <a:ext cx="219456" cy="219456"/>
          </a:xfrm>
          <a:prstGeom prst="rect">
            <a:avLst/>
          </a:prstGeom>
        </p:spPr>
      </p:pic>
      <p:sp>
        <p:nvSpPr>
          <p:cNvPr id="17" name="Text 13"/>
          <p:cNvSpPr txBox="1"/>
          <p:nvPr/>
        </p:nvSpPr>
        <p:spPr>
          <a:xfrm>
            <a:off x="3434944" y="4800600"/>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Public launch + KHQR</a:t>
            </a:r>
            <a:endParaRPr lang="en-US" sz="1100" dirty="0"/>
          </a:p>
        </p:txBody>
      </p:sp>
      <p:sp>
        <p:nvSpPr>
          <p:cNvPr id="18" name="Shape 14"/>
          <p:cNvSpPr/>
          <p:nvPr/>
        </p:nvSpPr>
        <p:spPr>
          <a:xfrm>
            <a:off x="5044288" y="2843784"/>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19" name="Text 15"/>
          <p:cNvSpPr txBox="1"/>
          <p:nvPr/>
        </p:nvSpPr>
        <p:spPr>
          <a:xfrm>
            <a:off x="5227168" y="3008376"/>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2 · 2028</a:t>
            </a:r>
            <a:endParaRPr lang="en-US" sz="1050" dirty="0"/>
          </a:p>
        </p:txBody>
      </p:sp>
      <p:sp>
        <p:nvSpPr>
          <p:cNvPr id="20" name="Text 16"/>
          <p:cNvSpPr txBox="1"/>
          <p:nvPr/>
        </p:nvSpPr>
        <p:spPr>
          <a:xfrm>
            <a:off x="5227168" y="3300984"/>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~420</a:t>
            </a:r>
            <a:endParaRPr lang="en-US" sz="3400" dirty="0"/>
          </a:p>
        </p:txBody>
      </p:sp>
      <p:sp>
        <p:nvSpPr>
          <p:cNvPr id="21" name="Text 17"/>
          <p:cNvSpPr txBox="1"/>
          <p:nvPr/>
        </p:nvSpPr>
        <p:spPr>
          <a:xfrm>
            <a:off x="5227168" y="3867912"/>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22" name="Shape 18"/>
          <p:cNvSpPr/>
          <p:nvPr/>
        </p:nvSpPr>
        <p:spPr>
          <a:xfrm>
            <a:off x="5227168" y="4306824"/>
            <a:ext cx="384048" cy="384048"/>
          </a:xfrm>
          <a:prstGeom prst="ellipse">
            <a:avLst/>
          </a:prstGeom>
          <a:solidFill>
            <a:srgbClr val="CCFBF1"/>
          </a:solidFill>
          <a:ln/>
        </p:spPr>
      </p:sp>
      <p:pic>
        <p:nvPicPr>
          <p:cNvPr id="23" name="Image 2" descr="preencoded.png">    </p:cNvPr>
          <p:cNvPicPr>
            <a:picLocks noChangeAspect="1"/>
          </p:cNvPicPr>
          <p:nvPr/>
        </p:nvPicPr>
        <p:blipFill>
          <a:blip r:embed="rId3"/>
          <a:stretch>
            <a:fillRect/>
          </a:stretch>
        </p:blipFill>
        <p:spPr>
          <a:xfrm>
            <a:off x="5309464" y="4389120"/>
            <a:ext cx="219456" cy="219456"/>
          </a:xfrm>
          <a:prstGeom prst="rect">
            <a:avLst/>
          </a:prstGeom>
        </p:spPr>
      </p:pic>
      <p:sp>
        <p:nvSpPr>
          <p:cNvPr id="24" name="Text 19"/>
          <p:cNvSpPr txBox="1"/>
          <p:nvPr/>
        </p:nvSpPr>
        <p:spPr>
          <a:xfrm>
            <a:off x="5684368" y="4233672"/>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Shops bring their buyers</a:t>
            </a:r>
            <a:endParaRPr lang="en-US" sz="1100" dirty="0"/>
          </a:p>
        </p:txBody>
      </p:sp>
      <p:sp>
        <p:nvSpPr>
          <p:cNvPr id="25" name="Shape 20"/>
          <p:cNvSpPr/>
          <p:nvPr/>
        </p:nvSpPr>
        <p:spPr>
          <a:xfrm>
            <a:off x="7293712" y="2276856"/>
            <a:ext cx="2103120" cy="2103120"/>
          </a:xfrm>
          <a:prstGeom prst="roundRect">
            <a:avLst>
              <a:gd name="adj" fmla="val 7826"/>
            </a:avLst>
          </a:prstGeom>
          <a:solidFill>
            <a:srgbClr val="FFFFFF"/>
          </a:solidFill>
          <a:ln w="12700">
            <a:solidFill>
              <a:srgbClr val="E2E8F0"/>
            </a:solidFill>
            <a:prstDash val="solid"/>
          </a:ln>
          <a:effectLst>
            <a:outerShdw sx="100000" sy="100000" kx="0" ky="0" algn="bl" rotWithShape="0" blurRad="101600" dist="38100" dir="5400000">
              <a:srgbClr val="1A2A4A">
                <a:alpha val="12000"/>
              </a:srgbClr>
            </a:outerShdw>
          </a:effectLst>
        </p:spPr>
      </p:sp>
      <p:sp>
        <p:nvSpPr>
          <p:cNvPr id="26" name="Text 21"/>
          <p:cNvSpPr txBox="1"/>
          <p:nvPr/>
        </p:nvSpPr>
        <p:spPr>
          <a:xfrm>
            <a:off x="7476592" y="2441448"/>
            <a:ext cx="1737360" cy="256032"/>
          </a:xfrm>
          <a:prstGeom prst="rect">
            <a:avLst/>
          </a:prstGeom>
          <a:noFill/>
          <a:ln/>
        </p:spPr>
        <p:txBody>
          <a:bodyPr wrap="square" lIns="0" tIns="0" rIns="0" bIns="0" rtlCol="0" anchor="ctr"/>
          <a:lstStyle/>
          <a:p>
            <a:pPr algn="l" indent="0" marL="0">
              <a:buNone/>
            </a:pPr>
            <a:r>
              <a:rPr lang="en-US" sz="1050" b="1" spc="100" kern="0" dirty="0">
                <a:solidFill>
                  <a:srgbClr val="52637A"/>
                </a:solidFill>
                <a:latin typeface="Arial" pitchFamily="34" charset="0"/>
                <a:ea typeface="Arial" pitchFamily="34" charset="-122"/>
                <a:cs typeface="Arial" pitchFamily="34" charset="-120"/>
              </a:rPr>
              <a:t>YEAR 3 · 2029</a:t>
            </a:r>
            <a:endParaRPr lang="en-US" sz="1050" dirty="0"/>
          </a:p>
        </p:txBody>
      </p:sp>
      <p:sp>
        <p:nvSpPr>
          <p:cNvPr id="27" name="Text 22"/>
          <p:cNvSpPr txBox="1"/>
          <p:nvPr/>
        </p:nvSpPr>
        <p:spPr>
          <a:xfrm>
            <a:off x="7476592" y="2734056"/>
            <a:ext cx="1737360" cy="594360"/>
          </a:xfrm>
          <a:prstGeom prst="rect">
            <a:avLst/>
          </a:prstGeom>
          <a:noFill/>
          <a:ln/>
        </p:spPr>
        <p:txBody>
          <a:bodyPr wrap="square" lIns="0" tIns="0" rIns="0" bIns="0" rtlCol="0" anchor="ctr"/>
          <a:lstStyle/>
          <a:p>
            <a:pPr algn="l" indent="0" marL="0">
              <a:buNone/>
            </a:pPr>
            <a:r>
              <a:rPr lang="en-US" sz="3400" b="1" dirty="0">
                <a:solidFill>
                  <a:srgbClr val="15243A"/>
                </a:solidFill>
                <a:latin typeface="Arial" pitchFamily="34" charset="0"/>
                <a:ea typeface="Arial" pitchFamily="34" charset="-122"/>
                <a:cs typeface="Arial" pitchFamily="34" charset="-120"/>
              </a:rPr>
              <a:t>~1,130</a:t>
            </a:r>
            <a:endParaRPr lang="en-US" sz="3400" dirty="0"/>
          </a:p>
        </p:txBody>
      </p:sp>
      <p:sp>
        <p:nvSpPr>
          <p:cNvPr id="28" name="Text 23"/>
          <p:cNvSpPr txBox="1"/>
          <p:nvPr/>
        </p:nvSpPr>
        <p:spPr>
          <a:xfrm>
            <a:off x="7476592" y="3300984"/>
            <a:ext cx="1737360" cy="274320"/>
          </a:xfrm>
          <a:prstGeom prst="rect">
            <a:avLst/>
          </a:prstGeom>
          <a:noFill/>
          <a:ln/>
        </p:spPr>
        <p:txBody>
          <a:bodyPr wrap="square" lIns="0" tIns="0" rIns="0" bIns="0" rtlCol="0" anchor="ctr"/>
          <a:lstStyle/>
          <a:p>
            <a:pPr algn="l" indent="0" marL="0">
              <a:buNone/>
            </a:pPr>
            <a:r>
              <a:rPr lang="en-US" sz="1250" b="1" dirty="0">
                <a:solidFill>
                  <a:srgbClr val="52637A"/>
                </a:solidFill>
                <a:latin typeface="Arial" pitchFamily="34" charset="0"/>
                <a:ea typeface="Arial" pitchFamily="34" charset="-122"/>
                <a:cs typeface="Arial" pitchFamily="34" charset="-120"/>
              </a:rPr>
              <a:t>paying shops</a:t>
            </a:r>
            <a:endParaRPr lang="en-US" sz="1250" dirty="0"/>
          </a:p>
        </p:txBody>
      </p:sp>
      <p:sp>
        <p:nvSpPr>
          <p:cNvPr id="29" name="Shape 24"/>
          <p:cNvSpPr/>
          <p:nvPr/>
        </p:nvSpPr>
        <p:spPr>
          <a:xfrm>
            <a:off x="7476592" y="3739896"/>
            <a:ext cx="384048" cy="384048"/>
          </a:xfrm>
          <a:prstGeom prst="ellipse">
            <a:avLst/>
          </a:prstGeom>
          <a:solidFill>
            <a:srgbClr val="CCFBF1"/>
          </a:solidFill>
          <a:ln/>
        </p:spPr>
      </p:sp>
      <p:pic>
        <p:nvPicPr>
          <p:cNvPr id="30" name="Image 3" descr="preencoded.png">    </p:cNvPr>
          <p:cNvPicPr>
            <a:picLocks noChangeAspect="1"/>
          </p:cNvPicPr>
          <p:nvPr/>
        </p:nvPicPr>
        <p:blipFill>
          <a:blip r:embed="rId4"/>
          <a:stretch>
            <a:fillRect/>
          </a:stretch>
        </p:blipFill>
        <p:spPr>
          <a:xfrm>
            <a:off x="7558888" y="3822192"/>
            <a:ext cx="219456" cy="219456"/>
          </a:xfrm>
          <a:prstGeom prst="rect">
            <a:avLst/>
          </a:prstGeom>
        </p:spPr>
      </p:pic>
      <p:sp>
        <p:nvSpPr>
          <p:cNvPr id="31" name="Text 25"/>
          <p:cNvSpPr txBox="1"/>
          <p:nvPr/>
        </p:nvSpPr>
        <p:spPr>
          <a:xfrm>
            <a:off x="7933792" y="3666744"/>
            <a:ext cx="1371600" cy="548640"/>
          </a:xfrm>
          <a:prstGeom prst="rect">
            <a:avLst/>
          </a:prstGeom>
          <a:noFill/>
          <a:ln/>
        </p:spPr>
        <p:txBody>
          <a:bodyPr wrap="square" lIns="0" tIns="0" rIns="0" bIns="0" rtlCol="0" anchor="ctr"/>
          <a:lstStyle/>
          <a:p>
            <a:pPr algn="l" indent="0" marL="0">
              <a:buNone/>
            </a:pPr>
            <a:r>
              <a:rPr lang="en-US" sz="1100" dirty="0">
                <a:solidFill>
                  <a:srgbClr val="15243A"/>
                </a:solidFill>
                <a:latin typeface="Arial" pitchFamily="34" charset="0"/>
                <a:ea typeface="Arial" pitchFamily="34" charset="-122"/>
                <a:cs typeface="Arial" pitchFamily="34" charset="-120"/>
              </a:rPr>
              <a:t>Referrals and partners</a:t>
            </a:r>
            <a:endParaRPr lang="en-US" sz="1100" dirty="0"/>
          </a:p>
        </p:txBody>
      </p:sp>
      <p:sp>
        <p:nvSpPr>
          <p:cNvPr id="32" name="Shape 26"/>
          <p:cNvSpPr/>
          <p:nvPr/>
        </p:nvSpPr>
        <p:spPr>
          <a:xfrm>
            <a:off x="9543136" y="1709928"/>
            <a:ext cx="2103120" cy="2103120"/>
          </a:xfrm>
          <a:prstGeom prst="roundRect">
            <a:avLst>
              <a:gd name="adj" fmla="val 7826"/>
            </a:avLst>
          </a:prstGeom>
          <a:solidFill>
            <a:srgbClr val="111D35"/>
          </a:solidFill>
          <a:ln/>
          <a:effectLst>
            <a:outerShdw sx="100000" sy="100000" kx="0" ky="0" algn="bl" rotWithShape="0" blurRad="101600" dist="38100" dir="5400000">
              <a:srgbClr val="1A2A4A">
                <a:alpha val="12000"/>
              </a:srgbClr>
            </a:outerShdw>
          </a:effectLst>
        </p:spPr>
      </p:sp>
      <p:sp>
        <p:nvSpPr>
          <p:cNvPr id="33" name="Text 27"/>
          <p:cNvSpPr txBox="1"/>
          <p:nvPr/>
        </p:nvSpPr>
        <p:spPr>
          <a:xfrm>
            <a:off x="9726016" y="1874520"/>
            <a:ext cx="1737360" cy="256032"/>
          </a:xfrm>
          <a:prstGeom prst="rect">
            <a:avLst/>
          </a:prstGeom>
          <a:noFill/>
          <a:ln/>
        </p:spPr>
        <p:txBody>
          <a:bodyPr wrap="square" lIns="0" tIns="0" rIns="0" bIns="0" rtlCol="0" anchor="ctr"/>
          <a:lstStyle/>
          <a:p>
            <a:pPr algn="l" indent="0" marL="0">
              <a:buNone/>
            </a:pPr>
            <a:r>
              <a:rPr lang="en-US" sz="1050" b="1" spc="100" kern="0" dirty="0">
                <a:solidFill>
                  <a:srgbClr val="A7F3D0"/>
                </a:solidFill>
                <a:latin typeface="Arial" pitchFamily="34" charset="0"/>
                <a:ea typeface="Arial" pitchFamily="34" charset="-122"/>
                <a:cs typeface="Arial" pitchFamily="34" charset="-120"/>
              </a:rPr>
              <a:t>GOAL</a:t>
            </a:r>
            <a:endParaRPr lang="en-US" sz="1050" dirty="0"/>
          </a:p>
        </p:txBody>
      </p:sp>
      <p:sp>
        <p:nvSpPr>
          <p:cNvPr id="34" name="Text 28"/>
          <p:cNvSpPr txBox="1"/>
          <p:nvPr/>
        </p:nvSpPr>
        <p:spPr>
          <a:xfrm>
            <a:off x="9726016" y="2167128"/>
            <a:ext cx="1737360" cy="59436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1,895</a:t>
            </a:r>
            <a:endParaRPr lang="en-US" sz="3400" dirty="0"/>
          </a:p>
        </p:txBody>
      </p:sp>
      <p:sp>
        <p:nvSpPr>
          <p:cNvPr id="35" name="Text 29"/>
          <p:cNvSpPr txBox="1"/>
          <p:nvPr/>
        </p:nvSpPr>
        <p:spPr>
          <a:xfrm>
            <a:off x="9726016" y="2734056"/>
            <a:ext cx="1737360" cy="274320"/>
          </a:xfrm>
          <a:prstGeom prst="rect">
            <a:avLst/>
          </a:prstGeom>
          <a:noFill/>
          <a:ln/>
        </p:spPr>
        <p:txBody>
          <a:bodyPr wrap="square" lIns="0" tIns="0" rIns="0" bIns="0" rtlCol="0" anchor="ctr"/>
          <a:lstStyle/>
          <a:p>
            <a:pPr algn="l" indent="0" marL="0">
              <a:buNone/>
            </a:pPr>
            <a:r>
              <a:rPr lang="en-US" sz="1250" b="1" dirty="0">
                <a:solidFill>
                  <a:srgbClr val="A7F3D0"/>
                </a:solidFill>
                <a:latin typeface="Arial" pitchFamily="34" charset="0"/>
                <a:ea typeface="Arial" pitchFamily="34" charset="-122"/>
                <a:cs typeface="Arial" pitchFamily="34" charset="-120"/>
              </a:rPr>
              <a:t>shops = break-even</a:t>
            </a:r>
            <a:endParaRPr lang="en-US" sz="1250" dirty="0"/>
          </a:p>
        </p:txBody>
      </p:sp>
      <p:sp>
        <p:nvSpPr>
          <p:cNvPr id="36" name="Shape 30"/>
          <p:cNvSpPr/>
          <p:nvPr/>
        </p:nvSpPr>
        <p:spPr>
          <a:xfrm>
            <a:off x="9726016" y="3172968"/>
            <a:ext cx="384048" cy="384048"/>
          </a:xfrm>
          <a:prstGeom prst="ellipse">
            <a:avLst/>
          </a:prstGeom>
          <a:solidFill>
            <a:srgbClr val="0AA7A2"/>
          </a:solidFill>
          <a:ln/>
        </p:spPr>
      </p:sp>
      <p:pic>
        <p:nvPicPr>
          <p:cNvPr id="37" name="Image 4" descr="preencoded.png">    </p:cNvPr>
          <p:cNvPicPr>
            <a:picLocks noChangeAspect="1"/>
          </p:cNvPicPr>
          <p:nvPr/>
        </p:nvPicPr>
        <p:blipFill>
          <a:blip r:embed="rId5"/>
          <a:stretch>
            <a:fillRect/>
          </a:stretch>
        </p:blipFill>
        <p:spPr>
          <a:xfrm>
            <a:off x="9808312" y="3255264"/>
            <a:ext cx="219456" cy="219456"/>
          </a:xfrm>
          <a:prstGeom prst="rect">
            <a:avLst/>
          </a:prstGeom>
        </p:spPr>
      </p:pic>
      <p:sp>
        <p:nvSpPr>
          <p:cNvPr id="38" name="Text 31"/>
          <p:cNvSpPr txBox="1"/>
          <p:nvPr/>
        </p:nvSpPr>
        <p:spPr>
          <a:xfrm>
            <a:off x="10183216" y="3099816"/>
            <a:ext cx="1371600" cy="548640"/>
          </a:xfrm>
          <a:prstGeom prst="rect">
            <a:avLst/>
          </a:prstGeom>
          <a:noFill/>
          <a:ln/>
        </p:spPr>
        <p:txBody>
          <a:bodyPr wrap="square" lIns="0" tIns="0" rIns="0" bIns="0" rtlCol="0" anchor="ctr"/>
          <a:lstStyle/>
          <a:p>
            <a:pPr algn="l" indent="0" marL="0">
              <a:buNone/>
            </a:pPr>
            <a:r>
              <a:rPr lang="en-US" sz="1100" dirty="0">
                <a:solidFill>
                  <a:srgbClr val="FFFFFF"/>
                </a:solidFill>
                <a:latin typeface="Arial" pitchFamily="34" charset="0"/>
                <a:ea typeface="Arial" pitchFamily="34" charset="-122"/>
                <a:cs typeface="Arial" pitchFamily="34" charset="-120"/>
              </a:rPr>
              <a:t>Only 3% of our market</a:t>
            </a:r>
            <a:endParaRPr lang="en-US" sz="1100" dirty="0"/>
          </a:p>
        </p:txBody>
      </p:sp>
      <p:sp>
        <p:nvSpPr>
          <p:cNvPr id="39" name="Text 32"/>
          <p:cNvSpPr txBox="1"/>
          <p:nvPr/>
        </p:nvSpPr>
        <p:spPr>
          <a:xfrm>
            <a:off x="548640" y="6355080"/>
            <a:ext cx="11064240" cy="274320"/>
          </a:xfrm>
          <a:prstGeom prst="rect">
            <a:avLst/>
          </a:prstGeom>
          <a:noFill/>
          <a:ln/>
        </p:spPr>
        <p:txBody>
          <a:bodyPr wrap="square" lIns="0" tIns="0" rIns="0" bIns="0" rtlCol="0" anchor="ctr"/>
          <a:lstStyle/>
          <a:p>
            <a:pPr algn="l" indent="0" marL="0">
              <a:buNone/>
            </a:pPr>
            <a:r>
              <a:rPr lang="en-US" sz="1000" dirty="0">
                <a:solidFill>
                  <a:srgbClr val="52637A"/>
                </a:solidFill>
                <a:latin typeface="Arial" pitchFamily="34" charset="0"/>
                <a:ea typeface="Arial" pitchFamily="34" charset="-122"/>
                <a:cs typeface="Arial" pitchFamily="34" charset="-120"/>
              </a:rPr>
              <a:t>Paying shops = yearly average from the team’s financial model. Pilot passes if 7 of 10 shops stay active, stock is ≥99% accurate and 6 of 10 will pay.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2026-09-25T16:57:37Z</dcterms:created>
  <dcterms:modified xsi:type="dcterms:W3CDTF">2026-09-25T16:57:37Z</dcterms:modified>
</cp:coreProperties>
</file>