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3" r:id="rId8"/>
    <p:sldId id="262"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8288000" cy="10287000"/>
  <p:notesSz cx="6858000" cy="9144000"/>
  <p:embeddedFontLst>
    <p:embeddedFont>
      <p:font typeface="Arial Bold" panose="020B0704020202020204" pitchFamily="34" charset="0"/>
      <p:regular r:id="rId23"/>
      <p:bold r:id="rId24"/>
    </p:embeddedFont>
    <p:embeddedFont>
      <p:font typeface="Segoe UI Bold" panose="020B0802040204020203" pitchFamily="34" charset="0"/>
      <p:regular r:id="rId25"/>
      <p:bold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26.09.2026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[0:00–0:15]</a:t>
            </a:r>
          </a:p>
          <a:p>
            <a:r>
              <a:rPr lang="en-US"/>
              <a:t>Cambodian merchants sell in many places — Facebook, marketplaces and their own shop. Rentify lets them sell everywhere and manage once.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[0:15–0:40]</a:t>
            </a:r>
          </a:p>
          <a:p>
            <a:r>
              <a:rPr lang="en-US"/>
              <a:t>But their tools don’t connect. Orders arrive on Telegram, products sit on Facebook and Khmer24, stock lives in a notebook, and sales happen on a separate POS. So when the last item sells at the counter, Facebook still says it’s in stock. The result: an apology, a refund, a lost customer.</a:t>
            </a:r>
          </a:p>
          <a:p>
            <a:r>
              <a:rPr lang="en-US" i="1"/>
              <a:t>(Q&amp;A: Illustrative scenario and AI-generated image.)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[0:40–1:00]</a:t>
            </a:r>
          </a:p>
          <a:p>
            <a:r>
              <a:rPr lang="en-US"/>
              <a:t>Today merchants use a different tool for each piece: Facebook for their own page, Khmer24, VTENH or Smile Shop for a marketplace, and a POS app or cash box at the counter. Rentify brings all three onto one stock.</a:t>
            </a:r>
          </a:p>
          <a:p>
            <a:r>
              <a:rPr lang="en-US" i="1"/>
              <a:t>(Q&amp;A: Khmum is the closest competitor — see the appendix.)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[1:00–1:20]</a:t>
            </a:r>
          </a:p>
          <a:p>
            <a:r>
              <a:rPr lang="en-US"/>
              <a:t>Here is how it works. The merchant adds a product once — name, price and stock. It appears on their own storefront, in our marketplace and in their POS. Same price, same stock, everywhere.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[1:20–1:45]</a:t>
            </a:r>
          </a:p>
          <a:p>
            <a:r>
              <a:rPr lang="en-US"/>
              <a:t>And it works today. Our demo store had forty bottles of this perfume. We sold one at the counter. Seconds later, the marketplace and the merchant dashboard both showed thirty-nine. One sale, updated everywhere.</a:t>
            </a:r>
          </a:p>
          <a:p>
            <a:r>
              <a:rPr lang="en-US" i="1"/>
              <a:t>(Q&amp;A: Demo data in our development build, not customer orders.)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[1:45–2:10]</a:t>
            </a:r>
          </a:p>
          <a:p>
            <a:r>
              <a:rPr lang="en-US"/>
              <a:t>Three things make Rentify different. Start anywhere — begin on the marketplace and add a storefront and POS later, without re-listing. One stock everywhere, as you just saw. And fair pricing — nothing on the merchant’s own sales; we only earn when our marketplace brings the sale.</a:t>
            </a:r>
          </a:p>
          <a:p>
            <a:r>
              <a:rPr lang="en-US" i="1"/>
              <a:t>(Q&amp;A: Tesla wasn’t the first electric car either — we aim to be the platform merchants don’t have to stitch together.)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[2:10–2:30]</a:t>
            </a:r>
          </a:p>
          <a:p>
            <a:r>
              <a:rPr lang="en-US"/>
              <a:t>We serve two merchants first. The Facebook seller starts free on our marketplace. The small shop starts on Starter with a storefront and POS. We begin in Phnom Penh — home to one in five Cambodian businesses — with fashion and beauty, the two biggest online categories.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[2:30–2:55]</a:t>
            </a:r>
          </a:p>
          <a:p>
            <a:r>
              <a:rPr lang="en-US"/>
              <a:t>So what does it cost a merchant to start? Nothing. [pause]</a:t>
            </a:r>
          </a:p>
          <a:p>
            <a:r>
              <a:rPr lang="en-US"/>
              <a:t>On our Free plan, any shop can sell on the Rentify Marketplace at no cost. We only take a tiny 3%, and only when our marketplace brings them a sale. No sale, no fee.</a:t>
            </a:r>
          </a:p>
          <a:p>
            <a:r>
              <a:rPr lang="en-US"/>
              <a:t>When they're ready for their own storefront and a POS at the counter, it's five dollars a month, or ten for Pro. And on their own channels, they keep 100% of every sale.</a:t>
            </a:r>
          </a:p>
          <a:p>
            <a:r>
              <a:rPr lang="en-US"/>
              <a:t>We only earn when our merchants earn.</a:t>
            </a:r>
          </a:p>
          <a:p>
            <a:r>
              <a:rPr lang="en-US" i="1"/>
              <a:t>(Q&amp;A: prices and the 3% rate are proposals to test in the pilot. 3% is on the product price of completed marketplace orders; commission starts with online payments in 2027. If running long, drop 'or ten for Pro'.)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[2:55–3:20]</a:t>
            </a:r>
          </a:p>
          <a:p>
            <a:r>
              <a:rPr lang="en-US"/>
              <a:t>The market is growing: Cambodian e-commerce was 1.51 billion dollars in 2024, up about 18% a year. Counting from the ground up, there are about 410,000 retail shops — a 22 million dollar subscription market. We focus on 65,000 specialised stores, and aim for about 1,100 paying shops by Year 3.</a:t>
            </a:r>
          </a:p>
          <a:p>
            <a:r>
              <a:rPr lang="en-US" i="1"/>
              <a:t>(Q&amp;A: $1.51B is total e-commerce sales value, not our revenue. Values use the $5 plan with 10% VAT removed.)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[3:20–3:45]</a:t>
            </a:r>
          </a:p>
          <a:p>
            <a:r>
              <a:rPr lang="en-US"/>
              <a:t>We go merchants first. This quarter we bring ten pilot shops through market visits, Facebook groups and UniPreneur. In 2027 those shops bring their own customers through storefront links. Then buyers discover more shops in the marketplace — and more buyers bring more shops.</a:t>
            </a:r>
          </a:p>
          <a:p>
            <a:r>
              <a:rPr lang="en-US" i="1"/>
              <a:t>(Q&amp;A: Pilot passes if 7 of 10 shops stay active, stock is at least 99% accurate, and 6 of 10 will pay.)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[3:45–4:05]</a:t>
            </a:r>
          </a:p>
          <a:p>
            <a:r>
              <a:rPr lang="en-US"/>
              <a:t>We are bootstrapped. Year 1 covers its own costs with the team unpaid. Revenue grows to about 62,000 dollars in Year 3. About 110 paying shops cover all running costs, and we need only about 1,100 dollars to start.</a:t>
            </a:r>
          </a:p>
          <a:p>
            <a:r>
              <a:rPr lang="en-US" i="1"/>
              <a:t>(Q&amp;A: All inputs are assumptions to validate in the pilot. Detail in the appendix.)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[4:05–4:25]</a:t>
            </a:r>
          </a:p>
          <a:p>
            <a:r>
              <a:rPr lang="en-US"/>
              <a:t>[MOCK — replace with what validators really said.] We have already spoken with merchants and an advisor. Here is what they told us.</a:t>
            </a:r>
          </a:p>
          <a:p>
            <a:r>
              <a:rPr lang="en-US" i="1"/>
              <a:t>(Q&amp;A: Do not present mock quotes as real feedback.)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[4:25–4:45]</a:t>
            </a:r>
          </a:p>
          <a:p>
            <a:r>
              <a:rPr lang="en-US"/>
              <a:t>We are five students who have already built this platform. Our next step is ten pilot shops in Phnom Penh, starting this quarter. Rentify: sell everywhere, manage once. Thank you.</a:t>
            </a:r>
          </a:p>
          <a:p>
            <a:r>
              <a:rPr lang="en-US" i="1"/>
              <a:t>(Q&amp;A: Stop here and keep this slide up for Q&amp;A.)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Use appendix slides only when a question calls for them.</a:t>
            </a:r>
          </a:p>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Khmum overlaps with our concept. Our advantage must be proven through merchant tasks: setup time, stock accuracy and total cost. Do not claim we are cheaper or better until pilots measure it.</a:t>
            </a:r>
          </a:p>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Consistent with slides 9–11: subscription revenue at launch; commission starts only with online payments.</a:t>
            </a:r>
          </a:p>
          <a:p>
            <a:r>
              <a:rPr lang="en-US"/>
              <a:t>18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Merchants fulfil their own orders at launch. Delivery partnerships are options to evaluate, not agreements.</a:t>
            </a:r>
          </a:p>
          <a:p>
            <a:r>
              <a:rPr lang="en-US"/>
              <a:t>19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9.png"/><Relationship Id="rId4" Type="http://schemas.openxmlformats.org/officeDocument/2006/relationships/image" Target="../media/image14.png"/><Relationship Id="rId9" Type="http://schemas.openxmlformats.org/officeDocument/2006/relationships/image" Target="../media/image18.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slideLayout" Target="../slideLayouts/slideLayout7.xml"/><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notesSlide" Target="../notesSlides/notesSlide5.xml"/><Relationship Id="rId9" Type="http://schemas.openxmlformats.org/officeDocument/2006/relationships/image" Target="../media/image23.png"/></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jpeg"/><Relationship Id="rId7"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0.png"/><Relationship Id="rId4" Type="http://schemas.openxmlformats.org/officeDocument/2006/relationships/image" Target="../media/image3.png"/><Relationship Id="rId9" Type="http://schemas.openxmlformats.org/officeDocument/2006/relationships/image" Target="../media/image29.png"/></Relationships>
</file>

<file path=ppt/slides/_rels/slide7.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6.png"/><Relationship Id="rId3" Type="http://schemas.openxmlformats.org/officeDocument/2006/relationships/image" Target="../media/image2.jpeg"/><Relationship Id="rId7" Type="http://schemas.openxmlformats.org/officeDocument/2006/relationships/image" Target="../media/image32.png"/><Relationship Id="rId12" Type="http://schemas.openxmlformats.org/officeDocument/2006/relationships/image" Target="../media/image35.png"/><Relationship Id="rId2" Type="http://schemas.openxmlformats.org/officeDocument/2006/relationships/notesSlide" Target="../notesSlides/notesSlide7.xml"/><Relationship Id="rId16"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9.png"/><Relationship Id="rId5" Type="http://schemas.openxmlformats.org/officeDocument/2006/relationships/image" Target="../media/image8.png"/><Relationship Id="rId15" Type="http://schemas.openxmlformats.org/officeDocument/2006/relationships/image" Target="../media/image38.png"/><Relationship Id="rId10" Type="http://schemas.openxmlformats.org/officeDocument/2006/relationships/image" Target="../media/image16.png"/><Relationship Id="rId4" Type="http://schemas.openxmlformats.org/officeDocument/2006/relationships/image" Target="../media/image31.png"/><Relationship Id="rId9" Type="http://schemas.openxmlformats.org/officeDocument/2006/relationships/image" Target="../media/image34.png"/><Relationship Id="rId14" Type="http://schemas.openxmlformats.org/officeDocument/2006/relationships/image" Target="../media/image37.pn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jpeg"/><Relationship Id="rId7"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41.png"/><Relationship Id="rId11" Type="http://schemas.openxmlformats.org/officeDocument/2006/relationships/image" Target="../media/image44.png"/><Relationship Id="rId5" Type="http://schemas.openxmlformats.org/officeDocument/2006/relationships/image" Target="../media/image40.png"/><Relationship Id="rId10" Type="http://schemas.openxmlformats.org/officeDocument/2006/relationships/image" Target="../media/image43.png"/><Relationship Id="rId4" Type="http://schemas.openxmlformats.org/officeDocument/2006/relationships/image" Target="../media/image3.png"/><Relationship Id="rId9" Type="http://schemas.openxmlformats.org/officeDocument/2006/relationships/image" Target="../media/image42.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37.png"/><Relationship Id="rId4" Type="http://schemas.openxmlformats.org/officeDocument/2006/relationships/image" Target="../media/image36.png"/></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51.png"/><Relationship Id="rId3" Type="http://schemas.openxmlformats.org/officeDocument/2006/relationships/image" Target="../media/image2.jpeg"/><Relationship Id="rId7" Type="http://schemas.openxmlformats.org/officeDocument/2006/relationships/image" Target="../media/image5.png"/><Relationship Id="rId12" Type="http://schemas.openxmlformats.org/officeDocument/2006/relationships/image" Target="../media/image50.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47.png"/><Relationship Id="rId11" Type="http://schemas.openxmlformats.org/officeDocument/2006/relationships/image" Target="../media/image49.png"/><Relationship Id="rId5" Type="http://schemas.openxmlformats.org/officeDocument/2006/relationships/image" Target="../media/image46.png"/><Relationship Id="rId10" Type="http://schemas.openxmlformats.org/officeDocument/2006/relationships/image" Target="../media/image3.png"/><Relationship Id="rId4" Type="http://schemas.openxmlformats.org/officeDocument/2006/relationships/image" Target="../media/image30.png"/><Relationship Id="rId9" Type="http://schemas.openxmlformats.org/officeDocument/2006/relationships/image" Target="../media/image48.png"/><Relationship Id="rId14" Type="http://schemas.openxmlformats.org/officeDocument/2006/relationships/image" Target="../media/image52.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12.xml.rels><?xml version="1.0" encoding="UTF-8" standalone="yes"?>
<Relationships xmlns="http://schemas.openxmlformats.org/package/2006/relationships"><Relationship Id="rId3" Type="http://schemas.openxmlformats.org/officeDocument/2006/relationships/image" Target="../media/image54.jpeg"/><Relationship Id="rId7" Type="http://schemas.openxmlformats.org/officeDocument/2006/relationships/image" Target="../media/image58.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57.jpeg"/><Relationship Id="rId5" Type="http://schemas.openxmlformats.org/officeDocument/2006/relationships/image" Target="../media/image56.png"/><Relationship Id="rId4" Type="http://schemas.openxmlformats.org/officeDocument/2006/relationships/image" Target="../media/image55.jpeg"/></Relationships>
</file>

<file path=ppt/slides/_rels/slide13.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2.jpeg"/><Relationship Id="rId7" Type="http://schemas.openxmlformats.org/officeDocument/2006/relationships/image" Target="../media/image62.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61.png"/><Relationship Id="rId11" Type="http://schemas.openxmlformats.org/officeDocument/2006/relationships/image" Target="../media/image9.png"/><Relationship Id="rId5" Type="http://schemas.openxmlformats.org/officeDocument/2006/relationships/image" Target="../media/image60.png"/><Relationship Id="rId10" Type="http://schemas.openxmlformats.org/officeDocument/2006/relationships/image" Target="../media/image16.png"/><Relationship Id="rId4" Type="http://schemas.openxmlformats.org/officeDocument/2006/relationships/image" Target="../media/image59.png"/><Relationship Id="rId9"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D35"/>
        </a:solidFill>
        <a:effectLst/>
      </p:bgPr>
    </p:bg>
    <p:spTree>
      <p:nvGrpSpPr>
        <p:cNvPr id="1" name=""/>
        <p:cNvGrpSpPr/>
        <p:nvPr/>
      </p:nvGrpSpPr>
      <p:grpSpPr>
        <a:xfrm>
          <a:off x="0" y="0"/>
          <a:ext cx="0" cy="0"/>
          <a:chOff x="0" y="0"/>
          <a:chExt cx="0" cy="0"/>
        </a:xfrm>
      </p:grpSpPr>
      <p:grpSp>
        <p:nvGrpSpPr>
          <p:cNvPr id="2" name="Group 2"/>
          <p:cNvGrpSpPr/>
          <p:nvPr/>
        </p:nvGrpSpPr>
        <p:grpSpPr>
          <a:xfrm>
            <a:off x="8149361" y="1783080"/>
            <a:ext cx="1988820" cy="1988820"/>
            <a:chOff x="0" y="0"/>
            <a:chExt cx="2651760" cy="2651760"/>
          </a:xfrm>
        </p:grpSpPr>
        <p:sp>
          <p:nvSpPr>
            <p:cNvPr id="3" name="Freeform 3" descr="Rentify logo"/>
            <p:cNvSpPr/>
            <p:nvPr/>
          </p:nvSpPr>
          <p:spPr>
            <a:xfrm>
              <a:off x="0" y="0"/>
              <a:ext cx="2651760" cy="2651760"/>
            </a:xfrm>
            <a:custGeom>
              <a:avLst/>
              <a:gdLst/>
              <a:ahLst/>
              <a:cxnLst/>
              <a:rect l="l" t="t" r="r" b="b"/>
              <a:pathLst>
                <a:path w="2651760" h="2651760">
                  <a:moveTo>
                    <a:pt x="0" y="0"/>
                  </a:moveTo>
                  <a:lnTo>
                    <a:pt x="2651760" y="0"/>
                  </a:lnTo>
                  <a:lnTo>
                    <a:pt x="2651760" y="2651760"/>
                  </a:lnTo>
                  <a:lnTo>
                    <a:pt x="0" y="2651760"/>
                  </a:lnTo>
                  <a:lnTo>
                    <a:pt x="0" y="0"/>
                  </a:lnTo>
                  <a:close/>
                </a:path>
              </a:pathLst>
            </a:custGeom>
            <a:blipFill>
              <a:blip r:embed="rId3"/>
              <a:stretch>
                <a:fillRect/>
              </a:stretch>
            </a:blipFill>
          </p:spPr>
        </p:sp>
      </p:grpSp>
      <p:grpSp>
        <p:nvGrpSpPr>
          <p:cNvPr id="4" name="Group 4"/>
          <p:cNvGrpSpPr/>
          <p:nvPr/>
        </p:nvGrpSpPr>
        <p:grpSpPr>
          <a:xfrm>
            <a:off x="0" y="3977640"/>
            <a:ext cx="18287543" cy="1371600"/>
            <a:chOff x="0" y="0"/>
            <a:chExt cx="24383390" cy="1828800"/>
          </a:xfrm>
        </p:grpSpPr>
        <p:sp>
          <p:nvSpPr>
            <p:cNvPr id="5" name="Freeform 5"/>
            <p:cNvSpPr/>
            <p:nvPr/>
          </p:nvSpPr>
          <p:spPr>
            <a:xfrm>
              <a:off x="0" y="0"/>
              <a:ext cx="24383391" cy="1828800"/>
            </a:xfrm>
            <a:custGeom>
              <a:avLst/>
              <a:gdLst/>
              <a:ahLst/>
              <a:cxnLst/>
              <a:rect l="l" t="t" r="r" b="b"/>
              <a:pathLst>
                <a:path w="24383391" h="1828800">
                  <a:moveTo>
                    <a:pt x="0" y="0"/>
                  </a:moveTo>
                  <a:lnTo>
                    <a:pt x="24383391" y="0"/>
                  </a:lnTo>
                  <a:lnTo>
                    <a:pt x="24383391" y="1828800"/>
                  </a:lnTo>
                  <a:lnTo>
                    <a:pt x="0" y="1828800"/>
                  </a:lnTo>
                  <a:close/>
                </a:path>
              </a:pathLst>
            </a:custGeom>
            <a:blipFill>
              <a:blip r:embed="rId4">
                <a:alphaModFix amt="0"/>
              </a:blip>
              <a:stretch>
                <a:fillRect t="-209794" b="-209794"/>
              </a:stretch>
            </a:blipFill>
          </p:spPr>
        </p:sp>
        <p:sp>
          <p:nvSpPr>
            <p:cNvPr id="6" name="TextBox 6"/>
            <p:cNvSpPr txBox="1"/>
            <p:nvPr/>
          </p:nvSpPr>
          <p:spPr>
            <a:xfrm>
              <a:off x="0" y="-38100"/>
              <a:ext cx="24383390" cy="1866900"/>
            </a:xfrm>
            <a:prstGeom prst="rect">
              <a:avLst/>
            </a:prstGeom>
          </p:spPr>
          <p:txBody>
            <a:bodyPr lIns="0" tIns="0" rIns="0" bIns="0" rtlCol="0" anchor="ctr"/>
            <a:lstStyle/>
            <a:p>
              <a:pPr algn="ctr">
                <a:lnSpc>
                  <a:spcPts val="10800"/>
                </a:lnSpc>
              </a:pPr>
              <a:r>
                <a:rPr lang="en-US" sz="9000" b="1">
                  <a:solidFill>
                    <a:srgbClr val="FFFFFF"/>
                  </a:solidFill>
                  <a:latin typeface="Arial Bold"/>
                  <a:ea typeface="Arial Bold"/>
                  <a:cs typeface="Arial Bold"/>
                  <a:sym typeface="Arial Bold"/>
                </a:rPr>
                <a:t>Rentify</a:t>
              </a:r>
            </a:p>
          </p:txBody>
        </p:sp>
      </p:grpSp>
      <p:grpSp>
        <p:nvGrpSpPr>
          <p:cNvPr id="7" name="Group 7"/>
          <p:cNvGrpSpPr/>
          <p:nvPr/>
        </p:nvGrpSpPr>
        <p:grpSpPr>
          <a:xfrm>
            <a:off x="0" y="5349240"/>
            <a:ext cx="18287543" cy="822960"/>
            <a:chOff x="0" y="0"/>
            <a:chExt cx="24383390" cy="1097280"/>
          </a:xfrm>
        </p:grpSpPr>
        <p:sp>
          <p:nvSpPr>
            <p:cNvPr id="8" name="Freeform 8"/>
            <p:cNvSpPr/>
            <p:nvPr/>
          </p:nvSpPr>
          <p:spPr>
            <a:xfrm>
              <a:off x="0" y="0"/>
              <a:ext cx="24383391" cy="1097280"/>
            </a:xfrm>
            <a:custGeom>
              <a:avLst/>
              <a:gdLst/>
              <a:ahLst/>
              <a:cxnLst/>
              <a:rect l="l" t="t" r="r" b="b"/>
              <a:pathLst>
                <a:path w="24383391" h="1097280">
                  <a:moveTo>
                    <a:pt x="0" y="0"/>
                  </a:moveTo>
                  <a:lnTo>
                    <a:pt x="24383391" y="0"/>
                  </a:lnTo>
                  <a:lnTo>
                    <a:pt x="24383391" y="1097280"/>
                  </a:lnTo>
                  <a:lnTo>
                    <a:pt x="0" y="1097280"/>
                  </a:lnTo>
                  <a:close/>
                </a:path>
              </a:pathLst>
            </a:custGeom>
            <a:blipFill>
              <a:blip r:embed="rId4">
                <a:alphaModFix amt="0"/>
              </a:blip>
              <a:stretch>
                <a:fillRect t="-382990" b="-382990"/>
              </a:stretch>
            </a:blipFill>
          </p:spPr>
        </p:sp>
        <p:sp>
          <p:nvSpPr>
            <p:cNvPr id="9" name="TextBox 9"/>
            <p:cNvSpPr txBox="1"/>
            <p:nvPr/>
          </p:nvSpPr>
          <p:spPr>
            <a:xfrm>
              <a:off x="0" y="-19050"/>
              <a:ext cx="24383390" cy="1116330"/>
            </a:xfrm>
            <a:prstGeom prst="rect">
              <a:avLst/>
            </a:prstGeom>
          </p:spPr>
          <p:txBody>
            <a:bodyPr lIns="0" tIns="0" rIns="0" bIns="0" rtlCol="0" anchor="ctr"/>
            <a:lstStyle/>
            <a:p>
              <a:pPr algn="ctr">
                <a:lnSpc>
                  <a:spcPts val="4680"/>
                </a:lnSpc>
              </a:pPr>
              <a:r>
                <a:rPr lang="en-US" sz="3900">
                  <a:solidFill>
                    <a:srgbClr val="A7F3D0"/>
                  </a:solidFill>
                  <a:latin typeface="Arial"/>
                  <a:ea typeface="Arial"/>
                  <a:cs typeface="Arial"/>
                  <a:sym typeface="Arial"/>
                </a:rPr>
                <a:t>Sell everywhere. Manage once.</a:t>
              </a:r>
            </a:p>
          </p:txBody>
        </p:sp>
      </p:grpSp>
      <p:sp>
        <p:nvSpPr>
          <p:cNvPr id="10" name="AutoShape 10"/>
          <p:cNvSpPr/>
          <p:nvPr/>
        </p:nvSpPr>
        <p:spPr>
          <a:xfrm rot="23340">
            <a:off x="6340307" y="7451979"/>
            <a:ext cx="5606929" cy="0"/>
          </a:xfrm>
          <a:prstGeom prst="line">
            <a:avLst/>
          </a:prstGeom>
          <a:ln w="19050" cap="rnd">
            <a:solidFill>
              <a:srgbClr val="2A3B5C"/>
            </a:solidFill>
            <a:prstDash val="solid"/>
            <a:headEnd type="none" w="sm" len="sm"/>
            <a:tailEnd type="none" w="sm" len="sm"/>
          </a:ln>
        </p:spPr>
      </p:sp>
      <p:grpSp>
        <p:nvGrpSpPr>
          <p:cNvPr id="11" name="Group 11"/>
          <p:cNvGrpSpPr/>
          <p:nvPr/>
        </p:nvGrpSpPr>
        <p:grpSpPr>
          <a:xfrm>
            <a:off x="5824499" y="6926580"/>
            <a:ext cx="1069848" cy="1069848"/>
            <a:chOff x="0" y="0"/>
            <a:chExt cx="1426464" cy="1426464"/>
          </a:xfrm>
        </p:grpSpPr>
        <p:sp>
          <p:nvSpPr>
            <p:cNvPr id="12" name="Freeform 12"/>
            <p:cNvSpPr/>
            <p:nvPr/>
          </p:nvSpPr>
          <p:spPr>
            <a:xfrm>
              <a:off x="0" y="0"/>
              <a:ext cx="1426464" cy="1426464"/>
            </a:xfrm>
            <a:custGeom>
              <a:avLst/>
              <a:gdLst/>
              <a:ahLst/>
              <a:cxnLst/>
              <a:rect l="l" t="t" r="r" b="b"/>
              <a:pathLst>
                <a:path w="1426464" h="1426464">
                  <a:moveTo>
                    <a:pt x="0" y="313817"/>
                  </a:moveTo>
                  <a:cubicBezTo>
                    <a:pt x="0" y="140462"/>
                    <a:pt x="140462" y="0"/>
                    <a:pt x="313817" y="0"/>
                  </a:cubicBezTo>
                  <a:lnTo>
                    <a:pt x="1112647" y="0"/>
                  </a:lnTo>
                  <a:cubicBezTo>
                    <a:pt x="1286002" y="0"/>
                    <a:pt x="1426464" y="140462"/>
                    <a:pt x="1426464" y="313817"/>
                  </a:cubicBezTo>
                  <a:lnTo>
                    <a:pt x="1426464" y="1112647"/>
                  </a:lnTo>
                  <a:cubicBezTo>
                    <a:pt x="1426464" y="1286002"/>
                    <a:pt x="1286002" y="1426464"/>
                    <a:pt x="1112647" y="1426464"/>
                  </a:cubicBezTo>
                  <a:lnTo>
                    <a:pt x="313817" y="1426464"/>
                  </a:lnTo>
                  <a:cubicBezTo>
                    <a:pt x="140462" y="1426464"/>
                    <a:pt x="0" y="1286002"/>
                    <a:pt x="0" y="1112647"/>
                  </a:cubicBezTo>
                  <a:close/>
                </a:path>
              </a:pathLst>
            </a:custGeom>
            <a:solidFill>
              <a:srgbClr val="F97316"/>
            </a:solidFill>
          </p:spPr>
        </p:sp>
      </p:grpSp>
      <p:grpSp>
        <p:nvGrpSpPr>
          <p:cNvPr id="13" name="Group 13"/>
          <p:cNvGrpSpPr/>
          <p:nvPr/>
        </p:nvGrpSpPr>
        <p:grpSpPr>
          <a:xfrm>
            <a:off x="6081265" y="7183345"/>
            <a:ext cx="556317" cy="556317"/>
            <a:chOff x="0" y="0"/>
            <a:chExt cx="741756" cy="741756"/>
          </a:xfrm>
        </p:grpSpPr>
        <p:sp>
          <p:nvSpPr>
            <p:cNvPr id="14" name="Freeform 14" descr="preencoded.png"/>
            <p:cNvSpPr/>
            <p:nvPr/>
          </p:nvSpPr>
          <p:spPr>
            <a:xfrm>
              <a:off x="0" y="0"/>
              <a:ext cx="741807" cy="741807"/>
            </a:xfrm>
            <a:custGeom>
              <a:avLst/>
              <a:gdLst/>
              <a:ahLst/>
              <a:cxnLst/>
              <a:rect l="l" t="t" r="r" b="b"/>
              <a:pathLst>
                <a:path w="741807" h="741807">
                  <a:moveTo>
                    <a:pt x="0" y="0"/>
                  </a:moveTo>
                  <a:lnTo>
                    <a:pt x="741807" y="0"/>
                  </a:lnTo>
                  <a:lnTo>
                    <a:pt x="741807" y="741807"/>
                  </a:lnTo>
                  <a:lnTo>
                    <a:pt x="0" y="741807"/>
                  </a:lnTo>
                  <a:lnTo>
                    <a:pt x="0" y="0"/>
                  </a:lnTo>
                  <a:close/>
                </a:path>
              </a:pathLst>
            </a:custGeom>
            <a:blipFill>
              <a:blip r:embed="rId5"/>
              <a:stretch>
                <a:fillRect r="6" b="6"/>
              </a:stretch>
            </a:blipFill>
          </p:spPr>
        </p:sp>
      </p:grpSp>
      <p:grpSp>
        <p:nvGrpSpPr>
          <p:cNvPr id="15" name="Group 15"/>
          <p:cNvGrpSpPr/>
          <p:nvPr/>
        </p:nvGrpSpPr>
        <p:grpSpPr>
          <a:xfrm>
            <a:off x="5138699" y="8133588"/>
            <a:ext cx="2441448" cy="411480"/>
            <a:chOff x="0" y="0"/>
            <a:chExt cx="3255264" cy="548640"/>
          </a:xfrm>
        </p:grpSpPr>
        <p:sp>
          <p:nvSpPr>
            <p:cNvPr id="16" name="Freeform 16"/>
            <p:cNvSpPr/>
            <p:nvPr/>
          </p:nvSpPr>
          <p:spPr>
            <a:xfrm>
              <a:off x="0" y="0"/>
              <a:ext cx="3255264" cy="548640"/>
            </a:xfrm>
            <a:custGeom>
              <a:avLst/>
              <a:gdLst/>
              <a:ahLst/>
              <a:cxnLst/>
              <a:rect l="l" t="t" r="r" b="b"/>
              <a:pathLst>
                <a:path w="3255264" h="548640">
                  <a:moveTo>
                    <a:pt x="0" y="0"/>
                  </a:moveTo>
                  <a:lnTo>
                    <a:pt x="3255264" y="0"/>
                  </a:lnTo>
                  <a:lnTo>
                    <a:pt x="3255264" y="548640"/>
                  </a:lnTo>
                  <a:lnTo>
                    <a:pt x="0" y="548640"/>
                  </a:lnTo>
                  <a:close/>
                </a:path>
              </a:pathLst>
            </a:custGeom>
            <a:blipFill>
              <a:blip r:embed="rId4">
                <a:alphaModFix amt="0"/>
              </a:blip>
              <a:stretch>
                <a:fillRect t="-65611" b="-65611"/>
              </a:stretch>
            </a:blipFill>
          </p:spPr>
        </p:sp>
        <p:sp>
          <p:nvSpPr>
            <p:cNvPr id="17" name="TextBox 17"/>
            <p:cNvSpPr txBox="1"/>
            <p:nvPr/>
          </p:nvSpPr>
          <p:spPr>
            <a:xfrm>
              <a:off x="0" y="-19050"/>
              <a:ext cx="3255264" cy="567690"/>
            </a:xfrm>
            <a:prstGeom prst="rect">
              <a:avLst/>
            </a:prstGeom>
          </p:spPr>
          <p:txBody>
            <a:bodyPr lIns="0" tIns="0" rIns="0" bIns="0" rtlCol="0" anchor="ctr"/>
            <a:lstStyle/>
            <a:p>
              <a:pPr algn="ctr">
                <a:lnSpc>
                  <a:spcPts val="2340"/>
                </a:lnSpc>
              </a:pPr>
              <a:r>
                <a:rPr lang="en-US" sz="1950" b="1">
                  <a:solidFill>
                    <a:srgbClr val="9FB3CF"/>
                  </a:solidFill>
                  <a:latin typeface="Arial Bold"/>
                  <a:ea typeface="Arial Bold"/>
                  <a:cs typeface="Arial Bold"/>
                  <a:sym typeface="Arial Bold"/>
                </a:rPr>
                <a:t>Marketplace</a:t>
              </a:r>
            </a:p>
          </p:txBody>
        </p:sp>
      </p:grpSp>
      <p:grpSp>
        <p:nvGrpSpPr>
          <p:cNvPr id="18" name="Group 18"/>
          <p:cNvGrpSpPr/>
          <p:nvPr/>
        </p:nvGrpSpPr>
        <p:grpSpPr>
          <a:xfrm>
            <a:off x="8608847" y="6926580"/>
            <a:ext cx="1069848" cy="1069848"/>
            <a:chOff x="0" y="0"/>
            <a:chExt cx="1426464" cy="1426464"/>
          </a:xfrm>
        </p:grpSpPr>
        <p:sp>
          <p:nvSpPr>
            <p:cNvPr id="19" name="Freeform 19"/>
            <p:cNvSpPr/>
            <p:nvPr/>
          </p:nvSpPr>
          <p:spPr>
            <a:xfrm>
              <a:off x="0" y="0"/>
              <a:ext cx="1426464" cy="1426464"/>
            </a:xfrm>
            <a:custGeom>
              <a:avLst/>
              <a:gdLst/>
              <a:ahLst/>
              <a:cxnLst/>
              <a:rect l="l" t="t" r="r" b="b"/>
              <a:pathLst>
                <a:path w="1426464" h="1426464">
                  <a:moveTo>
                    <a:pt x="0" y="313817"/>
                  </a:moveTo>
                  <a:cubicBezTo>
                    <a:pt x="0" y="140462"/>
                    <a:pt x="140462" y="0"/>
                    <a:pt x="313817" y="0"/>
                  </a:cubicBezTo>
                  <a:lnTo>
                    <a:pt x="1112647" y="0"/>
                  </a:lnTo>
                  <a:cubicBezTo>
                    <a:pt x="1286002" y="0"/>
                    <a:pt x="1426464" y="140462"/>
                    <a:pt x="1426464" y="313817"/>
                  </a:cubicBezTo>
                  <a:lnTo>
                    <a:pt x="1426464" y="1112647"/>
                  </a:lnTo>
                  <a:cubicBezTo>
                    <a:pt x="1426464" y="1286002"/>
                    <a:pt x="1286002" y="1426464"/>
                    <a:pt x="1112647" y="1426464"/>
                  </a:cubicBezTo>
                  <a:lnTo>
                    <a:pt x="313817" y="1426464"/>
                  </a:lnTo>
                  <a:cubicBezTo>
                    <a:pt x="140462" y="1426464"/>
                    <a:pt x="0" y="1286002"/>
                    <a:pt x="0" y="1112647"/>
                  </a:cubicBezTo>
                  <a:close/>
                </a:path>
              </a:pathLst>
            </a:custGeom>
            <a:solidFill>
              <a:srgbClr val="2463E8"/>
            </a:solidFill>
          </p:spPr>
        </p:sp>
      </p:grpSp>
      <p:grpSp>
        <p:nvGrpSpPr>
          <p:cNvPr id="20" name="Group 20"/>
          <p:cNvGrpSpPr/>
          <p:nvPr/>
        </p:nvGrpSpPr>
        <p:grpSpPr>
          <a:xfrm>
            <a:off x="8865613" y="7183345"/>
            <a:ext cx="556317" cy="556317"/>
            <a:chOff x="0" y="0"/>
            <a:chExt cx="741756" cy="741756"/>
          </a:xfrm>
        </p:grpSpPr>
        <p:sp>
          <p:nvSpPr>
            <p:cNvPr id="21" name="Freeform 21" descr="preencoded.png"/>
            <p:cNvSpPr/>
            <p:nvPr/>
          </p:nvSpPr>
          <p:spPr>
            <a:xfrm>
              <a:off x="0" y="0"/>
              <a:ext cx="741807" cy="741807"/>
            </a:xfrm>
            <a:custGeom>
              <a:avLst/>
              <a:gdLst/>
              <a:ahLst/>
              <a:cxnLst/>
              <a:rect l="l" t="t" r="r" b="b"/>
              <a:pathLst>
                <a:path w="741807" h="741807">
                  <a:moveTo>
                    <a:pt x="0" y="0"/>
                  </a:moveTo>
                  <a:lnTo>
                    <a:pt x="741807" y="0"/>
                  </a:lnTo>
                  <a:lnTo>
                    <a:pt x="741807" y="741807"/>
                  </a:lnTo>
                  <a:lnTo>
                    <a:pt x="0" y="741807"/>
                  </a:lnTo>
                  <a:lnTo>
                    <a:pt x="0" y="0"/>
                  </a:lnTo>
                  <a:close/>
                </a:path>
              </a:pathLst>
            </a:custGeom>
            <a:blipFill>
              <a:blip r:embed="rId6"/>
              <a:stretch>
                <a:fillRect r="6" b="6"/>
              </a:stretch>
            </a:blipFill>
          </p:spPr>
        </p:sp>
      </p:grpSp>
      <p:grpSp>
        <p:nvGrpSpPr>
          <p:cNvPr id="22" name="Group 22"/>
          <p:cNvGrpSpPr/>
          <p:nvPr/>
        </p:nvGrpSpPr>
        <p:grpSpPr>
          <a:xfrm>
            <a:off x="7923047" y="8133588"/>
            <a:ext cx="2441448" cy="411480"/>
            <a:chOff x="0" y="0"/>
            <a:chExt cx="3255264" cy="548640"/>
          </a:xfrm>
        </p:grpSpPr>
        <p:sp>
          <p:nvSpPr>
            <p:cNvPr id="23" name="Freeform 23"/>
            <p:cNvSpPr/>
            <p:nvPr/>
          </p:nvSpPr>
          <p:spPr>
            <a:xfrm>
              <a:off x="0" y="0"/>
              <a:ext cx="3255264" cy="548640"/>
            </a:xfrm>
            <a:custGeom>
              <a:avLst/>
              <a:gdLst/>
              <a:ahLst/>
              <a:cxnLst/>
              <a:rect l="l" t="t" r="r" b="b"/>
              <a:pathLst>
                <a:path w="3255264" h="548640">
                  <a:moveTo>
                    <a:pt x="0" y="0"/>
                  </a:moveTo>
                  <a:lnTo>
                    <a:pt x="3255264" y="0"/>
                  </a:lnTo>
                  <a:lnTo>
                    <a:pt x="3255264" y="548640"/>
                  </a:lnTo>
                  <a:lnTo>
                    <a:pt x="0" y="548640"/>
                  </a:lnTo>
                  <a:close/>
                </a:path>
              </a:pathLst>
            </a:custGeom>
            <a:blipFill>
              <a:blip r:embed="rId4">
                <a:alphaModFix amt="0"/>
              </a:blip>
              <a:stretch>
                <a:fillRect t="-65611" b="-65611"/>
              </a:stretch>
            </a:blipFill>
          </p:spPr>
        </p:sp>
        <p:sp>
          <p:nvSpPr>
            <p:cNvPr id="24" name="TextBox 24"/>
            <p:cNvSpPr txBox="1"/>
            <p:nvPr/>
          </p:nvSpPr>
          <p:spPr>
            <a:xfrm>
              <a:off x="0" y="-19050"/>
              <a:ext cx="3255264" cy="567690"/>
            </a:xfrm>
            <a:prstGeom prst="rect">
              <a:avLst/>
            </a:prstGeom>
          </p:spPr>
          <p:txBody>
            <a:bodyPr lIns="0" tIns="0" rIns="0" bIns="0" rtlCol="0" anchor="ctr"/>
            <a:lstStyle/>
            <a:p>
              <a:pPr algn="ctr">
                <a:lnSpc>
                  <a:spcPts val="2340"/>
                </a:lnSpc>
              </a:pPr>
              <a:r>
                <a:rPr lang="en-US" sz="1950" b="1">
                  <a:solidFill>
                    <a:srgbClr val="9FB3CF"/>
                  </a:solidFill>
                  <a:latin typeface="Arial Bold"/>
                  <a:ea typeface="Arial Bold"/>
                  <a:cs typeface="Arial Bold"/>
                  <a:sym typeface="Arial Bold"/>
                </a:rPr>
                <a:t>Storefront</a:t>
              </a:r>
            </a:p>
          </p:txBody>
        </p:sp>
      </p:grpSp>
      <p:grpSp>
        <p:nvGrpSpPr>
          <p:cNvPr id="25" name="Group 25"/>
          <p:cNvGrpSpPr/>
          <p:nvPr/>
        </p:nvGrpSpPr>
        <p:grpSpPr>
          <a:xfrm>
            <a:off x="11393195" y="6926580"/>
            <a:ext cx="1069848" cy="1069848"/>
            <a:chOff x="0" y="0"/>
            <a:chExt cx="1426464" cy="1426464"/>
          </a:xfrm>
        </p:grpSpPr>
        <p:sp>
          <p:nvSpPr>
            <p:cNvPr id="26" name="Freeform 26"/>
            <p:cNvSpPr/>
            <p:nvPr/>
          </p:nvSpPr>
          <p:spPr>
            <a:xfrm>
              <a:off x="0" y="0"/>
              <a:ext cx="1426464" cy="1426464"/>
            </a:xfrm>
            <a:custGeom>
              <a:avLst/>
              <a:gdLst/>
              <a:ahLst/>
              <a:cxnLst/>
              <a:rect l="l" t="t" r="r" b="b"/>
              <a:pathLst>
                <a:path w="1426464" h="1426464">
                  <a:moveTo>
                    <a:pt x="0" y="313817"/>
                  </a:moveTo>
                  <a:cubicBezTo>
                    <a:pt x="0" y="140462"/>
                    <a:pt x="140462" y="0"/>
                    <a:pt x="313817" y="0"/>
                  </a:cubicBezTo>
                  <a:lnTo>
                    <a:pt x="1112647" y="0"/>
                  </a:lnTo>
                  <a:cubicBezTo>
                    <a:pt x="1286002" y="0"/>
                    <a:pt x="1426464" y="140462"/>
                    <a:pt x="1426464" y="313817"/>
                  </a:cubicBezTo>
                  <a:lnTo>
                    <a:pt x="1426464" y="1112647"/>
                  </a:lnTo>
                  <a:cubicBezTo>
                    <a:pt x="1426464" y="1286002"/>
                    <a:pt x="1286002" y="1426464"/>
                    <a:pt x="1112647" y="1426464"/>
                  </a:cubicBezTo>
                  <a:lnTo>
                    <a:pt x="313817" y="1426464"/>
                  </a:lnTo>
                  <a:cubicBezTo>
                    <a:pt x="140462" y="1426464"/>
                    <a:pt x="0" y="1286002"/>
                    <a:pt x="0" y="1112647"/>
                  </a:cubicBezTo>
                  <a:close/>
                </a:path>
              </a:pathLst>
            </a:custGeom>
            <a:solidFill>
              <a:srgbClr val="0AA7A2"/>
            </a:solidFill>
          </p:spPr>
        </p:sp>
      </p:grpSp>
      <p:grpSp>
        <p:nvGrpSpPr>
          <p:cNvPr id="27" name="Group 27"/>
          <p:cNvGrpSpPr/>
          <p:nvPr/>
        </p:nvGrpSpPr>
        <p:grpSpPr>
          <a:xfrm>
            <a:off x="11649961" y="7183345"/>
            <a:ext cx="556317" cy="556317"/>
            <a:chOff x="0" y="0"/>
            <a:chExt cx="741756" cy="741756"/>
          </a:xfrm>
        </p:grpSpPr>
        <p:sp>
          <p:nvSpPr>
            <p:cNvPr id="28" name="Freeform 28" descr="preencoded.png"/>
            <p:cNvSpPr/>
            <p:nvPr/>
          </p:nvSpPr>
          <p:spPr>
            <a:xfrm>
              <a:off x="0" y="0"/>
              <a:ext cx="741807" cy="741807"/>
            </a:xfrm>
            <a:custGeom>
              <a:avLst/>
              <a:gdLst/>
              <a:ahLst/>
              <a:cxnLst/>
              <a:rect l="l" t="t" r="r" b="b"/>
              <a:pathLst>
                <a:path w="741807" h="741807">
                  <a:moveTo>
                    <a:pt x="0" y="0"/>
                  </a:moveTo>
                  <a:lnTo>
                    <a:pt x="741807" y="0"/>
                  </a:lnTo>
                  <a:lnTo>
                    <a:pt x="741807" y="741807"/>
                  </a:lnTo>
                  <a:lnTo>
                    <a:pt x="0" y="741807"/>
                  </a:lnTo>
                  <a:lnTo>
                    <a:pt x="0" y="0"/>
                  </a:lnTo>
                  <a:close/>
                </a:path>
              </a:pathLst>
            </a:custGeom>
            <a:blipFill>
              <a:blip r:embed="rId7"/>
              <a:stretch>
                <a:fillRect r="6" b="6"/>
              </a:stretch>
            </a:blipFill>
          </p:spPr>
        </p:sp>
      </p:grpSp>
      <p:grpSp>
        <p:nvGrpSpPr>
          <p:cNvPr id="29" name="Group 29"/>
          <p:cNvGrpSpPr/>
          <p:nvPr/>
        </p:nvGrpSpPr>
        <p:grpSpPr>
          <a:xfrm>
            <a:off x="10707395" y="8133588"/>
            <a:ext cx="2441448" cy="411480"/>
            <a:chOff x="0" y="0"/>
            <a:chExt cx="3255264" cy="548640"/>
          </a:xfrm>
        </p:grpSpPr>
        <p:sp>
          <p:nvSpPr>
            <p:cNvPr id="30" name="Freeform 30"/>
            <p:cNvSpPr/>
            <p:nvPr/>
          </p:nvSpPr>
          <p:spPr>
            <a:xfrm>
              <a:off x="0" y="0"/>
              <a:ext cx="3255264" cy="548640"/>
            </a:xfrm>
            <a:custGeom>
              <a:avLst/>
              <a:gdLst/>
              <a:ahLst/>
              <a:cxnLst/>
              <a:rect l="l" t="t" r="r" b="b"/>
              <a:pathLst>
                <a:path w="3255264" h="548640">
                  <a:moveTo>
                    <a:pt x="0" y="0"/>
                  </a:moveTo>
                  <a:lnTo>
                    <a:pt x="3255264" y="0"/>
                  </a:lnTo>
                  <a:lnTo>
                    <a:pt x="3255264" y="548640"/>
                  </a:lnTo>
                  <a:lnTo>
                    <a:pt x="0" y="548640"/>
                  </a:lnTo>
                  <a:close/>
                </a:path>
              </a:pathLst>
            </a:custGeom>
            <a:blipFill>
              <a:blip r:embed="rId4">
                <a:alphaModFix amt="0"/>
              </a:blip>
              <a:stretch>
                <a:fillRect t="-65611" b="-65611"/>
              </a:stretch>
            </a:blipFill>
          </p:spPr>
        </p:sp>
        <p:sp>
          <p:nvSpPr>
            <p:cNvPr id="31" name="TextBox 31"/>
            <p:cNvSpPr txBox="1"/>
            <p:nvPr/>
          </p:nvSpPr>
          <p:spPr>
            <a:xfrm>
              <a:off x="0" y="-19050"/>
              <a:ext cx="3255264" cy="567690"/>
            </a:xfrm>
            <a:prstGeom prst="rect">
              <a:avLst/>
            </a:prstGeom>
          </p:spPr>
          <p:txBody>
            <a:bodyPr lIns="0" tIns="0" rIns="0" bIns="0" rtlCol="0" anchor="ctr"/>
            <a:lstStyle/>
            <a:p>
              <a:pPr algn="ctr">
                <a:lnSpc>
                  <a:spcPts val="2340"/>
                </a:lnSpc>
              </a:pPr>
              <a:r>
                <a:rPr lang="en-US" sz="1950" b="1">
                  <a:solidFill>
                    <a:srgbClr val="9FB3CF"/>
                  </a:solidFill>
                  <a:latin typeface="Arial Bold"/>
                  <a:ea typeface="Arial Bold"/>
                  <a:cs typeface="Arial Bold"/>
                  <a:sym typeface="Arial Bold"/>
                </a:rPr>
                <a:t>POS</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22960" y="480060"/>
            <a:ext cx="16637508" cy="960120"/>
            <a:chOff x="0" y="0"/>
            <a:chExt cx="22183344" cy="1280160"/>
          </a:xfrm>
        </p:grpSpPr>
        <p:sp>
          <p:nvSpPr>
            <p:cNvPr id="3" name="Freeform 3"/>
            <p:cNvSpPr/>
            <p:nvPr/>
          </p:nvSpPr>
          <p:spPr>
            <a:xfrm>
              <a:off x="0" y="0"/>
              <a:ext cx="22183344" cy="1280160"/>
            </a:xfrm>
            <a:custGeom>
              <a:avLst/>
              <a:gdLst/>
              <a:ahLst/>
              <a:cxnLst/>
              <a:rect l="l" t="t" r="r" b="b"/>
              <a:pathLst>
                <a:path w="22183344" h="1280160">
                  <a:moveTo>
                    <a:pt x="0" y="0"/>
                  </a:moveTo>
                  <a:lnTo>
                    <a:pt x="22183344" y="0"/>
                  </a:lnTo>
                  <a:lnTo>
                    <a:pt x="22183344" y="1280160"/>
                  </a:lnTo>
                  <a:lnTo>
                    <a:pt x="0" y="1280160"/>
                  </a:lnTo>
                  <a:close/>
                </a:path>
              </a:pathLst>
            </a:custGeom>
            <a:blipFill>
              <a:blip r:embed="rId3">
                <a:alphaModFix amt="0"/>
              </a:blip>
              <a:stretch>
                <a:fillRect t="-287647" b="-287647"/>
              </a:stretch>
            </a:blipFill>
          </p:spPr>
        </p:sp>
        <p:sp>
          <p:nvSpPr>
            <p:cNvPr id="4" name="TextBox 4"/>
            <p:cNvSpPr txBox="1"/>
            <p:nvPr/>
          </p:nvSpPr>
          <p:spPr>
            <a:xfrm>
              <a:off x="0" y="-19050"/>
              <a:ext cx="22183344" cy="1299210"/>
            </a:xfrm>
            <a:prstGeom prst="rect">
              <a:avLst/>
            </a:prstGeom>
          </p:spPr>
          <p:txBody>
            <a:bodyPr lIns="0" tIns="0" rIns="0" bIns="0" rtlCol="0" anchor="ctr"/>
            <a:lstStyle/>
            <a:p>
              <a:pPr algn="ctr">
                <a:lnSpc>
                  <a:spcPts val="5759"/>
                </a:lnSpc>
              </a:pPr>
              <a:r>
                <a:rPr lang="en-US" sz="4800" b="1">
                  <a:solidFill>
                    <a:srgbClr val="15243A"/>
                  </a:solidFill>
                  <a:latin typeface="Arial Bold"/>
                  <a:ea typeface="Arial Bold"/>
                  <a:cs typeface="Arial Bold"/>
                  <a:sym typeface="Arial Bold"/>
                </a:rPr>
                <a:t>One merchant. Too many places to update.</a:t>
              </a:r>
            </a:p>
          </p:txBody>
        </p:sp>
      </p:grpSp>
      <p:grpSp>
        <p:nvGrpSpPr>
          <p:cNvPr id="5" name="Group 5"/>
          <p:cNvGrpSpPr/>
          <p:nvPr/>
        </p:nvGrpSpPr>
        <p:grpSpPr>
          <a:xfrm>
            <a:off x="6240780" y="2400300"/>
            <a:ext cx="5760720" cy="5760720"/>
            <a:chOff x="0" y="0"/>
            <a:chExt cx="7680960" cy="7680960"/>
          </a:xfrm>
        </p:grpSpPr>
        <p:sp>
          <p:nvSpPr>
            <p:cNvPr id="6" name="Freeform 6"/>
            <p:cNvSpPr/>
            <p:nvPr/>
          </p:nvSpPr>
          <p:spPr>
            <a:xfrm>
              <a:off x="0" y="0"/>
              <a:ext cx="7680960" cy="7680960"/>
            </a:xfrm>
            <a:custGeom>
              <a:avLst/>
              <a:gdLst/>
              <a:ahLst/>
              <a:cxnLst/>
              <a:rect l="l" t="t" r="r" b="b"/>
              <a:pathLst>
                <a:path w="7680960" h="7680960">
                  <a:moveTo>
                    <a:pt x="0" y="3840480"/>
                  </a:moveTo>
                  <a:cubicBezTo>
                    <a:pt x="0" y="1719453"/>
                    <a:pt x="1719453" y="0"/>
                    <a:pt x="3840480" y="0"/>
                  </a:cubicBezTo>
                  <a:cubicBezTo>
                    <a:pt x="5961507" y="0"/>
                    <a:pt x="7680960" y="1719453"/>
                    <a:pt x="7680960" y="3840480"/>
                  </a:cubicBezTo>
                  <a:cubicBezTo>
                    <a:pt x="7680960" y="5961507"/>
                    <a:pt x="5961507" y="7680960"/>
                    <a:pt x="3840480" y="7680960"/>
                  </a:cubicBezTo>
                  <a:cubicBezTo>
                    <a:pt x="1719453" y="7680960"/>
                    <a:pt x="0" y="5961507"/>
                    <a:pt x="0" y="3840480"/>
                  </a:cubicBezTo>
                  <a:close/>
                </a:path>
              </a:pathLst>
            </a:custGeom>
            <a:solidFill>
              <a:srgbClr val="FDE2E2"/>
            </a:solidFill>
          </p:spPr>
        </p:sp>
      </p:grpSp>
      <p:grpSp>
        <p:nvGrpSpPr>
          <p:cNvPr id="7" name="Group 7"/>
          <p:cNvGrpSpPr/>
          <p:nvPr/>
        </p:nvGrpSpPr>
        <p:grpSpPr>
          <a:xfrm>
            <a:off x="5719572" y="1783080"/>
            <a:ext cx="6858000" cy="6858000"/>
            <a:chOff x="0" y="0"/>
            <a:chExt cx="9144000" cy="9144000"/>
          </a:xfrm>
        </p:grpSpPr>
        <p:sp>
          <p:nvSpPr>
            <p:cNvPr id="8" name="Freeform 8" descr="Illustration of a stressed shop owner in an apron grabbing her head"/>
            <p:cNvSpPr/>
            <p:nvPr/>
          </p:nvSpPr>
          <p:spPr>
            <a:xfrm>
              <a:off x="0" y="0"/>
              <a:ext cx="9144000" cy="9144000"/>
            </a:xfrm>
            <a:custGeom>
              <a:avLst/>
              <a:gdLst/>
              <a:ahLst/>
              <a:cxnLst/>
              <a:rect l="l" t="t" r="r" b="b"/>
              <a:pathLst>
                <a:path w="9144000" h="9144000">
                  <a:moveTo>
                    <a:pt x="0" y="0"/>
                  </a:moveTo>
                  <a:lnTo>
                    <a:pt x="9144000" y="0"/>
                  </a:lnTo>
                  <a:lnTo>
                    <a:pt x="9144000" y="9144000"/>
                  </a:lnTo>
                  <a:lnTo>
                    <a:pt x="0" y="9144000"/>
                  </a:lnTo>
                  <a:lnTo>
                    <a:pt x="0" y="0"/>
                  </a:lnTo>
                  <a:close/>
                </a:path>
              </a:pathLst>
            </a:custGeom>
            <a:blipFill>
              <a:blip r:embed="rId4"/>
              <a:stretch>
                <a:fillRect/>
              </a:stretch>
            </a:blipFill>
          </p:spPr>
        </p:sp>
      </p:grpSp>
      <p:grpSp>
        <p:nvGrpSpPr>
          <p:cNvPr id="9" name="Group 9"/>
          <p:cNvGrpSpPr/>
          <p:nvPr/>
        </p:nvGrpSpPr>
        <p:grpSpPr>
          <a:xfrm rot="-300000">
            <a:off x="1224915" y="1979295"/>
            <a:ext cx="4408170" cy="1664970"/>
            <a:chOff x="0" y="0"/>
            <a:chExt cx="5877560" cy="2219960"/>
          </a:xfrm>
        </p:grpSpPr>
        <p:sp>
          <p:nvSpPr>
            <p:cNvPr id="10" name="Freeform 10"/>
            <p:cNvSpPr/>
            <p:nvPr/>
          </p:nvSpPr>
          <p:spPr>
            <a:xfrm>
              <a:off x="0" y="0"/>
              <a:ext cx="5877560" cy="2219960"/>
            </a:xfrm>
            <a:custGeom>
              <a:avLst/>
              <a:gdLst/>
              <a:ahLst/>
              <a:cxnLst/>
              <a:rect l="l" t="t" r="r" b="b"/>
              <a:pathLst>
                <a:path w="5877560" h="2219960">
                  <a:moveTo>
                    <a:pt x="0" y="221996"/>
                  </a:moveTo>
                  <a:cubicBezTo>
                    <a:pt x="0" y="99441"/>
                    <a:pt x="99441" y="0"/>
                    <a:pt x="221996" y="0"/>
                  </a:cubicBezTo>
                  <a:lnTo>
                    <a:pt x="5655564" y="0"/>
                  </a:lnTo>
                  <a:cubicBezTo>
                    <a:pt x="5778119" y="0"/>
                    <a:pt x="5877560" y="99441"/>
                    <a:pt x="5877560" y="221996"/>
                  </a:cubicBezTo>
                  <a:lnTo>
                    <a:pt x="5877560" y="1997964"/>
                  </a:lnTo>
                  <a:cubicBezTo>
                    <a:pt x="5877560" y="2120519"/>
                    <a:pt x="5778119" y="2219960"/>
                    <a:pt x="5655564" y="2219960"/>
                  </a:cubicBezTo>
                  <a:lnTo>
                    <a:pt x="221996" y="2219960"/>
                  </a:lnTo>
                  <a:cubicBezTo>
                    <a:pt x="99441" y="2219960"/>
                    <a:pt x="0" y="2120519"/>
                    <a:pt x="0" y="1997964"/>
                  </a:cubicBezTo>
                  <a:close/>
                </a:path>
              </a:pathLst>
            </a:custGeom>
            <a:solidFill>
              <a:srgbClr val="FFFFFF"/>
            </a:solidFill>
            <a:ln w="19050" cap="sq">
              <a:solidFill>
                <a:srgbClr val="E2E8F0"/>
              </a:solidFill>
              <a:prstDash val="solid"/>
              <a:miter/>
            </a:ln>
          </p:spPr>
        </p:sp>
        <p:sp>
          <p:nvSpPr>
            <p:cNvPr id="11" name="TextBox 11"/>
            <p:cNvSpPr txBox="1"/>
            <p:nvPr/>
          </p:nvSpPr>
          <p:spPr>
            <a:xfrm>
              <a:off x="0" y="-9525"/>
              <a:ext cx="5877560" cy="2229485"/>
            </a:xfrm>
            <a:prstGeom prst="rect">
              <a:avLst/>
            </a:prstGeom>
          </p:spPr>
          <p:txBody>
            <a:bodyPr lIns="50800" tIns="50800" rIns="50800" bIns="50800" rtlCol="0" anchor="ctr"/>
            <a:lstStyle/>
            <a:p>
              <a:pPr algn="ctr">
                <a:lnSpc>
                  <a:spcPts val="2520"/>
                </a:lnSpc>
              </a:pPr>
              <a:r>
                <a:rPr lang="en-US" sz="2100">
                  <a:solidFill>
                    <a:srgbClr val="52637A"/>
                  </a:solidFill>
                  <a:latin typeface="Arial"/>
                  <a:ea typeface="Arial"/>
                  <a:cs typeface="Arial"/>
                  <a:sym typeface="Arial"/>
                </a:rPr>
                <a:t>Facebook</a:t>
              </a:r>
            </a:p>
            <a:p>
              <a:pPr algn="ctr">
                <a:lnSpc>
                  <a:spcPts val="5400"/>
                </a:lnSpc>
              </a:pPr>
              <a:r>
                <a:rPr lang="en-US" sz="4500" b="1">
                  <a:solidFill>
                    <a:srgbClr val="16A34A"/>
                  </a:solidFill>
                  <a:latin typeface="Arial Bold"/>
                  <a:ea typeface="Arial Bold"/>
                  <a:cs typeface="Arial Bold"/>
                  <a:sym typeface="Arial Bold"/>
                </a:rPr>
                <a:t>IN STOCK</a:t>
              </a:r>
            </a:p>
          </p:txBody>
        </p:sp>
      </p:grpSp>
      <p:grpSp>
        <p:nvGrpSpPr>
          <p:cNvPr id="12" name="Group 12"/>
          <p:cNvGrpSpPr/>
          <p:nvPr/>
        </p:nvGrpSpPr>
        <p:grpSpPr>
          <a:xfrm rot="-300000">
            <a:off x="725805" y="1548765"/>
            <a:ext cx="1017270" cy="1017270"/>
            <a:chOff x="0" y="0"/>
            <a:chExt cx="1356360" cy="1356360"/>
          </a:xfrm>
        </p:grpSpPr>
        <p:sp>
          <p:nvSpPr>
            <p:cNvPr id="13" name="Freeform 13"/>
            <p:cNvSpPr/>
            <p:nvPr/>
          </p:nvSpPr>
          <p:spPr>
            <a:xfrm>
              <a:off x="0" y="0"/>
              <a:ext cx="1356360" cy="1356360"/>
            </a:xfrm>
            <a:custGeom>
              <a:avLst/>
              <a:gdLst/>
              <a:ahLst/>
              <a:cxnLst/>
              <a:rect l="l" t="t" r="r" b="b"/>
              <a:pathLst>
                <a:path w="1356360" h="1356360">
                  <a:moveTo>
                    <a:pt x="0" y="678180"/>
                  </a:moveTo>
                  <a:cubicBezTo>
                    <a:pt x="0" y="303657"/>
                    <a:pt x="303657" y="0"/>
                    <a:pt x="678180" y="0"/>
                  </a:cubicBezTo>
                  <a:cubicBezTo>
                    <a:pt x="1052703" y="0"/>
                    <a:pt x="1356360" y="303657"/>
                    <a:pt x="1356360" y="678180"/>
                  </a:cubicBezTo>
                  <a:cubicBezTo>
                    <a:pt x="1356360" y="1052703"/>
                    <a:pt x="1052703" y="1356360"/>
                    <a:pt x="678180" y="1356360"/>
                  </a:cubicBezTo>
                  <a:cubicBezTo>
                    <a:pt x="303657" y="1356360"/>
                    <a:pt x="0" y="1052703"/>
                    <a:pt x="0" y="678180"/>
                  </a:cubicBezTo>
                  <a:close/>
                </a:path>
              </a:pathLst>
            </a:custGeom>
            <a:solidFill>
              <a:srgbClr val="1877F2"/>
            </a:solidFill>
            <a:ln w="57150" cap="sq">
              <a:solidFill>
                <a:srgbClr val="FFFFFF"/>
              </a:solidFill>
              <a:prstDash val="solid"/>
              <a:miter/>
            </a:ln>
          </p:spPr>
        </p:sp>
      </p:grpSp>
      <p:grpSp>
        <p:nvGrpSpPr>
          <p:cNvPr id="14" name="Group 14"/>
          <p:cNvGrpSpPr/>
          <p:nvPr/>
        </p:nvGrpSpPr>
        <p:grpSpPr>
          <a:xfrm rot="-300000">
            <a:off x="754380" y="1634947"/>
            <a:ext cx="960120" cy="960120"/>
            <a:chOff x="0" y="0"/>
            <a:chExt cx="1280160" cy="1280160"/>
          </a:xfrm>
        </p:grpSpPr>
        <p:sp>
          <p:nvSpPr>
            <p:cNvPr id="15" name="Freeform 15"/>
            <p:cNvSpPr/>
            <p:nvPr/>
          </p:nvSpPr>
          <p:spPr>
            <a:xfrm>
              <a:off x="0" y="0"/>
              <a:ext cx="1280160" cy="1280160"/>
            </a:xfrm>
            <a:custGeom>
              <a:avLst/>
              <a:gdLst/>
              <a:ahLst/>
              <a:cxnLst/>
              <a:rect l="l" t="t" r="r" b="b"/>
              <a:pathLst>
                <a:path w="1280160" h="1280160">
                  <a:moveTo>
                    <a:pt x="0" y="0"/>
                  </a:moveTo>
                  <a:lnTo>
                    <a:pt x="1280160" y="0"/>
                  </a:lnTo>
                  <a:lnTo>
                    <a:pt x="1280160" y="1280160"/>
                  </a:lnTo>
                  <a:lnTo>
                    <a:pt x="0" y="1280160"/>
                  </a:lnTo>
                  <a:close/>
                </a:path>
              </a:pathLst>
            </a:custGeom>
            <a:blipFill>
              <a:blip r:embed="rId3">
                <a:alphaModFix amt="0"/>
              </a:blip>
              <a:stretch>
                <a:fillRect l="-78303" r="-78303"/>
              </a:stretch>
            </a:blipFill>
          </p:spPr>
        </p:sp>
        <p:sp>
          <p:nvSpPr>
            <p:cNvPr id="16" name="TextBox 16"/>
            <p:cNvSpPr txBox="1"/>
            <p:nvPr/>
          </p:nvSpPr>
          <p:spPr>
            <a:xfrm>
              <a:off x="0" y="-28575"/>
              <a:ext cx="1280160" cy="1308735"/>
            </a:xfrm>
            <a:prstGeom prst="rect">
              <a:avLst/>
            </a:prstGeom>
          </p:spPr>
          <p:txBody>
            <a:bodyPr lIns="0" tIns="0" rIns="0" bIns="0" rtlCol="0" anchor="ctr"/>
            <a:lstStyle/>
            <a:p>
              <a:pPr algn="ctr">
                <a:lnSpc>
                  <a:spcPts val="6300"/>
                </a:lnSpc>
              </a:pPr>
              <a:r>
                <a:rPr lang="en-US" sz="5250" b="1">
                  <a:solidFill>
                    <a:srgbClr val="FFFFFF"/>
                  </a:solidFill>
                  <a:latin typeface="Arial Bold"/>
                  <a:ea typeface="Arial Bold"/>
                  <a:cs typeface="Arial Bold"/>
                  <a:sym typeface="Arial Bold"/>
                </a:rPr>
                <a:t>f</a:t>
              </a:r>
            </a:p>
          </p:txBody>
        </p:sp>
      </p:grpSp>
      <p:grpSp>
        <p:nvGrpSpPr>
          <p:cNvPr id="17" name="Group 17"/>
          <p:cNvGrpSpPr/>
          <p:nvPr/>
        </p:nvGrpSpPr>
        <p:grpSpPr>
          <a:xfrm rot="240000">
            <a:off x="1430655" y="4379595"/>
            <a:ext cx="4202430" cy="1664970"/>
            <a:chOff x="0" y="0"/>
            <a:chExt cx="5603240" cy="2219960"/>
          </a:xfrm>
        </p:grpSpPr>
        <p:sp>
          <p:nvSpPr>
            <p:cNvPr id="18" name="Freeform 18"/>
            <p:cNvSpPr/>
            <p:nvPr/>
          </p:nvSpPr>
          <p:spPr>
            <a:xfrm>
              <a:off x="0" y="0"/>
              <a:ext cx="5603240" cy="2219960"/>
            </a:xfrm>
            <a:custGeom>
              <a:avLst/>
              <a:gdLst/>
              <a:ahLst/>
              <a:cxnLst/>
              <a:rect l="l" t="t" r="r" b="b"/>
              <a:pathLst>
                <a:path w="5603240" h="2219960">
                  <a:moveTo>
                    <a:pt x="0" y="221996"/>
                  </a:moveTo>
                  <a:cubicBezTo>
                    <a:pt x="0" y="99441"/>
                    <a:pt x="99441" y="0"/>
                    <a:pt x="221996" y="0"/>
                  </a:cubicBezTo>
                  <a:lnTo>
                    <a:pt x="5381244" y="0"/>
                  </a:lnTo>
                  <a:cubicBezTo>
                    <a:pt x="5503799" y="0"/>
                    <a:pt x="5603240" y="99441"/>
                    <a:pt x="5603240" y="221996"/>
                  </a:cubicBezTo>
                  <a:lnTo>
                    <a:pt x="5603240" y="1997964"/>
                  </a:lnTo>
                  <a:cubicBezTo>
                    <a:pt x="5603240" y="2120519"/>
                    <a:pt x="5503799" y="2219960"/>
                    <a:pt x="5381244" y="2219960"/>
                  </a:cubicBezTo>
                  <a:lnTo>
                    <a:pt x="221996" y="2219960"/>
                  </a:lnTo>
                  <a:cubicBezTo>
                    <a:pt x="99441" y="2219960"/>
                    <a:pt x="0" y="2120519"/>
                    <a:pt x="0" y="1997964"/>
                  </a:cubicBezTo>
                  <a:close/>
                </a:path>
              </a:pathLst>
            </a:custGeom>
            <a:solidFill>
              <a:srgbClr val="FFFFFF"/>
            </a:solidFill>
            <a:ln w="19050" cap="sq">
              <a:solidFill>
                <a:srgbClr val="E2E8F0"/>
              </a:solidFill>
              <a:prstDash val="solid"/>
              <a:miter/>
            </a:ln>
          </p:spPr>
        </p:sp>
        <p:sp>
          <p:nvSpPr>
            <p:cNvPr id="19" name="TextBox 19"/>
            <p:cNvSpPr txBox="1"/>
            <p:nvPr/>
          </p:nvSpPr>
          <p:spPr>
            <a:xfrm>
              <a:off x="0" y="-9525"/>
              <a:ext cx="5603240" cy="2229485"/>
            </a:xfrm>
            <a:prstGeom prst="rect">
              <a:avLst/>
            </a:prstGeom>
          </p:spPr>
          <p:txBody>
            <a:bodyPr lIns="50800" tIns="50800" rIns="50800" bIns="50800" rtlCol="0" anchor="ctr"/>
            <a:lstStyle/>
            <a:p>
              <a:pPr algn="ctr">
                <a:lnSpc>
                  <a:spcPts val="2520"/>
                </a:lnSpc>
              </a:pPr>
              <a:r>
                <a:rPr lang="en-US" sz="2100">
                  <a:solidFill>
                    <a:srgbClr val="52637A"/>
                  </a:solidFill>
                  <a:latin typeface="Arial"/>
                  <a:ea typeface="Arial"/>
                  <a:cs typeface="Arial"/>
                  <a:sym typeface="Arial"/>
                </a:rPr>
                <a:t>Khmer24 listing</a:t>
              </a:r>
            </a:p>
            <a:p>
              <a:pPr algn="ctr">
                <a:lnSpc>
                  <a:spcPts val="5400"/>
                </a:lnSpc>
              </a:pPr>
              <a:r>
                <a:rPr lang="en-US" sz="4500" b="1">
                  <a:solidFill>
                    <a:srgbClr val="D97706"/>
                  </a:solidFill>
                  <a:latin typeface="Arial Bold"/>
                  <a:ea typeface="Arial Bold"/>
                  <a:cs typeface="Arial Bold"/>
                  <a:sym typeface="Arial Bold"/>
                </a:rPr>
                <a:t>OLD PRICE</a:t>
              </a:r>
            </a:p>
          </p:txBody>
        </p:sp>
      </p:grpSp>
      <p:grpSp>
        <p:nvGrpSpPr>
          <p:cNvPr id="20" name="Group 20"/>
          <p:cNvGrpSpPr/>
          <p:nvPr/>
        </p:nvGrpSpPr>
        <p:grpSpPr>
          <a:xfrm rot="240000">
            <a:off x="931545" y="3949065"/>
            <a:ext cx="989838" cy="989838"/>
            <a:chOff x="0" y="0"/>
            <a:chExt cx="1319784" cy="1319784"/>
          </a:xfrm>
        </p:grpSpPr>
        <p:sp>
          <p:nvSpPr>
            <p:cNvPr id="21" name="Freeform 21"/>
            <p:cNvSpPr/>
            <p:nvPr/>
          </p:nvSpPr>
          <p:spPr>
            <a:xfrm>
              <a:off x="0" y="0"/>
              <a:ext cx="1319784" cy="1319784"/>
            </a:xfrm>
            <a:custGeom>
              <a:avLst/>
              <a:gdLst/>
              <a:ahLst/>
              <a:cxnLst/>
              <a:rect l="l" t="t" r="r" b="b"/>
              <a:pathLst>
                <a:path w="1319784" h="1319784">
                  <a:moveTo>
                    <a:pt x="0" y="659892"/>
                  </a:moveTo>
                  <a:cubicBezTo>
                    <a:pt x="0" y="295402"/>
                    <a:pt x="295402" y="0"/>
                    <a:pt x="659892" y="0"/>
                  </a:cubicBezTo>
                  <a:cubicBezTo>
                    <a:pt x="1024382" y="0"/>
                    <a:pt x="1319784" y="295402"/>
                    <a:pt x="1319784" y="659892"/>
                  </a:cubicBezTo>
                  <a:cubicBezTo>
                    <a:pt x="1319784" y="1024382"/>
                    <a:pt x="1024382" y="1319784"/>
                    <a:pt x="659892" y="1319784"/>
                  </a:cubicBezTo>
                  <a:cubicBezTo>
                    <a:pt x="295402" y="1319784"/>
                    <a:pt x="0" y="1024382"/>
                    <a:pt x="0" y="659892"/>
                  </a:cubicBezTo>
                  <a:close/>
                </a:path>
              </a:pathLst>
            </a:custGeom>
            <a:solidFill>
              <a:srgbClr val="F97316"/>
            </a:solidFill>
            <a:ln w="57150" cap="sq">
              <a:solidFill>
                <a:srgbClr val="FFFFFF"/>
              </a:solidFill>
              <a:prstDash val="solid"/>
              <a:miter/>
            </a:ln>
          </p:spPr>
        </p:sp>
      </p:grpSp>
      <p:grpSp>
        <p:nvGrpSpPr>
          <p:cNvPr id="22" name="Group 22"/>
          <p:cNvGrpSpPr/>
          <p:nvPr/>
        </p:nvGrpSpPr>
        <p:grpSpPr>
          <a:xfrm rot="240000">
            <a:off x="1155983" y="4220137"/>
            <a:ext cx="484994" cy="484994"/>
            <a:chOff x="0" y="0"/>
            <a:chExt cx="646659" cy="646659"/>
          </a:xfrm>
        </p:grpSpPr>
        <p:sp>
          <p:nvSpPr>
            <p:cNvPr id="23" name="Freeform 23" descr="preencoded.png"/>
            <p:cNvSpPr/>
            <p:nvPr/>
          </p:nvSpPr>
          <p:spPr>
            <a:xfrm>
              <a:off x="0" y="0"/>
              <a:ext cx="646684" cy="646684"/>
            </a:xfrm>
            <a:custGeom>
              <a:avLst/>
              <a:gdLst/>
              <a:ahLst/>
              <a:cxnLst/>
              <a:rect l="l" t="t" r="r" b="b"/>
              <a:pathLst>
                <a:path w="646684" h="646684">
                  <a:moveTo>
                    <a:pt x="0" y="0"/>
                  </a:moveTo>
                  <a:lnTo>
                    <a:pt x="646684" y="0"/>
                  </a:lnTo>
                  <a:lnTo>
                    <a:pt x="646684" y="646684"/>
                  </a:lnTo>
                  <a:lnTo>
                    <a:pt x="0" y="646684"/>
                  </a:lnTo>
                  <a:lnTo>
                    <a:pt x="0" y="0"/>
                  </a:lnTo>
                  <a:close/>
                </a:path>
              </a:pathLst>
            </a:custGeom>
            <a:blipFill>
              <a:blip r:embed="rId5"/>
              <a:stretch>
                <a:fillRect r="3" b="3"/>
              </a:stretch>
            </a:blipFill>
          </p:spPr>
        </p:sp>
      </p:grpSp>
      <p:grpSp>
        <p:nvGrpSpPr>
          <p:cNvPr id="24" name="Group 24"/>
          <p:cNvGrpSpPr/>
          <p:nvPr/>
        </p:nvGrpSpPr>
        <p:grpSpPr>
          <a:xfrm rot="-180000">
            <a:off x="1224915" y="6779895"/>
            <a:ext cx="4271010" cy="1596390"/>
            <a:chOff x="0" y="0"/>
            <a:chExt cx="5694680" cy="2128520"/>
          </a:xfrm>
        </p:grpSpPr>
        <p:sp>
          <p:nvSpPr>
            <p:cNvPr id="25" name="Freeform 25"/>
            <p:cNvSpPr/>
            <p:nvPr/>
          </p:nvSpPr>
          <p:spPr>
            <a:xfrm>
              <a:off x="0" y="0"/>
              <a:ext cx="5694680" cy="2128520"/>
            </a:xfrm>
            <a:custGeom>
              <a:avLst/>
              <a:gdLst/>
              <a:ahLst/>
              <a:cxnLst/>
              <a:rect l="l" t="t" r="r" b="b"/>
              <a:pathLst>
                <a:path w="5694680" h="2128520">
                  <a:moveTo>
                    <a:pt x="0" y="222123"/>
                  </a:moveTo>
                  <a:cubicBezTo>
                    <a:pt x="0" y="99441"/>
                    <a:pt x="99441" y="0"/>
                    <a:pt x="222123" y="0"/>
                  </a:cubicBezTo>
                  <a:lnTo>
                    <a:pt x="5472557" y="0"/>
                  </a:lnTo>
                  <a:cubicBezTo>
                    <a:pt x="5595239" y="0"/>
                    <a:pt x="5694680" y="99441"/>
                    <a:pt x="5694680" y="222123"/>
                  </a:cubicBezTo>
                  <a:lnTo>
                    <a:pt x="5694680" y="1906397"/>
                  </a:lnTo>
                  <a:cubicBezTo>
                    <a:pt x="5694680" y="2029079"/>
                    <a:pt x="5595239" y="2128520"/>
                    <a:pt x="5472557" y="2128520"/>
                  </a:cubicBezTo>
                  <a:lnTo>
                    <a:pt x="222123" y="2128520"/>
                  </a:lnTo>
                  <a:cubicBezTo>
                    <a:pt x="99441" y="2128520"/>
                    <a:pt x="0" y="2029079"/>
                    <a:pt x="0" y="1906397"/>
                  </a:cubicBezTo>
                  <a:close/>
                </a:path>
              </a:pathLst>
            </a:custGeom>
            <a:solidFill>
              <a:srgbClr val="FFFFFF"/>
            </a:solidFill>
            <a:ln w="19050" cap="sq">
              <a:solidFill>
                <a:srgbClr val="E2E8F0"/>
              </a:solidFill>
              <a:prstDash val="solid"/>
              <a:miter/>
            </a:ln>
          </p:spPr>
        </p:sp>
        <p:sp>
          <p:nvSpPr>
            <p:cNvPr id="26" name="TextBox 26"/>
            <p:cNvSpPr txBox="1"/>
            <p:nvPr/>
          </p:nvSpPr>
          <p:spPr>
            <a:xfrm>
              <a:off x="0" y="-9525"/>
              <a:ext cx="5694680" cy="2138045"/>
            </a:xfrm>
            <a:prstGeom prst="rect">
              <a:avLst/>
            </a:prstGeom>
          </p:spPr>
          <p:txBody>
            <a:bodyPr lIns="50800" tIns="50800" rIns="50800" bIns="50800" rtlCol="0" anchor="ctr"/>
            <a:lstStyle/>
            <a:p>
              <a:pPr algn="ctr">
                <a:lnSpc>
                  <a:spcPts val="2520"/>
                </a:lnSpc>
              </a:pPr>
              <a:r>
                <a:rPr lang="en-US" sz="2100">
                  <a:solidFill>
                    <a:srgbClr val="52637A"/>
                  </a:solidFill>
                  <a:latin typeface="Arial"/>
                  <a:ea typeface="Arial"/>
                  <a:cs typeface="Arial"/>
                  <a:sym typeface="Arial"/>
                </a:rPr>
                <a:t>Telegram</a:t>
              </a:r>
            </a:p>
            <a:p>
              <a:pPr algn="ctr">
                <a:lnSpc>
                  <a:spcPts val="3960"/>
                </a:lnSpc>
              </a:pPr>
              <a:r>
                <a:rPr lang="en-US" sz="3300" b="1">
                  <a:solidFill>
                    <a:srgbClr val="15243A"/>
                  </a:solidFill>
                  <a:latin typeface="Arial Bold"/>
                  <a:ea typeface="Arial Bold"/>
                  <a:cs typeface="Arial Bold"/>
                  <a:sym typeface="Arial Bold"/>
                </a:rPr>
                <a:t>27 new orders</a:t>
              </a:r>
            </a:p>
          </p:txBody>
        </p:sp>
      </p:grpSp>
      <p:grpSp>
        <p:nvGrpSpPr>
          <p:cNvPr id="27" name="Group 27"/>
          <p:cNvGrpSpPr/>
          <p:nvPr/>
        </p:nvGrpSpPr>
        <p:grpSpPr>
          <a:xfrm rot="-180000">
            <a:off x="725805" y="6349365"/>
            <a:ext cx="962406" cy="962406"/>
            <a:chOff x="0" y="0"/>
            <a:chExt cx="1283208" cy="1283208"/>
          </a:xfrm>
        </p:grpSpPr>
        <p:sp>
          <p:nvSpPr>
            <p:cNvPr id="28" name="Freeform 28"/>
            <p:cNvSpPr/>
            <p:nvPr/>
          </p:nvSpPr>
          <p:spPr>
            <a:xfrm>
              <a:off x="0" y="0"/>
              <a:ext cx="1283208" cy="1283208"/>
            </a:xfrm>
            <a:custGeom>
              <a:avLst/>
              <a:gdLst/>
              <a:ahLst/>
              <a:cxnLst/>
              <a:rect l="l" t="t" r="r" b="b"/>
              <a:pathLst>
                <a:path w="1283208" h="1283208">
                  <a:moveTo>
                    <a:pt x="0" y="641604"/>
                  </a:moveTo>
                  <a:cubicBezTo>
                    <a:pt x="0" y="287274"/>
                    <a:pt x="287274" y="0"/>
                    <a:pt x="641604" y="0"/>
                  </a:cubicBezTo>
                  <a:cubicBezTo>
                    <a:pt x="995934" y="0"/>
                    <a:pt x="1283208" y="287274"/>
                    <a:pt x="1283208" y="641604"/>
                  </a:cubicBezTo>
                  <a:cubicBezTo>
                    <a:pt x="1283208" y="995934"/>
                    <a:pt x="995934" y="1283208"/>
                    <a:pt x="641604" y="1283208"/>
                  </a:cubicBezTo>
                  <a:cubicBezTo>
                    <a:pt x="287274" y="1283208"/>
                    <a:pt x="0" y="995934"/>
                    <a:pt x="0" y="641604"/>
                  </a:cubicBezTo>
                  <a:close/>
                </a:path>
              </a:pathLst>
            </a:custGeom>
            <a:solidFill>
              <a:srgbClr val="27A7E7"/>
            </a:solidFill>
            <a:ln w="57150" cap="sq">
              <a:solidFill>
                <a:srgbClr val="FFFFFF"/>
              </a:solidFill>
              <a:prstDash val="solid"/>
              <a:miter/>
            </a:ln>
          </p:spPr>
        </p:sp>
      </p:grpSp>
      <p:grpSp>
        <p:nvGrpSpPr>
          <p:cNvPr id="29" name="Group 29"/>
          <p:cNvGrpSpPr/>
          <p:nvPr/>
        </p:nvGrpSpPr>
        <p:grpSpPr>
          <a:xfrm rot="-180000">
            <a:off x="944480" y="6613303"/>
            <a:ext cx="470735" cy="470735"/>
            <a:chOff x="0" y="0"/>
            <a:chExt cx="627647" cy="627647"/>
          </a:xfrm>
        </p:grpSpPr>
        <p:sp>
          <p:nvSpPr>
            <p:cNvPr id="30" name="Freeform 30" descr="preencoded.png"/>
            <p:cNvSpPr/>
            <p:nvPr/>
          </p:nvSpPr>
          <p:spPr>
            <a:xfrm>
              <a:off x="0" y="0"/>
              <a:ext cx="627634" cy="627634"/>
            </a:xfrm>
            <a:custGeom>
              <a:avLst/>
              <a:gdLst/>
              <a:ahLst/>
              <a:cxnLst/>
              <a:rect l="l" t="t" r="r" b="b"/>
              <a:pathLst>
                <a:path w="627634" h="627634">
                  <a:moveTo>
                    <a:pt x="0" y="0"/>
                  </a:moveTo>
                  <a:lnTo>
                    <a:pt x="627634" y="0"/>
                  </a:lnTo>
                  <a:lnTo>
                    <a:pt x="627634" y="627634"/>
                  </a:lnTo>
                  <a:lnTo>
                    <a:pt x="0" y="627634"/>
                  </a:lnTo>
                  <a:lnTo>
                    <a:pt x="0" y="0"/>
                  </a:lnTo>
                  <a:close/>
                </a:path>
              </a:pathLst>
            </a:custGeom>
            <a:blipFill>
              <a:blip r:embed="rId6"/>
              <a:stretch>
                <a:fillRect r="-2" b="-2"/>
              </a:stretch>
            </a:blipFill>
          </p:spPr>
        </p:sp>
      </p:grpSp>
      <p:grpSp>
        <p:nvGrpSpPr>
          <p:cNvPr id="31" name="Group 31"/>
          <p:cNvGrpSpPr/>
          <p:nvPr/>
        </p:nvGrpSpPr>
        <p:grpSpPr>
          <a:xfrm rot="360000">
            <a:off x="12746355" y="2390775"/>
            <a:ext cx="4271010" cy="1733550"/>
            <a:chOff x="0" y="0"/>
            <a:chExt cx="5694680" cy="2311400"/>
          </a:xfrm>
        </p:grpSpPr>
        <p:sp>
          <p:nvSpPr>
            <p:cNvPr id="32" name="Freeform 32"/>
            <p:cNvSpPr/>
            <p:nvPr/>
          </p:nvSpPr>
          <p:spPr>
            <a:xfrm>
              <a:off x="0" y="0"/>
              <a:ext cx="5694680" cy="2311400"/>
            </a:xfrm>
            <a:custGeom>
              <a:avLst/>
              <a:gdLst/>
              <a:ahLst/>
              <a:cxnLst/>
              <a:rect l="l" t="t" r="r" b="b"/>
              <a:pathLst>
                <a:path w="5694680" h="2311400">
                  <a:moveTo>
                    <a:pt x="0" y="221869"/>
                  </a:moveTo>
                  <a:cubicBezTo>
                    <a:pt x="0" y="99314"/>
                    <a:pt x="99314" y="0"/>
                    <a:pt x="221869" y="0"/>
                  </a:cubicBezTo>
                  <a:lnTo>
                    <a:pt x="5472811" y="0"/>
                  </a:lnTo>
                  <a:cubicBezTo>
                    <a:pt x="5595366" y="0"/>
                    <a:pt x="5694680" y="99314"/>
                    <a:pt x="5694680" y="221869"/>
                  </a:cubicBezTo>
                  <a:lnTo>
                    <a:pt x="5694680" y="2089531"/>
                  </a:lnTo>
                  <a:cubicBezTo>
                    <a:pt x="5694680" y="2212086"/>
                    <a:pt x="5595366" y="2311400"/>
                    <a:pt x="5472811" y="2311400"/>
                  </a:cubicBezTo>
                  <a:lnTo>
                    <a:pt x="221869" y="2311400"/>
                  </a:lnTo>
                  <a:cubicBezTo>
                    <a:pt x="99314" y="2311400"/>
                    <a:pt x="0" y="2212086"/>
                    <a:pt x="0" y="2089531"/>
                  </a:cubicBezTo>
                  <a:close/>
                </a:path>
              </a:pathLst>
            </a:custGeom>
            <a:solidFill>
              <a:srgbClr val="FFFFFF"/>
            </a:solidFill>
            <a:ln w="19050" cap="sq">
              <a:solidFill>
                <a:srgbClr val="E2E8F0"/>
              </a:solidFill>
              <a:prstDash val="solid"/>
              <a:miter/>
            </a:ln>
          </p:spPr>
        </p:sp>
        <p:sp>
          <p:nvSpPr>
            <p:cNvPr id="33" name="TextBox 33"/>
            <p:cNvSpPr txBox="1"/>
            <p:nvPr/>
          </p:nvSpPr>
          <p:spPr>
            <a:xfrm>
              <a:off x="0" y="-9525"/>
              <a:ext cx="5694680" cy="2320925"/>
            </a:xfrm>
            <a:prstGeom prst="rect">
              <a:avLst/>
            </a:prstGeom>
          </p:spPr>
          <p:txBody>
            <a:bodyPr lIns="50800" tIns="50800" rIns="50800" bIns="50800" rtlCol="0" anchor="ctr"/>
            <a:lstStyle/>
            <a:p>
              <a:pPr algn="ctr">
                <a:lnSpc>
                  <a:spcPts val="2520"/>
                </a:lnSpc>
              </a:pPr>
              <a:r>
                <a:rPr lang="en-US" sz="2100">
                  <a:solidFill>
                    <a:srgbClr val="52637A"/>
                  </a:solidFill>
                  <a:latin typeface="Arial"/>
                  <a:ea typeface="Arial"/>
                  <a:cs typeface="Arial"/>
                  <a:sym typeface="Arial"/>
                </a:rPr>
                <a:t>POS at the counter</a:t>
              </a:r>
            </a:p>
            <a:p>
              <a:pPr algn="ctr">
                <a:lnSpc>
                  <a:spcPts val="5400"/>
                </a:lnSpc>
              </a:pPr>
              <a:r>
                <a:rPr lang="en-US" sz="4500" b="1">
                  <a:solidFill>
                    <a:srgbClr val="D64545"/>
                  </a:solidFill>
                  <a:latin typeface="Arial Bold"/>
                  <a:ea typeface="Arial Bold"/>
                  <a:cs typeface="Arial Bold"/>
                  <a:sym typeface="Arial Bold"/>
                </a:rPr>
                <a:t>SOLD OUT</a:t>
              </a:r>
            </a:p>
          </p:txBody>
        </p:sp>
      </p:grpSp>
      <p:grpSp>
        <p:nvGrpSpPr>
          <p:cNvPr id="34" name="Group 34"/>
          <p:cNvGrpSpPr/>
          <p:nvPr/>
        </p:nvGrpSpPr>
        <p:grpSpPr>
          <a:xfrm rot="360000">
            <a:off x="16499205" y="1960245"/>
            <a:ext cx="989838" cy="989838"/>
            <a:chOff x="0" y="0"/>
            <a:chExt cx="1319784" cy="1319784"/>
          </a:xfrm>
        </p:grpSpPr>
        <p:sp>
          <p:nvSpPr>
            <p:cNvPr id="35" name="Freeform 35"/>
            <p:cNvSpPr/>
            <p:nvPr/>
          </p:nvSpPr>
          <p:spPr>
            <a:xfrm>
              <a:off x="0" y="0"/>
              <a:ext cx="1319784" cy="1319784"/>
            </a:xfrm>
            <a:custGeom>
              <a:avLst/>
              <a:gdLst/>
              <a:ahLst/>
              <a:cxnLst/>
              <a:rect l="l" t="t" r="r" b="b"/>
              <a:pathLst>
                <a:path w="1319784" h="1319784">
                  <a:moveTo>
                    <a:pt x="0" y="659892"/>
                  </a:moveTo>
                  <a:cubicBezTo>
                    <a:pt x="0" y="295402"/>
                    <a:pt x="295402" y="0"/>
                    <a:pt x="659892" y="0"/>
                  </a:cubicBezTo>
                  <a:cubicBezTo>
                    <a:pt x="1024382" y="0"/>
                    <a:pt x="1319784" y="295402"/>
                    <a:pt x="1319784" y="659892"/>
                  </a:cubicBezTo>
                  <a:cubicBezTo>
                    <a:pt x="1319784" y="1024382"/>
                    <a:pt x="1024382" y="1319784"/>
                    <a:pt x="659892" y="1319784"/>
                  </a:cubicBezTo>
                  <a:cubicBezTo>
                    <a:pt x="295402" y="1319784"/>
                    <a:pt x="0" y="1024382"/>
                    <a:pt x="0" y="659892"/>
                  </a:cubicBezTo>
                  <a:close/>
                </a:path>
              </a:pathLst>
            </a:custGeom>
            <a:solidFill>
              <a:srgbClr val="334155"/>
            </a:solidFill>
            <a:ln w="57150" cap="sq">
              <a:solidFill>
                <a:srgbClr val="FFFFFF"/>
              </a:solidFill>
              <a:prstDash val="solid"/>
              <a:miter/>
            </a:ln>
          </p:spPr>
        </p:sp>
      </p:grpSp>
      <p:grpSp>
        <p:nvGrpSpPr>
          <p:cNvPr id="36" name="Group 36"/>
          <p:cNvGrpSpPr/>
          <p:nvPr/>
        </p:nvGrpSpPr>
        <p:grpSpPr>
          <a:xfrm rot="360000">
            <a:off x="16723643" y="2231317"/>
            <a:ext cx="484994" cy="484994"/>
            <a:chOff x="0" y="0"/>
            <a:chExt cx="646659" cy="646659"/>
          </a:xfrm>
        </p:grpSpPr>
        <p:sp>
          <p:nvSpPr>
            <p:cNvPr id="37" name="Freeform 37" descr="preencoded.png"/>
            <p:cNvSpPr/>
            <p:nvPr/>
          </p:nvSpPr>
          <p:spPr>
            <a:xfrm>
              <a:off x="0" y="0"/>
              <a:ext cx="646684" cy="646684"/>
            </a:xfrm>
            <a:custGeom>
              <a:avLst/>
              <a:gdLst/>
              <a:ahLst/>
              <a:cxnLst/>
              <a:rect l="l" t="t" r="r" b="b"/>
              <a:pathLst>
                <a:path w="646684" h="646684">
                  <a:moveTo>
                    <a:pt x="0" y="0"/>
                  </a:moveTo>
                  <a:lnTo>
                    <a:pt x="646684" y="0"/>
                  </a:lnTo>
                  <a:lnTo>
                    <a:pt x="646684" y="646684"/>
                  </a:lnTo>
                  <a:lnTo>
                    <a:pt x="0" y="646684"/>
                  </a:lnTo>
                  <a:lnTo>
                    <a:pt x="0" y="0"/>
                  </a:lnTo>
                  <a:close/>
                </a:path>
              </a:pathLst>
            </a:custGeom>
            <a:blipFill>
              <a:blip r:embed="rId7"/>
              <a:stretch>
                <a:fillRect r="3" b="3"/>
              </a:stretch>
            </a:blipFill>
          </p:spPr>
        </p:sp>
      </p:grpSp>
      <p:grpSp>
        <p:nvGrpSpPr>
          <p:cNvPr id="38" name="Group 38"/>
          <p:cNvGrpSpPr/>
          <p:nvPr/>
        </p:nvGrpSpPr>
        <p:grpSpPr>
          <a:xfrm rot="-360000">
            <a:off x="13030200" y="5623560"/>
            <a:ext cx="3840480" cy="1645920"/>
            <a:chOff x="0" y="0"/>
            <a:chExt cx="5120640" cy="2194560"/>
          </a:xfrm>
        </p:grpSpPr>
        <p:sp>
          <p:nvSpPr>
            <p:cNvPr id="39" name="Freeform 39"/>
            <p:cNvSpPr/>
            <p:nvPr/>
          </p:nvSpPr>
          <p:spPr>
            <a:xfrm>
              <a:off x="0" y="0"/>
              <a:ext cx="5120640" cy="2194560"/>
            </a:xfrm>
            <a:custGeom>
              <a:avLst/>
              <a:gdLst/>
              <a:ahLst/>
              <a:cxnLst/>
              <a:rect l="l" t="t" r="r" b="b"/>
              <a:pathLst>
                <a:path w="5120640" h="2194560">
                  <a:moveTo>
                    <a:pt x="0" y="0"/>
                  </a:moveTo>
                  <a:lnTo>
                    <a:pt x="5120640" y="0"/>
                  </a:lnTo>
                  <a:lnTo>
                    <a:pt x="5120640" y="2194560"/>
                  </a:lnTo>
                  <a:lnTo>
                    <a:pt x="0" y="2194560"/>
                  </a:lnTo>
                  <a:close/>
                </a:path>
              </a:pathLst>
            </a:custGeom>
            <a:solidFill>
              <a:srgbClr val="FEF08A"/>
            </a:solidFill>
          </p:spPr>
        </p:sp>
        <p:sp>
          <p:nvSpPr>
            <p:cNvPr id="40" name="TextBox 40"/>
            <p:cNvSpPr txBox="1"/>
            <p:nvPr/>
          </p:nvSpPr>
          <p:spPr>
            <a:xfrm>
              <a:off x="0" y="0"/>
              <a:ext cx="5120640" cy="2194560"/>
            </a:xfrm>
            <a:prstGeom prst="rect">
              <a:avLst/>
            </a:prstGeom>
          </p:spPr>
          <p:txBody>
            <a:bodyPr lIns="50800" tIns="50800" rIns="50800" bIns="50800" rtlCol="0" anchor="ctr"/>
            <a:lstStyle/>
            <a:p>
              <a:pPr algn="ctr">
                <a:lnSpc>
                  <a:spcPts val="3960"/>
                </a:lnSpc>
              </a:pPr>
              <a:r>
                <a:rPr lang="en-US" sz="3300" b="1">
                  <a:solidFill>
                    <a:srgbClr val="15243A"/>
                  </a:solidFill>
                  <a:latin typeface="Segoe UI Bold"/>
                  <a:ea typeface="Segoe UI Bold"/>
                  <a:cs typeface="Segoe UI Bold"/>
                  <a:sym typeface="Segoe UI Bold"/>
                </a:rPr>
                <a:t>Stock: 3? 5? 0?</a:t>
              </a:r>
            </a:p>
          </p:txBody>
        </p:sp>
      </p:grpSp>
      <p:grpSp>
        <p:nvGrpSpPr>
          <p:cNvPr id="41" name="Group 41"/>
          <p:cNvGrpSpPr/>
          <p:nvPr/>
        </p:nvGrpSpPr>
        <p:grpSpPr>
          <a:xfrm rot="-300000">
            <a:off x="10551795" y="1636395"/>
            <a:ext cx="3173730" cy="1006602"/>
            <a:chOff x="0" y="0"/>
            <a:chExt cx="4231640" cy="1342136"/>
          </a:xfrm>
        </p:grpSpPr>
        <p:sp>
          <p:nvSpPr>
            <p:cNvPr id="42" name="Freeform 42"/>
            <p:cNvSpPr/>
            <p:nvPr/>
          </p:nvSpPr>
          <p:spPr>
            <a:xfrm>
              <a:off x="0" y="0"/>
              <a:ext cx="4231640" cy="1509903"/>
            </a:xfrm>
            <a:custGeom>
              <a:avLst/>
              <a:gdLst/>
              <a:ahLst/>
              <a:cxnLst/>
              <a:rect l="l" t="t" r="r" b="b"/>
              <a:pathLst>
                <a:path w="4231640" h="1509903">
                  <a:moveTo>
                    <a:pt x="0" y="223647"/>
                  </a:moveTo>
                  <a:cubicBezTo>
                    <a:pt x="0" y="100203"/>
                    <a:pt x="100203" y="0"/>
                    <a:pt x="223647" y="0"/>
                  </a:cubicBezTo>
                  <a:lnTo>
                    <a:pt x="705231" y="0"/>
                  </a:lnTo>
                  <a:lnTo>
                    <a:pt x="1763141" y="0"/>
                  </a:lnTo>
                  <a:lnTo>
                    <a:pt x="4007993" y="0"/>
                  </a:lnTo>
                  <a:cubicBezTo>
                    <a:pt x="4131564" y="0"/>
                    <a:pt x="4231640" y="100203"/>
                    <a:pt x="4231640" y="223647"/>
                  </a:cubicBezTo>
                  <a:lnTo>
                    <a:pt x="4231640" y="782955"/>
                  </a:lnTo>
                  <a:lnTo>
                    <a:pt x="4231640" y="1118489"/>
                  </a:lnTo>
                  <a:cubicBezTo>
                    <a:pt x="4231640" y="1242060"/>
                    <a:pt x="4131437" y="1342136"/>
                    <a:pt x="4007993" y="1342136"/>
                  </a:cubicBezTo>
                  <a:lnTo>
                    <a:pt x="1763141" y="1342136"/>
                  </a:lnTo>
                  <a:lnTo>
                    <a:pt x="1234186" y="1509903"/>
                  </a:lnTo>
                  <a:lnTo>
                    <a:pt x="705231" y="1342136"/>
                  </a:lnTo>
                  <a:lnTo>
                    <a:pt x="223647" y="1342136"/>
                  </a:lnTo>
                  <a:cubicBezTo>
                    <a:pt x="100203" y="1342136"/>
                    <a:pt x="0" y="1241933"/>
                    <a:pt x="0" y="1118489"/>
                  </a:cubicBezTo>
                  <a:lnTo>
                    <a:pt x="0" y="782955"/>
                  </a:lnTo>
                  <a:close/>
                </a:path>
              </a:pathLst>
            </a:custGeom>
            <a:solidFill>
              <a:srgbClr val="E0F2FE"/>
            </a:solidFill>
            <a:ln w="19050" cap="sq">
              <a:solidFill>
                <a:srgbClr val="7DD3FC"/>
              </a:solidFill>
              <a:prstDash val="solid"/>
              <a:miter/>
            </a:ln>
          </p:spPr>
        </p:sp>
        <p:sp>
          <p:nvSpPr>
            <p:cNvPr id="43" name="TextBox 43"/>
            <p:cNvSpPr txBox="1"/>
            <p:nvPr/>
          </p:nvSpPr>
          <p:spPr>
            <a:xfrm>
              <a:off x="0" y="-19050"/>
              <a:ext cx="4231640" cy="1361186"/>
            </a:xfrm>
            <a:prstGeom prst="rect">
              <a:avLst/>
            </a:prstGeom>
          </p:spPr>
          <p:txBody>
            <a:bodyPr lIns="50800" tIns="50800" rIns="50800" bIns="50800" rtlCol="0" anchor="ctr"/>
            <a:lstStyle/>
            <a:p>
              <a:pPr algn="ctr">
                <a:lnSpc>
                  <a:spcPts val="2700"/>
                </a:lnSpc>
              </a:pPr>
              <a:r>
                <a:rPr lang="en-US" sz="2250">
                  <a:solidFill>
                    <a:srgbClr val="15243A"/>
                  </a:solidFill>
                  <a:latin typeface="Arial"/>
                  <a:ea typeface="Arial"/>
                  <a:cs typeface="Arial"/>
                  <a:sym typeface="Arial"/>
                </a:rPr>
                <a:t>Where’s my order??</a:t>
              </a:r>
            </a:p>
          </p:txBody>
        </p:sp>
      </p:grpSp>
      <p:grpSp>
        <p:nvGrpSpPr>
          <p:cNvPr id="44" name="Group 44"/>
          <p:cNvGrpSpPr/>
          <p:nvPr/>
        </p:nvGrpSpPr>
        <p:grpSpPr>
          <a:xfrm rot="-900000">
            <a:off x="6309360" y="1645920"/>
            <a:ext cx="822960" cy="1097280"/>
            <a:chOff x="0" y="0"/>
            <a:chExt cx="1097280" cy="1463040"/>
          </a:xfrm>
        </p:grpSpPr>
        <p:sp>
          <p:nvSpPr>
            <p:cNvPr id="45" name="Freeform 45"/>
            <p:cNvSpPr/>
            <p:nvPr/>
          </p:nvSpPr>
          <p:spPr>
            <a:xfrm>
              <a:off x="0" y="0"/>
              <a:ext cx="1097280" cy="1463040"/>
            </a:xfrm>
            <a:custGeom>
              <a:avLst/>
              <a:gdLst/>
              <a:ahLst/>
              <a:cxnLst/>
              <a:rect l="l" t="t" r="r" b="b"/>
              <a:pathLst>
                <a:path w="1097280" h="1463040">
                  <a:moveTo>
                    <a:pt x="0" y="0"/>
                  </a:moveTo>
                  <a:lnTo>
                    <a:pt x="1097280" y="0"/>
                  </a:lnTo>
                  <a:lnTo>
                    <a:pt x="1097280" y="1463040"/>
                  </a:lnTo>
                  <a:lnTo>
                    <a:pt x="0" y="1463040"/>
                  </a:lnTo>
                  <a:close/>
                </a:path>
              </a:pathLst>
            </a:custGeom>
            <a:blipFill>
              <a:blip r:embed="rId3">
                <a:alphaModFix amt="0"/>
              </a:blip>
              <a:stretch>
                <a:fillRect l="-121071" r="-121071"/>
              </a:stretch>
            </a:blipFill>
          </p:spPr>
        </p:sp>
        <p:sp>
          <p:nvSpPr>
            <p:cNvPr id="46" name="TextBox 46"/>
            <p:cNvSpPr txBox="1"/>
            <p:nvPr/>
          </p:nvSpPr>
          <p:spPr>
            <a:xfrm>
              <a:off x="0" y="-38100"/>
              <a:ext cx="1097280" cy="1501140"/>
            </a:xfrm>
            <a:prstGeom prst="rect">
              <a:avLst/>
            </a:prstGeom>
          </p:spPr>
          <p:txBody>
            <a:bodyPr lIns="0" tIns="0" rIns="0" bIns="0" rtlCol="0" anchor="ctr"/>
            <a:lstStyle/>
            <a:p>
              <a:pPr algn="l">
                <a:lnSpc>
                  <a:spcPts val="7920"/>
                </a:lnSpc>
              </a:pPr>
              <a:r>
                <a:rPr lang="en-US" sz="6600" b="1">
                  <a:solidFill>
                    <a:srgbClr val="D64545"/>
                  </a:solidFill>
                  <a:latin typeface="Arial Bold"/>
                  <a:ea typeface="Arial Bold"/>
                  <a:cs typeface="Arial Bold"/>
                  <a:sym typeface="Arial Bold"/>
                </a:rPr>
                <a:t>?</a:t>
              </a:r>
            </a:p>
          </p:txBody>
        </p:sp>
      </p:grpSp>
      <p:grpSp>
        <p:nvGrpSpPr>
          <p:cNvPr id="47" name="Group 47"/>
          <p:cNvGrpSpPr/>
          <p:nvPr/>
        </p:nvGrpSpPr>
        <p:grpSpPr>
          <a:xfrm rot="720000">
            <a:off x="10492740" y="3017520"/>
            <a:ext cx="1234440" cy="1097280"/>
            <a:chOff x="0" y="0"/>
            <a:chExt cx="1645920" cy="1463040"/>
          </a:xfrm>
        </p:grpSpPr>
        <p:sp>
          <p:nvSpPr>
            <p:cNvPr id="48" name="Freeform 48"/>
            <p:cNvSpPr/>
            <p:nvPr/>
          </p:nvSpPr>
          <p:spPr>
            <a:xfrm>
              <a:off x="0" y="0"/>
              <a:ext cx="1645920" cy="1463040"/>
            </a:xfrm>
            <a:custGeom>
              <a:avLst/>
              <a:gdLst/>
              <a:ahLst/>
              <a:cxnLst/>
              <a:rect l="l" t="t" r="r" b="b"/>
              <a:pathLst>
                <a:path w="1645920" h="1463040">
                  <a:moveTo>
                    <a:pt x="0" y="0"/>
                  </a:moveTo>
                  <a:lnTo>
                    <a:pt x="1645920" y="0"/>
                  </a:lnTo>
                  <a:lnTo>
                    <a:pt x="1645920" y="1463040"/>
                  </a:lnTo>
                  <a:lnTo>
                    <a:pt x="0" y="1463040"/>
                  </a:lnTo>
                  <a:close/>
                </a:path>
              </a:pathLst>
            </a:custGeom>
            <a:blipFill>
              <a:blip r:embed="rId3">
                <a:alphaModFix amt="0"/>
              </a:blip>
              <a:stretch>
                <a:fillRect l="-64047" r="-64047"/>
              </a:stretch>
            </a:blipFill>
          </p:spPr>
        </p:sp>
        <p:sp>
          <p:nvSpPr>
            <p:cNvPr id="49" name="TextBox 49"/>
            <p:cNvSpPr txBox="1"/>
            <p:nvPr/>
          </p:nvSpPr>
          <p:spPr>
            <a:xfrm>
              <a:off x="0" y="-28575"/>
              <a:ext cx="1645920" cy="1491615"/>
            </a:xfrm>
            <a:prstGeom prst="rect">
              <a:avLst/>
            </a:prstGeom>
          </p:spPr>
          <p:txBody>
            <a:bodyPr lIns="0" tIns="0" rIns="0" bIns="0" rtlCol="0" anchor="ctr"/>
            <a:lstStyle/>
            <a:p>
              <a:pPr algn="l">
                <a:lnSpc>
                  <a:spcPts val="6480"/>
                </a:lnSpc>
              </a:pPr>
              <a:r>
                <a:rPr lang="en-US" sz="5400" b="1">
                  <a:solidFill>
                    <a:srgbClr val="D64545"/>
                  </a:solidFill>
                  <a:latin typeface="Arial Bold"/>
                  <a:ea typeface="Arial Bold"/>
                  <a:cs typeface="Arial Bold"/>
                  <a:sym typeface="Arial Bold"/>
                </a:rPr>
                <a:t>??</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22960" y="480060"/>
            <a:ext cx="16637508" cy="960120"/>
            <a:chOff x="0" y="0"/>
            <a:chExt cx="22183344" cy="1280160"/>
          </a:xfrm>
        </p:grpSpPr>
        <p:sp>
          <p:nvSpPr>
            <p:cNvPr id="3" name="Freeform 3"/>
            <p:cNvSpPr/>
            <p:nvPr/>
          </p:nvSpPr>
          <p:spPr>
            <a:xfrm>
              <a:off x="0" y="0"/>
              <a:ext cx="22183344" cy="1280160"/>
            </a:xfrm>
            <a:custGeom>
              <a:avLst/>
              <a:gdLst/>
              <a:ahLst/>
              <a:cxnLst/>
              <a:rect l="l" t="t" r="r" b="b"/>
              <a:pathLst>
                <a:path w="22183344" h="1280160">
                  <a:moveTo>
                    <a:pt x="0" y="0"/>
                  </a:moveTo>
                  <a:lnTo>
                    <a:pt x="22183344" y="0"/>
                  </a:lnTo>
                  <a:lnTo>
                    <a:pt x="22183344" y="1280160"/>
                  </a:lnTo>
                  <a:lnTo>
                    <a:pt x="0" y="1280160"/>
                  </a:lnTo>
                  <a:close/>
                </a:path>
              </a:pathLst>
            </a:custGeom>
            <a:blipFill>
              <a:blip r:embed="rId3">
                <a:alphaModFix amt="0"/>
              </a:blip>
              <a:stretch>
                <a:fillRect t="-287647" b="-287647"/>
              </a:stretch>
            </a:blipFill>
          </p:spPr>
        </p:sp>
        <p:sp>
          <p:nvSpPr>
            <p:cNvPr id="4" name="TextBox 4"/>
            <p:cNvSpPr txBox="1"/>
            <p:nvPr/>
          </p:nvSpPr>
          <p:spPr>
            <a:xfrm>
              <a:off x="0" y="-19050"/>
              <a:ext cx="22183344" cy="1299210"/>
            </a:xfrm>
            <a:prstGeom prst="rect">
              <a:avLst/>
            </a:prstGeom>
          </p:spPr>
          <p:txBody>
            <a:bodyPr lIns="0" tIns="0" rIns="0" bIns="0" rtlCol="0" anchor="ctr"/>
            <a:lstStyle/>
            <a:p>
              <a:pPr algn="ctr">
                <a:lnSpc>
                  <a:spcPts val="5759"/>
                </a:lnSpc>
              </a:pPr>
              <a:r>
                <a:rPr lang="en-US" sz="4800" b="1">
                  <a:solidFill>
                    <a:srgbClr val="15243A"/>
                  </a:solidFill>
                  <a:latin typeface="Arial Bold"/>
                  <a:ea typeface="Arial Bold"/>
                  <a:cs typeface="Arial Bold"/>
                  <a:sym typeface="Arial Bold"/>
                </a:rPr>
                <a:t>Today, merchants use a different tool for each piece.</a:t>
              </a:r>
            </a:p>
          </p:txBody>
        </p:sp>
      </p:grpSp>
      <p:grpSp>
        <p:nvGrpSpPr>
          <p:cNvPr id="5" name="Group 5"/>
          <p:cNvGrpSpPr/>
          <p:nvPr/>
        </p:nvGrpSpPr>
        <p:grpSpPr>
          <a:xfrm>
            <a:off x="2765831" y="1783080"/>
            <a:ext cx="1371600" cy="1371600"/>
            <a:chOff x="0" y="0"/>
            <a:chExt cx="1828800" cy="1828800"/>
          </a:xfrm>
        </p:grpSpPr>
        <p:sp>
          <p:nvSpPr>
            <p:cNvPr id="6" name="Freeform 6"/>
            <p:cNvSpPr/>
            <p:nvPr/>
          </p:nvSpPr>
          <p:spPr>
            <a:xfrm>
              <a:off x="0" y="0"/>
              <a:ext cx="1828800" cy="1828800"/>
            </a:xfrm>
            <a:custGeom>
              <a:avLst/>
              <a:gdLst/>
              <a:ahLst/>
              <a:cxnLst/>
              <a:rect l="l" t="t" r="r" b="b"/>
              <a:pathLst>
                <a:path w="1828800" h="1828800">
                  <a:moveTo>
                    <a:pt x="0" y="402336"/>
                  </a:moveTo>
                  <a:cubicBezTo>
                    <a:pt x="0" y="180086"/>
                    <a:pt x="180086" y="0"/>
                    <a:pt x="402336" y="0"/>
                  </a:cubicBezTo>
                  <a:lnTo>
                    <a:pt x="1426464" y="0"/>
                  </a:lnTo>
                  <a:cubicBezTo>
                    <a:pt x="1648714" y="0"/>
                    <a:pt x="1828800" y="180086"/>
                    <a:pt x="1828800" y="402336"/>
                  </a:cubicBezTo>
                  <a:lnTo>
                    <a:pt x="1828800" y="1426464"/>
                  </a:lnTo>
                  <a:cubicBezTo>
                    <a:pt x="1828800" y="1648714"/>
                    <a:pt x="1648714" y="1828800"/>
                    <a:pt x="1426464" y="1828800"/>
                  </a:cubicBezTo>
                  <a:lnTo>
                    <a:pt x="402336" y="1828800"/>
                  </a:lnTo>
                  <a:cubicBezTo>
                    <a:pt x="180086" y="1828800"/>
                    <a:pt x="0" y="1648714"/>
                    <a:pt x="0" y="1426464"/>
                  </a:cubicBezTo>
                  <a:close/>
                </a:path>
              </a:pathLst>
            </a:custGeom>
            <a:solidFill>
              <a:srgbClr val="2463E8"/>
            </a:solidFill>
          </p:spPr>
        </p:sp>
      </p:grpSp>
      <p:grpSp>
        <p:nvGrpSpPr>
          <p:cNvPr id="7" name="Group 7"/>
          <p:cNvGrpSpPr/>
          <p:nvPr/>
        </p:nvGrpSpPr>
        <p:grpSpPr>
          <a:xfrm>
            <a:off x="3081299" y="2098548"/>
            <a:ext cx="740664" cy="740664"/>
            <a:chOff x="0" y="0"/>
            <a:chExt cx="987552" cy="987552"/>
          </a:xfrm>
        </p:grpSpPr>
        <p:sp>
          <p:nvSpPr>
            <p:cNvPr id="8" name="Freeform 8" descr="preencoded.png"/>
            <p:cNvSpPr/>
            <p:nvPr/>
          </p:nvSpPr>
          <p:spPr>
            <a:xfrm>
              <a:off x="0" y="0"/>
              <a:ext cx="987552" cy="987552"/>
            </a:xfrm>
            <a:custGeom>
              <a:avLst/>
              <a:gdLst/>
              <a:ahLst/>
              <a:cxnLst/>
              <a:rect l="l" t="t" r="r" b="b"/>
              <a:pathLst>
                <a:path w="987552" h="987552">
                  <a:moveTo>
                    <a:pt x="0" y="0"/>
                  </a:moveTo>
                  <a:lnTo>
                    <a:pt x="987552" y="0"/>
                  </a:lnTo>
                  <a:lnTo>
                    <a:pt x="987552" y="987552"/>
                  </a:lnTo>
                  <a:lnTo>
                    <a:pt x="0" y="987552"/>
                  </a:lnTo>
                  <a:lnTo>
                    <a:pt x="0" y="0"/>
                  </a:lnTo>
                  <a:close/>
                </a:path>
              </a:pathLst>
            </a:custGeom>
            <a:blipFill>
              <a:blip r:embed="rId4"/>
              <a:stretch>
                <a:fillRect/>
              </a:stretch>
            </a:blipFill>
          </p:spPr>
        </p:sp>
      </p:grpSp>
      <p:grpSp>
        <p:nvGrpSpPr>
          <p:cNvPr id="9" name="Group 9"/>
          <p:cNvGrpSpPr/>
          <p:nvPr/>
        </p:nvGrpSpPr>
        <p:grpSpPr>
          <a:xfrm>
            <a:off x="914171" y="3319272"/>
            <a:ext cx="5074920" cy="617220"/>
            <a:chOff x="0" y="0"/>
            <a:chExt cx="6766560" cy="822960"/>
          </a:xfrm>
        </p:grpSpPr>
        <p:sp>
          <p:nvSpPr>
            <p:cNvPr id="10" name="Freeform 10"/>
            <p:cNvSpPr/>
            <p:nvPr/>
          </p:nvSpPr>
          <p:spPr>
            <a:xfrm>
              <a:off x="0" y="0"/>
              <a:ext cx="6766560" cy="822960"/>
            </a:xfrm>
            <a:custGeom>
              <a:avLst/>
              <a:gdLst/>
              <a:ahLst/>
              <a:cxnLst/>
              <a:rect l="l" t="t" r="r" b="b"/>
              <a:pathLst>
                <a:path w="6766560" h="822960">
                  <a:moveTo>
                    <a:pt x="0" y="0"/>
                  </a:moveTo>
                  <a:lnTo>
                    <a:pt x="6766560" y="0"/>
                  </a:lnTo>
                  <a:lnTo>
                    <a:pt x="6766560" y="822960"/>
                  </a:lnTo>
                  <a:lnTo>
                    <a:pt x="0" y="822960"/>
                  </a:lnTo>
                  <a:close/>
                </a:path>
              </a:pathLst>
            </a:custGeom>
            <a:blipFill>
              <a:blip r:embed="rId3">
                <a:alphaModFix amt="0"/>
              </a:blip>
              <a:stretch>
                <a:fillRect t="-110210" b="-110210"/>
              </a:stretch>
            </a:blipFill>
          </p:spPr>
        </p:sp>
        <p:sp>
          <p:nvSpPr>
            <p:cNvPr id="11" name="TextBox 11"/>
            <p:cNvSpPr txBox="1"/>
            <p:nvPr/>
          </p:nvSpPr>
          <p:spPr>
            <a:xfrm>
              <a:off x="0" y="-19050"/>
              <a:ext cx="6766560" cy="842010"/>
            </a:xfrm>
            <a:prstGeom prst="rect">
              <a:avLst/>
            </a:prstGeom>
          </p:spPr>
          <p:txBody>
            <a:bodyPr lIns="0" tIns="0" rIns="0" bIns="0" rtlCol="0" anchor="ctr"/>
            <a:lstStyle/>
            <a:p>
              <a:pPr algn="ctr">
                <a:lnSpc>
                  <a:spcPts val="3779"/>
                </a:lnSpc>
              </a:pPr>
              <a:r>
                <a:rPr lang="en-US" sz="3150" b="1">
                  <a:solidFill>
                    <a:srgbClr val="15243A"/>
                  </a:solidFill>
                  <a:latin typeface="Arial Bold"/>
                  <a:ea typeface="Arial Bold"/>
                  <a:cs typeface="Arial Bold"/>
                  <a:sym typeface="Arial Bold"/>
                </a:rPr>
                <a:t>Your own store</a:t>
              </a:r>
            </a:p>
          </p:txBody>
        </p:sp>
      </p:grpSp>
      <p:grpSp>
        <p:nvGrpSpPr>
          <p:cNvPr id="12" name="Group 12"/>
          <p:cNvGrpSpPr/>
          <p:nvPr/>
        </p:nvGrpSpPr>
        <p:grpSpPr>
          <a:xfrm>
            <a:off x="1531391" y="4114800"/>
            <a:ext cx="3840480" cy="630936"/>
            <a:chOff x="0" y="0"/>
            <a:chExt cx="5120640" cy="841248"/>
          </a:xfrm>
        </p:grpSpPr>
        <p:sp>
          <p:nvSpPr>
            <p:cNvPr id="13" name="Freeform 13"/>
            <p:cNvSpPr/>
            <p:nvPr/>
          </p:nvSpPr>
          <p:spPr>
            <a:xfrm>
              <a:off x="0" y="0"/>
              <a:ext cx="5120640" cy="841248"/>
            </a:xfrm>
            <a:custGeom>
              <a:avLst/>
              <a:gdLst/>
              <a:ahLst/>
              <a:cxnLst/>
              <a:rect l="l" t="t" r="r" b="b"/>
              <a:pathLst>
                <a:path w="5120640" h="841248">
                  <a:moveTo>
                    <a:pt x="0" y="420624"/>
                  </a:moveTo>
                  <a:cubicBezTo>
                    <a:pt x="0" y="188341"/>
                    <a:pt x="188341" y="0"/>
                    <a:pt x="420624" y="0"/>
                  </a:cubicBezTo>
                  <a:lnTo>
                    <a:pt x="4700016" y="0"/>
                  </a:lnTo>
                  <a:cubicBezTo>
                    <a:pt x="4932299" y="0"/>
                    <a:pt x="5120640" y="188341"/>
                    <a:pt x="5120640" y="420624"/>
                  </a:cubicBezTo>
                  <a:cubicBezTo>
                    <a:pt x="5120640" y="652907"/>
                    <a:pt x="4932299" y="841248"/>
                    <a:pt x="4700016" y="841248"/>
                  </a:cubicBezTo>
                  <a:lnTo>
                    <a:pt x="420624" y="841248"/>
                  </a:lnTo>
                  <a:cubicBezTo>
                    <a:pt x="188341" y="841248"/>
                    <a:pt x="0" y="652907"/>
                    <a:pt x="0" y="420624"/>
                  </a:cubicBezTo>
                  <a:close/>
                </a:path>
              </a:pathLst>
            </a:custGeom>
            <a:solidFill>
              <a:srgbClr val="DCEBFF"/>
            </a:solidFill>
          </p:spPr>
        </p:sp>
        <p:sp>
          <p:nvSpPr>
            <p:cNvPr id="14" name="TextBox 14"/>
            <p:cNvSpPr txBox="1"/>
            <p:nvPr/>
          </p:nvSpPr>
          <p:spPr>
            <a:xfrm>
              <a:off x="0" y="-9525"/>
              <a:ext cx="5120640" cy="850773"/>
            </a:xfrm>
            <a:prstGeom prst="rect">
              <a:avLst/>
            </a:prstGeom>
          </p:spPr>
          <p:txBody>
            <a:bodyPr lIns="50800" tIns="50800" rIns="50800" bIns="50800" rtlCol="0" anchor="ctr"/>
            <a:lstStyle/>
            <a:p>
              <a:pPr algn="ctr">
                <a:lnSpc>
                  <a:spcPts val="2520"/>
                </a:lnSpc>
              </a:pPr>
              <a:r>
                <a:rPr lang="en-US" sz="2100" b="1">
                  <a:solidFill>
                    <a:srgbClr val="2463E8"/>
                  </a:solidFill>
                  <a:latin typeface="Arial Bold"/>
                  <a:ea typeface="Arial Bold"/>
                  <a:cs typeface="Arial Bold"/>
                  <a:sym typeface="Arial Bold"/>
                </a:rPr>
                <a:t>Facebook page</a:t>
              </a:r>
            </a:p>
          </p:txBody>
        </p:sp>
      </p:grpSp>
      <p:grpSp>
        <p:nvGrpSpPr>
          <p:cNvPr id="15" name="Group 15"/>
          <p:cNvGrpSpPr/>
          <p:nvPr/>
        </p:nvGrpSpPr>
        <p:grpSpPr>
          <a:xfrm>
            <a:off x="1531391" y="4882896"/>
            <a:ext cx="3840480" cy="630936"/>
            <a:chOff x="0" y="0"/>
            <a:chExt cx="5120640" cy="841248"/>
          </a:xfrm>
        </p:grpSpPr>
        <p:sp>
          <p:nvSpPr>
            <p:cNvPr id="16" name="Freeform 16"/>
            <p:cNvSpPr/>
            <p:nvPr/>
          </p:nvSpPr>
          <p:spPr>
            <a:xfrm>
              <a:off x="0" y="0"/>
              <a:ext cx="5120640" cy="841248"/>
            </a:xfrm>
            <a:custGeom>
              <a:avLst/>
              <a:gdLst/>
              <a:ahLst/>
              <a:cxnLst/>
              <a:rect l="l" t="t" r="r" b="b"/>
              <a:pathLst>
                <a:path w="5120640" h="841248">
                  <a:moveTo>
                    <a:pt x="0" y="420624"/>
                  </a:moveTo>
                  <a:cubicBezTo>
                    <a:pt x="0" y="188341"/>
                    <a:pt x="188341" y="0"/>
                    <a:pt x="420624" y="0"/>
                  </a:cubicBezTo>
                  <a:lnTo>
                    <a:pt x="4700016" y="0"/>
                  </a:lnTo>
                  <a:cubicBezTo>
                    <a:pt x="4932299" y="0"/>
                    <a:pt x="5120640" y="188341"/>
                    <a:pt x="5120640" y="420624"/>
                  </a:cubicBezTo>
                  <a:cubicBezTo>
                    <a:pt x="5120640" y="652907"/>
                    <a:pt x="4932299" y="841248"/>
                    <a:pt x="4700016" y="841248"/>
                  </a:cubicBezTo>
                  <a:lnTo>
                    <a:pt x="420624" y="841248"/>
                  </a:lnTo>
                  <a:cubicBezTo>
                    <a:pt x="188341" y="841248"/>
                    <a:pt x="0" y="652907"/>
                    <a:pt x="0" y="420624"/>
                  </a:cubicBezTo>
                  <a:close/>
                </a:path>
              </a:pathLst>
            </a:custGeom>
            <a:solidFill>
              <a:srgbClr val="DCEBFF"/>
            </a:solidFill>
          </p:spPr>
        </p:sp>
        <p:sp>
          <p:nvSpPr>
            <p:cNvPr id="17" name="TextBox 17"/>
            <p:cNvSpPr txBox="1"/>
            <p:nvPr/>
          </p:nvSpPr>
          <p:spPr>
            <a:xfrm>
              <a:off x="0" y="-9525"/>
              <a:ext cx="5120640" cy="850773"/>
            </a:xfrm>
            <a:prstGeom prst="rect">
              <a:avLst/>
            </a:prstGeom>
          </p:spPr>
          <p:txBody>
            <a:bodyPr lIns="50800" tIns="50800" rIns="50800" bIns="50800" rtlCol="0" anchor="ctr"/>
            <a:lstStyle/>
            <a:p>
              <a:pPr algn="ctr">
                <a:lnSpc>
                  <a:spcPts val="2520"/>
                </a:lnSpc>
              </a:pPr>
              <a:r>
                <a:rPr lang="en-US" sz="2100" b="1">
                  <a:solidFill>
                    <a:srgbClr val="2463E8"/>
                  </a:solidFill>
                  <a:latin typeface="Arial Bold"/>
                  <a:ea typeface="Arial Bold"/>
                  <a:cs typeface="Arial Bold"/>
                  <a:sym typeface="Arial Bold"/>
                </a:rPr>
                <a:t>Website builders</a:t>
              </a:r>
            </a:p>
          </p:txBody>
        </p:sp>
      </p:grpSp>
      <p:grpSp>
        <p:nvGrpSpPr>
          <p:cNvPr id="18" name="Group 18"/>
          <p:cNvGrpSpPr/>
          <p:nvPr/>
        </p:nvGrpSpPr>
        <p:grpSpPr>
          <a:xfrm>
            <a:off x="8457971" y="1783080"/>
            <a:ext cx="1371600" cy="1371600"/>
            <a:chOff x="0" y="0"/>
            <a:chExt cx="1828800" cy="1828800"/>
          </a:xfrm>
        </p:grpSpPr>
        <p:sp>
          <p:nvSpPr>
            <p:cNvPr id="19" name="Freeform 19"/>
            <p:cNvSpPr/>
            <p:nvPr/>
          </p:nvSpPr>
          <p:spPr>
            <a:xfrm>
              <a:off x="0" y="0"/>
              <a:ext cx="1828800" cy="1828800"/>
            </a:xfrm>
            <a:custGeom>
              <a:avLst/>
              <a:gdLst/>
              <a:ahLst/>
              <a:cxnLst/>
              <a:rect l="l" t="t" r="r" b="b"/>
              <a:pathLst>
                <a:path w="1828800" h="1828800">
                  <a:moveTo>
                    <a:pt x="0" y="402336"/>
                  </a:moveTo>
                  <a:cubicBezTo>
                    <a:pt x="0" y="180086"/>
                    <a:pt x="180086" y="0"/>
                    <a:pt x="402336" y="0"/>
                  </a:cubicBezTo>
                  <a:lnTo>
                    <a:pt x="1426464" y="0"/>
                  </a:lnTo>
                  <a:cubicBezTo>
                    <a:pt x="1648714" y="0"/>
                    <a:pt x="1828800" y="180086"/>
                    <a:pt x="1828800" y="402336"/>
                  </a:cubicBezTo>
                  <a:lnTo>
                    <a:pt x="1828800" y="1426464"/>
                  </a:lnTo>
                  <a:cubicBezTo>
                    <a:pt x="1828800" y="1648714"/>
                    <a:pt x="1648714" y="1828800"/>
                    <a:pt x="1426464" y="1828800"/>
                  </a:cubicBezTo>
                  <a:lnTo>
                    <a:pt x="402336" y="1828800"/>
                  </a:lnTo>
                  <a:cubicBezTo>
                    <a:pt x="180086" y="1828800"/>
                    <a:pt x="0" y="1648714"/>
                    <a:pt x="0" y="1426464"/>
                  </a:cubicBezTo>
                  <a:close/>
                </a:path>
              </a:pathLst>
            </a:custGeom>
            <a:solidFill>
              <a:srgbClr val="F97316"/>
            </a:solidFill>
          </p:spPr>
        </p:sp>
      </p:grpSp>
      <p:grpSp>
        <p:nvGrpSpPr>
          <p:cNvPr id="20" name="Group 20"/>
          <p:cNvGrpSpPr/>
          <p:nvPr/>
        </p:nvGrpSpPr>
        <p:grpSpPr>
          <a:xfrm>
            <a:off x="8773439" y="2098548"/>
            <a:ext cx="740664" cy="740664"/>
            <a:chOff x="0" y="0"/>
            <a:chExt cx="987552" cy="987552"/>
          </a:xfrm>
        </p:grpSpPr>
        <p:sp>
          <p:nvSpPr>
            <p:cNvPr id="21" name="Freeform 21" descr="preencoded.png"/>
            <p:cNvSpPr/>
            <p:nvPr/>
          </p:nvSpPr>
          <p:spPr>
            <a:xfrm>
              <a:off x="0" y="0"/>
              <a:ext cx="987552" cy="987552"/>
            </a:xfrm>
            <a:custGeom>
              <a:avLst/>
              <a:gdLst/>
              <a:ahLst/>
              <a:cxnLst/>
              <a:rect l="l" t="t" r="r" b="b"/>
              <a:pathLst>
                <a:path w="987552" h="987552">
                  <a:moveTo>
                    <a:pt x="0" y="0"/>
                  </a:moveTo>
                  <a:lnTo>
                    <a:pt x="987552" y="0"/>
                  </a:lnTo>
                  <a:lnTo>
                    <a:pt x="987552" y="987552"/>
                  </a:lnTo>
                  <a:lnTo>
                    <a:pt x="0" y="987552"/>
                  </a:lnTo>
                  <a:lnTo>
                    <a:pt x="0" y="0"/>
                  </a:lnTo>
                  <a:close/>
                </a:path>
              </a:pathLst>
            </a:custGeom>
            <a:blipFill>
              <a:blip r:embed="rId5"/>
              <a:stretch>
                <a:fillRect/>
              </a:stretch>
            </a:blipFill>
          </p:spPr>
        </p:sp>
      </p:grpSp>
      <p:grpSp>
        <p:nvGrpSpPr>
          <p:cNvPr id="22" name="Group 22"/>
          <p:cNvGrpSpPr/>
          <p:nvPr/>
        </p:nvGrpSpPr>
        <p:grpSpPr>
          <a:xfrm>
            <a:off x="6606311" y="3319272"/>
            <a:ext cx="5074920" cy="617220"/>
            <a:chOff x="0" y="0"/>
            <a:chExt cx="6766560" cy="822960"/>
          </a:xfrm>
        </p:grpSpPr>
        <p:sp>
          <p:nvSpPr>
            <p:cNvPr id="23" name="Freeform 23"/>
            <p:cNvSpPr/>
            <p:nvPr/>
          </p:nvSpPr>
          <p:spPr>
            <a:xfrm>
              <a:off x="0" y="0"/>
              <a:ext cx="6766560" cy="822960"/>
            </a:xfrm>
            <a:custGeom>
              <a:avLst/>
              <a:gdLst/>
              <a:ahLst/>
              <a:cxnLst/>
              <a:rect l="l" t="t" r="r" b="b"/>
              <a:pathLst>
                <a:path w="6766560" h="822960">
                  <a:moveTo>
                    <a:pt x="0" y="0"/>
                  </a:moveTo>
                  <a:lnTo>
                    <a:pt x="6766560" y="0"/>
                  </a:lnTo>
                  <a:lnTo>
                    <a:pt x="6766560" y="822960"/>
                  </a:lnTo>
                  <a:lnTo>
                    <a:pt x="0" y="822960"/>
                  </a:lnTo>
                  <a:close/>
                </a:path>
              </a:pathLst>
            </a:custGeom>
            <a:blipFill>
              <a:blip r:embed="rId3">
                <a:alphaModFix amt="0"/>
              </a:blip>
              <a:stretch>
                <a:fillRect t="-110210" b="-110210"/>
              </a:stretch>
            </a:blipFill>
          </p:spPr>
        </p:sp>
        <p:sp>
          <p:nvSpPr>
            <p:cNvPr id="24" name="TextBox 24"/>
            <p:cNvSpPr txBox="1"/>
            <p:nvPr/>
          </p:nvSpPr>
          <p:spPr>
            <a:xfrm>
              <a:off x="0" y="-19050"/>
              <a:ext cx="6766560" cy="842010"/>
            </a:xfrm>
            <a:prstGeom prst="rect">
              <a:avLst/>
            </a:prstGeom>
          </p:spPr>
          <p:txBody>
            <a:bodyPr lIns="0" tIns="0" rIns="0" bIns="0" rtlCol="0" anchor="ctr"/>
            <a:lstStyle/>
            <a:p>
              <a:pPr algn="ctr">
                <a:lnSpc>
                  <a:spcPts val="3779"/>
                </a:lnSpc>
              </a:pPr>
              <a:r>
                <a:rPr lang="en-US" sz="3150" b="1">
                  <a:solidFill>
                    <a:srgbClr val="15243A"/>
                  </a:solidFill>
                  <a:latin typeface="Arial Bold"/>
                  <a:ea typeface="Arial Bold"/>
                  <a:cs typeface="Arial Bold"/>
                  <a:sym typeface="Arial Bold"/>
                </a:rPr>
                <a:t>Marketplace</a:t>
              </a:r>
            </a:p>
          </p:txBody>
        </p:sp>
      </p:grpSp>
      <p:grpSp>
        <p:nvGrpSpPr>
          <p:cNvPr id="25" name="Group 25"/>
          <p:cNvGrpSpPr/>
          <p:nvPr/>
        </p:nvGrpSpPr>
        <p:grpSpPr>
          <a:xfrm>
            <a:off x="7223531" y="4114800"/>
            <a:ext cx="3840480" cy="630936"/>
            <a:chOff x="0" y="0"/>
            <a:chExt cx="5120640" cy="841248"/>
          </a:xfrm>
        </p:grpSpPr>
        <p:sp>
          <p:nvSpPr>
            <p:cNvPr id="26" name="Freeform 26"/>
            <p:cNvSpPr/>
            <p:nvPr/>
          </p:nvSpPr>
          <p:spPr>
            <a:xfrm>
              <a:off x="0" y="0"/>
              <a:ext cx="5120640" cy="841248"/>
            </a:xfrm>
            <a:custGeom>
              <a:avLst/>
              <a:gdLst/>
              <a:ahLst/>
              <a:cxnLst/>
              <a:rect l="l" t="t" r="r" b="b"/>
              <a:pathLst>
                <a:path w="5120640" h="841248">
                  <a:moveTo>
                    <a:pt x="0" y="420624"/>
                  </a:moveTo>
                  <a:cubicBezTo>
                    <a:pt x="0" y="188341"/>
                    <a:pt x="188341" y="0"/>
                    <a:pt x="420624" y="0"/>
                  </a:cubicBezTo>
                  <a:lnTo>
                    <a:pt x="4700016" y="0"/>
                  </a:lnTo>
                  <a:cubicBezTo>
                    <a:pt x="4932299" y="0"/>
                    <a:pt x="5120640" y="188341"/>
                    <a:pt x="5120640" y="420624"/>
                  </a:cubicBezTo>
                  <a:cubicBezTo>
                    <a:pt x="5120640" y="652907"/>
                    <a:pt x="4932299" y="841248"/>
                    <a:pt x="4700016" y="841248"/>
                  </a:cubicBezTo>
                  <a:lnTo>
                    <a:pt x="420624" y="841248"/>
                  </a:lnTo>
                  <a:cubicBezTo>
                    <a:pt x="188341" y="841248"/>
                    <a:pt x="0" y="652907"/>
                    <a:pt x="0" y="420624"/>
                  </a:cubicBezTo>
                  <a:close/>
                </a:path>
              </a:pathLst>
            </a:custGeom>
            <a:solidFill>
              <a:srgbClr val="FFEDD5"/>
            </a:solidFill>
          </p:spPr>
        </p:sp>
        <p:sp>
          <p:nvSpPr>
            <p:cNvPr id="27" name="TextBox 27"/>
            <p:cNvSpPr txBox="1"/>
            <p:nvPr/>
          </p:nvSpPr>
          <p:spPr>
            <a:xfrm>
              <a:off x="0" y="-9525"/>
              <a:ext cx="5120640" cy="850773"/>
            </a:xfrm>
            <a:prstGeom prst="rect">
              <a:avLst/>
            </a:prstGeom>
          </p:spPr>
          <p:txBody>
            <a:bodyPr lIns="50800" tIns="50800" rIns="50800" bIns="50800" rtlCol="0" anchor="ctr"/>
            <a:lstStyle/>
            <a:p>
              <a:pPr algn="ctr">
                <a:lnSpc>
                  <a:spcPts val="2520"/>
                </a:lnSpc>
              </a:pPr>
              <a:r>
                <a:rPr lang="en-US" sz="2100" b="1">
                  <a:solidFill>
                    <a:srgbClr val="F97316"/>
                  </a:solidFill>
                  <a:latin typeface="Arial Bold"/>
                  <a:ea typeface="Arial Bold"/>
                  <a:cs typeface="Arial Bold"/>
                  <a:sym typeface="Arial Bold"/>
                </a:rPr>
                <a:t>Khmer24</a:t>
              </a:r>
            </a:p>
          </p:txBody>
        </p:sp>
      </p:grpSp>
      <p:grpSp>
        <p:nvGrpSpPr>
          <p:cNvPr id="28" name="Group 28"/>
          <p:cNvGrpSpPr/>
          <p:nvPr/>
        </p:nvGrpSpPr>
        <p:grpSpPr>
          <a:xfrm>
            <a:off x="7223531" y="4882896"/>
            <a:ext cx="3840480" cy="630936"/>
            <a:chOff x="0" y="0"/>
            <a:chExt cx="5120640" cy="841248"/>
          </a:xfrm>
        </p:grpSpPr>
        <p:sp>
          <p:nvSpPr>
            <p:cNvPr id="29" name="Freeform 29"/>
            <p:cNvSpPr/>
            <p:nvPr/>
          </p:nvSpPr>
          <p:spPr>
            <a:xfrm>
              <a:off x="0" y="0"/>
              <a:ext cx="5120640" cy="841248"/>
            </a:xfrm>
            <a:custGeom>
              <a:avLst/>
              <a:gdLst/>
              <a:ahLst/>
              <a:cxnLst/>
              <a:rect l="l" t="t" r="r" b="b"/>
              <a:pathLst>
                <a:path w="5120640" h="841248">
                  <a:moveTo>
                    <a:pt x="0" y="420624"/>
                  </a:moveTo>
                  <a:cubicBezTo>
                    <a:pt x="0" y="188341"/>
                    <a:pt x="188341" y="0"/>
                    <a:pt x="420624" y="0"/>
                  </a:cubicBezTo>
                  <a:lnTo>
                    <a:pt x="4700016" y="0"/>
                  </a:lnTo>
                  <a:cubicBezTo>
                    <a:pt x="4932299" y="0"/>
                    <a:pt x="5120640" y="188341"/>
                    <a:pt x="5120640" y="420624"/>
                  </a:cubicBezTo>
                  <a:cubicBezTo>
                    <a:pt x="5120640" y="652907"/>
                    <a:pt x="4932299" y="841248"/>
                    <a:pt x="4700016" y="841248"/>
                  </a:cubicBezTo>
                  <a:lnTo>
                    <a:pt x="420624" y="841248"/>
                  </a:lnTo>
                  <a:cubicBezTo>
                    <a:pt x="188341" y="841248"/>
                    <a:pt x="0" y="652907"/>
                    <a:pt x="0" y="420624"/>
                  </a:cubicBezTo>
                  <a:close/>
                </a:path>
              </a:pathLst>
            </a:custGeom>
            <a:solidFill>
              <a:srgbClr val="FFEDD5"/>
            </a:solidFill>
          </p:spPr>
        </p:sp>
        <p:sp>
          <p:nvSpPr>
            <p:cNvPr id="30" name="TextBox 30"/>
            <p:cNvSpPr txBox="1"/>
            <p:nvPr/>
          </p:nvSpPr>
          <p:spPr>
            <a:xfrm>
              <a:off x="0" y="-9525"/>
              <a:ext cx="5120640" cy="850773"/>
            </a:xfrm>
            <a:prstGeom prst="rect">
              <a:avLst/>
            </a:prstGeom>
          </p:spPr>
          <p:txBody>
            <a:bodyPr lIns="50800" tIns="50800" rIns="50800" bIns="50800" rtlCol="0" anchor="ctr"/>
            <a:lstStyle/>
            <a:p>
              <a:pPr algn="ctr">
                <a:lnSpc>
                  <a:spcPts val="2520"/>
                </a:lnSpc>
              </a:pPr>
              <a:r>
                <a:rPr lang="en-US" sz="2100" b="1">
                  <a:solidFill>
                    <a:srgbClr val="F97316"/>
                  </a:solidFill>
                  <a:latin typeface="Arial Bold"/>
                  <a:ea typeface="Arial Bold"/>
                  <a:cs typeface="Arial Bold"/>
                  <a:sym typeface="Arial Bold"/>
                </a:rPr>
                <a:t>VTENH</a:t>
              </a:r>
            </a:p>
          </p:txBody>
        </p:sp>
      </p:grpSp>
      <p:grpSp>
        <p:nvGrpSpPr>
          <p:cNvPr id="31" name="Group 31"/>
          <p:cNvGrpSpPr/>
          <p:nvPr/>
        </p:nvGrpSpPr>
        <p:grpSpPr>
          <a:xfrm>
            <a:off x="7223531" y="5650992"/>
            <a:ext cx="3840480" cy="630936"/>
            <a:chOff x="0" y="0"/>
            <a:chExt cx="5120640" cy="841248"/>
          </a:xfrm>
        </p:grpSpPr>
        <p:sp>
          <p:nvSpPr>
            <p:cNvPr id="32" name="Freeform 32"/>
            <p:cNvSpPr/>
            <p:nvPr/>
          </p:nvSpPr>
          <p:spPr>
            <a:xfrm>
              <a:off x="0" y="0"/>
              <a:ext cx="5120640" cy="841248"/>
            </a:xfrm>
            <a:custGeom>
              <a:avLst/>
              <a:gdLst/>
              <a:ahLst/>
              <a:cxnLst/>
              <a:rect l="l" t="t" r="r" b="b"/>
              <a:pathLst>
                <a:path w="5120640" h="841248">
                  <a:moveTo>
                    <a:pt x="0" y="420624"/>
                  </a:moveTo>
                  <a:cubicBezTo>
                    <a:pt x="0" y="188341"/>
                    <a:pt x="188341" y="0"/>
                    <a:pt x="420624" y="0"/>
                  </a:cubicBezTo>
                  <a:lnTo>
                    <a:pt x="4700016" y="0"/>
                  </a:lnTo>
                  <a:cubicBezTo>
                    <a:pt x="4932299" y="0"/>
                    <a:pt x="5120640" y="188341"/>
                    <a:pt x="5120640" y="420624"/>
                  </a:cubicBezTo>
                  <a:cubicBezTo>
                    <a:pt x="5120640" y="652907"/>
                    <a:pt x="4932299" y="841248"/>
                    <a:pt x="4700016" y="841248"/>
                  </a:cubicBezTo>
                  <a:lnTo>
                    <a:pt x="420624" y="841248"/>
                  </a:lnTo>
                  <a:cubicBezTo>
                    <a:pt x="188341" y="841248"/>
                    <a:pt x="0" y="652907"/>
                    <a:pt x="0" y="420624"/>
                  </a:cubicBezTo>
                  <a:close/>
                </a:path>
              </a:pathLst>
            </a:custGeom>
            <a:solidFill>
              <a:srgbClr val="FFEDD5"/>
            </a:solidFill>
          </p:spPr>
        </p:sp>
        <p:sp>
          <p:nvSpPr>
            <p:cNvPr id="33" name="TextBox 33"/>
            <p:cNvSpPr txBox="1"/>
            <p:nvPr/>
          </p:nvSpPr>
          <p:spPr>
            <a:xfrm>
              <a:off x="0" y="-9525"/>
              <a:ext cx="5120640" cy="850773"/>
            </a:xfrm>
            <a:prstGeom prst="rect">
              <a:avLst/>
            </a:prstGeom>
          </p:spPr>
          <p:txBody>
            <a:bodyPr lIns="50800" tIns="50800" rIns="50800" bIns="50800" rtlCol="0" anchor="ctr"/>
            <a:lstStyle/>
            <a:p>
              <a:pPr algn="ctr">
                <a:lnSpc>
                  <a:spcPts val="2520"/>
                </a:lnSpc>
              </a:pPr>
              <a:r>
                <a:rPr lang="en-US" sz="2100" b="1">
                  <a:solidFill>
                    <a:srgbClr val="F97316"/>
                  </a:solidFill>
                  <a:latin typeface="Arial Bold"/>
                  <a:ea typeface="Arial Bold"/>
                  <a:cs typeface="Arial Bold"/>
                  <a:sym typeface="Arial Bold"/>
                </a:rPr>
                <a:t>Smile Shop</a:t>
              </a:r>
            </a:p>
          </p:txBody>
        </p:sp>
      </p:grpSp>
      <p:grpSp>
        <p:nvGrpSpPr>
          <p:cNvPr id="34" name="Group 34"/>
          <p:cNvGrpSpPr/>
          <p:nvPr/>
        </p:nvGrpSpPr>
        <p:grpSpPr>
          <a:xfrm>
            <a:off x="14150111" y="1783080"/>
            <a:ext cx="1371600" cy="1371600"/>
            <a:chOff x="0" y="0"/>
            <a:chExt cx="1828800" cy="1828800"/>
          </a:xfrm>
        </p:grpSpPr>
        <p:sp>
          <p:nvSpPr>
            <p:cNvPr id="35" name="Freeform 35"/>
            <p:cNvSpPr/>
            <p:nvPr/>
          </p:nvSpPr>
          <p:spPr>
            <a:xfrm>
              <a:off x="0" y="0"/>
              <a:ext cx="1828800" cy="1828800"/>
            </a:xfrm>
            <a:custGeom>
              <a:avLst/>
              <a:gdLst/>
              <a:ahLst/>
              <a:cxnLst/>
              <a:rect l="l" t="t" r="r" b="b"/>
              <a:pathLst>
                <a:path w="1828800" h="1828800">
                  <a:moveTo>
                    <a:pt x="0" y="402336"/>
                  </a:moveTo>
                  <a:cubicBezTo>
                    <a:pt x="0" y="180086"/>
                    <a:pt x="180086" y="0"/>
                    <a:pt x="402336" y="0"/>
                  </a:cubicBezTo>
                  <a:lnTo>
                    <a:pt x="1426464" y="0"/>
                  </a:lnTo>
                  <a:cubicBezTo>
                    <a:pt x="1648714" y="0"/>
                    <a:pt x="1828800" y="180086"/>
                    <a:pt x="1828800" y="402336"/>
                  </a:cubicBezTo>
                  <a:lnTo>
                    <a:pt x="1828800" y="1426464"/>
                  </a:lnTo>
                  <a:cubicBezTo>
                    <a:pt x="1828800" y="1648714"/>
                    <a:pt x="1648714" y="1828800"/>
                    <a:pt x="1426464" y="1828800"/>
                  </a:cubicBezTo>
                  <a:lnTo>
                    <a:pt x="402336" y="1828800"/>
                  </a:lnTo>
                  <a:cubicBezTo>
                    <a:pt x="180086" y="1828800"/>
                    <a:pt x="0" y="1648714"/>
                    <a:pt x="0" y="1426464"/>
                  </a:cubicBezTo>
                  <a:close/>
                </a:path>
              </a:pathLst>
            </a:custGeom>
            <a:solidFill>
              <a:srgbClr val="0AA7A2"/>
            </a:solidFill>
          </p:spPr>
        </p:sp>
      </p:grpSp>
      <p:grpSp>
        <p:nvGrpSpPr>
          <p:cNvPr id="36" name="Group 36"/>
          <p:cNvGrpSpPr/>
          <p:nvPr/>
        </p:nvGrpSpPr>
        <p:grpSpPr>
          <a:xfrm>
            <a:off x="14465579" y="2098548"/>
            <a:ext cx="740664" cy="740664"/>
            <a:chOff x="0" y="0"/>
            <a:chExt cx="987552" cy="987552"/>
          </a:xfrm>
        </p:grpSpPr>
        <p:sp>
          <p:nvSpPr>
            <p:cNvPr id="37" name="Freeform 37" descr="preencoded.png"/>
            <p:cNvSpPr/>
            <p:nvPr/>
          </p:nvSpPr>
          <p:spPr>
            <a:xfrm>
              <a:off x="0" y="0"/>
              <a:ext cx="987552" cy="987552"/>
            </a:xfrm>
            <a:custGeom>
              <a:avLst/>
              <a:gdLst/>
              <a:ahLst/>
              <a:cxnLst/>
              <a:rect l="l" t="t" r="r" b="b"/>
              <a:pathLst>
                <a:path w="987552" h="987552">
                  <a:moveTo>
                    <a:pt x="0" y="0"/>
                  </a:moveTo>
                  <a:lnTo>
                    <a:pt x="987552" y="0"/>
                  </a:lnTo>
                  <a:lnTo>
                    <a:pt x="987552" y="987552"/>
                  </a:lnTo>
                  <a:lnTo>
                    <a:pt x="0" y="987552"/>
                  </a:lnTo>
                  <a:lnTo>
                    <a:pt x="0" y="0"/>
                  </a:lnTo>
                  <a:close/>
                </a:path>
              </a:pathLst>
            </a:custGeom>
            <a:blipFill>
              <a:blip r:embed="rId6"/>
              <a:stretch>
                <a:fillRect/>
              </a:stretch>
            </a:blipFill>
          </p:spPr>
        </p:sp>
      </p:grpSp>
      <p:grpSp>
        <p:nvGrpSpPr>
          <p:cNvPr id="38" name="Group 38"/>
          <p:cNvGrpSpPr/>
          <p:nvPr/>
        </p:nvGrpSpPr>
        <p:grpSpPr>
          <a:xfrm>
            <a:off x="12298451" y="3319272"/>
            <a:ext cx="5074920" cy="617220"/>
            <a:chOff x="0" y="0"/>
            <a:chExt cx="6766560" cy="822960"/>
          </a:xfrm>
        </p:grpSpPr>
        <p:sp>
          <p:nvSpPr>
            <p:cNvPr id="39" name="Freeform 39"/>
            <p:cNvSpPr/>
            <p:nvPr/>
          </p:nvSpPr>
          <p:spPr>
            <a:xfrm>
              <a:off x="0" y="0"/>
              <a:ext cx="6766560" cy="822960"/>
            </a:xfrm>
            <a:custGeom>
              <a:avLst/>
              <a:gdLst/>
              <a:ahLst/>
              <a:cxnLst/>
              <a:rect l="l" t="t" r="r" b="b"/>
              <a:pathLst>
                <a:path w="6766560" h="822960">
                  <a:moveTo>
                    <a:pt x="0" y="0"/>
                  </a:moveTo>
                  <a:lnTo>
                    <a:pt x="6766560" y="0"/>
                  </a:lnTo>
                  <a:lnTo>
                    <a:pt x="6766560" y="822960"/>
                  </a:lnTo>
                  <a:lnTo>
                    <a:pt x="0" y="822960"/>
                  </a:lnTo>
                  <a:close/>
                </a:path>
              </a:pathLst>
            </a:custGeom>
            <a:blipFill>
              <a:blip r:embed="rId3">
                <a:alphaModFix amt="0"/>
              </a:blip>
              <a:stretch>
                <a:fillRect t="-110210" b="-110210"/>
              </a:stretch>
            </a:blipFill>
          </p:spPr>
        </p:sp>
        <p:sp>
          <p:nvSpPr>
            <p:cNvPr id="40" name="TextBox 40"/>
            <p:cNvSpPr txBox="1"/>
            <p:nvPr/>
          </p:nvSpPr>
          <p:spPr>
            <a:xfrm>
              <a:off x="0" y="-19050"/>
              <a:ext cx="6766560" cy="842010"/>
            </a:xfrm>
            <a:prstGeom prst="rect">
              <a:avLst/>
            </a:prstGeom>
          </p:spPr>
          <p:txBody>
            <a:bodyPr lIns="0" tIns="0" rIns="0" bIns="0" rtlCol="0" anchor="ctr"/>
            <a:lstStyle/>
            <a:p>
              <a:pPr algn="ctr">
                <a:lnSpc>
                  <a:spcPts val="3779"/>
                </a:lnSpc>
              </a:pPr>
              <a:r>
                <a:rPr lang="en-US" sz="3150" b="1">
                  <a:solidFill>
                    <a:srgbClr val="15243A"/>
                  </a:solidFill>
                  <a:latin typeface="Arial Bold"/>
                  <a:ea typeface="Arial Bold"/>
                  <a:cs typeface="Arial Bold"/>
                  <a:sym typeface="Arial Bold"/>
                </a:rPr>
                <a:t>Shop counter</a:t>
              </a:r>
            </a:p>
          </p:txBody>
        </p:sp>
      </p:grpSp>
      <p:grpSp>
        <p:nvGrpSpPr>
          <p:cNvPr id="41" name="Group 41"/>
          <p:cNvGrpSpPr/>
          <p:nvPr/>
        </p:nvGrpSpPr>
        <p:grpSpPr>
          <a:xfrm>
            <a:off x="12915671" y="4114800"/>
            <a:ext cx="3840480" cy="630936"/>
            <a:chOff x="0" y="0"/>
            <a:chExt cx="5120640" cy="841248"/>
          </a:xfrm>
        </p:grpSpPr>
        <p:sp>
          <p:nvSpPr>
            <p:cNvPr id="42" name="Freeform 42"/>
            <p:cNvSpPr/>
            <p:nvPr/>
          </p:nvSpPr>
          <p:spPr>
            <a:xfrm>
              <a:off x="0" y="0"/>
              <a:ext cx="5120640" cy="841248"/>
            </a:xfrm>
            <a:custGeom>
              <a:avLst/>
              <a:gdLst/>
              <a:ahLst/>
              <a:cxnLst/>
              <a:rect l="l" t="t" r="r" b="b"/>
              <a:pathLst>
                <a:path w="5120640" h="841248">
                  <a:moveTo>
                    <a:pt x="0" y="420624"/>
                  </a:moveTo>
                  <a:cubicBezTo>
                    <a:pt x="0" y="188341"/>
                    <a:pt x="188341" y="0"/>
                    <a:pt x="420624" y="0"/>
                  </a:cubicBezTo>
                  <a:lnTo>
                    <a:pt x="4700016" y="0"/>
                  </a:lnTo>
                  <a:cubicBezTo>
                    <a:pt x="4932299" y="0"/>
                    <a:pt x="5120640" y="188341"/>
                    <a:pt x="5120640" y="420624"/>
                  </a:cubicBezTo>
                  <a:cubicBezTo>
                    <a:pt x="5120640" y="652907"/>
                    <a:pt x="4932299" y="841248"/>
                    <a:pt x="4700016" y="841248"/>
                  </a:cubicBezTo>
                  <a:lnTo>
                    <a:pt x="420624" y="841248"/>
                  </a:lnTo>
                  <a:cubicBezTo>
                    <a:pt x="188341" y="841248"/>
                    <a:pt x="0" y="652907"/>
                    <a:pt x="0" y="420624"/>
                  </a:cubicBezTo>
                  <a:close/>
                </a:path>
              </a:pathLst>
            </a:custGeom>
            <a:solidFill>
              <a:srgbClr val="D6F4F0"/>
            </a:solidFill>
          </p:spPr>
        </p:sp>
        <p:sp>
          <p:nvSpPr>
            <p:cNvPr id="43" name="TextBox 43"/>
            <p:cNvSpPr txBox="1"/>
            <p:nvPr/>
          </p:nvSpPr>
          <p:spPr>
            <a:xfrm>
              <a:off x="0" y="-9525"/>
              <a:ext cx="5120640" cy="850773"/>
            </a:xfrm>
            <a:prstGeom prst="rect">
              <a:avLst/>
            </a:prstGeom>
          </p:spPr>
          <p:txBody>
            <a:bodyPr lIns="50800" tIns="50800" rIns="50800" bIns="50800" rtlCol="0" anchor="ctr"/>
            <a:lstStyle/>
            <a:p>
              <a:pPr algn="ctr">
                <a:lnSpc>
                  <a:spcPts val="2520"/>
                </a:lnSpc>
              </a:pPr>
              <a:r>
                <a:rPr lang="en-US" sz="2100" b="1">
                  <a:solidFill>
                    <a:srgbClr val="0AA7A2"/>
                  </a:solidFill>
                  <a:latin typeface="Arial Bold"/>
                  <a:ea typeface="Arial Bold"/>
                  <a:cs typeface="Arial Bold"/>
                  <a:sym typeface="Arial Bold"/>
                </a:rPr>
                <a:t>POS apps</a:t>
              </a:r>
            </a:p>
          </p:txBody>
        </p:sp>
      </p:grpSp>
      <p:grpSp>
        <p:nvGrpSpPr>
          <p:cNvPr id="44" name="Group 44"/>
          <p:cNvGrpSpPr/>
          <p:nvPr/>
        </p:nvGrpSpPr>
        <p:grpSpPr>
          <a:xfrm>
            <a:off x="12915671" y="4882896"/>
            <a:ext cx="3840480" cy="630936"/>
            <a:chOff x="0" y="0"/>
            <a:chExt cx="5120640" cy="841248"/>
          </a:xfrm>
        </p:grpSpPr>
        <p:sp>
          <p:nvSpPr>
            <p:cNvPr id="45" name="Freeform 45"/>
            <p:cNvSpPr/>
            <p:nvPr/>
          </p:nvSpPr>
          <p:spPr>
            <a:xfrm>
              <a:off x="0" y="0"/>
              <a:ext cx="5120640" cy="841248"/>
            </a:xfrm>
            <a:custGeom>
              <a:avLst/>
              <a:gdLst/>
              <a:ahLst/>
              <a:cxnLst/>
              <a:rect l="l" t="t" r="r" b="b"/>
              <a:pathLst>
                <a:path w="5120640" h="841248">
                  <a:moveTo>
                    <a:pt x="0" y="420624"/>
                  </a:moveTo>
                  <a:cubicBezTo>
                    <a:pt x="0" y="188341"/>
                    <a:pt x="188341" y="0"/>
                    <a:pt x="420624" y="0"/>
                  </a:cubicBezTo>
                  <a:lnTo>
                    <a:pt x="4700016" y="0"/>
                  </a:lnTo>
                  <a:cubicBezTo>
                    <a:pt x="4932299" y="0"/>
                    <a:pt x="5120640" y="188341"/>
                    <a:pt x="5120640" y="420624"/>
                  </a:cubicBezTo>
                  <a:cubicBezTo>
                    <a:pt x="5120640" y="652907"/>
                    <a:pt x="4932299" y="841248"/>
                    <a:pt x="4700016" y="841248"/>
                  </a:cubicBezTo>
                  <a:lnTo>
                    <a:pt x="420624" y="841248"/>
                  </a:lnTo>
                  <a:cubicBezTo>
                    <a:pt x="188341" y="841248"/>
                    <a:pt x="0" y="652907"/>
                    <a:pt x="0" y="420624"/>
                  </a:cubicBezTo>
                  <a:close/>
                </a:path>
              </a:pathLst>
            </a:custGeom>
            <a:solidFill>
              <a:srgbClr val="D6F4F0"/>
            </a:solidFill>
          </p:spPr>
        </p:sp>
        <p:sp>
          <p:nvSpPr>
            <p:cNvPr id="46" name="TextBox 46"/>
            <p:cNvSpPr txBox="1"/>
            <p:nvPr/>
          </p:nvSpPr>
          <p:spPr>
            <a:xfrm>
              <a:off x="0" y="-9525"/>
              <a:ext cx="5120640" cy="850773"/>
            </a:xfrm>
            <a:prstGeom prst="rect">
              <a:avLst/>
            </a:prstGeom>
          </p:spPr>
          <p:txBody>
            <a:bodyPr lIns="50800" tIns="50800" rIns="50800" bIns="50800" rtlCol="0" anchor="ctr"/>
            <a:lstStyle/>
            <a:p>
              <a:pPr algn="ctr">
                <a:lnSpc>
                  <a:spcPts val="2520"/>
                </a:lnSpc>
              </a:pPr>
              <a:r>
                <a:rPr lang="en-US" sz="2100" b="1">
                  <a:solidFill>
                    <a:srgbClr val="0AA7A2"/>
                  </a:solidFill>
                  <a:latin typeface="Arial Bold"/>
                  <a:ea typeface="Arial Bold"/>
                  <a:cs typeface="Arial Bold"/>
                  <a:sym typeface="Arial Bold"/>
                </a:rPr>
                <a:t>Cash box</a:t>
              </a:r>
            </a:p>
          </p:txBody>
        </p:sp>
      </p:grpSp>
      <p:sp>
        <p:nvSpPr>
          <p:cNvPr id="47" name="AutoShape 47"/>
          <p:cNvSpPr/>
          <p:nvPr/>
        </p:nvSpPr>
        <p:spPr>
          <a:xfrm rot="5378460">
            <a:off x="4020226" y="4105275"/>
            <a:ext cx="4554941" cy="0"/>
          </a:xfrm>
          <a:prstGeom prst="line">
            <a:avLst/>
          </a:prstGeom>
          <a:ln w="19050" cap="rnd">
            <a:solidFill>
              <a:srgbClr val="CBD5E1"/>
            </a:solidFill>
            <a:prstDash val="solid"/>
            <a:headEnd type="none" w="sm" len="sm"/>
            <a:tailEnd type="none" w="sm" len="sm"/>
          </a:ln>
        </p:spPr>
      </p:sp>
      <p:sp>
        <p:nvSpPr>
          <p:cNvPr id="48" name="AutoShape 48"/>
          <p:cNvSpPr/>
          <p:nvPr/>
        </p:nvSpPr>
        <p:spPr>
          <a:xfrm rot="5378460">
            <a:off x="9712366" y="4105275"/>
            <a:ext cx="4554941" cy="0"/>
          </a:xfrm>
          <a:prstGeom prst="line">
            <a:avLst/>
          </a:prstGeom>
          <a:ln w="19050" cap="rnd">
            <a:solidFill>
              <a:srgbClr val="CBD5E1"/>
            </a:solidFill>
            <a:prstDash val="solid"/>
            <a:headEnd type="none" w="sm" len="sm"/>
            <a:tailEnd type="none" w="sm" len="sm"/>
          </a:ln>
        </p:spPr>
      </p:sp>
      <p:sp>
        <p:nvSpPr>
          <p:cNvPr id="49" name="AutoShape 49"/>
          <p:cNvSpPr/>
          <p:nvPr/>
        </p:nvSpPr>
        <p:spPr>
          <a:xfrm rot="1065180">
            <a:off x="3347904" y="6953440"/>
            <a:ext cx="3156394" cy="0"/>
          </a:xfrm>
          <a:prstGeom prst="line">
            <a:avLst/>
          </a:prstGeom>
          <a:ln w="28575" cap="rnd">
            <a:solidFill>
              <a:srgbClr val="2463E8"/>
            </a:solidFill>
            <a:prstDash val="solid"/>
            <a:headEnd type="none" w="sm" len="sm"/>
            <a:tailEnd type="triangle" w="lg" len="med"/>
          </a:ln>
        </p:spPr>
      </p:sp>
      <p:sp>
        <p:nvSpPr>
          <p:cNvPr id="50" name="AutoShape 50"/>
          <p:cNvSpPr/>
          <p:nvPr/>
        </p:nvSpPr>
        <p:spPr>
          <a:xfrm rot="5196120">
            <a:off x="8661721" y="6953440"/>
            <a:ext cx="964101" cy="0"/>
          </a:xfrm>
          <a:prstGeom prst="line">
            <a:avLst/>
          </a:prstGeom>
          <a:ln w="28575" cap="rnd">
            <a:solidFill>
              <a:srgbClr val="F97316"/>
            </a:solidFill>
            <a:prstDash val="solid"/>
            <a:headEnd type="none" w="sm" len="sm"/>
            <a:tailEnd type="triangle" w="lg" len="med"/>
          </a:ln>
        </p:spPr>
      </p:sp>
      <p:sp>
        <p:nvSpPr>
          <p:cNvPr id="51" name="AutoShape 51"/>
          <p:cNvSpPr/>
          <p:nvPr/>
        </p:nvSpPr>
        <p:spPr>
          <a:xfrm rot="9734820">
            <a:off x="11783244" y="6953440"/>
            <a:ext cx="3156394" cy="0"/>
          </a:xfrm>
          <a:prstGeom prst="line">
            <a:avLst/>
          </a:prstGeom>
          <a:ln w="28575" cap="rnd">
            <a:solidFill>
              <a:srgbClr val="0AA7A2"/>
            </a:solidFill>
            <a:prstDash val="solid"/>
            <a:headEnd type="none" w="sm" len="sm"/>
            <a:tailEnd type="triangle" w="lg" len="med"/>
          </a:ln>
        </p:spPr>
      </p:sp>
      <p:grpSp>
        <p:nvGrpSpPr>
          <p:cNvPr id="52" name="Group 52"/>
          <p:cNvGrpSpPr/>
          <p:nvPr/>
        </p:nvGrpSpPr>
        <p:grpSpPr>
          <a:xfrm>
            <a:off x="4754651" y="7475220"/>
            <a:ext cx="8778240" cy="1645920"/>
            <a:chOff x="0" y="0"/>
            <a:chExt cx="11704320" cy="2194560"/>
          </a:xfrm>
        </p:grpSpPr>
        <p:sp>
          <p:nvSpPr>
            <p:cNvPr id="53" name="Freeform 53"/>
            <p:cNvSpPr/>
            <p:nvPr/>
          </p:nvSpPr>
          <p:spPr>
            <a:xfrm>
              <a:off x="0" y="0"/>
              <a:ext cx="11704320" cy="2194560"/>
            </a:xfrm>
            <a:custGeom>
              <a:avLst/>
              <a:gdLst/>
              <a:ahLst/>
              <a:cxnLst/>
              <a:rect l="l" t="t" r="r" b="b"/>
              <a:pathLst>
                <a:path w="11704320" h="2194560">
                  <a:moveTo>
                    <a:pt x="0" y="457200"/>
                  </a:moveTo>
                  <a:cubicBezTo>
                    <a:pt x="0" y="204724"/>
                    <a:pt x="204724" y="0"/>
                    <a:pt x="457200" y="0"/>
                  </a:cubicBezTo>
                  <a:lnTo>
                    <a:pt x="11247120" y="0"/>
                  </a:lnTo>
                  <a:cubicBezTo>
                    <a:pt x="11499596" y="0"/>
                    <a:pt x="11704320" y="204724"/>
                    <a:pt x="11704320" y="457200"/>
                  </a:cubicBezTo>
                  <a:lnTo>
                    <a:pt x="11704320" y="1737360"/>
                  </a:lnTo>
                  <a:cubicBezTo>
                    <a:pt x="11704320" y="1989836"/>
                    <a:pt x="11499596" y="2194560"/>
                    <a:pt x="11247120" y="2194560"/>
                  </a:cubicBezTo>
                  <a:lnTo>
                    <a:pt x="457200" y="2194560"/>
                  </a:lnTo>
                  <a:cubicBezTo>
                    <a:pt x="204724" y="2194560"/>
                    <a:pt x="0" y="1989836"/>
                    <a:pt x="0" y="1737360"/>
                  </a:cubicBezTo>
                  <a:close/>
                </a:path>
              </a:pathLst>
            </a:custGeom>
            <a:solidFill>
              <a:srgbClr val="111D35"/>
            </a:solidFill>
          </p:spPr>
        </p:sp>
      </p:grpSp>
      <p:grpSp>
        <p:nvGrpSpPr>
          <p:cNvPr id="54" name="Group 54"/>
          <p:cNvGrpSpPr/>
          <p:nvPr/>
        </p:nvGrpSpPr>
        <p:grpSpPr>
          <a:xfrm>
            <a:off x="5097551" y="7749540"/>
            <a:ext cx="1097280" cy="1097280"/>
            <a:chOff x="0" y="0"/>
            <a:chExt cx="1463040" cy="1463040"/>
          </a:xfrm>
        </p:grpSpPr>
        <p:sp>
          <p:nvSpPr>
            <p:cNvPr id="55" name="Freeform 55" descr="Rentify logo"/>
            <p:cNvSpPr/>
            <p:nvPr/>
          </p:nvSpPr>
          <p:spPr>
            <a:xfrm>
              <a:off x="0" y="0"/>
              <a:ext cx="1463040" cy="1463040"/>
            </a:xfrm>
            <a:custGeom>
              <a:avLst/>
              <a:gdLst/>
              <a:ahLst/>
              <a:cxnLst/>
              <a:rect l="l" t="t" r="r" b="b"/>
              <a:pathLst>
                <a:path w="1463040" h="1463040">
                  <a:moveTo>
                    <a:pt x="0" y="0"/>
                  </a:moveTo>
                  <a:lnTo>
                    <a:pt x="1463040" y="0"/>
                  </a:lnTo>
                  <a:lnTo>
                    <a:pt x="1463040" y="1463040"/>
                  </a:lnTo>
                  <a:lnTo>
                    <a:pt x="0" y="1463040"/>
                  </a:lnTo>
                  <a:lnTo>
                    <a:pt x="0" y="0"/>
                  </a:lnTo>
                  <a:close/>
                </a:path>
              </a:pathLst>
            </a:custGeom>
            <a:blipFill>
              <a:blip r:embed="rId7"/>
              <a:stretch>
                <a:fillRect/>
              </a:stretch>
            </a:blipFill>
          </p:spPr>
        </p:sp>
      </p:grpSp>
      <p:grpSp>
        <p:nvGrpSpPr>
          <p:cNvPr id="56" name="Group 56"/>
          <p:cNvGrpSpPr/>
          <p:nvPr/>
        </p:nvGrpSpPr>
        <p:grpSpPr>
          <a:xfrm>
            <a:off x="6469151" y="7475220"/>
            <a:ext cx="4114800" cy="1645920"/>
            <a:chOff x="0" y="0"/>
            <a:chExt cx="5486400" cy="2194560"/>
          </a:xfrm>
        </p:grpSpPr>
        <p:sp>
          <p:nvSpPr>
            <p:cNvPr id="57" name="Freeform 57"/>
            <p:cNvSpPr/>
            <p:nvPr/>
          </p:nvSpPr>
          <p:spPr>
            <a:xfrm>
              <a:off x="0" y="0"/>
              <a:ext cx="5486400" cy="2194560"/>
            </a:xfrm>
            <a:custGeom>
              <a:avLst/>
              <a:gdLst/>
              <a:ahLst/>
              <a:cxnLst/>
              <a:rect l="l" t="t" r="r" b="b"/>
              <a:pathLst>
                <a:path w="5486400" h="2194560">
                  <a:moveTo>
                    <a:pt x="0" y="0"/>
                  </a:moveTo>
                  <a:lnTo>
                    <a:pt x="5486400" y="0"/>
                  </a:lnTo>
                  <a:lnTo>
                    <a:pt x="5486400" y="2194560"/>
                  </a:lnTo>
                  <a:lnTo>
                    <a:pt x="0" y="2194560"/>
                  </a:lnTo>
                  <a:close/>
                </a:path>
              </a:pathLst>
            </a:custGeom>
            <a:blipFill>
              <a:blip r:embed="rId3">
                <a:alphaModFix amt="0"/>
              </a:blip>
              <a:stretch>
                <a:fillRect l="-1321" r="-1321"/>
              </a:stretch>
            </a:blipFill>
          </p:spPr>
        </p:sp>
        <p:sp>
          <p:nvSpPr>
            <p:cNvPr id="58" name="TextBox 58"/>
            <p:cNvSpPr txBox="1"/>
            <p:nvPr/>
          </p:nvSpPr>
          <p:spPr>
            <a:xfrm>
              <a:off x="0" y="-19050"/>
              <a:ext cx="5486400" cy="2213610"/>
            </a:xfrm>
            <a:prstGeom prst="rect">
              <a:avLst/>
            </a:prstGeom>
          </p:spPr>
          <p:txBody>
            <a:bodyPr lIns="0" tIns="0" rIns="0" bIns="0" rtlCol="0" anchor="ctr"/>
            <a:lstStyle/>
            <a:p>
              <a:pPr algn="l">
                <a:lnSpc>
                  <a:spcPts val="4680"/>
                </a:lnSpc>
              </a:pPr>
              <a:r>
                <a:rPr lang="en-US" sz="3900" b="1">
                  <a:solidFill>
                    <a:srgbClr val="FFFFFF"/>
                  </a:solidFill>
                  <a:latin typeface="Arial Bold"/>
                  <a:ea typeface="Arial Bold"/>
                  <a:cs typeface="Arial Bold"/>
                  <a:sym typeface="Arial Bold"/>
                </a:rPr>
                <a:t>Rentify</a:t>
              </a:r>
            </a:p>
            <a:p>
              <a:pPr algn="l">
                <a:lnSpc>
                  <a:spcPts val="2879"/>
                </a:lnSpc>
              </a:pPr>
              <a:r>
                <a:rPr lang="en-US" sz="2400" b="1">
                  <a:solidFill>
                    <a:srgbClr val="A7F3D0"/>
                  </a:solidFill>
                  <a:latin typeface="Arial Bold"/>
                  <a:ea typeface="Arial Bold"/>
                  <a:cs typeface="Arial Bold"/>
                  <a:sym typeface="Arial Bold"/>
                </a:rPr>
                <a:t>All three. One stock.</a:t>
              </a:r>
            </a:p>
          </p:txBody>
        </p:sp>
      </p:grpSp>
      <p:grpSp>
        <p:nvGrpSpPr>
          <p:cNvPr id="59" name="Group 59"/>
          <p:cNvGrpSpPr/>
          <p:nvPr/>
        </p:nvGrpSpPr>
        <p:grpSpPr>
          <a:xfrm>
            <a:off x="10186187" y="7872984"/>
            <a:ext cx="850392" cy="850392"/>
            <a:chOff x="0" y="0"/>
            <a:chExt cx="1133856" cy="1133856"/>
          </a:xfrm>
        </p:grpSpPr>
        <p:sp>
          <p:nvSpPr>
            <p:cNvPr id="60" name="Freeform 60"/>
            <p:cNvSpPr/>
            <p:nvPr/>
          </p:nvSpPr>
          <p:spPr>
            <a:xfrm>
              <a:off x="0" y="0"/>
              <a:ext cx="1133856" cy="1133856"/>
            </a:xfrm>
            <a:custGeom>
              <a:avLst/>
              <a:gdLst/>
              <a:ahLst/>
              <a:cxnLst/>
              <a:rect l="l" t="t" r="r" b="b"/>
              <a:pathLst>
                <a:path w="1133856" h="1133856">
                  <a:moveTo>
                    <a:pt x="0" y="256032"/>
                  </a:moveTo>
                  <a:cubicBezTo>
                    <a:pt x="0" y="114681"/>
                    <a:pt x="114681" y="0"/>
                    <a:pt x="256032" y="0"/>
                  </a:cubicBezTo>
                  <a:lnTo>
                    <a:pt x="877824" y="0"/>
                  </a:lnTo>
                  <a:cubicBezTo>
                    <a:pt x="1019175" y="0"/>
                    <a:pt x="1133856" y="114681"/>
                    <a:pt x="1133856" y="256032"/>
                  </a:cubicBezTo>
                  <a:lnTo>
                    <a:pt x="1133856" y="877824"/>
                  </a:lnTo>
                  <a:cubicBezTo>
                    <a:pt x="1133856" y="1019175"/>
                    <a:pt x="1019175" y="1133856"/>
                    <a:pt x="877824" y="1133856"/>
                  </a:cubicBezTo>
                  <a:lnTo>
                    <a:pt x="256032" y="1133856"/>
                  </a:lnTo>
                  <a:cubicBezTo>
                    <a:pt x="114681" y="1133856"/>
                    <a:pt x="0" y="1019175"/>
                    <a:pt x="0" y="877824"/>
                  </a:cubicBezTo>
                  <a:close/>
                </a:path>
              </a:pathLst>
            </a:custGeom>
            <a:solidFill>
              <a:srgbClr val="2463E8"/>
            </a:solidFill>
          </p:spPr>
        </p:sp>
      </p:grpSp>
      <p:grpSp>
        <p:nvGrpSpPr>
          <p:cNvPr id="61" name="Group 61"/>
          <p:cNvGrpSpPr/>
          <p:nvPr/>
        </p:nvGrpSpPr>
        <p:grpSpPr>
          <a:xfrm>
            <a:off x="10391927" y="8078724"/>
            <a:ext cx="438912" cy="438912"/>
            <a:chOff x="0" y="0"/>
            <a:chExt cx="585216" cy="585216"/>
          </a:xfrm>
        </p:grpSpPr>
        <p:sp>
          <p:nvSpPr>
            <p:cNvPr id="62" name="Freeform 62" descr="preencoded.png"/>
            <p:cNvSpPr/>
            <p:nvPr/>
          </p:nvSpPr>
          <p:spPr>
            <a:xfrm>
              <a:off x="0" y="0"/>
              <a:ext cx="585216" cy="585216"/>
            </a:xfrm>
            <a:custGeom>
              <a:avLst/>
              <a:gdLst/>
              <a:ahLst/>
              <a:cxnLst/>
              <a:rect l="l" t="t" r="r" b="b"/>
              <a:pathLst>
                <a:path w="585216" h="585216">
                  <a:moveTo>
                    <a:pt x="0" y="0"/>
                  </a:moveTo>
                  <a:lnTo>
                    <a:pt x="585216" y="0"/>
                  </a:lnTo>
                  <a:lnTo>
                    <a:pt x="585216" y="585216"/>
                  </a:lnTo>
                  <a:lnTo>
                    <a:pt x="0" y="585216"/>
                  </a:lnTo>
                  <a:lnTo>
                    <a:pt x="0" y="0"/>
                  </a:lnTo>
                  <a:close/>
                </a:path>
              </a:pathLst>
            </a:custGeom>
            <a:blipFill>
              <a:blip r:embed="rId4"/>
              <a:stretch>
                <a:fillRect/>
              </a:stretch>
            </a:blipFill>
          </p:spPr>
        </p:sp>
      </p:grpSp>
      <p:grpSp>
        <p:nvGrpSpPr>
          <p:cNvPr id="63" name="Group 63"/>
          <p:cNvGrpSpPr/>
          <p:nvPr/>
        </p:nvGrpSpPr>
        <p:grpSpPr>
          <a:xfrm>
            <a:off x="11228603" y="7872984"/>
            <a:ext cx="850392" cy="850392"/>
            <a:chOff x="0" y="0"/>
            <a:chExt cx="1133856" cy="1133856"/>
          </a:xfrm>
        </p:grpSpPr>
        <p:sp>
          <p:nvSpPr>
            <p:cNvPr id="64" name="Freeform 64"/>
            <p:cNvSpPr/>
            <p:nvPr/>
          </p:nvSpPr>
          <p:spPr>
            <a:xfrm>
              <a:off x="0" y="0"/>
              <a:ext cx="1133856" cy="1133856"/>
            </a:xfrm>
            <a:custGeom>
              <a:avLst/>
              <a:gdLst/>
              <a:ahLst/>
              <a:cxnLst/>
              <a:rect l="l" t="t" r="r" b="b"/>
              <a:pathLst>
                <a:path w="1133856" h="1133856">
                  <a:moveTo>
                    <a:pt x="0" y="256032"/>
                  </a:moveTo>
                  <a:cubicBezTo>
                    <a:pt x="0" y="114681"/>
                    <a:pt x="114681" y="0"/>
                    <a:pt x="256032" y="0"/>
                  </a:cubicBezTo>
                  <a:lnTo>
                    <a:pt x="877824" y="0"/>
                  </a:lnTo>
                  <a:cubicBezTo>
                    <a:pt x="1019175" y="0"/>
                    <a:pt x="1133856" y="114681"/>
                    <a:pt x="1133856" y="256032"/>
                  </a:cubicBezTo>
                  <a:lnTo>
                    <a:pt x="1133856" y="877824"/>
                  </a:lnTo>
                  <a:cubicBezTo>
                    <a:pt x="1133856" y="1019175"/>
                    <a:pt x="1019175" y="1133856"/>
                    <a:pt x="877824" y="1133856"/>
                  </a:cubicBezTo>
                  <a:lnTo>
                    <a:pt x="256032" y="1133856"/>
                  </a:lnTo>
                  <a:cubicBezTo>
                    <a:pt x="114681" y="1133856"/>
                    <a:pt x="0" y="1019175"/>
                    <a:pt x="0" y="877824"/>
                  </a:cubicBezTo>
                  <a:close/>
                </a:path>
              </a:pathLst>
            </a:custGeom>
            <a:solidFill>
              <a:srgbClr val="F97316"/>
            </a:solidFill>
          </p:spPr>
        </p:sp>
      </p:grpSp>
      <p:grpSp>
        <p:nvGrpSpPr>
          <p:cNvPr id="65" name="Group 65"/>
          <p:cNvGrpSpPr/>
          <p:nvPr/>
        </p:nvGrpSpPr>
        <p:grpSpPr>
          <a:xfrm>
            <a:off x="11434343" y="8078724"/>
            <a:ext cx="438912" cy="438912"/>
            <a:chOff x="0" y="0"/>
            <a:chExt cx="585216" cy="585216"/>
          </a:xfrm>
        </p:grpSpPr>
        <p:sp>
          <p:nvSpPr>
            <p:cNvPr id="66" name="Freeform 66" descr="preencoded.png"/>
            <p:cNvSpPr/>
            <p:nvPr/>
          </p:nvSpPr>
          <p:spPr>
            <a:xfrm>
              <a:off x="0" y="0"/>
              <a:ext cx="585216" cy="585216"/>
            </a:xfrm>
            <a:custGeom>
              <a:avLst/>
              <a:gdLst/>
              <a:ahLst/>
              <a:cxnLst/>
              <a:rect l="l" t="t" r="r" b="b"/>
              <a:pathLst>
                <a:path w="585216" h="585216">
                  <a:moveTo>
                    <a:pt x="0" y="0"/>
                  </a:moveTo>
                  <a:lnTo>
                    <a:pt x="585216" y="0"/>
                  </a:lnTo>
                  <a:lnTo>
                    <a:pt x="585216" y="585216"/>
                  </a:lnTo>
                  <a:lnTo>
                    <a:pt x="0" y="585216"/>
                  </a:lnTo>
                  <a:lnTo>
                    <a:pt x="0" y="0"/>
                  </a:lnTo>
                  <a:close/>
                </a:path>
              </a:pathLst>
            </a:custGeom>
            <a:blipFill>
              <a:blip r:embed="rId5"/>
              <a:stretch>
                <a:fillRect/>
              </a:stretch>
            </a:blipFill>
          </p:spPr>
        </p:sp>
      </p:grpSp>
      <p:grpSp>
        <p:nvGrpSpPr>
          <p:cNvPr id="67" name="Group 67"/>
          <p:cNvGrpSpPr/>
          <p:nvPr/>
        </p:nvGrpSpPr>
        <p:grpSpPr>
          <a:xfrm>
            <a:off x="12271019" y="7872984"/>
            <a:ext cx="850392" cy="850392"/>
            <a:chOff x="0" y="0"/>
            <a:chExt cx="1133856" cy="1133856"/>
          </a:xfrm>
        </p:grpSpPr>
        <p:sp>
          <p:nvSpPr>
            <p:cNvPr id="68" name="Freeform 68"/>
            <p:cNvSpPr/>
            <p:nvPr/>
          </p:nvSpPr>
          <p:spPr>
            <a:xfrm>
              <a:off x="0" y="0"/>
              <a:ext cx="1133856" cy="1133856"/>
            </a:xfrm>
            <a:custGeom>
              <a:avLst/>
              <a:gdLst/>
              <a:ahLst/>
              <a:cxnLst/>
              <a:rect l="l" t="t" r="r" b="b"/>
              <a:pathLst>
                <a:path w="1133856" h="1133856">
                  <a:moveTo>
                    <a:pt x="0" y="256032"/>
                  </a:moveTo>
                  <a:cubicBezTo>
                    <a:pt x="0" y="114681"/>
                    <a:pt x="114681" y="0"/>
                    <a:pt x="256032" y="0"/>
                  </a:cubicBezTo>
                  <a:lnTo>
                    <a:pt x="877824" y="0"/>
                  </a:lnTo>
                  <a:cubicBezTo>
                    <a:pt x="1019175" y="0"/>
                    <a:pt x="1133856" y="114681"/>
                    <a:pt x="1133856" y="256032"/>
                  </a:cubicBezTo>
                  <a:lnTo>
                    <a:pt x="1133856" y="877824"/>
                  </a:lnTo>
                  <a:cubicBezTo>
                    <a:pt x="1133856" y="1019175"/>
                    <a:pt x="1019175" y="1133856"/>
                    <a:pt x="877824" y="1133856"/>
                  </a:cubicBezTo>
                  <a:lnTo>
                    <a:pt x="256032" y="1133856"/>
                  </a:lnTo>
                  <a:cubicBezTo>
                    <a:pt x="114681" y="1133856"/>
                    <a:pt x="0" y="1019175"/>
                    <a:pt x="0" y="877824"/>
                  </a:cubicBezTo>
                  <a:close/>
                </a:path>
              </a:pathLst>
            </a:custGeom>
            <a:solidFill>
              <a:srgbClr val="0AA7A2"/>
            </a:solidFill>
          </p:spPr>
        </p:sp>
      </p:grpSp>
      <p:grpSp>
        <p:nvGrpSpPr>
          <p:cNvPr id="69" name="Group 69"/>
          <p:cNvGrpSpPr/>
          <p:nvPr/>
        </p:nvGrpSpPr>
        <p:grpSpPr>
          <a:xfrm>
            <a:off x="12476759" y="8078724"/>
            <a:ext cx="438912" cy="438912"/>
            <a:chOff x="0" y="0"/>
            <a:chExt cx="585216" cy="585216"/>
          </a:xfrm>
        </p:grpSpPr>
        <p:sp>
          <p:nvSpPr>
            <p:cNvPr id="70" name="Freeform 70" descr="preencoded.png"/>
            <p:cNvSpPr/>
            <p:nvPr/>
          </p:nvSpPr>
          <p:spPr>
            <a:xfrm>
              <a:off x="0" y="0"/>
              <a:ext cx="585216" cy="585216"/>
            </a:xfrm>
            <a:custGeom>
              <a:avLst/>
              <a:gdLst/>
              <a:ahLst/>
              <a:cxnLst/>
              <a:rect l="l" t="t" r="r" b="b"/>
              <a:pathLst>
                <a:path w="585216" h="585216">
                  <a:moveTo>
                    <a:pt x="0" y="0"/>
                  </a:moveTo>
                  <a:lnTo>
                    <a:pt x="585216" y="0"/>
                  </a:lnTo>
                  <a:lnTo>
                    <a:pt x="585216" y="585216"/>
                  </a:lnTo>
                  <a:lnTo>
                    <a:pt x="0" y="585216"/>
                  </a:lnTo>
                  <a:lnTo>
                    <a:pt x="0" y="0"/>
                  </a:lnTo>
                  <a:close/>
                </a:path>
              </a:pathLst>
            </a:custGeom>
            <a:blipFill>
              <a:blip r:embed="rId6"/>
              <a:stretch>
                <a:fillRect/>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22960" y="480060"/>
            <a:ext cx="16637508" cy="960120"/>
            <a:chOff x="0" y="0"/>
            <a:chExt cx="22183344" cy="1280160"/>
          </a:xfrm>
        </p:grpSpPr>
        <p:sp>
          <p:nvSpPr>
            <p:cNvPr id="3" name="Freeform 3"/>
            <p:cNvSpPr/>
            <p:nvPr/>
          </p:nvSpPr>
          <p:spPr>
            <a:xfrm>
              <a:off x="0" y="0"/>
              <a:ext cx="22183344" cy="1280160"/>
            </a:xfrm>
            <a:custGeom>
              <a:avLst/>
              <a:gdLst/>
              <a:ahLst/>
              <a:cxnLst/>
              <a:rect l="l" t="t" r="r" b="b"/>
              <a:pathLst>
                <a:path w="22183344" h="1280160">
                  <a:moveTo>
                    <a:pt x="0" y="0"/>
                  </a:moveTo>
                  <a:lnTo>
                    <a:pt x="22183344" y="0"/>
                  </a:lnTo>
                  <a:lnTo>
                    <a:pt x="22183344" y="1280160"/>
                  </a:lnTo>
                  <a:lnTo>
                    <a:pt x="0" y="1280160"/>
                  </a:lnTo>
                  <a:close/>
                </a:path>
              </a:pathLst>
            </a:custGeom>
            <a:blipFill>
              <a:blip r:embed="rId3">
                <a:alphaModFix amt="0"/>
              </a:blip>
              <a:stretch>
                <a:fillRect t="-287647" b="-287647"/>
              </a:stretch>
            </a:blipFill>
          </p:spPr>
        </p:sp>
        <p:sp>
          <p:nvSpPr>
            <p:cNvPr id="4" name="TextBox 4"/>
            <p:cNvSpPr txBox="1"/>
            <p:nvPr/>
          </p:nvSpPr>
          <p:spPr>
            <a:xfrm>
              <a:off x="0" y="-19050"/>
              <a:ext cx="22183344" cy="1299210"/>
            </a:xfrm>
            <a:prstGeom prst="rect">
              <a:avLst/>
            </a:prstGeom>
          </p:spPr>
          <p:txBody>
            <a:bodyPr lIns="0" tIns="0" rIns="0" bIns="0" rtlCol="0" anchor="ctr"/>
            <a:lstStyle/>
            <a:p>
              <a:pPr algn="ctr">
                <a:lnSpc>
                  <a:spcPts val="5759"/>
                </a:lnSpc>
              </a:pPr>
              <a:r>
                <a:rPr lang="en-US" sz="4800" b="1">
                  <a:solidFill>
                    <a:srgbClr val="15243A"/>
                  </a:solidFill>
                  <a:latin typeface="Arial Bold"/>
                  <a:ea typeface="Arial Bold"/>
                  <a:cs typeface="Arial Bold"/>
                  <a:sym typeface="Arial Bold"/>
                </a:rPr>
                <a:t>Add a product once. It’s live everywhere.</a:t>
              </a:r>
            </a:p>
          </p:txBody>
        </p:sp>
      </p:grpSp>
      <p:grpSp>
        <p:nvGrpSpPr>
          <p:cNvPr id="5" name="Group 5"/>
          <p:cNvGrpSpPr/>
          <p:nvPr/>
        </p:nvGrpSpPr>
        <p:grpSpPr>
          <a:xfrm>
            <a:off x="5773826" y="1636395"/>
            <a:ext cx="6739890" cy="2350770"/>
            <a:chOff x="0" y="0"/>
            <a:chExt cx="8986520" cy="3134360"/>
          </a:xfrm>
        </p:grpSpPr>
        <p:sp>
          <p:nvSpPr>
            <p:cNvPr id="6" name="Freeform 6"/>
            <p:cNvSpPr/>
            <p:nvPr/>
          </p:nvSpPr>
          <p:spPr>
            <a:xfrm>
              <a:off x="0" y="0"/>
              <a:ext cx="8986520" cy="3134360"/>
            </a:xfrm>
            <a:custGeom>
              <a:avLst/>
              <a:gdLst/>
              <a:ahLst/>
              <a:cxnLst/>
              <a:rect l="l" t="t" r="r" b="b"/>
              <a:pathLst>
                <a:path w="8986520" h="3134360">
                  <a:moveTo>
                    <a:pt x="0" y="331851"/>
                  </a:moveTo>
                  <a:cubicBezTo>
                    <a:pt x="0" y="148590"/>
                    <a:pt x="148590" y="0"/>
                    <a:pt x="331851" y="0"/>
                  </a:cubicBezTo>
                  <a:lnTo>
                    <a:pt x="8654669" y="0"/>
                  </a:lnTo>
                  <a:cubicBezTo>
                    <a:pt x="8837930" y="0"/>
                    <a:pt x="8986520" y="148590"/>
                    <a:pt x="8986520" y="331851"/>
                  </a:cubicBezTo>
                  <a:lnTo>
                    <a:pt x="8986520" y="2802509"/>
                  </a:lnTo>
                  <a:cubicBezTo>
                    <a:pt x="8986520" y="2985770"/>
                    <a:pt x="8837930" y="3134360"/>
                    <a:pt x="8654669" y="3134360"/>
                  </a:cubicBezTo>
                  <a:lnTo>
                    <a:pt x="331851" y="3134360"/>
                  </a:lnTo>
                  <a:cubicBezTo>
                    <a:pt x="148590" y="3134360"/>
                    <a:pt x="0" y="2985770"/>
                    <a:pt x="0" y="2802509"/>
                  </a:cubicBezTo>
                  <a:close/>
                </a:path>
              </a:pathLst>
            </a:custGeom>
            <a:solidFill>
              <a:srgbClr val="FFFFFF"/>
            </a:solidFill>
            <a:ln w="19050" cap="sq">
              <a:solidFill>
                <a:srgbClr val="CBD5E1"/>
              </a:solidFill>
              <a:prstDash val="solid"/>
              <a:miter/>
            </a:ln>
          </p:spPr>
        </p:sp>
      </p:grpSp>
      <p:grpSp>
        <p:nvGrpSpPr>
          <p:cNvPr id="7" name="Group 7"/>
          <p:cNvGrpSpPr/>
          <p:nvPr/>
        </p:nvGrpSpPr>
        <p:grpSpPr>
          <a:xfrm>
            <a:off x="6030239" y="1892808"/>
            <a:ext cx="1837944" cy="1837944"/>
            <a:chOff x="0" y="0"/>
            <a:chExt cx="2450592" cy="2450592"/>
          </a:xfrm>
        </p:grpSpPr>
        <p:sp>
          <p:nvSpPr>
            <p:cNvPr id="8" name="Freeform 8" descr="Product photo: perfume bottle"/>
            <p:cNvSpPr/>
            <p:nvPr/>
          </p:nvSpPr>
          <p:spPr>
            <a:xfrm>
              <a:off x="0" y="0"/>
              <a:ext cx="2450592" cy="2450592"/>
            </a:xfrm>
            <a:custGeom>
              <a:avLst/>
              <a:gdLst/>
              <a:ahLst/>
              <a:cxnLst/>
              <a:rect l="l" t="t" r="r" b="b"/>
              <a:pathLst>
                <a:path w="2450592" h="2450592">
                  <a:moveTo>
                    <a:pt x="0" y="0"/>
                  </a:moveTo>
                  <a:lnTo>
                    <a:pt x="2450592" y="0"/>
                  </a:lnTo>
                  <a:lnTo>
                    <a:pt x="2450592" y="2450592"/>
                  </a:lnTo>
                  <a:lnTo>
                    <a:pt x="0" y="2450592"/>
                  </a:lnTo>
                  <a:lnTo>
                    <a:pt x="0" y="0"/>
                  </a:lnTo>
                  <a:close/>
                </a:path>
              </a:pathLst>
            </a:custGeom>
            <a:blipFill>
              <a:blip r:embed="rId4"/>
              <a:stretch>
                <a:fillRect/>
              </a:stretch>
            </a:blipFill>
          </p:spPr>
        </p:sp>
      </p:grpSp>
      <p:grpSp>
        <p:nvGrpSpPr>
          <p:cNvPr id="9" name="Group 9"/>
          <p:cNvGrpSpPr/>
          <p:nvPr/>
        </p:nvGrpSpPr>
        <p:grpSpPr>
          <a:xfrm>
            <a:off x="8183651" y="1920240"/>
            <a:ext cx="4114800" cy="411480"/>
            <a:chOff x="0" y="0"/>
            <a:chExt cx="5486400" cy="548640"/>
          </a:xfrm>
        </p:grpSpPr>
        <p:sp>
          <p:nvSpPr>
            <p:cNvPr id="10" name="Freeform 10"/>
            <p:cNvSpPr/>
            <p:nvPr/>
          </p:nvSpPr>
          <p:spPr>
            <a:xfrm>
              <a:off x="0" y="0"/>
              <a:ext cx="5486400" cy="548640"/>
            </a:xfrm>
            <a:custGeom>
              <a:avLst/>
              <a:gdLst/>
              <a:ahLst/>
              <a:cxnLst/>
              <a:rect l="l" t="t" r="r" b="b"/>
              <a:pathLst>
                <a:path w="5486400" h="548640">
                  <a:moveTo>
                    <a:pt x="0" y="0"/>
                  </a:moveTo>
                  <a:lnTo>
                    <a:pt x="5486400" y="0"/>
                  </a:lnTo>
                  <a:lnTo>
                    <a:pt x="5486400" y="548640"/>
                  </a:lnTo>
                  <a:lnTo>
                    <a:pt x="0" y="548640"/>
                  </a:lnTo>
                  <a:close/>
                </a:path>
              </a:pathLst>
            </a:custGeom>
            <a:blipFill>
              <a:blip r:embed="rId3">
                <a:alphaModFix amt="0"/>
              </a:blip>
              <a:stretch>
                <a:fillRect t="-144850" b="-144850"/>
              </a:stretch>
            </a:blipFill>
          </p:spPr>
        </p:sp>
        <p:sp>
          <p:nvSpPr>
            <p:cNvPr id="11" name="TextBox 11"/>
            <p:cNvSpPr txBox="1"/>
            <p:nvPr/>
          </p:nvSpPr>
          <p:spPr>
            <a:xfrm>
              <a:off x="0" y="-19050"/>
              <a:ext cx="5486400" cy="567690"/>
            </a:xfrm>
            <a:prstGeom prst="rect">
              <a:avLst/>
            </a:prstGeom>
          </p:spPr>
          <p:txBody>
            <a:bodyPr lIns="0" tIns="0" rIns="0" bIns="0" rtlCol="0" anchor="ctr"/>
            <a:lstStyle/>
            <a:p>
              <a:pPr algn="l">
                <a:lnSpc>
                  <a:spcPts val="1980"/>
                </a:lnSpc>
              </a:pPr>
              <a:r>
                <a:rPr lang="en-US" sz="1650" b="1" spc="299">
                  <a:solidFill>
                    <a:srgbClr val="0AA7A2"/>
                  </a:solidFill>
                  <a:latin typeface="Arial Bold"/>
                  <a:ea typeface="Arial Bold"/>
                  <a:cs typeface="Arial Bold"/>
                  <a:sym typeface="Arial Bold"/>
                </a:rPr>
                <a:t>ENTERED ONCE</a:t>
              </a:r>
            </a:p>
          </p:txBody>
        </p:sp>
      </p:grpSp>
      <p:grpSp>
        <p:nvGrpSpPr>
          <p:cNvPr id="12" name="Group 12"/>
          <p:cNvGrpSpPr/>
          <p:nvPr/>
        </p:nvGrpSpPr>
        <p:grpSpPr>
          <a:xfrm>
            <a:off x="8183651" y="2331720"/>
            <a:ext cx="4114800" cy="617220"/>
            <a:chOff x="0" y="0"/>
            <a:chExt cx="5486400" cy="822960"/>
          </a:xfrm>
        </p:grpSpPr>
        <p:sp>
          <p:nvSpPr>
            <p:cNvPr id="13" name="Freeform 13"/>
            <p:cNvSpPr/>
            <p:nvPr/>
          </p:nvSpPr>
          <p:spPr>
            <a:xfrm>
              <a:off x="0" y="0"/>
              <a:ext cx="5486400" cy="822960"/>
            </a:xfrm>
            <a:custGeom>
              <a:avLst/>
              <a:gdLst/>
              <a:ahLst/>
              <a:cxnLst/>
              <a:rect l="l" t="t" r="r" b="b"/>
              <a:pathLst>
                <a:path w="5486400" h="822960">
                  <a:moveTo>
                    <a:pt x="0" y="0"/>
                  </a:moveTo>
                  <a:lnTo>
                    <a:pt x="5486400" y="0"/>
                  </a:lnTo>
                  <a:lnTo>
                    <a:pt x="5486400" y="822960"/>
                  </a:lnTo>
                  <a:lnTo>
                    <a:pt x="0" y="822960"/>
                  </a:lnTo>
                  <a:close/>
                </a:path>
              </a:pathLst>
            </a:custGeom>
            <a:blipFill>
              <a:blip r:embed="rId3">
                <a:alphaModFix amt="0"/>
              </a:blip>
              <a:stretch>
                <a:fillRect t="-79900" b="-79900"/>
              </a:stretch>
            </a:blipFill>
          </p:spPr>
        </p:sp>
        <p:sp>
          <p:nvSpPr>
            <p:cNvPr id="14" name="TextBox 14"/>
            <p:cNvSpPr txBox="1"/>
            <p:nvPr/>
          </p:nvSpPr>
          <p:spPr>
            <a:xfrm>
              <a:off x="0" y="-9525"/>
              <a:ext cx="5486400" cy="832485"/>
            </a:xfrm>
            <a:prstGeom prst="rect">
              <a:avLst/>
            </a:prstGeom>
          </p:spPr>
          <p:txBody>
            <a:bodyPr lIns="0" tIns="0" rIns="0" bIns="0" rtlCol="0" anchor="ctr"/>
            <a:lstStyle/>
            <a:p>
              <a:pPr algn="l">
                <a:lnSpc>
                  <a:spcPts val="3060"/>
                </a:lnSpc>
              </a:pPr>
              <a:r>
                <a:rPr lang="en-US" sz="2550" b="1">
                  <a:solidFill>
                    <a:srgbClr val="15243A"/>
                  </a:solidFill>
                  <a:latin typeface="Arial Bold"/>
                  <a:ea typeface="Arial Bold"/>
                  <a:cs typeface="Arial Bold"/>
                  <a:sym typeface="Arial Bold"/>
                </a:rPr>
                <a:t>Yes I Am The Queen</a:t>
              </a:r>
            </a:p>
          </p:txBody>
        </p:sp>
      </p:grpSp>
      <p:grpSp>
        <p:nvGrpSpPr>
          <p:cNvPr id="15" name="Group 15"/>
          <p:cNvGrpSpPr/>
          <p:nvPr/>
        </p:nvGrpSpPr>
        <p:grpSpPr>
          <a:xfrm>
            <a:off x="8183651" y="3017520"/>
            <a:ext cx="4114800" cy="548640"/>
            <a:chOff x="0" y="0"/>
            <a:chExt cx="5486400" cy="731520"/>
          </a:xfrm>
        </p:grpSpPr>
        <p:sp>
          <p:nvSpPr>
            <p:cNvPr id="16" name="Freeform 16"/>
            <p:cNvSpPr/>
            <p:nvPr/>
          </p:nvSpPr>
          <p:spPr>
            <a:xfrm>
              <a:off x="0" y="0"/>
              <a:ext cx="5486400" cy="731520"/>
            </a:xfrm>
            <a:custGeom>
              <a:avLst/>
              <a:gdLst/>
              <a:ahLst/>
              <a:cxnLst/>
              <a:rect l="l" t="t" r="r" b="b"/>
              <a:pathLst>
                <a:path w="5486400" h="731520">
                  <a:moveTo>
                    <a:pt x="0" y="0"/>
                  </a:moveTo>
                  <a:lnTo>
                    <a:pt x="5486400" y="0"/>
                  </a:lnTo>
                  <a:lnTo>
                    <a:pt x="5486400" y="731520"/>
                  </a:lnTo>
                  <a:lnTo>
                    <a:pt x="0" y="731520"/>
                  </a:lnTo>
                  <a:close/>
                </a:path>
              </a:pathLst>
            </a:custGeom>
            <a:blipFill>
              <a:blip r:embed="rId3">
                <a:alphaModFix amt="0"/>
              </a:blip>
              <a:stretch>
                <a:fillRect t="-96137" b="-96137"/>
              </a:stretch>
            </a:blipFill>
          </p:spPr>
        </p:sp>
        <p:sp>
          <p:nvSpPr>
            <p:cNvPr id="17" name="TextBox 17"/>
            <p:cNvSpPr txBox="1"/>
            <p:nvPr/>
          </p:nvSpPr>
          <p:spPr>
            <a:xfrm>
              <a:off x="0" y="-9525"/>
              <a:ext cx="5486400" cy="741045"/>
            </a:xfrm>
            <a:prstGeom prst="rect">
              <a:avLst/>
            </a:prstGeom>
          </p:spPr>
          <p:txBody>
            <a:bodyPr lIns="0" tIns="0" rIns="0" bIns="0" rtlCol="0" anchor="ctr"/>
            <a:lstStyle/>
            <a:p>
              <a:pPr algn="l">
                <a:lnSpc>
                  <a:spcPts val="3060"/>
                </a:lnSpc>
              </a:pPr>
              <a:r>
                <a:rPr lang="en-US" sz="2550" b="1">
                  <a:solidFill>
                    <a:srgbClr val="15243A"/>
                  </a:solidFill>
                  <a:latin typeface="Arial Bold"/>
                  <a:ea typeface="Arial Bold"/>
                  <a:cs typeface="Arial Bold"/>
                  <a:sym typeface="Arial Bold"/>
                </a:rPr>
                <a:t>$36.00</a:t>
              </a:r>
              <a:r>
                <a:rPr lang="en-US" sz="2550" b="1">
                  <a:solidFill>
                    <a:srgbClr val="2463E8"/>
                  </a:solidFill>
                  <a:latin typeface="Arial Bold"/>
                  <a:ea typeface="Arial Bold"/>
                  <a:cs typeface="Arial Bold"/>
                  <a:sym typeface="Arial Bold"/>
                </a:rPr>
                <a:t>   ·   Stock 40</a:t>
              </a:r>
            </a:p>
          </p:txBody>
        </p:sp>
      </p:grpSp>
      <p:sp>
        <p:nvSpPr>
          <p:cNvPr id="18" name="AutoShape 18"/>
          <p:cNvSpPr/>
          <p:nvPr/>
        </p:nvSpPr>
        <p:spPr>
          <a:xfrm rot="10293420">
            <a:off x="2586895" y="4367974"/>
            <a:ext cx="4966440" cy="0"/>
          </a:xfrm>
          <a:prstGeom prst="line">
            <a:avLst/>
          </a:prstGeom>
          <a:ln w="28575" cap="rnd">
            <a:solidFill>
              <a:srgbClr val="2463E8"/>
            </a:solidFill>
            <a:prstDash val="solid"/>
            <a:headEnd type="none" w="sm" len="sm"/>
            <a:tailEnd type="triangle" w="lg" len="med"/>
          </a:ln>
        </p:spPr>
      </p:sp>
      <p:grpSp>
        <p:nvGrpSpPr>
          <p:cNvPr id="19" name="Group 19"/>
          <p:cNvGrpSpPr/>
          <p:nvPr/>
        </p:nvGrpSpPr>
        <p:grpSpPr>
          <a:xfrm>
            <a:off x="668807" y="4781550"/>
            <a:ext cx="5455920" cy="3442240"/>
            <a:chOff x="0" y="0"/>
            <a:chExt cx="7274560" cy="4589653"/>
          </a:xfrm>
        </p:grpSpPr>
        <p:sp>
          <p:nvSpPr>
            <p:cNvPr id="20" name="Freeform 20"/>
            <p:cNvSpPr/>
            <p:nvPr/>
          </p:nvSpPr>
          <p:spPr>
            <a:xfrm>
              <a:off x="0" y="0"/>
              <a:ext cx="7274560" cy="4589653"/>
            </a:xfrm>
            <a:custGeom>
              <a:avLst/>
              <a:gdLst/>
              <a:ahLst/>
              <a:cxnLst/>
              <a:rect l="l" t="t" r="r" b="b"/>
              <a:pathLst>
                <a:path w="7274560" h="4589653">
                  <a:moveTo>
                    <a:pt x="0" y="147955"/>
                  </a:moveTo>
                  <a:cubicBezTo>
                    <a:pt x="0" y="66167"/>
                    <a:pt x="66167" y="0"/>
                    <a:pt x="147955" y="0"/>
                  </a:cubicBezTo>
                  <a:lnTo>
                    <a:pt x="7126605" y="0"/>
                  </a:lnTo>
                  <a:cubicBezTo>
                    <a:pt x="7208266" y="0"/>
                    <a:pt x="7274560" y="66167"/>
                    <a:pt x="7274560" y="147955"/>
                  </a:cubicBezTo>
                  <a:lnTo>
                    <a:pt x="7274560" y="4441698"/>
                  </a:lnTo>
                  <a:cubicBezTo>
                    <a:pt x="7274560" y="4523359"/>
                    <a:pt x="7208393" y="4589653"/>
                    <a:pt x="7126605" y="4589653"/>
                  </a:cubicBezTo>
                  <a:lnTo>
                    <a:pt x="147955" y="4589653"/>
                  </a:lnTo>
                  <a:cubicBezTo>
                    <a:pt x="66167" y="4589653"/>
                    <a:pt x="0" y="4523486"/>
                    <a:pt x="0" y="4441698"/>
                  </a:cubicBezTo>
                  <a:close/>
                </a:path>
              </a:pathLst>
            </a:custGeom>
            <a:solidFill>
              <a:srgbClr val="FFFFFF"/>
            </a:solidFill>
            <a:ln w="38100" cap="sq">
              <a:solidFill>
                <a:srgbClr val="2463E8"/>
              </a:solidFill>
              <a:prstDash val="solid"/>
              <a:miter/>
            </a:ln>
          </p:spPr>
        </p:sp>
      </p:grpSp>
      <p:grpSp>
        <p:nvGrpSpPr>
          <p:cNvPr id="21" name="Group 21"/>
          <p:cNvGrpSpPr/>
          <p:nvPr/>
        </p:nvGrpSpPr>
        <p:grpSpPr>
          <a:xfrm>
            <a:off x="715289" y="4828032"/>
            <a:ext cx="5362956" cy="329184"/>
            <a:chOff x="0" y="0"/>
            <a:chExt cx="7150608" cy="438912"/>
          </a:xfrm>
        </p:grpSpPr>
        <p:sp>
          <p:nvSpPr>
            <p:cNvPr id="22" name="Freeform 22"/>
            <p:cNvSpPr/>
            <p:nvPr/>
          </p:nvSpPr>
          <p:spPr>
            <a:xfrm>
              <a:off x="0" y="0"/>
              <a:ext cx="7150608" cy="438912"/>
            </a:xfrm>
            <a:custGeom>
              <a:avLst/>
              <a:gdLst/>
              <a:ahLst/>
              <a:cxnLst/>
              <a:rect l="l" t="t" r="r" b="b"/>
              <a:pathLst>
                <a:path w="7150608" h="438912">
                  <a:moveTo>
                    <a:pt x="0" y="0"/>
                  </a:moveTo>
                  <a:lnTo>
                    <a:pt x="7150608" y="0"/>
                  </a:lnTo>
                  <a:lnTo>
                    <a:pt x="7150608" y="438912"/>
                  </a:lnTo>
                  <a:lnTo>
                    <a:pt x="0" y="438912"/>
                  </a:lnTo>
                  <a:close/>
                </a:path>
              </a:pathLst>
            </a:custGeom>
            <a:solidFill>
              <a:srgbClr val="E2E8F0"/>
            </a:solidFill>
          </p:spPr>
        </p:sp>
      </p:grpSp>
      <p:grpSp>
        <p:nvGrpSpPr>
          <p:cNvPr id="23" name="Group 23"/>
          <p:cNvGrpSpPr/>
          <p:nvPr/>
        </p:nvGrpSpPr>
        <p:grpSpPr>
          <a:xfrm>
            <a:off x="852449" y="4910328"/>
            <a:ext cx="137160" cy="137160"/>
            <a:chOff x="0" y="0"/>
            <a:chExt cx="182880" cy="182880"/>
          </a:xfrm>
        </p:grpSpPr>
        <p:sp>
          <p:nvSpPr>
            <p:cNvPr id="24" name="Freeform 24"/>
            <p:cNvSpPr/>
            <p:nvPr/>
          </p:nvSpPr>
          <p:spPr>
            <a:xfrm>
              <a:off x="0" y="0"/>
              <a:ext cx="182880" cy="182880"/>
            </a:xfrm>
            <a:custGeom>
              <a:avLst/>
              <a:gdLst/>
              <a:ahLst/>
              <a:cxnLst/>
              <a:rect l="l" t="t" r="r" b="b"/>
              <a:pathLst>
                <a:path w="182880" h="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F87171"/>
            </a:solidFill>
          </p:spPr>
        </p:sp>
      </p:grpSp>
      <p:grpSp>
        <p:nvGrpSpPr>
          <p:cNvPr id="25" name="Group 25"/>
          <p:cNvGrpSpPr/>
          <p:nvPr/>
        </p:nvGrpSpPr>
        <p:grpSpPr>
          <a:xfrm>
            <a:off x="1071905" y="4910328"/>
            <a:ext cx="137160" cy="137160"/>
            <a:chOff x="0" y="0"/>
            <a:chExt cx="182880" cy="182880"/>
          </a:xfrm>
        </p:grpSpPr>
        <p:sp>
          <p:nvSpPr>
            <p:cNvPr id="26" name="Freeform 26"/>
            <p:cNvSpPr/>
            <p:nvPr/>
          </p:nvSpPr>
          <p:spPr>
            <a:xfrm>
              <a:off x="0" y="0"/>
              <a:ext cx="182880" cy="182880"/>
            </a:xfrm>
            <a:custGeom>
              <a:avLst/>
              <a:gdLst/>
              <a:ahLst/>
              <a:cxnLst/>
              <a:rect l="l" t="t" r="r" b="b"/>
              <a:pathLst>
                <a:path w="182880" h="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FBBF24"/>
            </a:solidFill>
          </p:spPr>
        </p:sp>
      </p:grpSp>
      <p:grpSp>
        <p:nvGrpSpPr>
          <p:cNvPr id="27" name="Group 27"/>
          <p:cNvGrpSpPr/>
          <p:nvPr/>
        </p:nvGrpSpPr>
        <p:grpSpPr>
          <a:xfrm>
            <a:off x="1291361" y="4910328"/>
            <a:ext cx="137160" cy="137160"/>
            <a:chOff x="0" y="0"/>
            <a:chExt cx="182880" cy="182880"/>
          </a:xfrm>
        </p:grpSpPr>
        <p:sp>
          <p:nvSpPr>
            <p:cNvPr id="28" name="Freeform 28"/>
            <p:cNvSpPr/>
            <p:nvPr/>
          </p:nvSpPr>
          <p:spPr>
            <a:xfrm>
              <a:off x="0" y="0"/>
              <a:ext cx="182880" cy="182880"/>
            </a:xfrm>
            <a:custGeom>
              <a:avLst/>
              <a:gdLst/>
              <a:ahLst/>
              <a:cxnLst/>
              <a:rect l="l" t="t" r="r" b="b"/>
              <a:pathLst>
                <a:path w="182880" h="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34D399"/>
            </a:solidFill>
          </p:spPr>
        </p:sp>
      </p:grpSp>
      <p:grpSp>
        <p:nvGrpSpPr>
          <p:cNvPr id="29" name="Group 29"/>
          <p:cNvGrpSpPr/>
          <p:nvPr/>
        </p:nvGrpSpPr>
        <p:grpSpPr>
          <a:xfrm>
            <a:off x="715289" y="5157216"/>
            <a:ext cx="5362956" cy="3020092"/>
            <a:chOff x="0" y="0"/>
            <a:chExt cx="7150608" cy="4026789"/>
          </a:xfrm>
        </p:grpSpPr>
        <p:sp>
          <p:nvSpPr>
            <p:cNvPr id="30" name="Freeform 30" descr="Own storefront screen"/>
            <p:cNvSpPr/>
            <p:nvPr/>
          </p:nvSpPr>
          <p:spPr>
            <a:xfrm>
              <a:off x="0" y="0"/>
              <a:ext cx="7150608" cy="4026789"/>
            </a:xfrm>
            <a:custGeom>
              <a:avLst/>
              <a:gdLst/>
              <a:ahLst/>
              <a:cxnLst/>
              <a:rect l="l" t="t" r="r" b="b"/>
              <a:pathLst>
                <a:path w="7150608" h="4026789">
                  <a:moveTo>
                    <a:pt x="0" y="0"/>
                  </a:moveTo>
                  <a:lnTo>
                    <a:pt x="7150608" y="0"/>
                  </a:lnTo>
                  <a:lnTo>
                    <a:pt x="7150608" y="4026789"/>
                  </a:lnTo>
                  <a:lnTo>
                    <a:pt x="0" y="4026789"/>
                  </a:lnTo>
                  <a:lnTo>
                    <a:pt x="0" y="0"/>
                  </a:lnTo>
                  <a:close/>
                </a:path>
              </a:pathLst>
            </a:custGeom>
            <a:blipFill>
              <a:blip r:embed="rId5"/>
              <a:stretch>
                <a:fillRect l="-56" r="-56"/>
              </a:stretch>
            </a:blipFill>
          </p:spPr>
        </p:sp>
      </p:grpSp>
      <p:grpSp>
        <p:nvGrpSpPr>
          <p:cNvPr id="31" name="Group 31"/>
          <p:cNvGrpSpPr/>
          <p:nvPr/>
        </p:nvGrpSpPr>
        <p:grpSpPr>
          <a:xfrm>
            <a:off x="3645179" y="4479798"/>
            <a:ext cx="2397252" cy="614172"/>
            <a:chOff x="0" y="0"/>
            <a:chExt cx="3196336" cy="818896"/>
          </a:xfrm>
        </p:grpSpPr>
        <p:sp>
          <p:nvSpPr>
            <p:cNvPr id="32" name="Freeform 32"/>
            <p:cNvSpPr/>
            <p:nvPr/>
          </p:nvSpPr>
          <p:spPr>
            <a:xfrm>
              <a:off x="0" y="0"/>
              <a:ext cx="3196336" cy="818896"/>
            </a:xfrm>
            <a:custGeom>
              <a:avLst/>
              <a:gdLst/>
              <a:ahLst/>
              <a:cxnLst/>
              <a:rect l="l" t="t" r="r" b="b"/>
              <a:pathLst>
                <a:path w="3196336" h="818896">
                  <a:moveTo>
                    <a:pt x="0" y="409448"/>
                  </a:moveTo>
                  <a:cubicBezTo>
                    <a:pt x="0" y="183261"/>
                    <a:pt x="183261" y="0"/>
                    <a:pt x="409448" y="0"/>
                  </a:cubicBezTo>
                  <a:lnTo>
                    <a:pt x="2786888" y="0"/>
                  </a:lnTo>
                  <a:cubicBezTo>
                    <a:pt x="3013075" y="0"/>
                    <a:pt x="3196336" y="183261"/>
                    <a:pt x="3196336" y="409448"/>
                  </a:cubicBezTo>
                  <a:cubicBezTo>
                    <a:pt x="3196336" y="635635"/>
                    <a:pt x="3013075" y="818896"/>
                    <a:pt x="2786888" y="818896"/>
                  </a:cubicBezTo>
                  <a:lnTo>
                    <a:pt x="409448" y="818896"/>
                  </a:lnTo>
                  <a:cubicBezTo>
                    <a:pt x="183261" y="818896"/>
                    <a:pt x="0" y="635635"/>
                    <a:pt x="0" y="409448"/>
                  </a:cubicBezTo>
                  <a:close/>
                </a:path>
              </a:pathLst>
            </a:custGeom>
            <a:solidFill>
              <a:srgbClr val="FFFFFF"/>
            </a:solidFill>
            <a:ln w="38100" cap="sq">
              <a:solidFill>
                <a:srgbClr val="2463E8"/>
              </a:solidFill>
              <a:prstDash val="solid"/>
              <a:miter/>
            </a:ln>
          </p:spPr>
        </p:sp>
        <p:sp>
          <p:nvSpPr>
            <p:cNvPr id="33" name="TextBox 33"/>
            <p:cNvSpPr txBox="1"/>
            <p:nvPr/>
          </p:nvSpPr>
          <p:spPr>
            <a:xfrm>
              <a:off x="0" y="-19050"/>
              <a:ext cx="3196336" cy="837946"/>
            </a:xfrm>
            <a:prstGeom prst="rect">
              <a:avLst/>
            </a:prstGeom>
          </p:spPr>
          <p:txBody>
            <a:bodyPr lIns="50800" tIns="50800" rIns="50800" bIns="50800" rtlCol="0" anchor="ctr"/>
            <a:lstStyle/>
            <a:p>
              <a:pPr algn="ctr">
                <a:lnSpc>
                  <a:spcPts val="2340"/>
                </a:lnSpc>
              </a:pPr>
              <a:r>
                <a:rPr lang="en-US" sz="1950" b="1">
                  <a:solidFill>
                    <a:srgbClr val="15243A"/>
                  </a:solidFill>
                  <a:latin typeface="Arial Bold"/>
                  <a:ea typeface="Arial Bold"/>
                  <a:cs typeface="Arial Bold"/>
                  <a:sym typeface="Arial Bold"/>
                </a:rPr>
                <a:t>$36</a:t>
              </a:r>
              <a:r>
                <a:rPr lang="en-US" sz="1950" b="1">
                  <a:solidFill>
                    <a:srgbClr val="2463E8"/>
                  </a:solidFill>
                  <a:latin typeface="Arial Bold"/>
                  <a:ea typeface="Arial Bold"/>
                  <a:cs typeface="Arial Bold"/>
                  <a:sym typeface="Arial Bold"/>
                </a:rPr>
                <a:t>  ·  Stock 40</a:t>
              </a:r>
            </a:p>
          </p:txBody>
        </p:sp>
      </p:grpSp>
      <p:grpSp>
        <p:nvGrpSpPr>
          <p:cNvPr id="34" name="Group 34"/>
          <p:cNvGrpSpPr/>
          <p:nvPr/>
        </p:nvGrpSpPr>
        <p:grpSpPr>
          <a:xfrm>
            <a:off x="1545107" y="8410480"/>
            <a:ext cx="3703320" cy="658368"/>
            <a:chOff x="0" y="0"/>
            <a:chExt cx="4937760" cy="877824"/>
          </a:xfrm>
        </p:grpSpPr>
        <p:sp>
          <p:nvSpPr>
            <p:cNvPr id="35" name="Freeform 35"/>
            <p:cNvSpPr/>
            <p:nvPr/>
          </p:nvSpPr>
          <p:spPr>
            <a:xfrm>
              <a:off x="0" y="0"/>
              <a:ext cx="4937760" cy="877824"/>
            </a:xfrm>
            <a:custGeom>
              <a:avLst/>
              <a:gdLst/>
              <a:ahLst/>
              <a:cxnLst/>
              <a:rect l="l" t="t" r="r" b="b"/>
              <a:pathLst>
                <a:path w="4937760" h="877824">
                  <a:moveTo>
                    <a:pt x="0" y="438912"/>
                  </a:moveTo>
                  <a:cubicBezTo>
                    <a:pt x="0" y="196469"/>
                    <a:pt x="196469" y="0"/>
                    <a:pt x="438912" y="0"/>
                  </a:cubicBezTo>
                  <a:lnTo>
                    <a:pt x="4498848" y="0"/>
                  </a:lnTo>
                  <a:cubicBezTo>
                    <a:pt x="4741291" y="0"/>
                    <a:pt x="4937760" y="196469"/>
                    <a:pt x="4937760" y="438912"/>
                  </a:cubicBezTo>
                  <a:cubicBezTo>
                    <a:pt x="4937760" y="681355"/>
                    <a:pt x="4741291" y="877824"/>
                    <a:pt x="4498848" y="877824"/>
                  </a:cubicBezTo>
                  <a:lnTo>
                    <a:pt x="438912" y="877824"/>
                  </a:lnTo>
                  <a:cubicBezTo>
                    <a:pt x="196469" y="877824"/>
                    <a:pt x="0" y="681355"/>
                    <a:pt x="0" y="438912"/>
                  </a:cubicBezTo>
                  <a:close/>
                </a:path>
              </a:pathLst>
            </a:custGeom>
            <a:solidFill>
              <a:srgbClr val="2463E8"/>
            </a:solidFill>
          </p:spPr>
        </p:sp>
      </p:grpSp>
      <p:grpSp>
        <p:nvGrpSpPr>
          <p:cNvPr id="36" name="Group 36"/>
          <p:cNvGrpSpPr/>
          <p:nvPr/>
        </p:nvGrpSpPr>
        <p:grpSpPr>
          <a:xfrm>
            <a:off x="1791995" y="8547640"/>
            <a:ext cx="384048" cy="384048"/>
            <a:chOff x="0" y="0"/>
            <a:chExt cx="512064" cy="512064"/>
          </a:xfrm>
        </p:grpSpPr>
        <p:sp>
          <p:nvSpPr>
            <p:cNvPr id="37" name="Freeform 37" descr="preencoded.png"/>
            <p:cNvSpPr/>
            <p:nvPr/>
          </p:nvSpPr>
          <p:spPr>
            <a:xfrm>
              <a:off x="0" y="0"/>
              <a:ext cx="512064" cy="512064"/>
            </a:xfrm>
            <a:custGeom>
              <a:avLst/>
              <a:gdLst/>
              <a:ahLst/>
              <a:cxnLst/>
              <a:rect l="l" t="t" r="r" b="b"/>
              <a:pathLst>
                <a:path w="512064" h="512064">
                  <a:moveTo>
                    <a:pt x="0" y="0"/>
                  </a:moveTo>
                  <a:lnTo>
                    <a:pt x="512064" y="0"/>
                  </a:lnTo>
                  <a:lnTo>
                    <a:pt x="512064" y="512064"/>
                  </a:lnTo>
                  <a:lnTo>
                    <a:pt x="0" y="512064"/>
                  </a:lnTo>
                  <a:lnTo>
                    <a:pt x="0" y="0"/>
                  </a:lnTo>
                  <a:close/>
                </a:path>
              </a:pathLst>
            </a:custGeom>
            <a:blipFill>
              <a:blip r:embed="rId6"/>
              <a:stretch>
                <a:fillRect/>
              </a:stretch>
            </a:blipFill>
          </p:spPr>
        </p:sp>
      </p:grpSp>
      <p:grpSp>
        <p:nvGrpSpPr>
          <p:cNvPr id="38" name="Group 38"/>
          <p:cNvGrpSpPr/>
          <p:nvPr/>
        </p:nvGrpSpPr>
        <p:grpSpPr>
          <a:xfrm>
            <a:off x="2258339" y="8410480"/>
            <a:ext cx="2852928" cy="658368"/>
            <a:chOff x="0" y="0"/>
            <a:chExt cx="3803904" cy="877824"/>
          </a:xfrm>
        </p:grpSpPr>
        <p:sp>
          <p:nvSpPr>
            <p:cNvPr id="39" name="Freeform 39"/>
            <p:cNvSpPr/>
            <p:nvPr/>
          </p:nvSpPr>
          <p:spPr>
            <a:xfrm>
              <a:off x="0" y="0"/>
              <a:ext cx="3803904" cy="877824"/>
            </a:xfrm>
            <a:custGeom>
              <a:avLst/>
              <a:gdLst/>
              <a:ahLst/>
              <a:cxnLst/>
              <a:rect l="l" t="t" r="r" b="b"/>
              <a:pathLst>
                <a:path w="3803904" h="877824">
                  <a:moveTo>
                    <a:pt x="0" y="0"/>
                  </a:moveTo>
                  <a:lnTo>
                    <a:pt x="3803904" y="0"/>
                  </a:lnTo>
                  <a:lnTo>
                    <a:pt x="3803904" y="877824"/>
                  </a:lnTo>
                  <a:lnTo>
                    <a:pt x="0" y="877824"/>
                  </a:lnTo>
                  <a:close/>
                </a:path>
              </a:pathLst>
            </a:custGeom>
            <a:blipFill>
              <a:blip r:embed="rId3">
                <a:alphaModFix amt="0"/>
              </a:blip>
              <a:stretch>
                <a:fillRect t="-34435" b="-34435"/>
              </a:stretch>
            </a:blipFill>
          </p:spPr>
        </p:sp>
        <p:sp>
          <p:nvSpPr>
            <p:cNvPr id="40" name="TextBox 40"/>
            <p:cNvSpPr txBox="1"/>
            <p:nvPr/>
          </p:nvSpPr>
          <p:spPr>
            <a:xfrm>
              <a:off x="0" y="-19050"/>
              <a:ext cx="3803904" cy="896874"/>
            </a:xfrm>
            <a:prstGeom prst="rect">
              <a:avLst/>
            </a:prstGeom>
          </p:spPr>
          <p:txBody>
            <a:bodyPr lIns="0" tIns="0" rIns="0" bIns="0" rtlCol="0" anchor="ctr"/>
            <a:lstStyle/>
            <a:p>
              <a:pPr algn="l">
                <a:lnSpc>
                  <a:spcPts val="2700"/>
                </a:lnSpc>
              </a:pPr>
              <a:r>
                <a:rPr lang="en-US" sz="2250" b="1">
                  <a:solidFill>
                    <a:srgbClr val="FFFFFF"/>
                  </a:solidFill>
                  <a:latin typeface="Arial Bold"/>
                  <a:ea typeface="Arial Bold"/>
                  <a:cs typeface="Arial Bold"/>
                  <a:sym typeface="Arial Bold"/>
                </a:rPr>
                <a:t>Own storefront</a:t>
              </a:r>
            </a:p>
          </p:txBody>
        </p:sp>
      </p:grpSp>
      <p:sp>
        <p:nvSpPr>
          <p:cNvPr id="41" name="AutoShape 41"/>
          <p:cNvSpPr/>
          <p:nvPr/>
        </p:nvSpPr>
        <p:spPr>
          <a:xfrm rot="8283419">
            <a:off x="8221066" y="4367974"/>
            <a:ext cx="1091041" cy="0"/>
          </a:xfrm>
          <a:prstGeom prst="line">
            <a:avLst/>
          </a:prstGeom>
          <a:ln w="28575" cap="rnd">
            <a:solidFill>
              <a:srgbClr val="F97316"/>
            </a:solidFill>
            <a:prstDash val="solid"/>
            <a:headEnd type="none" w="sm" len="sm"/>
            <a:tailEnd type="triangle" w="lg" len="med"/>
          </a:ln>
        </p:spPr>
      </p:sp>
      <p:grpSp>
        <p:nvGrpSpPr>
          <p:cNvPr id="42" name="Group 42"/>
          <p:cNvGrpSpPr/>
          <p:nvPr/>
        </p:nvGrpSpPr>
        <p:grpSpPr>
          <a:xfrm>
            <a:off x="6415811" y="4781550"/>
            <a:ext cx="5455920" cy="3442240"/>
            <a:chOff x="0" y="0"/>
            <a:chExt cx="7274560" cy="4589653"/>
          </a:xfrm>
        </p:grpSpPr>
        <p:sp>
          <p:nvSpPr>
            <p:cNvPr id="43" name="Freeform 43"/>
            <p:cNvSpPr/>
            <p:nvPr/>
          </p:nvSpPr>
          <p:spPr>
            <a:xfrm>
              <a:off x="0" y="0"/>
              <a:ext cx="7274560" cy="4589653"/>
            </a:xfrm>
            <a:custGeom>
              <a:avLst/>
              <a:gdLst/>
              <a:ahLst/>
              <a:cxnLst/>
              <a:rect l="l" t="t" r="r" b="b"/>
              <a:pathLst>
                <a:path w="7274560" h="4589653">
                  <a:moveTo>
                    <a:pt x="0" y="147955"/>
                  </a:moveTo>
                  <a:cubicBezTo>
                    <a:pt x="0" y="66167"/>
                    <a:pt x="66167" y="0"/>
                    <a:pt x="147955" y="0"/>
                  </a:cubicBezTo>
                  <a:lnTo>
                    <a:pt x="7126605" y="0"/>
                  </a:lnTo>
                  <a:cubicBezTo>
                    <a:pt x="7208266" y="0"/>
                    <a:pt x="7274560" y="66167"/>
                    <a:pt x="7274560" y="147955"/>
                  </a:cubicBezTo>
                  <a:lnTo>
                    <a:pt x="7274560" y="4441698"/>
                  </a:lnTo>
                  <a:cubicBezTo>
                    <a:pt x="7274560" y="4523359"/>
                    <a:pt x="7208393" y="4589653"/>
                    <a:pt x="7126605" y="4589653"/>
                  </a:cubicBezTo>
                  <a:lnTo>
                    <a:pt x="147955" y="4589653"/>
                  </a:lnTo>
                  <a:cubicBezTo>
                    <a:pt x="66167" y="4589653"/>
                    <a:pt x="0" y="4523486"/>
                    <a:pt x="0" y="4441698"/>
                  </a:cubicBezTo>
                  <a:close/>
                </a:path>
              </a:pathLst>
            </a:custGeom>
            <a:solidFill>
              <a:srgbClr val="FFFFFF"/>
            </a:solidFill>
            <a:ln w="38100" cap="sq">
              <a:solidFill>
                <a:srgbClr val="F97316"/>
              </a:solidFill>
              <a:prstDash val="solid"/>
              <a:miter/>
            </a:ln>
          </p:spPr>
        </p:sp>
      </p:grpSp>
      <p:grpSp>
        <p:nvGrpSpPr>
          <p:cNvPr id="44" name="Group 44"/>
          <p:cNvGrpSpPr/>
          <p:nvPr/>
        </p:nvGrpSpPr>
        <p:grpSpPr>
          <a:xfrm>
            <a:off x="6462293" y="4828032"/>
            <a:ext cx="5362956" cy="329184"/>
            <a:chOff x="0" y="0"/>
            <a:chExt cx="7150608" cy="438912"/>
          </a:xfrm>
        </p:grpSpPr>
        <p:sp>
          <p:nvSpPr>
            <p:cNvPr id="45" name="Freeform 45"/>
            <p:cNvSpPr/>
            <p:nvPr/>
          </p:nvSpPr>
          <p:spPr>
            <a:xfrm>
              <a:off x="0" y="0"/>
              <a:ext cx="7150608" cy="438912"/>
            </a:xfrm>
            <a:custGeom>
              <a:avLst/>
              <a:gdLst/>
              <a:ahLst/>
              <a:cxnLst/>
              <a:rect l="l" t="t" r="r" b="b"/>
              <a:pathLst>
                <a:path w="7150608" h="438912">
                  <a:moveTo>
                    <a:pt x="0" y="0"/>
                  </a:moveTo>
                  <a:lnTo>
                    <a:pt x="7150608" y="0"/>
                  </a:lnTo>
                  <a:lnTo>
                    <a:pt x="7150608" y="438912"/>
                  </a:lnTo>
                  <a:lnTo>
                    <a:pt x="0" y="438912"/>
                  </a:lnTo>
                  <a:close/>
                </a:path>
              </a:pathLst>
            </a:custGeom>
            <a:solidFill>
              <a:srgbClr val="E2E8F0"/>
            </a:solidFill>
          </p:spPr>
        </p:sp>
      </p:grpSp>
      <p:grpSp>
        <p:nvGrpSpPr>
          <p:cNvPr id="46" name="Group 46"/>
          <p:cNvGrpSpPr/>
          <p:nvPr/>
        </p:nvGrpSpPr>
        <p:grpSpPr>
          <a:xfrm>
            <a:off x="6599453" y="4910328"/>
            <a:ext cx="137160" cy="137160"/>
            <a:chOff x="0" y="0"/>
            <a:chExt cx="182880" cy="182880"/>
          </a:xfrm>
        </p:grpSpPr>
        <p:sp>
          <p:nvSpPr>
            <p:cNvPr id="47" name="Freeform 47"/>
            <p:cNvSpPr/>
            <p:nvPr/>
          </p:nvSpPr>
          <p:spPr>
            <a:xfrm>
              <a:off x="0" y="0"/>
              <a:ext cx="182880" cy="182880"/>
            </a:xfrm>
            <a:custGeom>
              <a:avLst/>
              <a:gdLst/>
              <a:ahLst/>
              <a:cxnLst/>
              <a:rect l="l" t="t" r="r" b="b"/>
              <a:pathLst>
                <a:path w="182880" h="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F87171"/>
            </a:solidFill>
          </p:spPr>
        </p:sp>
      </p:grpSp>
      <p:grpSp>
        <p:nvGrpSpPr>
          <p:cNvPr id="48" name="Group 48"/>
          <p:cNvGrpSpPr/>
          <p:nvPr/>
        </p:nvGrpSpPr>
        <p:grpSpPr>
          <a:xfrm>
            <a:off x="6818909" y="4910328"/>
            <a:ext cx="137160" cy="137160"/>
            <a:chOff x="0" y="0"/>
            <a:chExt cx="182880" cy="182880"/>
          </a:xfrm>
        </p:grpSpPr>
        <p:sp>
          <p:nvSpPr>
            <p:cNvPr id="49" name="Freeform 49"/>
            <p:cNvSpPr/>
            <p:nvPr/>
          </p:nvSpPr>
          <p:spPr>
            <a:xfrm>
              <a:off x="0" y="0"/>
              <a:ext cx="182880" cy="182880"/>
            </a:xfrm>
            <a:custGeom>
              <a:avLst/>
              <a:gdLst/>
              <a:ahLst/>
              <a:cxnLst/>
              <a:rect l="l" t="t" r="r" b="b"/>
              <a:pathLst>
                <a:path w="182880" h="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FBBF24"/>
            </a:solidFill>
          </p:spPr>
        </p:sp>
      </p:grpSp>
      <p:grpSp>
        <p:nvGrpSpPr>
          <p:cNvPr id="50" name="Group 50"/>
          <p:cNvGrpSpPr/>
          <p:nvPr/>
        </p:nvGrpSpPr>
        <p:grpSpPr>
          <a:xfrm>
            <a:off x="7038365" y="4910328"/>
            <a:ext cx="137160" cy="137160"/>
            <a:chOff x="0" y="0"/>
            <a:chExt cx="182880" cy="182880"/>
          </a:xfrm>
        </p:grpSpPr>
        <p:sp>
          <p:nvSpPr>
            <p:cNvPr id="51" name="Freeform 51"/>
            <p:cNvSpPr/>
            <p:nvPr/>
          </p:nvSpPr>
          <p:spPr>
            <a:xfrm>
              <a:off x="0" y="0"/>
              <a:ext cx="182880" cy="182880"/>
            </a:xfrm>
            <a:custGeom>
              <a:avLst/>
              <a:gdLst/>
              <a:ahLst/>
              <a:cxnLst/>
              <a:rect l="l" t="t" r="r" b="b"/>
              <a:pathLst>
                <a:path w="182880" h="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34D399"/>
            </a:solidFill>
          </p:spPr>
        </p:sp>
      </p:grpSp>
      <p:grpSp>
        <p:nvGrpSpPr>
          <p:cNvPr id="52" name="Group 52"/>
          <p:cNvGrpSpPr/>
          <p:nvPr/>
        </p:nvGrpSpPr>
        <p:grpSpPr>
          <a:xfrm>
            <a:off x="6462293" y="5157216"/>
            <a:ext cx="5362956" cy="3020092"/>
            <a:chOff x="0" y="0"/>
            <a:chExt cx="7150608" cy="4026789"/>
          </a:xfrm>
        </p:grpSpPr>
        <p:sp>
          <p:nvSpPr>
            <p:cNvPr id="53" name="Freeform 53" descr="Marketplace screen"/>
            <p:cNvSpPr/>
            <p:nvPr/>
          </p:nvSpPr>
          <p:spPr>
            <a:xfrm>
              <a:off x="0" y="0"/>
              <a:ext cx="7150608" cy="4026789"/>
            </a:xfrm>
            <a:custGeom>
              <a:avLst/>
              <a:gdLst/>
              <a:ahLst/>
              <a:cxnLst/>
              <a:rect l="l" t="t" r="r" b="b"/>
              <a:pathLst>
                <a:path w="7150608" h="4026789">
                  <a:moveTo>
                    <a:pt x="0" y="0"/>
                  </a:moveTo>
                  <a:lnTo>
                    <a:pt x="7150608" y="0"/>
                  </a:lnTo>
                  <a:lnTo>
                    <a:pt x="7150608" y="4026789"/>
                  </a:lnTo>
                  <a:lnTo>
                    <a:pt x="0" y="4026789"/>
                  </a:lnTo>
                  <a:lnTo>
                    <a:pt x="0" y="0"/>
                  </a:lnTo>
                  <a:close/>
                </a:path>
              </a:pathLst>
            </a:custGeom>
            <a:blipFill>
              <a:blip r:embed="rId7"/>
              <a:stretch>
                <a:fillRect l="-56" r="-56"/>
              </a:stretch>
            </a:blipFill>
          </p:spPr>
        </p:sp>
      </p:grpSp>
      <p:grpSp>
        <p:nvGrpSpPr>
          <p:cNvPr id="54" name="Group 54"/>
          <p:cNvGrpSpPr/>
          <p:nvPr/>
        </p:nvGrpSpPr>
        <p:grpSpPr>
          <a:xfrm>
            <a:off x="9392183" y="4479798"/>
            <a:ext cx="2397252" cy="614172"/>
            <a:chOff x="0" y="0"/>
            <a:chExt cx="3196336" cy="818896"/>
          </a:xfrm>
        </p:grpSpPr>
        <p:sp>
          <p:nvSpPr>
            <p:cNvPr id="55" name="Freeform 55"/>
            <p:cNvSpPr/>
            <p:nvPr/>
          </p:nvSpPr>
          <p:spPr>
            <a:xfrm>
              <a:off x="0" y="0"/>
              <a:ext cx="3196336" cy="818896"/>
            </a:xfrm>
            <a:custGeom>
              <a:avLst/>
              <a:gdLst/>
              <a:ahLst/>
              <a:cxnLst/>
              <a:rect l="l" t="t" r="r" b="b"/>
              <a:pathLst>
                <a:path w="3196336" h="818896">
                  <a:moveTo>
                    <a:pt x="0" y="409448"/>
                  </a:moveTo>
                  <a:cubicBezTo>
                    <a:pt x="0" y="183261"/>
                    <a:pt x="183261" y="0"/>
                    <a:pt x="409448" y="0"/>
                  </a:cubicBezTo>
                  <a:lnTo>
                    <a:pt x="2786888" y="0"/>
                  </a:lnTo>
                  <a:cubicBezTo>
                    <a:pt x="3013075" y="0"/>
                    <a:pt x="3196336" y="183261"/>
                    <a:pt x="3196336" y="409448"/>
                  </a:cubicBezTo>
                  <a:cubicBezTo>
                    <a:pt x="3196336" y="635635"/>
                    <a:pt x="3013075" y="818896"/>
                    <a:pt x="2786888" y="818896"/>
                  </a:cubicBezTo>
                  <a:lnTo>
                    <a:pt x="409448" y="818896"/>
                  </a:lnTo>
                  <a:cubicBezTo>
                    <a:pt x="183261" y="818896"/>
                    <a:pt x="0" y="635635"/>
                    <a:pt x="0" y="409448"/>
                  </a:cubicBezTo>
                  <a:close/>
                </a:path>
              </a:pathLst>
            </a:custGeom>
            <a:solidFill>
              <a:srgbClr val="FFFFFF"/>
            </a:solidFill>
            <a:ln w="38100" cap="sq">
              <a:solidFill>
                <a:srgbClr val="F97316"/>
              </a:solidFill>
              <a:prstDash val="solid"/>
              <a:miter/>
            </a:ln>
          </p:spPr>
        </p:sp>
        <p:sp>
          <p:nvSpPr>
            <p:cNvPr id="56" name="TextBox 56"/>
            <p:cNvSpPr txBox="1"/>
            <p:nvPr/>
          </p:nvSpPr>
          <p:spPr>
            <a:xfrm>
              <a:off x="0" y="-19050"/>
              <a:ext cx="3196336" cy="837946"/>
            </a:xfrm>
            <a:prstGeom prst="rect">
              <a:avLst/>
            </a:prstGeom>
          </p:spPr>
          <p:txBody>
            <a:bodyPr lIns="50800" tIns="50800" rIns="50800" bIns="50800" rtlCol="0" anchor="ctr"/>
            <a:lstStyle/>
            <a:p>
              <a:pPr algn="ctr">
                <a:lnSpc>
                  <a:spcPts val="2340"/>
                </a:lnSpc>
              </a:pPr>
              <a:r>
                <a:rPr lang="en-US" sz="1950" b="1">
                  <a:solidFill>
                    <a:srgbClr val="15243A"/>
                  </a:solidFill>
                  <a:latin typeface="Arial Bold"/>
                  <a:ea typeface="Arial Bold"/>
                  <a:cs typeface="Arial Bold"/>
                  <a:sym typeface="Arial Bold"/>
                </a:rPr>
                <a:t>$36</a:t>
              </a:r>
              <a:r>
                <a:rPr lang="en-US" sz="1950" b="1">
                  <a:solidFill>
                    <a:srgbClr val="F97316"/>
                  </a:solidFill>
                  <a:latin typeface="Arial Bold"/>
                  <a:ea typeface="Arial Bold"/>
                  <a:cs typeface="Arial Bold"/>
                  <a:sym typeface="Arial Bold"/>
                </a:rPr>
                <a:t>  ·  Stock 40</a:t>
              </a:r>
            </a:p>
          </p:txBody>
        </p:sp>
      </p:grpSp>
      <p:grpSp>
        <p:nvGrpSpPr>
          <p:cNvPr id="57" name="Group 57"/>
          <p:cNvGrpSpPr/>
          <p:nvPr/>
        </p:nvGrpSpPr>
        <p:grpSpPr>
          <a:xfrm>
            <a:off x="7292111" y="8410480"/>
            <a:ext cx="3703320" cy="658368"/>
            <a:chOff x="0" y="0"/>
            <a:chExt cx="4937760" cy="877824"/>
          </a:xfrm>
        </p:grpSpPr>
        <p:sp>
          <p:nvSpPr>
            <p:cNvPr id="58" name="Freeform 58"/>
            <p:cNvSpPr/>
            <p:nvPr/>
          </p:nvSpPr>
          <p:spPr>
            <a:xfrm>
              <a:off x="0" y="0"/>
              <a:ext cx="4937760" cy="877824"/>
            </a:xfrm>
            <a:custGeom>
              <a:avLst/>
              <a:gdLst/>
              <a:ahLst/>
              <a:cxnLst/>
              <a:rect l="l" t="t" r="r" b="b"/>
              <a:pathLst>
                <a:path w="4937760" h="877824">
                  <a:moveTo>
                    <a:pt x="0" y="438912"/>
                  </a:moveTo>
                  <a:cubicBezTo>
                    <a:pt x="0" y="196469"/>
                    <a:pt x="196469" y="0"/>
                    <a:pt x="438912" y="0"/>
                  </a:cubicBezTo>
                  <a:lnTo>
                    <a:pt x="4498848" y="0"/>
                  </a:lnTo>
                  <a:cubicBezTo>
                    <a:pt x="4741291" y="0"/>
                    <a:pt x="4937760" y="196469"/>
                    <a:pt x="4937760" y="438912"/>
                  </a:cubicBezTo>
                  <a:cubicBezTo>
                    <a:pt x="4937760" y="681355"/>
                    <a:pt x="4741291" y="877824"/>
                    <a:pt x="4498848" y="877824"/>
                  </a:cubicBezTo>
                  <a:lnTo>
                    <a:pt x="438912" y="877824"/>
                  </a:lnTo>
                  <a:cubicBezTo>
                    <a:pt x="196469" y="877824"/>
                    <a:pt x="0" y="681355"/>
                    <a:pt x="0" y="438912"/>
                  </a:cubicBezTo>
                  <a:close/>
                </a:path>
              </a:pathLst>
            </a:custGeom>
            <a:solidFill>
              <a:srgbClr val="F97316"/>
            </a:solidFill>
          </p:spPr>
        </p:sp>
      </p:grpSp>
      <p:grpSp>
        <p:nvGrpSpPr>
          <p:cNvPr id="59" name="Group 59"/>
          <p:cNvGrpSpPr/>
          <p:nvPr/>
        </p:nvGrpSpPr>
        <p:grpSpPr>
          <a:xfrm>
            <a:off x="7538999" y="8547640"/>
            <a:ext cx="384048" cy="384048"/>
            <a:chOff x="0" y="0"/>
            <a:chExt cx="512064" cy="512064"/>
          </a:xfrm>
        </p:grpSpPr>
        <p:sp>
          <p:nvSpPr>
            <p:cNvPr id="60" name="Freeform 60" descr="preencoded.png"/>
            <p:cNvSpPr/>
            <p:nvPr/>
          </p:nvSpPr>
          <p:spPr>
            <a:xfrm>
              <a:off x="0" y="0"/>
              <a:ext cx="512064" cy="512064"/>
            </a:xfrm>
            <a:custGeom>
              <a:avLst/>
              <a:gdLst/>
              <a:ahLst/>
              <a:cxnLst/>
              <a:rect l="l" t="t" r="r" b="b"/>
              <a:pathLst>
                <a:path w="512064" h="512064">
                  <a:moveTo>
                    <a:pt x="0" y="0"/>
                  </a:moveTo>
                  <a:lnTo>
                    <a:pt x="512064" y="0"/>
                  </a:lnTo>
                  <a:lnTo>
                    <a:pt x="512064" y="512064"/>
                  </a:lnTo>
                  <a:lnTo>
                    <a:pt x="0" y="512064"/>
                  </a:lnTo>
                  <a:lnTo>
                    <a:pt x="0" y="0"/>
                  </a:lnTo>
                  <a:close/>
                </a:path>
              </a:pathLst>
            </a:custGeom>
            <a:blipFill>
              <a:blip r:embed="rId8"/>
              <a:stretch>
                <a:fillRect/>
              </a:stretch>
            </a:blipFill>
          </p:spPr>
        </p:sp>
      </p:grpSp>
      <p:grpSp>
        <p:nvGrpSpPr>
          <p:cNvPr id="61" name="Group 61"/>
          <p:cNvGrpSpPr/>
          <p:nvPr/>
        </p:nvGrpSpPr>
        <p:grpSpPr>
          <a:xfrm>
            <a:off x="8005343" y="8410480"/>
            <a:ext cx="2852928" cy="658368"/>
            <a:chOff x="0" y="0"/>
            <a:chExt cx="3803904" cy="877824"/>
          </a:xfrm>
        </p:grpSpPr>
        <p:sp>
          <p:nvSpPr>
            <p:cNvPr id="62" name="Freeform 62"/>
            <p:cNvSpPr/>
            <p:nvPr/>
          </p:nvSpPr>
          <p:spPr>
            <a:xfrm>
              <a:off x="0" y="0"/>
              <a:ext cx="3803904" cy="877824"/>
            </a:xfrm>
            <a:custGeom>
              <a:avLst/>
              <a:gdLst/>
              <a:ahLst/>
              <a:cxnLst/>
              <a:rect l="l" t="t" r="r" b="b"/>
              <a:pathLst>
                <a:path w="3803904" h="877824">
                  <a:moveTo>
                    <a:pt x="0" y="0"/>
                  </a:moveTo>
                  <a:lnTo>
                    <a:pt x="3803904" y="0"/>
                  </a:lnTo>
                  <a:lnTo>
                    <a:pt x="3803904" y="877824"/>
                  </a:lnTo>
                  <a:lnTo>
                    <a:pt x="0" y="877824"/>
                  </a:lnTo>
                  <a:close/>
                </a:path>
              </a:pathLst>
            </a:custGeom>
            <a:blipFill>
              <a:blip r:embed="rId3">
                <a:alphaModFix amt="0"/>
              </a:blip>
              <a:stretch>
                <a:fillRect t="-34435" b="-34435"/>
              </a:stretch>
            </a:blipFill>
          </p:spPr>
        </p:sp>
        <p:sp>
          <p:nvSpPr>
            <p:cNvPr id="63" name="TextBox 63"/>
            <p:cNvSpPr txBox="1"/>
            <p:nvPr/>
          </p:nvSpPr>
          <p:spPr>
            <a:xfrm>
              <a:off x="0" y="-19050"/>
              <a:ext cx="3803904" cy="896874"/>
            </a:xfrm>
            <a:prstGeom prst="rect">
              <a:avLst/>
            </a:prstGeom>
          </p:spPr>
          <p:txBody>
            <a:bodyPr lIns="0" tIns="0" rIns="0" bIns="0" rtlCol="0" anchor="ctr"/>
            <a:lstStyle/>
            <a:p>
              <a:pPr algn="l">
                <a:lnSpc>
                  <a:spcPts val="2700"/>
                </a:lnSpc>
              </a:pPr>
              <a:r>
                <a:rPr lang="en-US" sz="2250" b="1">
                  <a:solidFill>
                    <a:srgbClr val="FFFFFF"/>
                  </a:solidFill>
                  <a:latin typeface="Arial Bold"/>
                  <a:ea typeface="Arial Bold"/>
                  <a:cs typeface="Arial Bold"/>
                  <a:sym typeface="Arial Bold"/>
                </a:rPr>
                <a:t>Marketplace</a:t>
              </a:r>
            </a:p>
          </p:txBody>
        </p:sp>
      </p:grpSp>
      <p:sp>
        <p:nvSpPr>
          <p:cNvPr id="64" name="AutoShape 64"/>
          <p:cNvSpPr/>
          <p:nvPr/>
        </p:nvSpPr>
        <p:spPr>
          <a:xfrm rot="725520">
            <a:off x="10722502" y="4367974"/>
            <a:ext cx="3481092" cy="0"/>
          </a:xfrm>
          <a:prstGeom prst="line">
            <a:avLst/>
          </a:prstGeom>
          <a:ln w="28575" cap="rnd">
            <a:solidFill>
              <a:srgbClr val="0AA7A2"/>
            </a:solidFill>
            <a:prstDash val="solid"/>
            <a:headEnd type="none" w="sm" len="sm"/>
            <a:tailEnd type="triangle" w="lg" len="med"/>
          </a:ln>
        </p:spPr>
      </p:sp>
      <p:grpSp>
        <p:nvGrpSpPr>
          <p:cNvPr id="65" name="Group 65"/>
          <p:cNvGrpSpPr/>
          <p:nvPr/>
        </p:nvGrpSpPr>
        <p:grpSpPr>
          <a:xfrm>
            <a:off x="12162815" y="4781550"/>
            <a:ext cx="5455920" cy="3442240"/>
            <a:chOff x="0" y="0"/>
            <a:chExt cx="7274560" cy="4589653"/>
          </a:xfrm>
        </p:grpSpPr>
        <p:sp>
          <p:nvSpPr>
            <p:cNvPr id="66" name="Freeform 66"/>
            <p:cNvSpPr/>
            <p:nvPr/>
          </p:nvSpPr>
          <p:spPr>
            <a:xfrm>
              <a:off x="0" y="0"/>
              <a:ext cx="7274560" cy="4589653"/>
            </a:xfrm>
            <a:custGeom>
              <a:avLst/>
              <a:gdLst/>
              <a:ahLst/>
              <a:cxnLst/>
              <a:rect l="l" t="t" r="r" b="b"/>
              <a:pathLst>
                <a:path w="7274560" h="4589653">
                  <a:moveTo>
                    <a:pt x="0" y="147955"/>
                  </a:moveTo>
                  <a:cubicBezTo>
                    <a:pt x="0" y="66167"/>
                    <a:pt x="66167" y="0"/>
                    <a:pt x="147955" y="0"/>
                  </a:cubicBezTo>
                  <a:lnTo>
                    <a:pt x="7126605" y="0"/>
                  </a:lnTo>
                  <a:cubicBezTo>
                    <a:pt x="7208266" y="0"/>
                    <a:pt x="7274560" y="66167"/>
                    <a:pt x="7274560" y="147955"/>
                  </a:cubicBezTo>
                  <a:lnTo>
                    <a:pt x="7274560" y="4441698"/>
                  </a:lnTo>
                  <a:cubicBezTo>
                    <a:pt x="7274560" y="4523359"/>
                    <a:pt x="7208393" y="4589653"/>
                    <a:pt x="7126605" y="4589653"/>
                  </a:cubicBezTo>
                  <a:lnTo>
                    <a:pt x="147955" y="4589653"/>
                  </a:lnTo>
                  <a:cubicBezTo>
                    <a:pt x="66167" y="4589653"/>
                    <a:pt x="0" y="4523486"/>
                    <a:pt x="0" y="4441698"/>
                  </a:cubicBezTo>
                  <a:close/>
                </a:path>
              </a:pathLst>
            </a:custGeom>
            <a:solidFill>
              <a:srgbClr val="FFFFFF"/>
            </a:solidFill>
            <a:ln w="38100" cap="sq">
              <a:solidFill>
                <a:srgbClr val="0AA7A2"/>
              </a:solidFill>
              <a:prstDash val="solid"/>
              <a:miter/>
            </a:ln>
          </p:spPr>
        </p:sp>
      </p:grpSp>
      <p:grpSp>
        <p:nvGrpSpPr>
          <p:cNvPr id="67" name="Group 67"/>
          <p:cNvGrpSpPr/>
          <p:nvPr/>
        </p:nvGrpSpPr>
        <p:grpSpPr>
          <a:xfrm>
            <a:off x="12209297" y="4828032"/>
            <a:ext cx="5362956" cy="329184"/>
            <a:chOff x="0" y="0"/>
            <a:chExt cx="7150608" cy="438912"/>
          </a:xfrm>
        </p:grpSpPr>
        <p:sp>
          <p:nvSpPr>
            <p:cNvPr id="68" name="Freeform 68"/>
            <p:cNvSpPr/>
            <p:nvPr/>
          </p:nvSpPr>
          <p:spPr>
            <a:xfrm>
              <a:off x="0" y="0"/>
              <a:ext cx="7150608" cy="438912"/>
            </a:xfrm>
            <a:custGeom>
              <a:avLst/>
              <a:gdLst/>
              <a:ahLst/>
              <a:cxnLst/>
              <a:rect l="l" t="t" r="r" b="b"/>
              <a:pathLst>
                <a:path w="7150608" h="438912">
                  <a:moveTo>
                    <a:pt x="0" y="0"/>
                  </a:moveTo>
                  <a:lnTo>
                    <a:pt x="7150608" y="0"/>
                  </a:lnTo>
                  <a:lnTo>
                    <a:pt x="7150608" y="438912"/>
                  </a:lnTo>
                  <a:lnTo>
                    <a:pt x="0" y="438912"/>
                  </a:lnTo>
                  <a:close/>
                </a:path>
              </a:pathLst>
            </a:custGeom>
            <a:solidFill>
              <a:srgbClr val="E2E8F0"/>
            </a:solidFill>
          </p:spPr>
        </p:sp>
      </p:grpSp>
      <p:grpSp>
        <p:nvGrpSpPr>
          <p:cNvPr id="69" name="Group 69"/>
          <p:cNvGrpSpPr/>
          <p:nvPr/>
        </p:nvGrpSpPr>
        <p:grpSpPr>
          <a:xfrm>
            <a:off x="12346457" y="4910328"/>
            <a:ext cx="137160" cy="137160"/>
            <a:chOff x="0" y="0"/>
            <a:chExt cx="182880" cy="182880"/>
          </a:xfrm>
        </p:grpSpPr>
        <p:sp>
          <p:nvSpPr>
            <p:cNvPr id="70" name="Freeform 70"/>
            <p:cNvSpPr/>
            <p:nvPr/>
          </p:nvSpPr>
          <p:spPr>
            <a:xfrm>
              <a:off x="0" y="0"/>
              <a:ext cx="182880" cy="182880"/>
            </a:xfrm>
            <a:custGeom>
              <a:avLst/>
              <a:gdLst/>
              <a:ahLst/>
              <a:cxnLst/>
              <a:rect l="l" t="t" r="r" b="b"/>
              <a:pathLst>
                <a:path w="182880" h="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F87171"/>
            </a:solidFill>
          </p:spPr>
        </p:sp>
      </p:grpSp>
      <p:grpSp>
        <p:nvGrpSpPr>
          <p:cNvPr id="71" name="Group 71"/>
          <p:cNvGrpSpPr/>
          <p:nvPr/>
        </p:nvGrpSpPr>
        <p:grpSpPr>
          <a:xfrm>
            <a:off x="12565913" y="4910328"/>
            <a:ext cx="137160" cy="137160"/>
            <a:chOff x="0" y="0"/>
            <a:chExt cx="182880" cy="182880"/>
          </a:xfrm>
        </p:grpSpPr>
        <p:sp>
          <p:nvSpPr>
            <p:cNvPr id="72" name="Freeform 72"/>
            <p:cNvSpPr/>
            <p:nvPr/>
          </p:nvSpPr>
          <p:spPr>
            <a:xfrm>
              <a:off x="0" y="0"/>
              <a:ext cx="182880" cy="182880"/>
            </a:xfrm>
            <a:custGeom>
              <a:avLst/>
              <a:gdLst/>
              <a:ahLst/>
              <a:cxnLst/>
              <a:rect l="l" t="t" r="r" b="b"/>
              <a:pathLst>
                <a:path w="182880" h="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FBBF24"/>
            </a:solidFill>
          </p:spPr>
        </p:sp>
      </p:grpSp>
      <p:grpSp>
        <p:nvGrpSpPr>
          <p:cNvPr id="73" name="Group 73"/>
          <p:cNvGrpSpPr/>
          <p:nvPr/>
        </p:nvGrpSpPr>
        <p:grpSpPr>
          <a:xfrm>
            <a:off x="12785369" y="4910328"/>
            <a:ext cx="137160" cy="137160"/>
            <a:chOff x="0" y="0"/>
            <a:chExt cx="182880" cy="182880"/>
          </a:xfrm>
        </p:grpSpPr>
        <p:sp>
          <p:nvSpPr>
            <p:cNvPr id="74" name="Freeform 74"/>
            <p:cNvSpPr/>
            <p:nvPr/>
          </p:nvSpPr>
          <p:spPr>
            <a:xfrm>
              <a:off x="0" y="0"/>
              <a:ext cx="182880" cy="182880"/>
            </a:xfrm>
            <a:custGeom>
              <a:avLst/>
              <a:gdLst/>
              <a:ahLst/>
              <a:cxnLst/>
              <a:rect l="l" t="t" r="r" b="b"/>
              <a:pathLst>
                <a:path w="182880" h="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34D399"/>
            </a:solidFill>
          </p:spPr>
        </p:sp>
      </p:grpSp>
      <p:grpSp>
        <p:nvGrpSpPr>
          <p:cNvPr id="75" name="Group 75"/>
          <p:cNvGrpSpPr/>
          <p:nvPr/>
        </p:nvGrpSpPr>
        <p:grpSpPr>
          <a:xfrm>
            <a:off x="12209297" y="5157216"/>
            <a:ext cx="5362956" cy="3020092"/>
            <a:chOff x="0" y="0"/>
            <a:chExt cx="7150608" cy="4026789"/>
          </a:xfrm>
        </p:grpSpPr>
        <p:sp>
          <p:nvSpPr>
            <p:cNvPr id="76" name="Freeform 76" descr="POS at the counter screen"/>
            <p:cNvSpPr/>
            <p:nvPr/>
          </p:nvSpPr>
          <p:spPr>
            <a:xfrm>
              <a:off x="0" y="0"/>
              <a:ext cx="7150608" cy="4026789"/>
            </a:xfrm>
            <a:custGeom>
              <a:avLst/>
              <a:gdLst/>
              <a:ahLst/>
              <a:cxnLst/>
              <a:rect l="l" t="t" r="r" b="b"/>
              <a:pathLst>
                <a:path w="7150608" h="4026789">
                  <a:moveTo>
                    <a:pt x="0" y="0"/>
                  </a:moveTo>
                  <a:lnTo>
                    <a:pt x="7150608" y="0"/>
                  </a:lnTo>
                  <a:lnTo>
                    <a:pt x="7150608" y="4026789"/>
                  </a:lnTo>
                  <a:lnTo>
                    <a:pt x="0" y="4026789"/>
                  </a:lnTo>
                  <a:lnTo>
                    <a:pt x="0" y="0"/>
                  </a:lnTo>
                  <a:close/>
                </a:path>
              </a:pathLst>
            </a:custGeom>
            <a:blipFill>
              <a:blip r:embed="rId9"/>
              <a:stretch>
                <a:fillRect l="-56" r="-56"/>
              </a:stretch>
            </a:blipFill>
          </p:spPr>
        </p:sp>
      </p:grpSp>
      <p:grpSp>
        <p:nvGrpSpPr>
          <p:cNvPr id="77" name="Group 77"/>
          <p:cNvGrpSpPr/>
          <p:nvPr/>
        </p:nvGrpSpPr>
        <p:grpSpPr>
          <a:xfrm>
            <a:off x="15139187" y="4479798"/>
            <a:ext cx="2397252" cy="614172"/>
            <a:chOff x="0" y="0"/>
            <a:chExt cx="3196336" cy="818896"/>
          </a:xfrm>
        </p:grpSpPr>
        <p:sp>
          <p:nvSpPr>
            <p:cNvPr id="78" name="Freeform 78"/>
            <p:cNvSpPr/>
            <p:nvPr/>
          </p:nvSpPr>
          <p:spPr>
            <a:xfrm>
              <a:off x="0" y="0"/>
              <a:ext cx="3196336" cy="818896"/>
            </a:xfrm>
            <a:custGeom>
              <a:avLst/>
              <a:gdLst/>
              <a:ahLst/>
              <a:cxnLst/>
              <a:rect l="l" t="t" r="r" b="b"/>
              <a:pathLst>
                <a:path w="3196336" h="818896">
                  <a:moveTo>
                    <a:pt x="0" y="409448"/>
                  </a:moveTo>
                  <a:cubicBezTo>
                    <a:pt x="0" y="183261"/>
                    <a:pt x="183261" y="0"/>
                    <a:pt x="409448" y="0"/>
                  </a:cubicBezTo>
                  <a:lnTo>
                    <a:pt x="2786888" y="0"/>
                  </a:lnTo>
                  <a:cubicBezTo>
                    <a:pt x="3013075" y="0"/>
                    <a:pt x="3196336" y="183261"/>
                    <a:pt x="3196336" y="409448"/>
                  </a:cubicBezTo>
                  <a:cubicBezTo>
                    <a:pt x="3196336" y="635635"/>
                    <a:pt x="3013075" y="818896"/>
                    <a:pt x="2786888" y="818896"/>
                  </a:cubicBezTo>
                  <a:lnTo>
                    <a:pt x="409448" y="818896"/>
                  </a:lnTo>
                  <a:cubicBezTo>
                    <a:pt x="183261" y="818896"/>
                    <a:pt x="0" y="635635"/>
                    <a:pt x="0" y="409448"/>
                  </a:cubicBezTo>
                  <a:close/>
                </a:path>
              </a:pathLst>
            </a:custGeom>
            <a:solidFill>
              <a:srgbClr val="FFFFFF"/>
            </a:solidFill>
            <a:ln w="38100" cap="sq">
              <a:solidFill>
                <a:srgbClr val="0AA7A2"/>
              </a:solidFill>
              <a:prstDash val="solid"/>
              <a:miter/>
            </a:ln>
          </p:spPr>
        </p:sp>
        <p:sp>
          <p:nvSpPr>
            <p:cNvPr id="79" name="TextBox 79"/>
            <p:cNvSpPr txBox="1"/>
            <p:nvPr/>
          </p:nvSpPr>
          <p:spPr>
            <a:xfrm>
              <a:off x="0" y="-19050"/>
              <a:ext cx="3196336" cy="837946"/>
            </a:xfrm>
            <a:prstGeom prst="rect">
              <a:avLst/>
            </a:prstGeom>
          </p:spPr>
          <p:txBody>
            <a:bodyPr lIns="50800" tIns="50800" rIns="50800" bIns="50800" rtlCol="0" anchor="ctr"/>
            <a:lstStyle/>
            <a:p>
              <a:pPr algn="ctr">
                <a:lnSpc>
                  <a:spcPts val="2340"/>
                </a:lnSpc>
              </a:pPr>
              <a:r>
                <a:rPr lang="en-US" sz="1950" b="1">
                  <a:solidFill>
                    <a:srgbClr val="15243A"/>
                  </a:solidFill>
                  <a:latin typeface="Arial Bold"/>
                  <a:ea typeface="Arial Bold"/>
                  <a:cs typeface="Arial Bold"/>
                  <a:sym typeface="Arial Bold"/>
                </a:rPr>
                <a:t>$36</a:t>
              </a:r>
              <a:r>
                <a:rPr lang="en-US" sz="1950" b="1">
                  <a:solidFill>
                    <a:srgbClr val="0AA7A2"/>
                  </a:solidFill>
                  <a:latin typeface="Arial Bold"/>
                  <a:ea typeface="Arial Bold"/>
                  <a:cs typeface="Arial Bold"/>
                  <a:sym typeface="Arial Bold"/>
                </a:rPr>
                <a:t>  ·  Stock 40</a:t>
              </a:r>
            </a:p>
          </p:txBody>
        </p:sp>
      </p:grpSp>
      <p:grpSp>
        <p:nvGrpSpPr>
          <p:cNvPr id="80" name="Group 80"/>
          <p:cNvGrpSpPr/>
          <p:nvPr/>
        </p:nvGrpSpPr>
        <p:grpSpPr>
          <a:xfrm>
            <a:off x="13039115" y="8410480"/>
            <a:ext cx="3703320" cy="658368"/>
            <a:chOff x="0" y="0"/>
            <a:chExt cx="4937760" cy="877824"/>
          </a:xfrm>
        </p:grpSpPr>
        <p:sp>
          <p:nvSpPr>
            <p:cNvPr id="81" name="Freeform 81"/>
            <p:cNvSpPr/>
            <p:nvPr/>
          </p:nvSpPr>
          <p:spPr>
            <a:xfrm>
              <a:off x="0" y="0"/>
              <a:ext cx="4937760" cy="877824"/>
            </a:xfrm>
            <a:custGeom>
              <a:avLst/>
              <a:gdLst/>
              <a:ahLst/>
              <a:cxnLst/>
              <a:rect l="l" t="t" r="r" b="b"/>
              <a:pathLst>
                <a:path w="4937760" h="877824">
                  <a:moveTo>
                    <a:pt x="0" y="438912"/>
                  </a:moveTo>
                  <a:cubicBezTo>
                    <a:pt x="0" y="196469"/>
                    <a:pt x="196469" y="0"/>
                    <a:pt x="438912" y="0"/>
                  </a:cubicBezTo>
                  <a:lnTo>
                    <a:pt x="4498848" y="0"/>
                  </a:lnTo>
                  <a:cubicBezTo>
                    <a:pt x="4741291" y="0"/>
                    <a:pt x="4937760" y="196469"/>
                    <a:pt x="4937760" y="438912"/>
                  </a:cubicBezTo>
                  <a:cubicBezTo>
                    <a:pt x="4937760" y="681355"/>
                    <a:pt x="4741291" y="877824"/>
                    <a:pt x="4498848" y="877824"/>
                  </a:cubicBezTo>
                  <a:lnTo>
                    <a:pt x="438912" y="877824"/>
                  </a:lnTo>
                  <a:cubicBezTo>
                    <a:pt x="196469" y="877824"/>
                    <a:pt x="0" y="681355"/>
                    <a:pt x="0" y="438912"/>
                  </a:cubicBezTo>
                  <a:close/>
                </a:path>
              </a:pathLst>
            </a:custGeom>
            <a:solidFill>
              <a:srgbClr val="0AA7A2"/>
            </a:solidFill>
          </p:spPr>
        </p:sp>
      </p:grpSp>
      <p:grpSp>
        <p:nvGrpSpPr>
          <p:cNvPr id="82" name="Group 82"/>
          <p:cNvGrpSpPr/>
          <p:nvPr/>
        </p:nvGrpSpPr>
        <p:grpSpPr>
          <a:xfrm>
            <a:off x="13286003" y="8547640"/>
            <a:ext cx="384048" cy="384048"/>
            <a:chOff x="0" y="0"/>
            <a:chExt cx="512064" cy="512064"/>
          </a:xfrm>
        </p:grpSpPr>
        <p:sp>
          <p:nvSpPr>
            <p:cNvPr id="83" name="Freeform 83" descr="preencoded.png"/>
            <p:cNvSpPr/>
            <p:nvPr/>
          </p:nvSpPr>
          <p:spPr>
            <a:xfrm>
              <a:off x="0" y="0"/>
              <a:ext cx="512064" cy="512064"/>
            </a:xfrm>
            <a:custGeom>
              <a:avLst/>
              <a:gdLst/>
              <a:ahLst/>
              <a:cxnLst/>
              <a:rect l="l" t="t" r="r" b="b"/>
              <a:pathLst>
                <a:path w="512064" h="512064">
                  <a:moveTo>
                    <a:pt x="0" y="0"/>
                  </a:moveTo>
                  <a:lnTo>
                    <a:pt x="512064" y="0"/>
                  </a:lnTo>
                  <a:lnTo>
                    <a:pt x="512064" y="512064"/>
                  </a:lnTo>
                  <a:lnTo>
                    <a:pt x="0" y="512064"/>
                  </a:lnTo>
                  <a:lnTo>
                    <a:pt x="0" y="0"/>
                  </a:lnTo>
                  <a:close/>
                </a:path>
              </a:pathLst>
            </a:custGeom>
            <a:blipFill>
              <a:blip r:embed="rId10"/>
              <a:stretch>
                <a:fillRect/>
              </a:stretch>
            </a:blipFill>
          </p:spPr>
        </p:sp>
      </p:grpSp>
      <p:grpSp>
        <p:nvGrpSpPr>
          <p:cNvPr id="84" name="Group 84"/>
          <p:cNvGrpSpPr/>
          <p:nvPr/>
        </p:nvGrpSpPr>
        <p:grpSpPr>
          <a:xfrm>
            <a:off x="13752347" y="8410480"/>
            <a:ext cx="2852928" cy="658368"/>
            <a:chOff x="0" y="0"/>
            <a:chExt cx="3803904" cy="877824"/>
          </a:xfrm>
        </p:grpSpPr>
        <p:sp>
          <p:nvSpPr>
            <p:cNvPr id="85" name="Freeform 85"/>
            <p:cNvSpPr/>
            <p:nvPr/>
          </p:nvSpPr>
          <p:spPr>
            <a:xfrm>
              <a:off x="0" y="0"/>
              <a:ext cx="3803904" cy="877824"/>
            </a:xfrm>
            <a:custGeom>
              <a:avLst/>
              <a:gdLst/>
              <a:ahLst/>
              <a:cxnLst/>
              <a:rect l="l" t="t" r="r" b="b"/>
              <a:pathLst>
                <a:path w="3803904" h="877824">
                  <a:moveTo>
                    <a:pt x="0" y="0"/>
                  </a:moveTo>
                  <a:lnTo>
                    <a:pt x="3803904" y="0"/>
                  </a:lnTo>
                  <a:lnTo>
                    <a:pt x="3803904" y="877824"/>
                  </a:lnTo>
                  <a:lnTo>
                    <a:pt x="0" y="877824"/>
                  </a:lnTo>
                  <a:close/>
                </a:path>
              </a:pathLst>
            </a:custGeom>
            <a:blipFill>
              <a:blip r:embed="rId3">
                <a:alphaModFix amt="0"/>
              </a:blip>
              <a:stretch>
                <a:fillRect t="-34435" b="-34435"/>
              </a:stretch>
            </a:blipFill>
          </p:spPr>
        </p:sp>
        <p:sp>
          <p:nvSpPr>
            <p:cNvPr id="86" name="TextBox 86"/>
            <p:cNvSpPr txBox="1"/>
            <p:nvPr/>
          </p:nvSpPr>
          <p:spPr>
            <a:xfrm>
              <a:off x="0" y="-19050"/>
              <a:ext cx="3803904" cy="896874"/>
            </a:xfrm>
            <a:prstGeom prst="rect">
              <a:avLst/>
            </a:prstGeom>
          </p:spPr>
          <p:txBody>
            <a:bodyPr lIns="0" tIns="0" rIns="0" bIns="0" rtlCol="0" anchor="ctr"/>
            <a:lstStyle/>
            <a:p>
              <a:pPr algn="l">
                <a:lnSpc>
                  <a:spcPts val="2700"/>
                </a:lnSpc>
              </a:pPr>
              <a:r>
                <a:rPr lang="en-US" sz="2250" b="1">
                  <a:solidFill>
                    <a:srgbClr val="FFFFFF"/>
                  </a:solidFill>
                  <a:latin typeface="Arial Bold"/>
                  <a:ea typeface="Arial Bold"/>
                  <a:cs typeface="Arial Bold"/>
                  <a:sym typeface="Arial Bold"/>
                </a:rPr>
                <a:t>POS at the counter</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F8FAFC"/>
        </a:solidFill>
        <a:effectLst/>
      </p:bgPr>
    </p:bg>
    <p:spTree>
      <p:nvGrpSpPr>
        <p:cNvPr id="1" name=""/>
        <p:cNvGrpSpPr/>
        <p:nvPr/>
      </p:nvGrpSpPr>
      <p:grpSpPr>
        <a:xfrm>
          <a:off x="0" y="0"/>
          <a:ext cx="0" cy="0"/>
          <a:chOff x="0" y="0"/>
          <a:chExt cx="0" cy="0"/>
        </a:xfrm>
      </p:grpSpPr>
      <p:sp>
        <p:nvSpPr>
          <p:cNvPr id="2" name="Text 0"/>
          <p:cNvSpPr txBox="1"/>
          <p:nvPr/>
        </p:nvSpPr>
        <p:spPr>
          <a:xfrm>
            <a:off x="822960" y="480060"/>
            <a:ext cx="16637508" cy="960120"/>
          </a:xfrm>
          <a:prstGeom prst="rect">
            <a:avLst/>
          </a:prstGeom>
          <a:noFill/>
          <a:ln/>
        </p:spPr>
        <p:txBody>
          <a:bodyPr wrap="square" lIns="0" tIns="0" rIns="0" bIns="0" rtlCol="0" anchor="ctr"/>
          <a:lstStyle/>
          <a:p>
            <a:pPr marL="0" indent="0" algn="ctr">
              <a:buNone/>
            </a:pPr>
            <a:r>
              <a:rPr lang="en-US" sz="4800" b="1" dirty="0">
                <a:solidFill>
                  <a:srgbClr val="15243A"/>
                </a:solidFill>
                <a:latin typeface="Arial" pitchFamily="34" charset="0"/>
                <a:ea typeface="Arial" pitchFamily="34" charset="-122"/>
                <a:cs typeface="Arial" pitchFamily="34" charset="-120"/>
              </a:rPr>
              <a:t>Sell one at the counter. Every channel knows.</a:t>
            </a:r>
            <a:endParaRPr lang="en-US" sz="4800" dirty="0"/>
          </a:p>
        </p:txBody>
      </p:sp>
      <p:sp>
        <p:nvSpPr>
          <p:cNvPr id="3" name="Shape 1"/>
          <p:cNvSpPr/>
          <p:nvPr/>
        </p:nvSpPr>
        <p:spPr>
          <a:xfrm>
            <a:off x="5783352" y="1645920"/>
            <a:ext cx="6720840" cy="2331720"/>
          </a:xfrm>
          <a:prstGeom prst="roundRect">
            <a:avLst>
              <a:gd name="adj" fmla="val 10588"/>
            </a:avLst>
          </a:prstGeom>
          <a:solidFill>
            <a:srgbClr val="FFFFFF"/>
          </a:solidFill>
          <a:ln w="19050">
            <a:solidFill>
              <a:srgbClr val="CBD5E1"/>
            </a:solidFill>
            <a:prstDash val="solid"/>
          </a:ln>
          <a:effectLst>
            <a:outerShdw blurRad="152400" dist="57150" dir="5400000" algn="bl" rotWithShape="0">
              <a:srgbClr val="1A2A4A">
                <a:alpha val="18000"/>
              </a:srgbClr>
            </a:outerShdw>
          </a:effectLst>
        </p:spPr>
      </p:sp>
      <p:pic>
        <p:nvPicPr>
          <p:cNvPr id="4" name="Image 0" descr="Product photo: perfume bottle"/>
          <p:cNvPicPr>
            <a:picLocks noChangeAspect="1"/>
          </p:cNvPicPr>
          <p:nvPr/>
        </p:nvPicPr>
        <p:blipFill>
          <a:blip r:embed="rId5"/>
          <a:stretch>
            <a:fillRect/>
          </a:stretch>
        </p:blipFill>
        <p:spPr>
          <a:xfrm>
            <a:off x="6030240" y="1892808"/>
            <a:ext cx="1837944" cy="1837944"/>
          </a:xfrm>
          <a:prstGeom prst="rect">
            <a:avLst/>
          </a:prstGeom>
        </p:spPr>
      </p:pic>
      <p:sp>
        <p:nvSpPr>
          <p:cNvPr id="5" name="Text 2"/>
          <p:cNvSpPr txBox="1"/>
          <p:nvPr/>
        </p:nvSpPr>
        <p:spPr>
          <a:xfrm>
            <a:off x="8183652" y="1920240"/>
            <a:ext cx="4114800" cy="411480"/>
          </a:xfrm>
          <a:prstGeom prst="rect">
            <a:avLst/>
          </a:prstGeom>
          <a:noFill/>
          <a:ln/>
        </p:spPr>
        <p:txBody>
          <a:bodyPr wrap="square" lIns="0" tIns="0" rIns="0" bIns="0" rtlCol="0" anchor="ctr"/>
          <a:lstStyle/>
          <a:p>
            <a:pPr marL="0" indent="0" algn="l">
              <a:buNone/>
            </a:pPr>
            <a:r>
              <a:rPr lang="en-US" sz="1650" b="1" kern="0" spc="200" dirty="0">
                <a:solidFill>
                  <a:srgbClr val="0AA7A2"/>
                </a:solidFill>
                <a:latin typeface="Arial" pitchFamily="34" charset="0"/>
                <a:ea typeface="Arial" pitchFamily="34" charset="-122"/>
                <a:cs typeface="Arial" pitchFamily="34" charset="-120"/>
              </a:rPr>
              <a:t>SOLD 1 AT THE COUNTER</a:t>
            </a:r>
            <a:endParaRPr lang="en-US" sz="1650" dirty="0"/>
          </a:p>
        </p:txBody>
      </p:sp>
      <p:sp>
        <p:nvSpPr>
          <p:cNvPr id="6" name="Text 3"/>
          <p:cNvSpPr txBox="1"/>
          <p:nvPr/>
        </p:nvSpPr>
        <p:spPr>
          <a:xfrm>
            <a:off x="8183652" y="2331720"/>
            <a:ext cx="4114800" cy="617220"/>
          </a:xfrm>
          <a:prstGeom prst="rect">
            <a:avLst/>
          </a:prstGeom>
          <a:noFill/>
          <a:ln/>
        </p:spPr>
        <p:txBody>
          <a:bodyPr wrap="square" lIns="0" tIns="0" rIns="0" bIns="0" rtlCol="0" anchor="ctr"/>
          <a:lstStyle/>
          <a:p>
            <a:pPr marL="0" indent="0" algn="l">
              <a:buNone/>
            </a:pPr>
            <a:r>
              <a:rPr lang="en-US" sz="2550" b="1" dirty="0">
                <a:solidFill>
                  <a:srgbClr val="15243A"/>
                </a:solidFill>
                <a:latin typeface="Arial" pitchFamily="34" charset="0"/>
                <a:ea typeface="Arial" pitchFamily="34" charset="-122"/>
                <a:cs typeface="Arial" pitchFamily="34" charset="-120"/>
              </a:rPr>
              <a:t>Yes I Am The Queen</a:t>
            </a:r>
            <a:endParaRPr lang="en-US" sz="2550" dirty="0"/>
          </a:p>
        </p:txBody>
      </p:sp>
      <p:sp>
        <p:nvSpPr>
          <p:cNvPr id="7" name="Text 4"/>
          <p:cNvSpPr txBox="1"/>
          <p:nvPr/>
        </p:nvSpPr>
        <p:spPr>
          <a:xfrm>
            <a:off x="8183652" y="3017520"/>
            <a:ext cx="4114800" cy="548640"/>
          </a:xfrm>
          <a:prstGeom prst="rect">
            <a:avLst/>
          </a:prstGeom>
          <a:noFill/>
          <a:ln/>
        </p:spPr>
        <p:txBody>
          <a:bodyPr wrap="square" lIns="0" tIns="0" rIns="0" bIns="0" rtlCol="0" anchor="ctr"/>
          <a:lstStyle/>
          <a:p>
            <a:pPr marL="0" indent="0" algn="l">
              <a:buNone/>
            </a:pPr>
            <a:r>
              <a:rPr lang="en-US" sz="2550" b="1" dirty="0">
                <a:solidFill>
                  <a:srgbClr val="15243A"/>
                </a:solidFill>
                <a:latin typeface="Arial" pitchFamily="34" charset="0"/>
                <a:ea typeface="Arial" pitchFamily="34" charset="-122"/>
                <a:cs typeface="Arial" pitchFamily="34" charset="-120"/>
              </a:rPr>
              <a:t>Stock </a:t>
            </a:r>
            <a:r>
              <a:rPr lang="en-US" sz="2550" b="1" strike="sngStrike" dirty="0">
                <a:solidFill>
                  <a:srgbClr val="52637A"/>
                </a:solidFill>
                <a:latin typeface="Arial" pitchFamily="34" charset="0"/>
                <a:ea typeface="Arial" pitchFamily="34" charset="-122"/>
                <a:cs typeface="Arial" pitchFamily="34" charset="-120"/>
              </a:rPr>
              <a:t>40</a:t>
            </a:r>
            <a:r>
              <a:rPr lang="en-US" sz="2550" b="1" dirty="0">
                <a:solidFill>
                  <a:srgbClr val="D64545"/>
                </a:solidFill>
                <a:latin typeface="Arial" pitchFamily="34" charset="0"/>
                <a:ea typeface="Arial" pitchFamily="34" charset="-122"/>
                <a:cs typeface="Arial" pitchFamily="34" charset="-120"/>
              </a:rPr>
              <a:t>  →  39</a:t>
            </a:r>
            <a:endParaRPr lang="en-US" sz="2550" dirty="0"/>
          </a:p>
        </p:txBody>
      </p:sp>
      <p:sp>
        <p:nvSpPr>
          <p:cNvPr id="8" name="Shape 5"/>
          <p:cNvSpPr/>
          <p:nvPr/>
        </p:nvSpPr>
        <p:spPr>
          <a:xfrm flipH="1">
            <a:off x="2642388" y="4046220"/>
            <a:ext cx="4855464" cy="672084"/>
          </a:xfrm>
          <a:prstGeom prst="line">
            <a:avLst/>
          </a:prstGeom>
          <a:noFill/>
          <a:ln w="57150">
            <a:solidFill>
              <a:srgbClr val="2463E8"/>
            </a:solidFill>
            <a:prstDash val="solid"/>
            <a:tailEnd type="triangle"/>
          </a:ln>
        </p:spPr>
      </p:sp>
      <p:sp>
        <p:nvSpPr>
          <p:cNvPr id="9" name="Shape 6"/>
          <p:cNvSpPr/>
          <p:nvPr/>
        </p:nvSpPr>
        <p:spPr>
          <a:xfrm>
            <a:off x="687858" y="4800600"/>
            <a:ext cx="5417820" cy="3404139"/>
          </a:xfrm>
          <a:prstGeom prst="roundRect">
            <a:avLst>
              <a:gd name="adj" fmla="val 3223"/>
            </a:avLst>
          </a:prstGeom>
          <a:solidFill>
            <a:srgbClr val="FFFFFF"/>
          </a:solidFill>
          <a:ln w="38100">
            <a:solidFill>
              <a:srgbClr val="2463E8"/>
            </a:solidFill>
            <a:prstDash val="solid"/>
          </a:ln>
          <a:effectLst>
            <a:outerShdw blurRad="152400" dist="57150" dir="5400000" algn="bl" rotWithShape="0">
              <a:srgbClr val="1A2A4A">
                <a:alpha val="18000"/>
              </a:srgbClr>
            </a:outerShdw>
          </a:effectLst>
        </p:spPr>
      </p:sp>
      <p:sp>
        <p:nvSpPr>
          <p:cNvPr id="10" name="Shape 7"/>
          <p:cNvSpPr/>
          <p:nvPr/>
        </p:nvSpPr>
        <p:spPr>
          <a:xfrm>
            <a:off x="715290" y="4828032"/>
            <a:ext cx="5362956" cy="329184"/>
          </a:xfrm>
          <a:prstGeom prst="rect">
            <a:avLst/>
          </a:prstGeom>
          <a:solidFill>
            <a:srgbClr val="E2E8F0"/>
          </a:solidFill>
          <a:ln/>
        </p:spPr>
      </p:sp>
      <p:sp>
        <p:nvSpPr>
          <p:cNvPr id="11" name="Shape 8"/>
          <p:cNvSpPr/>
          <p:nvPr/>
        </p:nvSpPr>
        <p:spPr>
          <a:xfrm>
            <a:off x="852450" y="4910328"/>
            <a:ext cx="137160" cy="137160"/>
          </a:xfrm>
          <a:prstGeom prst="ellipse">
            <a:avLst/>
          </a:prstGeom>
          <a:solidFill>
            <a:srgbClr val="F87171"/>
          </a:solidFill>
          <a:ln/>
        </p:spPr>
      </p:sp>
      <p:sp>
        <p:nvSpPr>
          <p:cNvPr id="12" name="Shape 9"/>
          <p:cNvSpPr/>
          <p:nvPr/>
        </p:nvSpPr>
        <p:spPr>
          <a:xfrm>
            <a:off x="1071906" y="4910328"/>
            <a:ext cx="137160" cy="137160"/>
          </a:xfrm>
          <a:prstGeom prst="ellipse">
            <a:avLst/>
          </a:prstGeom>
          <a:solidFill>
            <a:srgbClr val="FBBF24"/>
          </a:solidFill>
          <a:ln/>
        </p:spPr>
      </p:sp>
      <p:sp>
        <p:nvSpPr>
          <p:cNvPr id="13" name="Shape 10"/>
          <p:cNvSpPr/>
          <p:nvPr/>
        </p:nvSpPr>
        <p:spPr>
          <a:xfrm>
            <a:off x="1291362" y="4910328"/>
            <a:ext cx="137160" cy="137160"/>
          </a:xfrm>
          <a:prstGeom prst="ellipse">
            <a:avLst/>
          </a:prstGeom>
          <a:solidFill>
            <a:srgbClr val="34D399"/>
          </a:solidFill>
          <a:ln/>
        </p:spPr>
      </p:sp>
      <p:pic>
        <p:nvPicPr>
          <p:cNvPr id="14" name="Image 1" descr="Own storefront screen"/>
          <p:cNvPicPr>
            <a:picLocks noChangeAspect="1"/>
          </p:cNvPicPr>
          <p:nvPr/>
        </p:nvPicPr>
        <p:blipFill>
          <a:blip r:embed="rId6"/>
          <a:stretch>
            <a:fillRect/>
          </a:stretch>
        </p:blipFill>
        <p:spPr>
          <a:xfrm>
            <a:off x="715290" y="5157216"/>
            <a:ext cx="5362956" cy="3020091"/>
          </a:xfrm>
          <a:prstGeom prst="rect">
            <a:avLst/>
          </a:prstGeom>
        </p:spPr>
      </p:pic>
      <p:sp>
        <p:nvSpPr>
          <p:cNvPr id="15" name="Text 11"/>
          <p:cNvSpPr txBox="1"/>
          <p:nvPr/>
        </p:nvSpPr>
        <p:spPr>
          <a:xfrm>
            <a:off x="3664230" y="4498848"/>
            <a:ext cx="2359152" cy="576072"/>
          </a:xfrm>
          <a:prstGeom prst="roundRect">
            <a:avLst>
              <a:gd name="adj" fmla="val 50000"/>
            </a:avLst>
          </a:prstGeom>
          <a:solidFill>
            <a:srgbClr val="FFFFFF"/>
          </a:solidFill>
          <a:ln w="38100">
            <a:solidFill>
              <a:srgbClr val="2463E8"/>
            </a:solidFill>
          </a:ln>
          <a:effectLst>
            <a:outerShdw blurRad="152400" dist="57150" dir="5400000" algn="bl" rotWithShape="0">
              <a:srgbClr val="1A2A4A">
                <a:alpha val="18000"/>
              </a:srgbClr>
            </a:outerShdw>
          </a:effectLst>
        </p:spPr>
        <p:txBody>
          <a:bodyPr wrap="square" lIns="0" tIns="0" rIns="0" bIns="0" rtlCol="0" anchor="ctr"/>
          <a:lstStyle/>
          <a:p>
            <a:pPr marL="0" indent="0" algn="ctr">
              <a:buNone/>
            </a:pPr>
            <a:r>
              <a:rPr lang="en-US" sz="1950" b="1" dirty="0">
                <a:solidFill>
                  <a:srgbClr val="2463E8"/>
                </a:solidFill>
                <a:latin typeface="Arial" pitchFamily="34" charset="0"/>
                <a:ea typeface="Arial" pitchFamily="34" charset="-122"/>
                <a:cs typeface="Arial" pitchFamily="34" charset="-120"/>
              </a:rPr>
              <a:t>Still in stock</a:t>
            </a:r>
            <a:endParaRPr lang="en-US" sz="1950" dirty="0"/>
          </a:p>
        </p:txBody>
      </p:sp>
      <p:sp>
        <p:nvSpPr>
          <p:cNvPr id="16" name="Shape 12"/>
          <p:cNvSpPr/>
          <p:nvPr/>
        </p:nvSpPr>
        <p:spPr>
          <a:xfrm>
            <a:off x="1545108" y="8410480"/>
            <a:ext cx="3703320" cy="658368"/>
          </a:xfrm>
          <a:prstGeom prst="roundRect">
            <a:avLst>
              <a:gd name="adj" fmla="val 50000"/>
            </a:avLst>
          </a:prstGeom>
          <a:solidFill>
            <a:srgbClr val="2463E8"/>
          </a:solidFill>
          <a:ln/>
        </p:spPr>
      </p:sp>
      <p:pic>
        <p:nvPicPr>
          <p:cNvPr id="17" name="Image 2" descr="preencoded.png"/>
          <p:cNvPicPr>
            <a:picLocks noChangeAspect="1"/>
          </p:cNvPicPr>
          <p:nvPr/>
        </p:nvPicPr>
        <p:blipFill>
          <a:blip r:embed="rId7"/>
          <a:stretch>
            <a:fillRect/>
          </a:stretch>
        </p:blipFill>
        <p:spPr>
          <a:xfrm>
            <a:off x="1791996" y="8547640"/>
            <a:ext cx="384048" cy="384048"/>
          </a:xfrm>
          <a:prstGeom prst="rect">
            <a:avLst/>
          </a:prstGeom>
        </p:spPr>
      </p:pic>
      <p:sp>
        <p:nvSpPr>
          <p:cNvPr id="18" name="Text 13"/>
          <p:cNvSpPr txBox="1"/>
          <p:nvPr/>
        </p:nvSpPr>
        <p:spPr>
          <a:xfrm>
            <a:off x="2258340" y="8410480"/>
            <a:ext cx="2852928" cy="658368"/>
          </a:xfrm>
          <a:prstGeom prst="rect">
            <a:avLst/>
          </a:prstGeom>
          <a:noFill/>
          <a:ln/>
        </p:spPr>
        <p:txBody>
          <a:bodyPr wrap="square" lIns="0" tIns="0" rIns="0" bIns="0" rtlCol="0" anchor="ctr"/>
          <a:lstStyle/>
          <a:p>
            <a:pPr marL="0" indent="0" algn="l">
              <a:buNone/>
            </a:pPr>
            <a:r>
              <a:rPr lang="en-US" sz="2250" b="1" dirty="0">
                <a:solidFill>
                  <a:srgbClr val="FFFFFF"/>
                </a:solidFill>
                <a:latin typeface="Arial" pitchFamily="34" charset="0"/>
                <a:ea typeface="Arial" pitchFamily="34" charset="-122"/>
                <a:cs typeface="Arial" pitchFamily="34" charset="-120"/>
              </a:rPr>
              <a:t>Own storefront</a:t>
            </a:r>
            <a:endParaRPr lang="en-US" sz="2250" dirty="0"/>
          </a:p>
        </p:txBody>
      </p:sp>
      <p:sp>
        <p:nvSpPr>
          <p:cNvPr id="19" name="Shape 14"/>
          <p:cNvSpPr/>
          <p:nvPr/>
        </p:nvSpPr>
        <p:spPr>
          <a:xfrm flipH="1">
            <a:off x="8389392" y="4046220"/>
            <a:ext cx="754380" cy="672084"/>
          </a:xfrm>
          <a:prstGeom prst="line">
            <a:avLst/>
          </a:prstGeom>
          <a:noFill/>
          <a:ln w="57150">
            <a:solidFill>
              <a:srgbClr val="F97316"/>
            </a:solidFill>
            <a:prstDash val="solid"/>
            <a:tailEnd type="triangle"/>
          </a:ln>
        </p:spPr>
      </p:sp>
      <p:sp>
        <p:nvSpPr>
          <p:cNvPr id="20" name="Shape 15"/>
          <p:cNvSpPr/>
          <p:nvPr/>
        </p:nvSpPr>
        <p:spPr>
          <a:xfrm>
            <a:off x="6434862" y="4800600"/>
            <a:ext cx="5417820" cy="3404139"/>
          </a:xfrm>
          <a:prstGeom prst="roundRect">
            <a:avLst>
              <a:gd name="adj" fmla="val 3223"/>
            </a:avLst>
          </a:prstGeom>
          <a:solidFill>
            <a:srgbClr val="FFFFFF"/>
          </a:solidFill>
          <a:ln w="38100">
            <a:solidFill>
              <a:srgbClr val="F97316"/>
            </a:solidFill>
            <a:prstDash val="solid"/>
          </a:ln>
          <a:effectLst>
            <a:outerShdw blurRad="152400" dist="57150" dir="5400000" algn="bl" rotWithShape="0">
              <a:srgbClr val="1A2A4A">
                <a:alpha val="18000"/>
              </a:srgbClr>
            </a:outerShdw>
          </a:effectLst>
        </p:spPr>
      </p:sp>
      <p:sp>
        <p:nvSpPr>
          <p:cNvPr id="21" name="Shape 16"/>
          <p:cNvSpPr/>
          <p:nvPr/>
        </p:nvSpPr>
        <p:spPr>
          <a:xfrm>
            <a:off x="6462294" y="4828032"/>
            <a:ext cx="5362956" cy="329184"/>
          </a:xfrm>
          <a:prstGeom prst="rect">
            <a:avLst/>
          </a:prstGeom>
          <a:solidFill>
            <a:srgbClr val="E2E8F0"/>
          </a:solidFill>
          <a:ln/>
        </p:spPr>
      </p:sp>
      <p:sp>
        <p:nvSpPr>
          <p:cNvPr id="22" name="Shape 17"/>
          <p:cNvSpPr/>
          <p:nvPr/>
        </p:nvSpPr>
        <p:spPr>
          <a:xfrm>
            <a:off x="6599454" y="4910328"/>
            <a:ext cx="137160" cy="137160"/>
          </a:xfrm>
          <a:prstGeom prst="ellipse">
            <a:avLst/>
          </a:prstGeom>
          <a:solidFill>
            <a:srgbClr val="F87171"/>
          </a:solidFill>
          <a:ln/>
        </p:spPr>
      </p:sp>
      <p:sp>
        <p:nvSpPr>
          <p:cNvPr id="23" name="Shape 18"/>
          <p:cNvSpPr/>
          <p:nvPr/>
        </p:nvSpPr>
        <p:spPr>
          <a:xfrm>
            <a:off x="6818910" y="4910328"/>
            <a:ext cx="137160" cy="137160"/>
          </a:xfrm>
          <a:prstGeom prst="ellipse">
            <a:avLst/>
          </a:prstGeom>
          <a:solidFill>
            <a:srgbClr val="FBBF24"/>
          </a:solidFill>
          <a:ln/>
        </p:spPr>
      </p:sp>
      <p:sp>
        <p:nvSpPr>
          <p:cNvPr id="24" name="Shape 19"/>
          <p:cNvSpPr/>
          <p:nvPr/>
        </p:nvSpPr>
        <p:spPr>
          <a:xfrm>
            <a:off x="7038366" y="4910328"/>
            <a:ext cx="137160" cy="137160"/>
          </a:xfrm>
          <a:prstGeom prst="ellipse">
            <a:avLst/>
          </a:prstGeom>
          <a:solidFill>
            <a:srgbClr val="34D399"/>
          </a:solidFill>
          <a:ln/>
        </p:spPr>
      </p:sp>
      <p:pic>
        <p:nvPicPr>
          <p:cNvPr id="25" name="Image 3" descr="Marketplace screen"/>
          <p:cNvPicPr>
            <a:picLocks noChangeAspect="1"/>
          </p:cNvPicPr>
          <p:nvPr/>
        </p:nvPicPr>
        <p:blipFill>
          <a:blip r:embed="rId8"/>
          <a:stretch>
            <a:fillRect/>
          </a:stretch>
        </p:blipFill>
        <p:spPr>
          <a:xfrm>
            <a:off x="6462294" y="5157216"/>
            <a:ext cx="5362956" cy="3020091"/>
          </a:xfrm>
          <a:prstGeom prst="rect">
            <a:avLst/>
          </a:prstGeom>
        </p:spPr>
      </p:pic>
      <p:sp>
        <p:nvSpPr>
          <p:cNvPr id="26" name="Text 20"/>
          <p:cNvSpPr txBox="1"/>
          <p:nvPr/>
        </p:nvSpPr>
        <p:spPr>
          <a:xfrm>
            <a:off x="9411234" y="4498848"/>
            <a:ext cx="2359152" cy="576072"/>
          </a:xfrm>
          <a:prstGeom prst="roundRect">
            <a:avLst>
              <a:gd name="adj" fmla="val 50000"/>
            </a:avLst>
          </a:prstGeom>
          <a:solidFill>
            <a:srgbClr val="FFFFFF"/>
          </a:solidFill>
          <a:ln w="38100">
            <a:solidFill>
              <a:srgbClr val="F97316"/>
            </a:solidFill>
          </a:ln>
          <a:effectLst>
            <a:outerShdw blurRad="152400" dist="57150" dir="5400000" algn="bl" rotWithShape="0">
              <a:srgbClr val="1A2A4A">
                <a:alpha val="18000"/>
              </a:srgbClr>
            </a:outerShdw>
          </a:effectLst>
        </p:spPr>
        <p:txBody>
          <a:bodyPr wrap="square" lIns="0" tIns="0" rIns="0" bIns="0" rtlCol="0" anchor="ctr"/>
          <a:lstStyle/>
          <a:p>
            <a:pPr marL="0" indent="0" algn="ctr">
              <a:buNone/>
            </a:pPr>
            <a:r>
              <a:rPr lang="en-US" sz="1950" b="1" dirty="0">
                <a:solidFill>
                  <a:srgbClr val="F97316"/>
                </a:solidFill>
                <a:latin typeface="Arial" pitchFamily="34" charset="0"/>
                <a:ea typeface="Arial" pitchFamily="34" charset="-122"/>
                <a:cs typeface="Arial" pitchFamily="34" charset="-120"/>
              </a:rPr>
              <a:t>Stock 39</a:t>
            </a:r>
            <a:endParaRPr lang="en-US" sz="1950" dirty="0"/>
          </a:p>
        </p:txBody>
      </p:sp>
      <p:sp>
        <p:nvSpPr>
          <p:cNvPr id="27" name="Shape 21"/>
          <p:cNvSpPr/>
          <p:nvPr/>
        </p:nvSpPr>
        <p:spPr>
          <a:xfrm>
            <a:off x="7292112" y="8410480"/>
            <a:ext cx="3703320" cy="658368"/>
          </a:xfrm>
          <a:prstGeom prst="roundRect">
            <a:avLst>
              <a:gd name="adj" fmla="val 50000"/>
            </a:avLst>
          </a:prstGeom>
          <a:solidFill>
            <a:srgbClr val="F97316"/>
          </a:solidFill>
          <a:ln/>
        </p:spPr>
      </p:sp>
      <p:pic>
        <p:nvPicPr>
          <p:cNvPr id="28" name="Image 4" descr="preencoded.png"/>
          <p:cNvPicPr>
            <a:picLocks noChangeAspect="1"/>
          </p:cNvPicPr>
          <p:nvPr/>
        </p:nvPicPr>
        <p:blipFill>
          <a:blip r:embed="rId9"/>
          <a:stretch>
            <a:fillRect/>
          </a:stretch>
        </p:blipFill>
        <p:spPr>
          <a:xfrm>
            <a:off x="7539000" y="8547640"/>
            <a:ext cx="384048" cy="384048"/>
          </a:xfrm>
          <a:prstGeom prst="rect">
            <a:avLst/>
          </a:prstGeom>
        </p:spPr>
      </p:pic>
      <p:sp>
        <p:nvSpPr>
          <p:cNvPr id="29" name="Text 22"/>
          <p:cNvSpPr txBox="1"/>
          <p:nvPr/>
        </p:nvSpPr>
        <p:spPr>
          <a:xfrm>
            <a:off x="8005344" y="8410480"/>
            <a:ext cx="2852928" cy="658368"/>
          </a:xfrm>
          <a:prstGeom prst="rect">
            <a:avLst/>
          </a:prstGeom>
          <a:noFill/>
          <a:ln/>
        </p:spPr>
        <p:txBody>
          <a:bodyPr wrap="square" lIns="0" tIns="0" rIns="0" bIns="0" rtlCol="0" anchor="ctr"/>
          <a:lstStyle/>
          <a:p>
            <a:pPr marL="0" indent="0" algn="l">
              <a:buNone/>
            </a:pPr>
            <a:r>
              <a:rPr lang="en-US" sz="2250" b="1" dirty="0">
                <a:solidFill>
                  <a:srgbClr val="FFFFFF"/>
                </a:solidFill>
                <a:latin typeface="Arial" pitchFamily="34" charset="0"/>
                <a:ea typeface="Arial" pitchFamily="34" charset="-122"/>
                <a:cs typeface="Arial" pitchFamily="34" charset="-120"/>
              </a:rPr>
              <a:t>Marketplace</a:t>
            </a:r>
            <a:endParaRPr lang="en-US" sz="2250" dirty="0"/>
          </a:p>
        </p:txBody>
      </p:sp>
      <p:sp>
        <p:nvSpPr>
          <p:cNvPr id="30" name="Shape 23"/>
          <p:cNvSpPr/>
          <p:nvPr/>
        </p:nvSpPr>
        <p:spPr>
          <a:xfrm>
            <a:off x="10789692" y="4046220"/>
            <a:ext cx="3346704" cy="672084"/>
          </a:xfrm>
          <a:prstGeom prst="line">
            <a:avLst/>
          </a:prstGeom>
          <a:noFill/>
          <a:ln w="57150">
            <a:solidFill>
              <a:srgbClr val="0AA7A2"/>
            </a:solidFill>
            <a:prstDash val="solid"/>
            <a:tailEnd type="triangle"/>
          </a:ln>
        </p:spPr>
      </p:sp>
      <p:sp>
        <p:nvSpPr>
          <p:cNvPr id="31" name="Shape 24"/>
          <p:cNvSpPr/>
          <p:nvPr/>
        </p:nvSpPr>
        <p:spPr>
          <a:xfrm>
            <a:off x="12181866" y="4800600"/>
            <a:ext cx="5417820" cy="3404948"/>
          </a:xfrm>
          <a:prstGeom prst="roundRect">
            <a:avLst>
              <a:gd name="adj" fmla="val 3223"/>
            </a:avLst>
          </a:prstGeom>
          <a:solidFill>
            <a:srgbClr val="FFFFFF"/>
          </a:solidFill>
          <a:ln w="38100">
            <a:solidFill>
              <a:srgbClr val="0AA7A2"/>
            </a:solidFill>
            <a:prstDash val="solid"/>
          </a:ln>
          <a:effectLst>
            <a:outerShdw blurRad="152400" dist="57150" dir="5400000" algn="bl" rotWithShape="0">
              <a:srgbClr val="1A2A4A">
                <a:alpha val="18000"/>
              </a:srgbClr>
            </a:outerShdw>
          </a:effectLst>
        </p:spPr>
      </p:sp>
      <p:sp>
        <p:nvSpPr>
          <p:cNvPr id="32" name="Shape 25"/>
          <p:cNvSpPr/>
          <p:nvPr/>
        </p:nvSpPr>
        <p:spPr>
          <a:xfrm>
            <a:off x="12209298" y="4828032"/>
            <a:ext cx="5362956" cy="329184"/>
          </a:xfrm>
          <a:prstGeom prst="rect">
            <a:avLst/>
          </a:prstGeom>
          <a:solidFill>
            <a:srgbClr val="E2E8F0"/>
          </a:solidFill>
          <a:ln/>
        </p:spPr>
      </p:sp>
      <p:sp>
        <p:nvSpPr>
          <p:cNvPr id="33" name="Shape 26"/>
          <p:cNvSpPr/>
          <p:nvPr/>
        </p:nvSpPr>
        <p:spPr>
          <a:xfrm>
            <a:off x="12346458" y="4910328"/>
            <a:ext cx="137160" cy="137160"/>
          </a:xfrm>
          <a:prstGeom prst="ellipse">
            <a:avLst/>
          </a:prstGeom>
          <a:solidFill>
            <a:srgbClr val="F87171"/>
          </a:solidFill>
          <a:ln/>
        </p:spPr>
      </p:sp>
      <p:sp>
        <p:nvSpPr>
          <p:cNvPr id="34" name="Shape 27"/>
          <p:cNvSpPr/>
          <p:nvPr/>
        </p:nvSpPr>
        <p:spPr>
          <a:xfrm>
            <a:off x="12565914" y="4910328"/>
            <a:ext cx="137160" cy="137160"/>
          </a:xfrm>
          <a:prstGeom prst="ellipse">
            <a:avLst/>
          </a:prstGeom>
          <a:solidFill>
            <a:srgbClr val="FBBF24"/>
          </a:solidFill>
          <a:ln/>
        </p:spPr>
      </p:sp>
      <p:sp>
        <p:nvSpPr>
          <p:cNvPr id="35" name="Shape 28"/>
          <p:cNvSpPr/>
          <p:nvPr/>
        </p:nvSpPr>
        <p:spPr>
          <a:xfrm>
            <a:off x="12785370" y="4910328"/>
            <a:ext cx="137160" cy="137160"/>
          </a:xfrm>
          <a:prstGeom prst="ellipse">
            <a:avLst/>
          </a:prstGeom>
          <a:solidFill>
            <a:srgbClr val="34D399"/>
          </a:solidFill>
          <a:ln/>
        </p:spPr>
      </p:sp>
      <p:pic>
        <p:nvPicPr>
          <p:cNvPr id="36" name="Image 5" descr="Merchant dashboard screen"/>
          <p:cNvPicPr>
            <a:picLocks noChangeAspect="1"/>
          </p:cNvPicPr>
          <p:nvPr/>
        </p:nvPicPr>
        <p:blipFill>
          <a:blip r:embed="rId10"/>
          <a:stretch>
            <a:fillRect/>
          </a:stretch>
        </p:blipFill>
        <p:spPr>
          <a:xfrm>
            <a:off x="12209298" y="5157216"/>
            <a:ext cx="5362956" cy="3020900"/>
          </a:xfrm>
          <a:prstGeom prst="rect">
            <a:avLst/>
          </a:prstGeom>
        </p:spPr>
      </p:pic>
      <p:sp>
        <p:nvSpPr>
          <p:cNvPr id="37" name="Text 29"/>
          <p:cNvSpPr txBox="1"/>
          <p:nvPr/>
        </p:nvSpPr>
        <p:spPr>
          <a:xfrm>
            <a:off x="15158238" y="4498848"/>
            <a:ext cx="2359152" cy="576072"/>
          </a:xfrm>
          <a:prstGeom prst="roundRect">
            <a:avLst>
              <a:gd name="adj" fmla="val 50000"/>
            </a:avLst>
          </a:prstGeom>
          <a:solidFill>
            <a:srgbClr val="FFFFFF"/>
          </a:solidFill>
          <a:ln w="38100">
            <a:solidFill>
              <a:srgbClr val="0AA7A2"/>
            </a:solidFill>
          </a:ln>
          <a:effectLst>
            <a:outerShdw blurRad="152400" dist="57150" dir="5400000" algn="bl" rotWithShape="0">
              <a:srgbClr val="1A2A4A">
                <a:alpha val="18000"/>
              </a:srgbClr>
            </a:outerShdw>
          </a:effectLst>
        </p:spPr>
        <p:txBody>
          <a:bodyPr wrap="square" lIns="0" tIns="0" rIns="0" bIns="0" rtlCol="0" anchor="ctr"/>
          <a:lstStyle/>
          <a:p>
            <a:pPr marL="0" indent="0" algn="ctr">
              <a:buNone/>
            </a:pPr>
            <a:r>
              <a:rPr lang="en-US" sz="1950" b="1" dirty="0">
                <a:solidFill>
                  <a:srgbClr val="0AA7A2"/>
                </a:solidFill>
                <a:latin typeface="Arial" pitchFamily="34" charset="0"/>
                <a:ea typeface="Arial" pitchFamily="34" charset="-122"/>
                <a:cs typeface="Arial" pitchFamily="34" charset="-120"/>
              </a:rPr>
              <a:t>Stock 39</a:t>
            </a:r>
            <a:endParaRPr lang="en-US" sz="1950" dirty="0"/>
          </a:p>
        </p:txBody>
      </p:sp>
      <p:sp>
        <p:nvSpPr>
          <p:cNvPr id="38" name="Shape 30"/>
          <p:cNvSpPr/>
          <p:nvPr/>
        </p:nvSpPr>
        <p:spPr>
          <a:xfrm>
            <a:off x="13039116" y="8411288"/>
            <a:ext cx="3703320" cy="658368"/>
          </a:xfrm>
          <a:prstGeom prst="roundRect">
            <a:avLst>
              <a:gd name="adj" fmla="val 50000"/>
            </a:avLst>
          </a:prstGeom>
          <a:solidFill>
            <a:srgbClr val="0AA7A2"/>
          </a:solidFill>
          <a:ln/>
        </p:spPr>
      </p:sp>
      <p:pic>
        <p:nvPicPr>
          <p:cNvPr id="39" name="Image 6" descr="preencoded.png"/>
          <p:cNvPicPr>
            <a:picLocks noChangeAspect="1"/>
          </p:cNvPicPr>
          <p:nvPr/>
        </p:nvPicPr>
        <p:blipFill>
          <a:blip r:embed="rId11"/>
          <a:stretch>
            <a:fillRect/>
          </a:stretch>
        </p:blipFill>
        <p:spPr>
          <a:xfrm>
            <a:off x="13286004" y="8548448"/>
            <a:ext cx="384048" cy="384048"/>
          </a:xfrm>
          <a:prstGeom prst="rect">
            <a:avLst/>
          </a:prstGeom>
        </p:spPr>
      </p:pic>
      <p:sp>
        <p:nvSpPr>
          <p:cNvPr id="40" name="Text 31"/>
          <p:cNvSpPr txBox="1"/>
          <p:nvPr/>
        </p:nvSpPr>
        <p:spPr>
          <a:xfrm>
            <a:off x="13752348" y="8411288"/>
            <a:ext cx="2852928" cy="658368"/>
          </a:xfrm>
          <a:prstGeom prst="rect">
            <a:avLst/>
          </a:prstGeom>
          <a:noFill/>
          <a:ln/>
        </p:spPr>
        <p:txBody>
          <a:bodyPr wrap="square" lIns="0" tIns="0" rIns="0" bIns="0" rtlCol="0" anchor="ctr"/>
          <a:lstStyle/>
          <a:p>
            <a:pPr marL="0" indent="0" algn="l">
              <a:buNone/>
            </a:pPr>
            <a:r>
              <a:rPr lang="en-US" sz="2250" b="1" dirty="0">
                <a:solidFill>
                  <a:srgbClr val="FFFFFF"/>
                </a:solidFill>
                <a:latin typeface="Arial" pitchFamily="34" charset="0"/>
                <a:ea typeface="Arial" pitchFamily="34" charset="-122"/>
                <a:cs typeface="Arial" pitchFamily="34" charset="-120"/>
              </a:rPr>
              <a:t>Merchant dashboard</a:t>
            </a:r>
            <a:endParaRPr lang="en-US" sz="2250" dirty="0"/>
          </a:p>
        </p:txBody>
      </p:sp>
      <p:sp>
        <p:nvSpPr>
          <p:cNvPr id="41" name="Text 32"/>
          <p:cNvSpPr txBox="1"/>
          <p:nvPr/>
        </p:nvSpPr>
        <p:spPr>
          <a:xfrm>
            <a:off x="822960" y="9532620"/>
            <a:ext cx="15636240" cy="411480"/>
          </a:xfrm>
          <a:prstGeom prst="rect">
            <a:avLst/>
          </a:prstGeom>
          <a:noFill/>
          <a:ln/>
        </p:spPr>
        <p:txBody>
          <a:bodyPr wrap="square" lIns="0" tIns="0" rIns="0" bIns="0" rtlCol="0" anchor="t"/>
          <a:lstStyle/>
          <a:p>
            <a:pPr marL="0" indent="0" algn="l">
              <a:buNone/>
            </a:pPr>
            <a:r>
              <a:rPr lang="en-US" sz="1500" dirty="0">
                <a:solidFill>
                  <a:srgbClr val="52637A"/>
                </a:solidFill>
                <a:latin typeface="Arial" pitchFamily="34" charset="0"/>
                <a:ea typeface="Arial" pitchFamily="34" charset="-122"/>
                <a:cs typeface="Arial" pitchFamily="34" charset="-120"/>
              </a:rPr>
              <a:t>Real screens captured after one POS cash sale in Rentify’s development build (demo store: Aura Botanicals).</a:t>
            </a:r>
            <a:endParaRPr lang="en-US" sz="1500" dirty="0"/>
          </a:p>
        </p:txBody>
      </p:sp>
      <p:pic>
        <p:nvPicPr>
          <p:cNvPr id="42" name="Demo video">
            <a:hlinkClick r:id="" action="ppaction://media"/>
            <a:extLst>
              <a:ext uri="{FF2B5EF4-FFF2-40B4-BE49-F238E27FC236}">
                <a16:creationId xmlns:a16="http://schemas.microsoft.com/office/drawing/2014/main" id="{C84E7C09-391E-B7BC-537E-8DAEE0709DDB}"/>
              </a:ext>
            </a:extLst>
          </p:cNvPr>
          <p:cNvPicPr>
            <a:picLocks noChangeAspect="1"/>
          </p:cNvPicPr>
          <p:nvPr>
            <a:videoFile r:link="rId2"/>
            <p:extLst>
              <p:ext uri="{DAA4B4D4-6D71-4841-9C94-3DE7FCFB9230}">
                <p14:media xmlns:p14="http://schemas.microsoft.com/office/powerpoint/2010/main" r:embed="rId1"/>
              </p:ext>
            </p:extLst>
          </p:nvPr>
        </p:nvPicPr>
        <p:blipFill>
          <a:blip r:embed="rId12"/>
          <a:stretch>
            <a:fillRect/>
          </a:stretch>
        </p:blipFill>
        <p:spPr>
          <a:xfrm>
            <a:off x="0" y="0"/>
            <a:ext cx="18288000" cy="10287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800" fill="hold"/>
                                        <p:tgtEl>
                                          <p:spTgt spid="4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2"/>
                </p:tgtEl>
              </p:cMediaNode>
            </p:video>
            <p:seq concurrent="1" nextAc="seek">
              <p:cTn id="8" restart="whenNotActive" fill="hold" evtFilter="cancelBubble" nodeType="interactiveSeq">
                <p:stCondLst>
                  <p:cond evt="onClick" delay="0">
                    <p:tgtEl>
                      <p:spTgt spid="4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2"/>
                                        </p:tgtEl>
                                      </p:cBhvr>
                                    </p:cmd>
                                  </p:childTnLst>
                                </p:cTn>
                              </p:par>
                            </p:childTnLst>
                          </p:cTn>
                        </p:par>
                      </p:childTnLst>
                    </p:cTn>
                  </p:par>
                </p:childTnLst>
              </p:cTn>
              <p:nextCondLst>
                <p:cond evt="onClick" delay="0">
                  <p:tgtEl>
                    <p:spTgt spid="42"/>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22960" y="480060"/>
            <a:ext cx="16637508" cy="960120"/>
            <a:chOff x="0" y="0"/>
            <a:chExt cx="22183344" cy="1280160"/>
          </a:xfrm>
        </p:grpSpPr>
        <p:sp>
          <p:nvSpPr>
            <p:cNvPr id="3" name="Freeform 3"/>
            <p:cNvSpPr/>
            <p:nvPr/>
          </p:nvSpPr>
          <p:spPr>
            <a:xfrm>
              <a:off x="0" y="0"/>
              <a:ext cx="22183344" cy="1280160"/>
            </a:xfrm>
            <a:custGeom>
              <a:avLst/>
              <a:gdLst/>
              <a:ahLst/>
              <a:cxnLst/>
              <a:rect l="l" t="t" r="r" b="b"/>
              <a:pathLst>
                <a:path w="22183344" h="1280160">
                  <a:moveTo>
                    <a:pt x="0" y="0"/>
                  </a:moveTo>
                  <a:lnTo>
                    <a:pt x="22183344" y="0"/>
                  </a:lnTo>
                  <a:lnTo>
                    <a:pt x="22183344" y="1280160"/>
                  </a:lnTo>
                  <a:lnTo>
                    <a:pt x="0" y="1280160"/>
                  </a:lnTo>
                  <a:close/>
                </a:path>
              </a:pathLst>
            </a:custGeom>
            <a:blipFill>
              <a:blip r:embed="rId3">
                <a:alphaModFix amt="0"/>
              </a:blip>
              <a:stretch>
                <a:fillRect t="-287647" b="-287647"/>
              </a:stretch>
            </a:blipFill>
          </p:spPr>
        </p:sp>
        <p:sp>
          <p:nvSpPr>
            <p:cNvPr id="4" name="TextBox 4"/>
            <p:cNvSpPr txBox="1"/>
            <p:nvPr/>
          </p:nvSpPr>
          <p:spPr>
            <a:xfrm>
              <a:off x="0" y="-19050"/>
              <a:ext cx="22183344" cy="1299210"/>
            </a:xfrm>
            <a:prstGeom prst="rect">
              <a:avLst/>
            </a:prstGeom>
          </p:spPr>
          <p:txBody>
            <a:bodyPr lIns="0" tIns="0" rIns="0" bIns="0" rtlCol="0" anchor="ctr"/>
            <a:lstStyle/>
            <a:p>
              <a:pPr algn="ctr">
                <a:lnSpc>
                  <a:spcPts val="5759"/>
                </a:lnSpc>
              </a:pPr>
              <a:r>
                <a:rPr lang="en-US" sz="4800" b="1">
                  <a:solidFill>
                    <a:srgbClr val="15243A"/>
                  </a:solidFill>
                  <a:latin typeface="Arial Bold"/>
                  <a:ea typeface="Arial Bold"/>
                  <a:cs typeface="Arial Bold"/>
                  <a:sym typeface="Arial Bold"/>
                </a:rPr>
                <a:t>What makes Rentify different</a:t>
              </a:r>
            </a:p>
          </p:txBody>
        </p:sp>
      </p:grpSp>
      <p:grpSp>
        <p:nvGrpSpPr>
          <p:cNvPr id="5" name="Group 5"/>
          <p:cNvGrpSpPr/>
          <p:nvPr/>
        </p:nvGrpSpPr>
        <p:grpSpPr>
          <a:xfrm>
            <a:off x="801776" y="1979295"/>
            <a:ext cx="5299710" cy="6945630"/>
            <a:chOff x="0" y="0"/>
            <a:chExt cx="7066280" cy="9260840"/>
          </a:xfrm>
        </p:grpSpPr>
        <p:sp>
          <p:nvSpPr>
            <p:cNvPr id="6" name="Freeform 6"/>
            <p:cNvSpPr/>
            <p:nvPr/>
          </p:nvSpPr>
          <p:spPr>
            <a:xfrm>
              <a:off x="0" y="0"/>
              <a:ext cx="7066280" cy="9260840"/>
            </a:xfrm>
            <a:custGeom>
              <a:avLst/>
              <a:gdLst/>
              <a:ahLst/>
              <a:cxnLst/>
              <a:rect l="l" t="t" r="r" b="b"/>
              <a:pathLst>
                <a:path w="7066280" h="9260840">
                  <a:moveTo>
                    <a:pt x="0" y="367030"/>
                  </a:moveTo>
                  <a:cubicBezTo>
                    <a:pt x="0" y="164338"/>
                    <a:pt x="164338" y="0"/>
                    <a:pt x="367030" y="0"/>
                  </a:cubicBezTo>
                  <a:lnTo>
                    <a:pt x="6699250" y="0"/>
                  </a:lnTo>
                  <a:cubicBezTo>
                    <a:pt x="6901942" y="0"/>
                    <a:pt x="7066280" y="164338"/>
                    <a:pt x="7066280" y="367030"/>
                  </a:cubicBezTo>
                  <a:lnTo>
                    <a:pt x="7066280" y="8893810"/>
                  </a:lnTo>
                  <a:cubicBezTo>
                    <a:pt x="7066280" y="9096502"/>
                    <a:pt x="6901942" y="9260840"/>
                    <a:pt x="6699250" y="9260840"/>
                  </a:cubicBezTo>
                  <a:lnTo>
                    <a:pt x="367030" y="9260840"/>
                  </a:lnTo>
                  <a:cubicBezTo>
                    <a:pt x="164338" y="9260840"/>
                    <a:pt x="0" y="9096502"/>
                    <a:pt x="0" y="8893810"/>
                  </a:cubicBezTo>
                  <a:close/>
                </a:path>
              </a:pathLst>
            </a:custGeom>
            <a:solidFill>
              <a:srgbClr val="FFFFFF"/>
            </a:solidFill>
            <a:ln w="19050" cap="sq">
              <a:solidFill>
                <a:srgbClr val="E2E8F0"/>
              </a:solidFill>
              <a:prstDash val="solid"/>
              <a:miter/>
            </a:ln>
          </p:spPr>
        </p:sp>
      </p:grpSp>
      <p:grpSp>
        <p:nvGrpSpPr>
          <p:cNvPr id="7" name="Group 7"/>
          <p:cNvGrpSpPr/>
          <p:nvPr/>
        </p:nvGrpSpPr>
        <p:grpSpPr>
          <a:xfrm>
            <a:off x="1222781" y="2331720"/>
            <a:ext cx="1371600" cy="548640"/>
            <a:chOff x="0" y="0"/>
            <a:chExt cx="1828800" cy="731520"/>
          </a:xfrm>
        </p:grpSpPr>
        <p:sp>
          <p:nvSpPr>
            <p:cNvPr id="8" name="Freeform 8"/>
            <p:cNvSpPr/>
            <p:nvPr/>
          </p:nvSpPr>
          <p:spPr>
            <a:xfrm>
              <a:off x="0" y="0"/>
              <a:ext cx="1828800" cy="731520"/>
            </a:xfrm>
            <a:custGeom>
              <a:avLst/>
              <a:gdLst/>
              <a:ahLst/>
              <a:cxnLst/>
              <a:rect l="l" t="t" r="r" b="b"/>
              <a:pathLst>
                <a:path w="1828800" h="731520">
                  <a:moveTo>
                    <a:pt x="0" y="0"/>
                  </a:moveTo>
                  <a:lnTo>
                    <a:pt x="1828800" y="0"/>
                  </a:lnTo>
                  <a:lnTo>
                    <a:pt x="1828800" y="731520"/>
                  </a:lnTo>
                  <a:lnTo>
                    <a:pt x="0" y="731520"/>
                  </a:lnTo>
                  <a:close/>
                </a:path>
              </a:pathLst>
            </a:custGeom>
            <a:blipFill>
              <a:blip r:embed="rId3">
                <a:alphaModFix amt="0"/>
              </a:blip>
              <a:stretch>
                <a:fillRect l="-1321" r="-1321"/>
              </a:stretch>
            </a:blipFill>
          </p:spPr>
        </p:sp>
        <p:sp>
          <p:nvSpPr>
            <p:cNvPr id="9" name="TextBox 9"/>
            <p:cNvSpPr txBox="1"/>
            <p:nvPr/>
          </p:nvSpPr>
          <p:spPr>
            <a:xfrm>
              <a:off x="0" y="-9525"/>
              <a:ext cx="1828800" cy="741045"/>
            </a:xfrm>
            <a:prstGeom prst="rect">
              <a:avLst/>
            </a:prstGeom>
          </p:spPr>
          <p:txBody>
            <a:bodyPr lIns="0" tIns="0" rIns="0" bIns="0" rtlCol="0" anchor="ctr"/>
            <a:lstStyle/>
            <a:p>
              <a:pPr algn="l">
                <a:lnSpc>
                  <a:spcPts val="2520"/>
                </a:lnSpc>
              </a:pPr>
              <a:r>
                <a:rPr lang="en-US" sz="2100" b="1" spc="299">
                  <a:solidFill>
                    <a:srgbClr val="52637A"/>
                  </a:solidFill>
                  <a:latin typeface="Arial Bold"/>
                  <a:ea typeface="Arial Bold"/>
                  <a:cs typeface="Arial Bold"/>
                  <a:sym typeface="Arial Bold"/>
                </a:rPr>
                <a:t>01</a:t>
              </a:r>
            </a:p>
          </p:txBody>
        </p:sp>
      </p:grpSp>
      <p:grpSp>
        <p:nvGrpSpPr>
          <p:cNvPr id="10" name="Group 10"/>
          <p:cNvGrpSpPr/>
          <p:nvPr/>
        </p:nvGrpSpPr>
        <p:grpSpPr>
          <a:xfrm>
            <a:off x="1085621" y="7543800"/>
            <a:ext cx="4732020" cy="822960"/>
            <a:chOff x="0" y="0"/>
            <a:chExt cx="6309360" cy="1097280"/>
          </a:xfrm>
        </p:grpSpPr>
        <p:sp>
          <p:nvSpPr>
            <p:cNvPr id="11" name="Freeform 11"/>
            <p:cNvSpPr/>
            <p:nvPr/>
          </p:nvSpPr>
          <p:spPr>
            <a:xfrm>
              <a:off x="0" y="0"/>
              <a:ext cx="6309360" cy="1097280"/>
            </a:xfrm>
            <a:custGeom>
              <a:avLst/>
              <a:gdLst/>
              <a:ahLst/>
              <a:cxnLst/>
              <a:rect l="l" t="t" r="r" b="b"/>
              <a:pathLst>
                <a:path w="6309360" h="1097280">
                  <a:moveTo>
                    <a:pt x="0" y="0"/>
                  </a:moveTo>
                  <a:lnTo>
                    <a:pt x="6309360" y="0"/>
                  </a:lnTo>
                  <a:lnTo>
                    <a:pt x="6309360" y="1097280"/>
                  </a:lnTo>
                  <a:lnTo>
                    <a:pt x="0" y="1097280"/>
                  </a:lnTo>
                  <a:close/>
                </a:path>
              </a:pathLst>
            </a:custGeom>
            <a:blipFill>
              <a:blip r:embed="rId3">
                <a:alphaModFix amt="0"/>
              </a:blip>
              <a:stretch>
                <a:fillRect t="-62038" b="-62038"/>
              </a:stretch>
            </a:blipFill>
          </p:spPr>
        </p:sp>
        <p:sp>
          <p:nvSpPr>
            <p:cNvPr id="12" name="TextBox 12"/>
            <p:cNvSpPr txBox="1"/>
            <p:nvPr/>
          </p:nvSpPr>
          <p:spPr>
            <a:xfrm>
              <a:off x="0" y="-28575"/>
              <a:ext cx="6309360" cy="1125855"/>
            </a:xfrm>
            <a:prstGeom prst="rect">
              <a:avLst/>
            </a:prstGeom>
          </p:spPr>
          <p:txBody>
            <a:bodyPr lIns="0" tIns="0" rIns="0" bIns="0" rtlCol="0" anchor="ctr"/>
            <a:lstStyle/>
            <a:p>
              <a:pPr algn="ctr">
                <a:lnSpc>
                  <a:spcPts val="3960"/>
                </a:lnSpc>
              </a:pPr>
              <a:r>
                <a:rPr lang="en-US" sz="3300" b="1">
                  <a:solidFill>
                    <a:srgbClr val="15243A"/>
                  </a:solidFill>
                  <a:latin typeface="Arial Bold"/>
                  <a:ea typeface="Arial Bold"/>
                  <a:cs typeface="Arial Bold"/>
                  <a:sym typeface="Arial Bold"/>
                </a:rPr>
                <a:t>Start anywhere</a:t>
              </a:r>
            </a:p>
          </p:txBody>
        </p:sp>
      </p:grpSp>
      <p:grpSp>
        <p:nvGrpSpPr>
          <p:cNvPr id="13" name="Group 13"/>
          <p:cNvGrpSpPr/>
          <p:nvPr/>
        </p:nvGrpSpPr>
        <p:grpSpPr>
          <a:xfrm>
            <a:off x="6493916" y="1979295"/>
            <a:ext cx="5299710" cy="6945630"/>
            <a:chOff x="0" y="0"/>
            <a:chExt cx="7066280" cy="9260840"/>
          </a:xfrm>
        </p:grpSpPr>
        <p:sp>
          <p:nvSpPr>
            <p:cNvPr id="14" name="Freeform 14"/>
            <p:cNvSpPr/>
            <p:nvPr/>
          </p:nvSpPr>
          <p:spPr>
            <a:xfrm>
              <a:off x="0" y="0"/>
              <a:ext cx="7066280" cy="9260840"/>
            </a:xfrm>
            <a:custGeom>
              <a:avLst/>
              <a:gdLst/>
              <a:ahLst/>
              <a:cxnLst/>
              <a:rect l="l" t="t" r="r" b="b"/>
              <a:pathLst>
                <a:path w="7066280" h="9260840">
                  <a:moveTo>
                    <a:pt x="0" y="367030"/>
                  </a:moveTo>
                  <a:cubicBezTo>
                    <a:pt x="0" y="164338"/>
                    <a:pt x="164338" y="0"/>
                    <a:pt x="367030" y="0"/>
                  </a:cubicBezTo>
                  <a:lnTo>
                    <a:pt x="6699250" y="0"/>
                  </a:lnTo>
                  <a:cubicBezTo>
                    <a:pt x="6901942" y="0"/>
                    <a:pt x="7066280" y="164338"/>
                    <a:pt x="7066280" y="367030"/>
                  </a:cubicBezTo>
                  <a:lnTo>
                    <a:pt x="7066280" y="8893810"/>
                  </a:lnTo>
                  <a:cubicBezTo>
                    <a:pt x="7066280" y="9096502"/>
                    <a:pt x="6901942" y="9260840"/>
                    <a:pt x="6699250" y="9260840"/>
                  </a:cubicBezTo>
                  <a:lnTo>
                    <a:pt x="367030" y="9260840"/>
                  </a:lnTo>
                  <a:cubicBezTo>
                    <a:pt x="164338" y="9260840"/>
                    <a:pt x="0" y="9096502"/>
                    <a:pt x="0" y="8893810"/>
                  </a:cubicBezTo>
                  <a:close/>
                </a:path>
              </a:pathLst>
            </a:custGeom>
            <a:solidFill>
              <a:srgbClr val="FFFFFF"/>
            </a:solidFill>
            <a:ln w="19050" cap="sq">
              <a:solidFill>
                <a:srgbClr val="E2E8F0"/>
              </a:solidFill>
              <a:prstDash val="solid"/>
              <a:miter/>
            </a:ln>
          </p:spPr>
        </p:sp>
      </p:grpSp>
      <p:grpSp>
        <p:nvGrpSpPr>
          <p:cNvPr id="15" name="Group 15"/>
          <p:cNvGrpSpPr/>
          <p:nvPr/>
        </p:nvGrpSpPr>
        <p:grpSpPr>
          <a:xfrm>
            <a:off x="6914921" y="2331720"/>
            <a:ext cx="1371600" cy="548640"/>
            <a:chOff x="0" y="0"/>
            <a:chExt cx="1828800" cy="731520"/>
          </a:xfrm>
        </p:grpSpPr>
        <p:sp>
          <p:nvSpPr>
            <p:cNvPr id="16" name="Freeform 16"/>
            <p:cNvSpPr/>
            <p:nvPr/>
          </p:nvSpPr>
          <p:spPr>
            <a:xfrm>
              <a:off x="0" y="0"/>
              <a:ext cx="1828800" cy="731520"/>
            </a:xfrm>
            <a:custGeom>
              <a:avLst/>
              <a:gdLst/>
              <a:ahLst/>
              <a:cxnLst/>
              <a:rect l="l" t="t" r="r" b="b"/>
              <a:pathLst>
                <a:path w="1828800" h="731520">
                  <a:moveTo>
                    <a:pt x="0" y="0"/>
                  </a:moveTo>
                  <a:lnTo>
                    <a:pt x="1828800" y="0"/>
                  </a:lnTo>
                  <a:lnTo>
                    <a:pt x="1828800" y="731520"/>
                  </a:lnTo>
                  <a:lnTo>
                    <a:pt x="0" y="731520"/>
                  </a:lnTo>
                  <a:close/>
                </a:path>
              </a:pathLst>
            </a:custGeom>
            <a:blipFill>
              <a:blip r:embed="rId3">
                <a:alphaModFix amt="0"/>
              </a:blip>
              <a:stretch>
                <a:fillRect l="-1321" r="-1321"/>
              </a:stretch>
            </a:blipFill>
          </p:spPr>
        </p:sp>
        <p:sp>
          <p:nvSpPr>
            <p:cNvPr id="17" name="TextBox 17"/>
            <p:cNvSpPr txBox="1"/>
            <p:nvPr/>
          </p:nvSpPr>
          <p:spPr>
            <a:xfrm>
              <a:off x="0" y="-9525"/>
              <a:ext cx="1828800" cy="741045"/>
            </a:xfrm>
            <a:prstGeom prst="rect">
              <a:avLst/>
            </a:prstGeom>
          </p:spPr>
          <p:txBody>
            <a:bodyPr lIns="0" tIns="0" rIns="0" bIns="0" rtlCol="0" anchor="ctr"/>
            <a:lstStyle/>
            <a:p>
              <a:pPr algn="l">
                <a:lnSpc>
                  <a:spcPts val="2520"/>
                </a:lnSpc>
              </a:pPr>
              <a:r>
                <a:rPr lang="en-US" sz="2100" b="1" spc="299">
                  <a:solidFill>
                    <a:srgbClr val="52637A"/>
                  </a:solidFill>
                  <a:latin typeface="Arial Bold"/>
                  <a:ea typeface="Arial Bold"/>
                  <a:cs typeface="Arial Bold"/>
                  <a:sym typeface="Arial Bold"/>
                </a:rPr>
                <a:t>02</a:t>
              </a:r>
            </a:p>
          </p:txBody>
        </p:sp>
      </p:grpSp>
      <p:grpSp>
        <p:nvGrpSpPr>
          <p:cNvPr id="18" name="Group 18"/>
          <p:cNvGrpSpPr/>
          <p:nvPr/>
        </p:nvGrpSpPr>
        <p:grpSpPr>
          <a:xfrm>
            <a:off x="6777761" y="7543800"/>
            <a:ext cx="4732020" cy="822960"/>
            <a:chOff x="0" y="0"/>
            <a:chExt cx="6309360" cy="1097280"/>
          </a:xfrm>
        </p:grpSpPr>
        <p:sp>
          <p:nvSpPr>
            <p:cNvPr id="19" name="Freeform 19"/>
            <p:cNvSpPr/>
            <p:nvPr/>
          </p:nvSpPr>
          <p:spPr>
            <a:xfrm>
              <a:off x="0" y="0"/>
              <a:ext cx="6309360" cy="1097280"/>
            </a:xfrm>
            <a:custGeom>
              <a:avLst/>
              <a:gdLst/>
              <a:ahLst/>
              <a:cxnLst/>
              <a:rect l="l" t="t" r="r" b="b"/>
              <a:pathLst>
                <a:path w="6309360" h="1097280">
                  <a:moveTo>
                    <a:pt x="0" y="0"/>
                  </a:moveTo>
                  <a:lnTo>
                    <a:pt x="6309360" y="0"/>
                  </a:lnTo>
                  <a:lnTo>
                    <a:pt x="6309360" y="1097280"/>
                  </a:lnTo>
                  <a:lnTo>
                    <a:pt x="0" y="1097280"/>
                  </a:lnTo>
                  <a:close/>
                </a:path>
              </a:pathLst>
            </a:custGeom>
            <a:blipFill>
              <a:blip r:embed="rId3">
                <a:alphaModFix amt="0"/>
              </a:blip>
              <a:stretch>
                <a:fillRect t="-62038" b="-62038"/>
              </a:stretch>
            </a:blipFill>
          </p:spPr>
        </p:sp>
        <p:sp>
          <p:nvSpPr>
            <p:cNvPr id="20" name="TextBox 20"/>
            <p:cNvSpPr txBox="1"/>
            <p:nvPr/>
          </p:nvSpPr>
          <p:spPr>
            <a:xfrm>
              <a:off x="0" y="-28575"/>
              <a:ext cx="6309360" cy="1125855"/>
            </a:xfrm>
            <a:prstGeom prst="rect">
              <a:avLst/>
            </a:prstGeom>
          </p:spPr>
          <p:txBody>
            <a:bodyPr lIns="0" tIns="0" rIns="0" bIns="0" rtlCol="0" anchor="ctr"/>
            <a:lstStyle/>
            <a:p>
              <a:pPr algn="ctr">
                <a:lnSpc>
                  <a:spcPts val="3960"/>
                </a:lnSpc>
              </a:pPr>
              <a:r>
                <a:rPr lang="en-US" sz="3300" b="1">
                  <a:solidFill>
                    <a:srgbClr val="15243A"/>
                  </a:solidFill>
                  <a:latin typeface="Arial Bold"/>
                  <a:ea typeface="Arial Bold"/>
                  <a:cs typeface="Arial Bold"/>
                  <a:sym typeface="Arial Bold"/>
                </a:rPr>
                <a:t>One stock everywhere</a:t>
              </a:r>
            </a:p>
          </p:txBody>
        </p:sp>
      </p:grpSp>
      <p:grpSp>
        <p:nvGrpSpPr>
          <p:cNvPr id="21" name="Group 21"/>
          <p:cNvGrpSpPr/>
          <p:nvPr/>
        </p:nvGrpSpPr>
        <p:grpSpPr>
          <a:xfrm>
            <a:off x="12186056" y="1979295"/>
            <a:ext cx="5299710" cy="6945630"/>
            <a:chOff x="0" y="0"/>
            <a:chExt cx="7066280" cy="9260840"/>
          </a:xfrm>
        </p:grpSpPr>
        <p:sp>
          <p:nvSpPr>
            <p:cNvPr id="22" name="Freeform 22"/>
            <p:cNvSpPr/>
            <p:nvPr/>
          </p:nvSpPr>
          <p:spPr>
            <a:xfrm>
              <a:off x="0" y="0"/>
              <a:ext cx="7066280" cy="9260840"/>
            </a:xfrm>
            <a:custGeom>
              <a:avLst/>
              <a:gdLst/>
              <a:ahLst/>
              <a:cxnLst/>
              <a:rect l="l" t="t" r="r" b="b"/>
              <a:pathLst>
                <a:path w="7066280" h="9260840">
                  <a:moveTo>
                    <a:pt x="0" y="367030"/>
                  </a:moveTo>
                  <a:cubicBezTo>
                    <a:pt x="0" y="164338"/>
                    <a:pt x="164338" y="0"/>
                    <a:pt x="367030" y="0"/>
                  </a:cubicBezTo>
                  <a:lnTo>
                    <a:pt x="6699250" y="0"/>
                  </a:lnTo>
                  <a:cubicBezTo>
                    <a:pt x="6901942" y="0"/>
                    <a:pt x="7066280" y="164338"/>
                    <a:pt x="7066280" y="367030"/>
                  </a:cubicBezTo>
                  <a:lnTo>
                    <a:pt x="7066280" y="8893810"/>
                  </a:lnTo>
                  <a:cubicBezTo>
                    <a:pt x="7066280" y="9096502"/>
                    <a:pt x="6901942" y="9260840"/>
                    <a:pt x="6699250" y="9260840"/>
                  </a:cubicBezTo>
                  <a:lnTo>
                    <a:pt x="367030" y="9260840"/>
                  </a:lnTo>
                  <a:cubicBezTo>
                    <a:pt x="164338" y="9260840"/>
                    <a:pt x="0" y="9096502"/>
                    <a:pt x="0" y="8893810"/>
                  </a:cubicBezTo>
                  <a:close/>
                </a:path>
              </a:pathLst>
            </a:custGeom>
            <a:solidFill>
              <a:srgbClr val="FFFFFF"/>
            </a:solidFill>
            <a:ln w="19050" cap="sq">
              <a:solidFill>
                <a:srgbClr val="E2E8F0"/>
              </a:solidFill>
              <a:prstDash val="solid"/>
              <a:miter/>
            </a:ln>
          </p:spPr>
        </p:sp>
      </p:grpSp>
      <p:grpSp>
        <p:nvGrpSpPr>
          <p:cNvPr id="23" name="Group 23"/>
          <p:cNvGrpSpPr/>
          <p:nvPr/>
        </p:nvGrpSpPr>
        <p:grpSpPr>
          <a:xfrm>
            <a:off x="12607061" y="2331720"/>
            <a:ext cx="1371600" cy="548640"/>
            <a:chOff x="0" y="0"/>
            <a:chExt cx="1828800" cy="731520"/>
          </a:xfrm>
        </p:grpSpPr>
        <p:sp>
          <p:nvSpPr>
            <p:cNvPr id="24" name="Freeform 24"/>
            <p:cNvSpPr/>
            <p:nvPr/>
          </p:nvSpPr>
          <p:spPr>
            <a:xfrm>
              <a:off x="0" y="0"/>
              <a:ext cx="1828800" cy="731520"/>
            </a:xfrm>
            <a:custGeom>
              <a:avLst/>
              <a:gdLst/>
              <a:ahLst/>
              <a:cxnLst/>
              <a:rect l="l" t="t" r="r" b="b"/>
              <a:pathLst>
                <a:path w="1828800" h="731520">
                  <a:moveTo>
                    <a:pt x="0" y="0"/>
                  </a:moveTo>
                  <a:lnTo>
                    <a:pt x="1828800" y="0"/>
                  </a:lnTo>
                  <a:lnTo>
                    <a:pt x="1828800" y="731520"/>
                  </a:lnTo>
                  <a:lnTo>
                    <a:pt x="0" y="731520"/>
                  </a:lnTo>
                  <a:close/>
                </a:path>
              </a:pathLst>
            </a:custGeom>
            <a:blipFill>
              <a:blip r:embed="rId3">
                <a:alphaModFix amt="0"/>
              </a:blip>
              <a:stretch>
                <a:fillRect l="-1321" r="-1321"/>
              </a:stretch>
            </a:blipFill>
          </p:spPr>
        </p:sp>
        <p:sp>
          <p:nvSpPr>
            <p:cNvPr id="25" name="TextBox 25"/>
            <p:cNvSpPr txBox="1"/>
            <p:nvPr/>
          </p:nvSpPr>
          <p:spPr>
            <a:xfrm>
              <a:off x="0" y="-9525"/>
              <a:ext cx="1828800" cy="741045"/>
            </a:xfrm>
            <a:prstGeom prst="rect">
              <a:avLst/>
            </a:prstGeom>
          </p:spPr>
          <p:txBody>
            <a:bodyPr lIns="0" tIns="0" rIns="0" bIns="0" rtlCol="0" anchor="ctr"/>
            <a:lstStyle/>
            <a:p>
              <a:pPr algn="l">
                <a:lnSpc>
                  <a:spcPts val="2520"/>
                </a:lnSpc>
              </a:pPr>
              <a:r>
                <a:rPr lang="en-US" sz="2100" b="1" spc="299">
                  <a:solidFill>
                    <a:srgbClr val="52637A"/>
                  </a:solidFill>
                  <a:latin typeface="Arial Bold"/>
                  <a:ea typeface="Arial Bold"/>
                  <a:cs typeface="Arial Bold"/>
                  <a:sym typeface="Arial Bold"/>
                </a:rPr>
                <a:t>03</a:t>
              </a:r>
            </a:p>
          </p:txBody>
        </p:sp>
      </p:grpSp>
      <p:grpSp>
        <p:nvGrpSpPr>
          <p:cNvPr id="26" name="Group 26"/>
          <p:cNvGrpSpPr/>
          <p:nvPr/>
        </p:nvGrpSpPr>
        <p:grpSpPr>
          <a:xfrm>
            <a:off x="12469901" y="7543800"/>
            <a:ext cx="4732020" cy="822960"/>
            <a:chOff x="0" y="0"/>
            <a:chExt cx="6309360" cy="1097280"/>
          </a:xfrm>
        </p:grpSpPr>
        <p:sp>
          <p:nvSpPr>
            <p:cNvPr id="27" name="Freeform 27"/>
            <p:cNvSpPr/>
            <p:nvPr/>
          </p:nvSpPr>
          <p:spPr>
            <a:xfrm>
              <a:off x="0" y="0"/>
              <a:ext cx="6309360" cy="1097280"/>
            </a:xfrm>
            <a:custGeom>
              <a:avLst/>
              <a:gdLst/>
              <a:ahLst/>
              <a:cxnLst/>
              <a:rect l="l" t="t" r="r" b="b"/>
              <a:pathLst>
                <a:path w="6309360" h="1097280">
                  <a:moveTo>
                    <a:pt x="0" y="0"/>
                  </a:moveTo>
                  <a:lnTo>
                    <a:pt x="6309360" y="0"/>
                  </a:lnTo>
                  <a:lnTo>
                    <a:pt x="6309360" y="1097280"/>
                  </a:lnTo>
                  <a:lnTo>
                    <a:pt x="0" y="1097280"/>
                  </a:lnTo>
                  <a:close/>
                </a:path>
              </a:pathLst>
            </a:custGeom>
            <a:blipFill>
              <a:blip r:embed="rId3">
                <a:alphaModFix amt="0"/>
              </a:blip>
              <a:stretch>
                <a:fillRect t="-62038" b="-62038"/>
              </a:stretch>
            </a:blipFill>
          </p:spPr>
        </p:sp>
        <p:sp>
          <p:nvSpPr>
            <p:cNvPr id="28" name="TextBox 28"/>
            <p:cNvSpPr txBox="1"/>
            <p:nvPr/>
          </p:nvSpPr>
          <p:spPr>
            <a:xfrm>
              <a:off x="0" y="-28575"/>
              <a:ext cx="6309360" cy="1125855"/>
            </a:xfrm>
            <a:prstGeom prst="rect">
              <a:avLst/>
            </a:prstGeom>
          </p:spPr>
          <p:txBody>
            <a:bodyPr lIns="0" tIns="0" rIns="0" bIns="0" rtlCol="0" anchor="ctr"/>
            <a:lstStyle/>
            <a:p>
              <a:pPr algn="ctr">
                <a:lnSpc>
                  <a:spcPts val="3960"/>
                </a:lnSpc>
              </a:pPr>
              <a:r>
                <a:rPr lang="en-US" sz="3300" b="1">
                  <a:solidFill>
                    <a:srgbClr val="15243A"/>
                  </a:solidFill>
                  <a:latin typeface="Arial Bold"/>
                  <a:ea typeface="Arial Bold"/>
                  <a:cs typeface="Arial Bold"/>
                  <a:sym typeface="Arial Bold"/>
                </a:rPr>
                <a:t>Fair pricing</a:t>
              </a:r>
            </a:p>
          </p:txBody>
        </p:sp>
      </p:grpSp>
      <p:grpSp>
        <p:nvGrpSpPr>
          <p:cNvPr id="29" name="Group 29"/>
          <p:cNvGrpSpPr/>
          <p:nvPr/>
        </p:nvGrpSpPr>
        <p:grpSpPr>
          <a:xfrm>
            <a:off x="1250213" y="5554980"/>
            <a:ext cx="1124712" cy="1124712"/>
            <a:chOff x="0" y="0"/>
            <a:chExt cx="1499616" cy="1499616"/>
          </a:xfrm>
        </p:grpSpPr>
        <p:sp>
          <p:nvSpPr>
            <p:cNvPr id="30" name="Freeform 30"/>
            <p:cNvSpPr/>
            <p:nvPr/>
          </p:nvSpPr>
          <p:spPr>
            <a:xfrm>
              <a:off x="0" y="0"/>
              <a:ext cx="1499616" cy="1499616"/>
            </a:xfrm>
            <a:custGeom>
              <a:avLst/>
              <a:gdLst/>
              <a:ahLst/>
              <a:cxnLst/>
              <a:rect l="l" t="t" r="r" b="b"/>
              <a:pathLst>
                <a:path w="1499616" h="1499616">
                  <a:moveTo>
                    <a:pt x="0" y="329946"/>
                  </a:moveTo>
                  <a:cubicBezTo>
                    <a:pt x="0" y="147701"/>
                    <a:pt x="147701" y="0"/>
                    <a:pt x="329946" y="0"/>
                  </a:cubicBezTo>
                  <a:lnTo>
                    <a:pt x="1169670" y="0"/>
                  </a:lnTo>
                  <a:cubicBezTo>
                    <a:pt x="1351915" y="0"/>
                    <a:pt x="1499616" y="147701"/>
                    <a:pt x="1499616" y="329946"/>
                  </a:cubicBezTo>
                  <a:lnTo>
                    <a:pt x="1499616" y="1169670"/>
                  </a:lnTo>
                  <a:cubicBezTo>
                    <a:pt x="1499616" y="1351915"/>
                    <a:pt x="1351915" y="1499616"/>
                    <a:pt x="1169670" y="1499616"/>
                  </a:cubicBezTo>
                  <a:lnTo>
                    <a:pt x="329946" y="1499616"/>
                  </a:lnTo>
                  <a:cubicBezTo>
                    <a:pt x="147701" y="1499616"/>
                    <a:pt x="0" y="1351915"/>
                    <a:pt x="0" y="1169670"/>
                  </a:cubicBezTo>
                  <a:close/>
                </a:path>
              </a:pathLst>
            </a:custGeom>
            <a:solidFill>
              <a:srgbClr val="F97316"/>
            </a:solidFill>
          </p:spPr>
        </p:sp>
      </p:grpSp>
      <p:grpSp>
        <p:nvGrpSpPr>
          <p:cNvPr id="31" name="Group 31"/>
          <p:cNvGrpSpPr/>
          <p:nvPr/>
        </p:nvGrpSpPr>
        <p:grpSpPr>
          <a:xfrm>
            <a:off x="1531391" y="5836158"/>
            <a:ext cx="562356" cy="562356"/>
            <a:chOff x="0" y="0"/>
            <a:chExt cx="749808" cy="749808"/>
          </a:xfrm>
        </p:grpSpPr>
        <p:sp>
          <p:nvSpPr>
            <p:cNvPr id="32" name="Freeform 32" descr="preencoded.png"/>
            <p:cNvSpPr/>
            <p:nvPr/>
          </p:nvSpPr>
          <p:spPr>
            <a:xfrm>
              <a:off x="0" y="0"/>
              <a:ext cx="749808" cy="749808"/>
            </a:xfrm>
            <a:custGeom>
              <a:avLst/>
              <a:gdLst/>
              <a:ahLst/>
              <a:cxnLst/>
              <a:rect l="l" t="t" r="r" b="b"/>
              <a:pathLst>
                <a:path w="749808" h="749808">
                  <a:moveTo>
                    <a:pt x="0" y="0"/>
                  </a:moveTo>
                  <a:lnTo>
                    <a:pt x="749808" y="0"/>
                  </a:lnTo>
                  <a:lnTo>
                    <a:pt x="749808" y="749808"/>
                  </a:lnTo>
                  <a:lnTo>
                    <a:pt x="0" y="749808"/>
                  </a:lnTo>
                  <a:lnTo>
                    <a:pt x="0" y="0"/>
                  </a:lnTo>
                  <a:close/>
                </a:path>
              </a:pathLst>
            </a:custGeom>
            <a:blipFill>
              <a:blip r:embed="rId4"/>
              <a:stretch>
                <a:fillRect/>
              </a:stretch>
            </a:blipFill>
          </p:spPr>
        </p:sp>
      </p:grpSp>
      <p:grpSp>
        <p:nvGrpSpPr>
          <p:cNvPr id="33" name="Group 33"/>
          <p:cNvGrpSpPr/>
          <p:nvPr/>
        </p:nvGrpSpPr>
        <p:grpSpPr>
          <a:xfrm>
            <a:off x="1981352" y="5229987"/>
            <a:ext cx="649986" cy="649986"/>
            <a:chOff x="0" y="0"/>
            <a:chExt cx="866648" cy="866648"/>
          </a:xfrm>
        </p:grpSpPr>
        <p:sp>
          <p:nvSpPr>
            <p:cNvPr id="34" name="Freeform 34"/>
            <p:cNvSpPr/>
            <p:nvPr/>
          </p:nvSpPr>
          <p:spPr>
            <a:xfrm>
              <a:off x="0" y="0"/>
              <a:ext cx="866648" cy="866648"/>
            </a:xfrm>
            <a:custGeom>
              <a:avLst/>
              <a:gdLst/>
              <a:ahLst/>
              <a:cxnLst/>
              <a:rect l="l" t="t" r="r" b="b"/>
              <a:pathLst>
                <a:path w="866648" h="866648">
                  <a:moveTo>
                    <a:pt x="0" y="433324"/>
                  </a:moveTo>
                  <a:cubicBezTo>
                    <a:pt x="0" y="194056"/>
                    <a:pt x="194056" y="0"/>
                    <a:pt x="433324" y="0"/>
                  </a:cubicBezTo>
                  <a:cubicBezTo>
                    <a:pt x="672592" y="0"/>
                    <a:pt x="866648" y="194056"/>
                    <a:pt x="866648" y="433324"/>
                  </a:cubicBezTo>
                  <a:cubicBezTo>
                    <a:pt x="866648" y="672592"/>
                    <a:pt x="672592" y="866648"/>
                    <a:pt x="433324" y="866648"/>
                  </a:cubicBezTo>
                  <a:cubicBezTo>
                    <a:pt x="194056" y="866648"/>
                    <a:pt x="0" y="672592"/>
                    <a:pt x="0" y="433324"/>
                  </a:cubicBezTo>
                  <a:close/>
                </a:path>
              </a:pathLst>
            </a:custGeom>
            <a:solidFill>
              <a:srgbClr val="FFFFFF"/>
            </a:solidFill>
            <a:ln w="19050" cap="sq">
              <a:solidFill>
                <a:srgbClr val="E2E8F0"/>
              </a:solidFill>
              <a:prstDash val="solid"/>
              <a:miter/>
            </a:ln>
          </p:spPr>
        </p:sp>
      </p:grpSp>
      <p:grpSp>
        <p:nvGrpSpPr>
          <p:cNvPr id="35" name="Group 35"/>
          <p:cNvGrpSpPr/>
          <p:nvPr/>
        </p:nvGrpSpPr>
        <p:grpSpPr>
          <a:xfrm>
            <a:off x="2059457" y="5308092"/>
            <a:ext cx="493776" cy="493776"/>
            <a:chOff x="0" y="0"/>
            <a:chExt cx="658368" cy="658368"/>
          </a:xfrm>
        </p:grpSpPr>
        <p:sp>
          <p:nvSpPr>
            <p:cNvPr id="36" name="Freeform 36" descr="C:\Users\User\Downloads\rentify-national-challenge\assets\v6\s4-product-perfume.png"/>
            <p:cNvSpPr/>
            <p:nvPr/>
          </p:nvSpPr>
          <p:spPr>
            <a:xfrm>
              <a:off x="0" y="0"/>
              <a:ext cx="658368" cy="658368"/>
            </a:xfrm>
            <a:custGeom>
              <a:avLst/>
              <a:gdLst/>
              <a:ahLst/>
              <a:cxnLst/>
              <a:rect l="l" t="t" r="r" b="b"/>
              <a:pathLst>
                <a:path w="658368" h="658368">
                  <a:moveTo>
                    <a:pt x="0" y="0"/>
                  </a:moveTo>
                  <a:lnTo>
                    <a:pt x="658368" y="0"/>
                  </a:lnTo>
                  <a:lnTo>
                    <a:pt x="658368" y="658368"/>
                  </a:lnTo>
                  <a:lnTo>
                    <a:pt x="0" y="658368"/>
                  </a:lnTo>
                  <a:lnTo>
                    <a:pt x="0" y="0"/>
                  </a:lnTo>
                  <a:close/>
                </a:path>
              </a:pathLst>
            </a:custGeom>
            <a:blipFill>
              <a:blip r:embed="rId5"/>
              <a:stretch>
                <a:fillRect/>
              </a:stretch>
            </a:blipFill>
          </p:spPr>
        </p:sp>
      </p:grpSp>
      <p:grpSp>
        <p:nvGrpSpPr>
          <p:cNvPr id="37" name="Group 37"/>
          <p:cNvGrpSpPr/>
          <p:nvPr/>
        </p:nvGrpSpPr>
        <p:grpSpPr>
          <a:xfrm>
            <a:off x="975893" y="6761988"/>
            <a:ext cx="1673352" cy="384048"/>
            <a:chOff x="0" y="0"/>
            <a:chExt cx="2231136" cy="512064"/>
          </a:xfrm>
        </p:grpSpPr>
        <p:sp>
          <p:nvSpPr>
            <p:cNvPr id="38" name="Freeform 38"/>
            <p:cNvSpPr/>
            <p:nvPr/>
          </p:nvSpPr>
          <p:spPr>
            <a:xfrm>
              <a:off x="0" y="0"/>
              <a:ext cx="2231136" cy="512064"/>
            </a:xfrm>
            <a:custGeom>
              <a:avLst/>
              <a:gdLst/>
              <a:ahLst/>
              <a:cxnLst/>
              <a:rect l="l" t="t" r="r" b="b"/>
              <a:pathLst>
                <a:path w="2231136" h="512064">
                  <a:moveTo>
                    <a:pt x="0" y="0"/>
                  </a:moveTo>
                  <a:lnTo>
                    <a:pt x="2231136" y="0"/>
                  </a:lnTo>
                  <a:lnTo>
                    <a:pt x="2231136" y="512064"/>
                  </a:lnTo>
                  <a:lnTo>
                    <a:pt x="0" y="512064"/>
                  </a:lnTo>
                  <a:close/>
                </a:path>
              </a:pathLst>
            </a:custGeom>
            <a:blipFill>
              <a:blip r:embed="rId3">
                <a:alphaModFix amt="0"/>
              </a:blip>
              <a:stretch>
                <a:fillRect t="-34899" b="-34899"/>
              </a:stretch>
            </a:blipFill>
          </p:spPr>
        </p:sp>
        <p:sp>
          <p:nvSpPr>
            <p:cNvPr id="39" name="TextBox 39"/>
            <p:cNvSpPr txBox="1"/>
            <p:nvPr/>
          </p:nvSpPr>
          <p:spPr>
            <a:xfrm>
              <a:off x="0" y="-19050"/>
              <a:ext cx="2231136" cy="531114"/>
            </a:xfrm>
            <a:prstGeom prst="rect">
              <a:avLst/>
            </a:prstGeom>
          </p:spPr>
          <p:txBody>
            <a:bodyPr lIns="0" tIns="0" rIns="0" bIns="0" rtlCol="0" anchor="ctr"/>
            <a:lstStyle/>
            <a:p>
              <a:pPr algn="ctr">
                <a:lnSpc>
                  <a:spcPts val="2160"/>
                </a:lnSpc>
              </a:pPr>
              <a:r>
                <a:rPr lang="en-US" sz="1800" b="1">
                  <a:solidFill>
                    <a:srgbClr val="F97316"/>
                  </a:solidFill>
                  <a:latin typeface="Arial Bold"/>
                  <a:ea typeface="Arial Bold"/>
                  <a:cs typeface="Arial Bold"/>
                  <a:sym typeface="Arial Bold"/>
                </a:rPr>
                <a:t>Marketplace</a:t>
              </a:r>
            </a:p>
          </p:txBody>
        </p:sp>
      </p:grpSp>
      <p:grpSp>
        <p:nvGrpSpPr>
          <p:cNvPr id="40" name="Group 40"/>
          <p:cNvGrpSpPr/>
          <p:nvPr/>
        </p:nvGrpSpPr>
        <p:grpSpPr>
          <a:xfrm>
            <a:off x="2484653" y="5486400"/>
            <a:ext cx="384048" cy="384048"/>
            <a:chOff x="0" y="0"/>
            <a:chExt cx="512064" cy="512064"/>
          </a:xfrm>
        </p:grpSpPr>
        <p:sp>
          <p:nvSpPr>
            <p:cNvPr id="41" name="Freeform 41" descr="preencoded.png"/>
            <p:cNvSpPr/>
            <p:nvPr/>
          </p:nvSpPr>
          <p:spPr>
            <a:xfrm>
              <a:off x="0" y="0"/>
              <a:ext cx="512064" cy="512064"/>
            </a:xfrm>
            <a:custGeom>
              <a:avLst/>
              <a:gdLst/>
              <a:ahLst/>
              <a:cxnLst/>
              <a:rect l="l" t="t" r="r" b="b"/>
              <a:pathLst>
                <a:path w="512064" h="512064">
                  <a:moveTo>
                    <a:pt x="0" y="0"/>
                  </a:moveTo>
                  <a:lnTo>
                    <a:pt x="512064" y="0"/>
                  </a:lnTo>
                  <a:lnTo>
                    <a:pt x="512064" y="512064"/>
                  </a:lnTo>
                  <a:lnTo>
                    <a:pt x="0" y="512064"/>
                  </a:lnTo>
                  <a:lnTo>
                    <a:pt x="0" y="0"/>
                  </a:lnTo>
                  <a:close/>
                </a:path>
              </a:pathLst>
            </a:custGeom>
            <a:blipFill>
              <a:blip r:embed="rId6"/>
              <a:stretch>
                <a:fillRect/>
              </a:stretch>
            </a:blipFill>
          </p:spPr>
        </p:sp>
      </p:grpSp>
      <p:grpSp>
        <p:nvGrpSpPr>
          <p:cNvPr id="42" name="Group 42"/>
          <p:cNvGrpSpPr/>
          <p:nvPr/>
        </p:nvGrpSpPr>
        <p:grpSpPr>
          <a:xfrm>
            <a:off x="2827553" y="4485132"/>
            <a:ext cx="1124712" cy="1124712"/>
            <a:chOff x="0" y="0"/>
            <a:chExt cx="1499616" cy="1499616"/>
          </a:xfrm>
        </p:grpSpPr>
        <p:sp>
          <p:nvSpPr>
            <p:cNvPr id="43" name="Freeform 43"/>
            <p:cNvSpPr/>
            <p:nvPr/>
          </p:nvSpPr>
          <p:spPr>
            <a:xfrm>
              <a:off x="0" y="0"/>
              <a:ext cx="1499616" cy="1499616"/>
            </a:xfrm>
            <a:custGeom>
              <a:avLst/>
              <a:gdLst/>
              <a:ahLst/>
              <a:cxnLst/>
              <a:rect l="l" t="t" r="r" b="b"/>
              <a:pathLst>
                <a:path w="1499616" h="1499616">
                  <a:moveTo>
                    <a:pt x="0" y="329946"/>
                  </a:moveTo>
                  <a:cubicBezTo>
                    <a:pt x="0" y="147701"/>
                    <a:pt x="147701" y="0"/>
                    <a:pt x="329946" y="0"/>
                  </a:cubicBezTo>
                  <a:lnTo>
                    <a:pt x="1169670" y="0"/>
                  </a:lnTo>
                  <a:cubicBezTo>
                    <a:pt x="1351915" y="0"/>
                    <a:pt x="1499616" y="147701"/>
                    <a:pt x="1499616" y="329946"/>
                  </a:cubicBezTo>
                  <a:lnTo>
                    <a:pt x="1499616" y="1169670"/>
                  </a:lnTo>
                  <a:cubicBezTo>
                    <a:pt x="1499616" y="1351915"/>
                    <a:pt x="1351915" y="1499616"/>
                    <a:pt x="1169670" y="1499616"/>
                  </a:cubicBezTo>
                  <a:lnTo>
                    <a:pt x="329946" y="1499616"/>
                  </a:lnTo>
                  <a:cubicBezTo>
                    <a:pt x="147701" y="1499616"/>
                    <a:pt x="0" y="1351915"/>
                    <a:pt x="0" y="1169670"/>
                  </a:cubicBezTo>
                  <a:close/>
                </a:path>
              </a:pathLst>
            </a:custGeom>
            <a:solidFill>
              <a:srgbClr val="2463E8"/>
            </a:solidFill>
          </p:spPr>
        </p:sp>
      </p:grpSp>
      <p:grpSp>
        <p:nvGrpSpPr>
          <p:cNvPr id="44" name="Group 44"/>
          <p:cNvGrpSpPr/>
          <p:nvPr/>
        </p:nvGrpSpPr>
        <p:grpSpPr>
          <a:xfrm>
            <a:off x="3108731" y="4766310"/>
            <a:ext cx="562356" cy="562356"/>
            <a:chOff x="0" y="0"/>
            <a:chExt cx="749808" cy="749808"/>
          </a:xfrm>
        </p:grpSpPr>
        <p:sp>
          <p:nvSpPr>
            <p:cNvPr id="45" name="Freeform 45" descr="preencoded.png"/>
            <p:cNvSpPr/>
            <p:nvPr/>
          </p:nvSpPr>
          <p:spPr>
            <a:xfrm>
              <a:off x="0" y="0"/>
              <a:ext cx="749808" cy="749808"/>
            </a:xfrm>
            <a:custGeom>
              <a:avLst/>
              <a:gdLst/>
              <a:ahLst/>
              <a:cxnLst/>
              <a:rect l="l" t="t" r="r" b="b"/>
              <a:pathLst>
                <a:path w="749808" h="749808">
                  <a:moveTo>
                    <a:pt x="0" y="0"/>
                  </a:moveTo>
                  <a:lnTo>
                    <a:pt x="749808" y="0"/>
                  </a:lnTo>
                  <a:lnTo>
                    <a:pt x="749808" y="749808"/>
                  </a:lnTo>
                  <a:lnTo>
                    <a:pt x="0" y="749808"/>
                  </a:lnTo>
                  <a:lnTo>
                    <a:pt x="0" y="0"/>
                  </a:lnTo>
                  <a:close/>
                </a:path>
              </a:pathLst>
            </a:custGeom>
            <a:blipFill>
              <a:blip r:embed="rId7"/>
              <a:stretch>
                <a:fillRect/>
              </a:stretch>
            </a:blipFill>
          </p:spPr>
        </p:sp>
      </p:grpSp>
      <p:grpSp>
        <p:nvGrpSpPr>
          <p:cNvPr id="46" name="Group 46"/>
          <p:cNvGrpSpPr/>
          <p:nvPr/>
        </p:nvGrpSpPr>
        <p:grpSpPr>
          <a:xfrm>
            <a:off x="3558692" y="4160139"/>
            <a:ext cx="649986" cy="649986"/>
            <a:chOff x="0" y="0"/>
            <a:chExt cx="866648" cy="866648"/>
          </a:xfrm>
        </p:grpSpPr>
        <p:sp>
          <p:nvSpPr>
            <p:cNvPr id="47" name="Freeform 47"/>
            <p:cNvSpPr/>
            <p:nvPr/>
          </p:nvSpPr>
          <p:spPr>
            <a:xfrm>
              <a:off x="0" y="0"/>
              <a:ext cx="866648" cy="866648"/>
            </a:xfrm>
            <a:custGeom>
              <a:avLst/>
              <a:gdLst/>
              <a:ahLst/>
              <a:cxnLst/>
              <a:rect l="l" t="t" r="r" b="b"/>
              <a:pathLst>
                <a:path w="866648" h="866648">
                  <a:moveTo>
                    <a:pt x="0" y="433324"/>
                  </a:moveTo>
                  <a:cubicBezTo>
                    <a:pt x="0" y="194056"/>
                    <a:pt x="194056" y="0"/>
                    <a:pt x="433324" y="0"/>
                  </a:cubicBezTo>
                  <a:cubicBezTo>
                    <a:pt x="672592" y="0"/>
                    <a:pt x="866648" y="194056"/>
                    <a:pt x="866648" y="433324"/>
                  </a:cubicBezTo>
                  <a:cubicBezTo>
                    <a:pt x="866648" y="672592"/>
                    <a:pt x="672592" y="866648"/>
                    <a:pt x="433324" y="866648"/>
                  </a:cubicBezTo>
                  <a:cubicBezTo>
                    <a:pt x="194056" y="866648"/>
                    <a:pt x="0" y="672592"/>
                    <a:pt x="0" y="433324"/>
                  </a:cubicBezTo>
                  <a:close/>
                </a:path>
              </a:pathLst>
            </a:custGeom>
            <a:solidFill>
              <a:srgbClr val="FFFFFF"/>
            </a:solidFill>
            <a:ln w="19050" cap="sq">
              <a:solidFill>
                <a:srgbClr val="E2E8F0"/>
              </a:solidFill>
              <a:prstDash val="solid"/>
              <a:miter/>
            </a:ln>
          </p:spPr>
        </p:sp>
      </p:grpSp>
      <p:grpSp>
        <p:nvGrpSpPr>
          <p:cNvPr id="48" name="Group 48"/>
          <p:cNvGrpSpPr/>
          <p:nvPr/>
        </p:nvGrpSpPr>
        <p:grpSpPr>
          <a:xfrm>
            <a:off x="3636797" y="4238244"/>
            <a:ext cx="493776" cy="493776"/>
            <a:chOff x="0" y="0"/>
            <a:chExt cx="658368" cy="658368"/>
          </a:xfrm>
        </p:grpSpPr>
        <p:sp>
          <p:nvSpPr>
            <p:cNvPr id="49" name="Freeform 49" descr="C:\Users\User\Downloads\rentify-national-challenge\assets\v6\s4-product-perfume.png"/>
            <p:cNvSpPr/>
            <p:nvPr/>
          </p:nvSpPr>
          <p:spPr>
            <a:xfrm>
              <a:off x="0" y="0"/>
              <a:ext cx="658368" cy="658368"/>
            </a:xfrm>
            <a:custGeom>
              <a:avLst/>
              <a:gdLst/>
              <a:ahLst/>
              <a:cxnLst/>
              <a:rect l="l" t="t" r="r" b="b"/>
              <a:pathLst>
                <a:path w="658368" h="658368">
                  <a:moveTo>
                    <a:pt x="0" y="0"/>
                  </a:moveTo>
                  <a:lnTo>
                    <a:pt x="658368" y="0"/>
                  </a:lnTo>
                  <a:lnTo>
                    <a:pt x="658368" y="658368"/>
                  </a:lnTo>
                  <a:lnTo>
                    <a:pt x="0" y="658368"/>
                  </a:lnTo>
                  <a:lnTo>
                    <a:pt x="0" y="0"/>
                  </a:lnTo>
                  <a:close/>
                </a:path>
              </a:pathLst>
            </a:custGeom>
            <a:blipFill>
              <a:blip r:embed="rId5"/>
              <a:stretch>
                <a:fillRect/>
              </a:stretch>
            </a:blipFill>
          </p:spPr>
        </p:sp>
      </p:grpSp>
      <p:grpSp>
        <p:nvGrpSpPr>
          <p:cNvPr id="50" name="Group 50"/>
          <p:cNvGrpSpPr/>
          <p:nvPr/>
        </p:nvGrpSpPr>
        <p:grpSpPr>
          <a:xfrm>
            <a:off x="2553233" y="5692140"/>
            <a:ext cx="1673352" cy="384048"/>
            <a:chOff x="0" y="0"/>
            <a:chExt cx="2231136" cy="512064"/>
          </a:xfrm>
        </p:grpSpPr>
        <p:sp>
          <p:nvSpPr>
            <p:cNvPr id="51" name="Freeform 51"/>
            <p:cNvSpPr/>
            <p:nvPr/>
          </p:nvSpPr>
          <p:spPr>
            <a:xfrm>
              <a:off x="0" y="0"/>
              <a:ext cx="2231136" cy="512064"/>
            </a:xfrm>
            <a:custGeom>
              <a:avLst/>
              <a:gdLst/>
              <a:ahLst/>
              <a:cxnLst/>
              <a:rect l="l" t="t" r="r" b="b"/>
              <a:pathLst>
                <a:path w="2231136" h="512064">
                  <a:moveTo>
                    <a:pt x="0" y="0"/>
                  </a:moveTo>
                  <a:lnTo>
                    <a:pt x="2231136" y="0"/>
                  </a:lnTo>
                  <a:lnTo>
                    <a:pt x="2231136" y="512064"/>
                  </a:lnTo>
                  <a:lnTo>
                    <a:pt x="0" y="512064"/>
                  </a:lnTo>
                  <a:close/>
                </a:path>
              </a:pathLst>
            </a:custGeom>
            <a:blipFill>
              <a:blip r:embed="rId3">
                <a:alphaModFix amt="0"/>
              </a:blip>
              <a:stretch>
                <a:fillRect t="-34899" b="-34899"/>
              </a:stretch>
            </a:blipFill>
          </p:spPr>
        </p:sp>
        <p:sp>
          <p:nvSpPr>
            <p:cNvPr id="52" name="TextBox 52"/>
            <p:cNvSpPr txBox="1"/>
            <p:nvPr/>
          </p:nvSpPr>
          <p:spPr>
            <a:xfrm>
              <a:off x="0" y="-19050"/>
              <a:ext cx="2231136" cy="531114"/>
            </a:xfrm>
            <a:prstGeom prst="rect">
              <a:avLst/>
            </a:prstGeom>
          </p:spPr>
          <p:txBody>
            <a:bodyPr lIns="0" tIns="0" rIns="0" bIns="0" rtlCol="0" anchor="ctr"/>
            <a:lstStyle/>
            <a:p>
              <a:pPr algn="ctr">
                <a:lnSpc>
                  <a:spcPts val="2160"/>
                </a:lnSpc>
              </a:pPr>
              <a:r>
                <a:rPr lang="en-US" sz="1800" b="1">
                  <a:solidFill>
                    <a:srgbClr val="2463E8"/>
                  </a:solidFill>
                  <a:latin typeface="Arial Bold"/>
                  <a:ea typeface="Arial Bold"/>
                  <a:cs typeface="Arial Bold"/>
                  <a:sym typeface="Arial Bold"/>
                </a:rPr>
                <a:t>Storefront</a:t>
              </a:r>
            </a:p>
          </p:txBody>
        </p:sp>
      </p:grpSp>
      <p:grpSp>
        <p:nvGrpSpPr>
          <p:cNvPr id="53" name="Group 53"/>
          <p:cNvGrpSpPr/>
          <p:nvPr/>
        </p:nvGrpSpPr>
        <p:grpSpPr>
          <a:xfrm>
            <a:off x="4061993" y="4416552"/>
            <a:ext cx="384048" cy="384048"/>
            <a:chOff x="0" y="0"/>
            <a:chExt cx="512064" cy="512064"/>
          </a:xfrm>
        </p:grpSpPr>
        <p:sp>
          <p:nvSpPr>
            <p:cNvPr id="54" name="Freeform 54" descr="preencoded.png"/>
            <p:cNvSpPr/>
            <p:nvPr/>
          </p:nvSpPr>
          <p:spPr>
            <a:xfrm>
              <a:off x="0" y="0"/>
              <a:ext cx="512064" cy="512064"/>
            </a:xfrm>
            <a:custGeom>
              <a:avLst/>
              <a:gdLst/>
              <a:ahLst/>
              <a:cxnLst/>
              <a:rect l="l" t="t" r="r" b="b"/>
              <a:pathLst>
                <a:path w="512064" h="512064">
                  <a:moveTo>
                    <a:pt x="0" y="0"/>
                  </a:moveTo>
                  <a:lnTo>
                    <a:pt x="512064" y="0"/>
                  </a:lnTo>
                  <a:lnTo>
                    <a:pt x="512064" y="512064"/>
                  </a:lnTo>
                  <a:lnTo>
                    <a:pt x="0" y="512064"/>
                  </a:lnTo>
                  <a:lnTo>
                    <a:pt x="0" y="0"/>
                  </a:lnTo>
                  <a:close/>
                </a:path>
              </a:pathLst>
            </a:custGeom>
            <a:blipFill>
              <a:blip r:embed="rId6"/>
              <a:stretch>
                <a:fillRect/>
              </a:stretch>
            </a:blipFill>
          </p:spPr>
        </p:sp>
      </p:grpSp>
      <p:grpSp>
        <p:nvGrpSpPr>
          <p:cNvPr id="55" name="Group 55"/>
          <p:cNvGrpSpPr/>
          <p:nvPr/>
        </p:nvGrpSpPr>
        <p:grpSpPr>
          <a:xfrm>
            <a:off x="4404893" y="3415284"/>
            <a:ext cx="1124712" cy="1124712"/>
            <a:chOff x="0" y="0"/>
            <a:chExt cx="1499616" cy="1499616"/>
          </a:xfrm>
        </p:grpSpPr>
        <p:sp>
          <p:nvSpPr>
            <p:cNvPr id="56" name="Freeform 56"/>
            <p:cNvSpPr/>
            <p:nvPr/>
          </p:nvSpPr>
          <p:spPr>
            <a:xfrm>
              <a:off x="0" y="0"/>
              <a:ext cx="1499616" cy="1499616"/>
            </a:xfrm>
            <a:custGeom>
              <a:avLst/>
              <a:gdLst/>
              <a:ahLst/>
              <a:cxnLst/>
              <a:rect l="l" t="t" r="r" b="b"/>
              <a:pathLst>
                <a:path w="1499616" h="1499616">
                  <a:moveTo>
                    <a:pt x="0" y="329946"/>
                  </a:moveTo>
                  <a:cubicBezTo>
                    <a:pt x="0" y="147701"/>
                    <a:pt x="147701" y="0"/>
                    <a:pt x="329946" y="0"/>
                  </a:cubicBezTo>
                  <a:lnTo>
                    <a:pt x="1169670" y="0"/>
                  </a:lnTo>
                  <a:cubicBezTo>
                    <a:pt x="1351915" y="0"/>
                    <a:pt x="1499616" y="147701"/>
                    <a:pt x="1499616" y="329946"/>
                  </a:cubicBezTo>
                  <a:lnTo>
                    <a:pt x="1499616" y="1169670"/>
                  </a:lnTo>
                  <a:cubicBezTo>
                    <a:pt x="1499616" y="1351915"/>
                    <a:pt x="1351915" y="1499616"/>
                    <a:pt x="1169670" y="1499616"/>
                  </a:cubicBezTo>
                  <a:lnTo>
                    <a:pt x="329946" y="1499616"/>
                  </a:lnTo>
                  <a:cubicBezTo>
                    <a:pt x="147701" y="1499616"/>
                    <a:pt x="0" y="1351915"/>
                    <a:pt x="0" y="1169670"/>
                  </a:cubicBezTo>
                  <a:close/>
                </a:path>
              </a:pathLst>
            </a:custGeom>
            <a:solidFill>
              <a:srgbClr val="0AA7A2"/>
            </a:solidFill>
          </p:spPr>
        </p:sp>
      </p:grpSp>
      <p:grpSp>
        <p:nvGrpSpPr>
          <p:cNvPr id="57" name="Group 57"/>
          <p:cNvGrpSpPr/>
          <p:nvPr/>
        </p:nvGrpSpPr>
        <p:grpSpPr>
          <a:xfrm>
            <a:off x="4686071" y="3696462"/>
            <a:ext cx="562356" cy="562356"/>
            <a:chOff x="0" y="0"/>
            <a:chExt cx="749808" cy="749808"/>
          </a:xfrm>
        </p:grpSpPr>
        <p:sp>
          <p:nvSpPr>
            <p:cNvPr id="58" name="Freeform 58" descr="preencoded.png"/>
            <p:cNvSpPr/>
            <p:nvPr/>
          </p:nvSpPr>
          <p:spPr>
            <a:xfrm>
              <a:off x="0" y="0"/>
              <a:ext cx="749808" cy="749808"/>
            </a:xfrm>
            <a:custGeom>
              <a:avLst/>
              <a:gdLst/>
              <a:ahLst/>
              <a:cxnLst/>
              <a:rect l="l" t="t" r="r" b="b"/>
              <a:pathLst>
                <a:path w="749808" h="749808">
                  <a:moveTo>
                    <a:pt x="0" y="0"/>
                  </a:moveTo>
                  <a:lnTo>
                    <a:pt x="749808" y="0"/>
                  </a:lnTo>
                  <a:lnTo>
                    <a:pt x="749808" y="749808"/>
                  </a:lnTo>
                  <a:lnTo>
                    <a:pt x="0" y="749808"/>
                  </a:lnTo>
                  <a:lnTo>
                    <a:pt x="0" y="0"/>
                  </a:lnTo>
                  <a:close/>
                </a:path>
              </a:pathLst>
            </a:custGeom>
            <a:blipFill>
              <a:blip r:embed="rId8"/>
              <a:stretch>
                <a:fillRect/>
              </a:stretch>
            </a:blipFill>
          </p:spPr>
        </p:sp>
      </p:grpSp>
      <p:grpSp>
        <p:nvGrpSpPr>
          <p:cNvPr id="59" name="Group 59"/>
          <p:cNvGrpSpPr/>
          <p:nvPr/>
        </p:nvGrpSpPr>
        <p:grpSpPr>
          <a:xfrm>
            <a:off x="5136032" y="3090291"/>
            <a:ext cx="649986" cy="649986"/>
            <a:chOff x="0" y="0"/>
            <a:chExt cx="866648" cy="866648"/>
          </a:xfrm>
        </p:grpSpPr>
        <p:sp>
          <p:nvSpPr>
            <p:cNvPr id="60" name="Freeform 60"/>
            <p:cNvSpPr/>
            <p:nvPr/>
          </p:nvSpPr>
          <p:spPr>
            <a:xfrm>
              <a:off x="0" y="0"/>
              <a:ext cx="866648" cy="866648"/>
            </a:xfrm>
            <a:custGeom>
              <a:avLst/>
              <a:gdLst/>
              <a:ahLst/>
              <a:cxnLst/>
              <a:rect l="l" t="t" r="r" b="b"/>
              <a:pathLst>
                <a:path w="866648" h="866648">
                  <a:moveTo>
                    <a:pt x="0" y="433324"/>
                  </a:moveTo>
                  <a:cubicBezTo>
                    <a:pt x="0" y="194056"/>
                    <a:pt x="194056" y="0"/>
                    <a:pt x="433324" y="0"/>
                  </a:cubicBezTo>
                  <a:cubicBezTo>
                    <a:pt x="672592" y="0"/>
                    <a:pt x="866648" y="194056"/>
                    <a:pt x="866648" y="433324"/>
                  </a:cubicBezTo>
                  <a:cubicBezTo>
                    <a:pt x="866648" y="672592"/>
                    <a:pt x="672592" y="866648"/>
                    <a:pt x="433324" y="866648"/>
                  </a:cubicBezTo>
                  <a:cubicBezTo>
                    <a:pt x="194056" y="866648"/>
                    <a:pt x="0" y="672592"/>
                    <a:pt x="0" y="433324"/>
                  </a:cubicBezTo>
                  <a:close/>
                </a:path>
              </a:pathLst>
            </a:custGeom>
            <a:solidFill>
              <a:srgbClr val="FFFFFF"/>
            </a:solidFill>
            <a:ln w="19050" cap="sq">
              <a:solidFill>
                <a:srgbClr val="E2E8F0"/>
              </a:solidFill>
              <a:prstDash val="solid"/>
              <a:miter/>
            </a:ln>
          </p:spPr>
        </p:sp>
      </p:grpSp>
      <p:grpSp>
        <p:nvGrpSpPr>
          <p:cNvPr id="61" name="Group 61"/>
          <p:cNvGrpSpPr/>
          <p:nvPr/>
        </p:nvGrpSpPr>
        <p:grpSpPr>
          <a:xfrm>
            <a:off x="5214137" y="3168396"/>
            <a:ext cx="493776" cy="493776"/>
            <a:chOff x="0" y="0"/>
            <a:chExt cx="658368" cy="658368"/>
          </a:xfrm>
        </p:grpSpPr>
        <p:sp>
          <p:nvSpPr>
            <p:cNvPr id="62" name="Freeform 62" descr="C:\Users\User\Downloads\rentify-national-challenge\assets\v6\s4-product-perfume.png"/>
            <p:cNvSpPr/>
            <p:nvPr/>
          </p:nvSpPr>
          <p:spPr>
            <a:xfrm>
              <a:off x="0" y="0"/>
              <a:ext cx="658368" cy="658368"/>
            </a:xfrm>
            <a:custGeom>
              <a:avLst/>
              <a:gdLst/>
              <a:ahLst/>
              <a:cxnLst/>
              <a:rect l="l" t="t" r="r" b="b"/>
              <a:pathLst>
                <a:path w="658368" h="658368">
                  <a:moveTo>
                    <a:pt x="0" y="0"/>
                  </a:moveTo>
                  <a:lnTo>
                    <a:pt x="658368" y="0"/>
                  </a:lnTo>
                  <a:lnTo>
                    <a:pt x="658368" y="658368"/>
                  </a:lnTo>
                  <a:lnTo>
                    <a:pt x="0" y="658368"/>
                  </a:lnTo>
                  <a:lnTo>
                    <a:pt x="0" y="0"/>
                  </a:lnTo>
                  <a:close/>
                </a:path>
              </a:pathLst>
            </a:custGeom>
            <a:blipFill>
              <a:blip r:embed="rId5"/>
              <a:stretch>
                <a:fillRect/>
              </a:stretch>
            </a:blipFill>
          </p:spPr>
        </p:sp>
      </p:grpSp>
      <p:grpSp>
        <p:nvGrpSpPr>
          <p:cNvPr id="63" name="Group 63"/>
          <p:cNvGrpSpPr/>
          <p:nvPr/>
        </p:nvGrpSpPr>
        <p:grpSpPr>
          <a:xfrm>
            <a:off x="4130573" y="4622292"/>
            <a:ext cx="1673352" cy="384048"/>
            <a:chOff x="0" y="0"/>
            <a:chExt cx="2231136" cy="512064"/>
          </a:xfrm>
        </p:grpSpPr>
        <p:sp>
          <p:nvSpPr>
            <p:cNvPr id="64" name="Freeform 64"/>
            <p:cNvSpPr/>
            <p:nvPr/>
          </p:nvSpPr>
          <p:spPr>
            <a:xfrm>
              <a:off x="0" y="0"/>
              <a:ext cx="2231136" cy="512064"/>
            </a:xfrm>
            <a:custGeom>
              <a:avLst/>
              <a:gdLst/>
              <a:ahLst/>
              <a:cxnLst/>
              <a:rect l="l" t="t" r="r" b="b"/>
              <a:pathLst>
                <a:path w="2231136" h="512064">
                  <a:moveTo>
                    <a:pt x="0" y="0"/>
                  </a:moveTo>
                  <a:lnTo>
                    <a:pt x="2231136" y="0"/>
                  </a:lnTo>
                  <a:lnTo>
                    <a:pt x="2231136" y="512064"/>
                  </a:lnTo>
                  <a:lnTo>
                    <a:pt x="0" y="512064"/>
                  </a:lnTo>
                  <a:close/>
                </a:path>
              </a:pathLst>
            </a:custGeom>
            <a:blipFill>
              <a:blip r:embed="rId3">
                <a:alphaModFix amt="0"/>
              </a:blip>
              <a:stretch>
                <a:fillRect t="-34899" b="-34899"/>
              </a:stretch>
            </a:blipFill>
          </p:spPr>
        </p:sp>
        <p:sp>
          <p:nvSpPr>
            <p:cNvPr id="65" name="TextBox 65"/>
            <p:cNvSpPr txBox="1"/>
            <p:nvPr/>
          </p:nvSpPr>
          <p:spPr>
            <a:xfrm>
              <a:off x="0" y="-19050"/>
              <a:ext cx="2231136" cy="531114"/>
            </a:xfrm>
            <a:prstGeom prst="rect">
              <a:avLst/>
            </a:prstGeom>
          </p:spPr>
          <p:txBody>
            <a:bodyPr lIns="0" tIns="0" rIns="0" bIns="0" rtlCol="0" anchor="ctr"/>
            <a:lstStyle/>
            <a:p>
              <a:pPr algn="ctr">
                <a:lnSpc>
                  <a:spcPts val="2160"/>
                </a:lnSpc>
              </a:pPr>
              <a:r>
                <a:rPr lang="en-US" sz="1800" b="1">
                  <a:solidFill>
                    <a:srgbClr val="0AA7A2"/>
                  </a:solidFill>
                  <a:latin typeface="Arial Bold"/>
                  <a:ea typeface="Arial Bold"/>
                  <a:cs typeface="Arial Bold"/>
                  <a:sym typeface="Arial Bold"/>
                </a:rPr>
                <a:t>POS</a:t>
              </a:r>
            </a:p>
          </p:txBody>
        </p:sp>
      </p:grpSp>
      <p:grpSp>
        <p:nvGrpSpPr>
          <p:cNvPr id="66" name="Group 66"/>
          <p:cNvGrpSpPr/>
          <p:nvPr/>
        </p:nvGrpSpPr>
        <p:grpSpPr>
          <a:xfrm>
            <a:off x="8567699" y="3017520"/>
            <a:ext cx="1152144" cy="1152144"/>
            <a:chOff x="0" y="0"/>
            <a:chExt cx="1536192" cy="1536192"/>
          </a:xfrm>
        </p:grpSpPr>
        <p:sp>
          <p:nvSpPr>
            <p:cNvPr id="67" name="Freeform 67"/>
            <p:cNvSpPr/>
            <p:nvPr/>
          </p:nvSpPr>
          <p:spPr>
            <a:xfrm>
              <a:off x="0" y="0"/>
              <a:ext cx="1536192" cy="1536192"/>
            </a:xfrm>
            <a:custGeom>
              <a:avLst/>
              <a:gdLst/>
              <a:ahLst/>
              <a:cxnLst/>
              <a:rect l="l" t="t" r="r" b="b"/>
              <a:pathLst>
                <a:path w="1536192" h="1536192">
                  <a:moveTo>
                    <a:pt x="0" y="768096"/>
                  </a:moveTo>
                  <a:cubicBezTo>
                    <a:pt x="0" y="343916"/>
                    <a:pt x="343916" y="0"/>
                    <a:pt x="768096" y="0"/>
                  </a:cubicBezTo>
                  <a:cubicBezTo>
                    <a:pt x="1192276" y="0"/>
                    <a:pt x="1536192" y="343916"/>
                    <a:pt x="1536192" y="768096"/>
                  </a:cubicBezTo>
                  <a:cubicBezTo>
                    <a:pt x="1536192" y="1192276"/>
                    <a:pt x="1192276" y="1536192"/>
                    <a:pt x="768096" y="1536192"/>
                  </a:cubicBezTo>
                  <a:cubicBezTo>
                    <a:pt x="343916" y="1536192"/>
                    <a:pt x="0" y="1192276"/>
                    <a:pt x="0" y="768096"/>
                  </a:cubicBezTo>
                  <a:close/>
                </a:path>
              </a:pathLst>
            </a:custGeom>
            <a:solidFill>
              <a:srgbClr val="111D35"/>
            </a:solidFill>
          </p:spPr>
        </p:sp>
      </p:grpSp>
      <p:grpSp>
        <p:nvGrpSpPr>
          <p:cNvPr id="68" name="Group 68"/>
          <p:cNvGrpSpPr/>
          <p:nvPr/>
        </p:nvGrpSpPr>
        <p:grpSpPr>
          <a:xfrm>
            <a:off x="8842019" y="3291840"/>
            <a:ext cx="603504" cy="603504"/>
            <a:chOff x="0" y="0"/>
            <a:chExt cx="804672" cy="804672"/>
          </a:xfrm>
        </p:grpSpPr>
        <p:sp>
          <p:nvSpPr>
            <p:cNvPr id="69" name="Freeform 69" descr="preencoded.png"/>
            <p:cNvSpPr/>
            <p:nvPr/>
          </p:nvSpPr>
          <p:spPr>
            <a:xfrm>
              <a:off x="0" y="0"/>
              <a:ext cx="804672" cy="804672"/>
            </a:xfrm>
            <a:custGeom>
              <a:avLst/>
              <a:gdLst/>
              <a:ahLst/>
              <a:cxnLst/>
              <a:rect l="l" t="t" r="r" b="b"/>
              <a:pathLst>
                <a:path w="804672" h="804672">
                  <a:moveTo>
                    <a:pt x="0" y="0"/>
                  </a:moveTo>
                  <a:lnTo>
                    <a:pt x="804672" y="0"/>
                  </a:lnTo>
                  <a:lnTo>
                    <a:pt x="804672" y="804672"/>
                  </a:lnTo>
                  <a:lnTo>
                    <a:pt x="0" y="804672"/>
                  </a:lnTo>
                  <a:lnTo>
                    <a:pt x="0" y="0"/>
                  </a:lnTo>
                  <a:close/>
                </a:path>
              </a:pathLst>
            </a:custGeom>
            <a:blipFill>
              <a:blip r:embed="rId9"/>
              <a:stretch>
                <a:fillRect/>
              </a:stretch>
            </a:blipFill>
          </p:spPr>
        </p:sp>
      </p:grpSp>
      <p:grpSp>
        <p:nvGrpSpPr>
          <p:cNvPr id="70" name="Group 70"/>
          <p:cNvGrpSpPr/>
          <p:nvPr/>
        </p:nvGrpSpPr>
        <p:grpSpPr>
          <a:xfrm>
            <a:off x="9344177" y="2833878"/>
            <a:ext cx="669036" cy="669036"/>
            <a:chOff x="0" y="0"/>
            <a:chExt cx="892048" cy="892048"/>
          </a:xfrm>
        </p:grpSpPr>
        <p:sp>
          <p:nvSpPr>
            <p:cNvPr id="71" name="Freeform 71"/>
            <p:cNvSpPr/>
            <p:nvPr/>
          </p:nvSpPr>
          <p:spPr>
            <a:xfrm>
              <a:off x="0" y="0"/>
              <a:ext cx="892048" cy="892048"/>
            </a:xfrm>
            <a:custGeom>
              <a:avLst/>
              <a:gdLst/>
              <a:ahLst/>
              <a:cxnLst/>
              <a:rect l="l" t="t" r="r" b="b"/>
              <a:pathLst>
                <a:path w="892048" h="892048">
                  <a:moveTo>
                    <a:pt x="0" y="446024"/>
                  </a:moveTo>
                  <a:cubicBezTo>
                    <a:pt x="0" y="199644"/>
                    <a:pt x="199644" y="0"/>
                    <a:pt x="446024" y="0"/>
                  </a:cubicBezTo>
                  <a:cubicBezTo>
                    <a:pt x="692404" y="0"/>
                    <a:pt x="892048" y="199644"/>
                    <a:pt x="892048" y="446024"/>
                  </a:cubicBezTo>
                  <a:cubicBezTo>
                    <a:pt x="892048" y="692404"/>
                    <a:pt x="692404" y="892048"/>
                    <a:pt x="446024" y="892048"/>
                  </a:cubicBezTo>
                  <a:cubicBezTo>
                    <a:pt x="199644" y="892048"/>
                    <a:pt x="0" y="692404"/>
                    <a:pt x="0" y="446024"/>
                  </a:cubicBezTo>
                  <a:close/>
                </a:path>
              </a:pathLst>
            </a:custGeom>
            <a:solidFill>
              <a:srgbClr val="D64545"/>
            </a:solidFill>
            <a:ln w="38100" cap="sq">
              <a:solidFill>
                <a:srgbClr val="FFFFFF"/>
              </a:solidFill>
              <a:prstDash val="solid"/>
              <a:miter/>
            </a:ln>
          </p:spPr>
        </p:sp>
        <p:sp>
          <p:nvSpPr>
            <p:cNvPr id="72" name="TextBox 72"/>
            <p:cNvSpPr txBox="1"/>
            <p:nvPr/>
          </p:nvSpPr>
          <p:spPr>
            <a:xfrm>
              <a:off x="0" y="-19050"/>
              <a:ext cx="892048" cy="911098"/>
            </a:xfrm>
            <a:prstGeom prst="rect">
              <a:avLst/>
            </a:prstGeom>
          </p:spPr>
          <p:txBody>
            <a:bodyPr lIns="50800" tIns="50800" rIns="50800" bIns="50800" rtlCol="0" anchor="ctr"/>
            <a:lstStyle/>
            <a:p>
              <a:pPr algn="ctr">
                <a:lnSpc>
                  <a:spcPts val="2340"/>
                </a:lnSpc>
              </a:pPr>
              <a:r>
                <a:rPr lang="en-US" sz="1950" b="1">
                  <a:solidFill>
                    <a:srgbClr val="FFFFFF"/>
                  </a:solidFill>
                  <a:latin typeface="Arial Bold"/>
                  <a:ea typeface="Arial Bold"/>
                  <a:cs typeface="Arial Bold"/>
                  <a:sym typeface="Arial Bold"/>
                </a:rPr>
                <a:t>−1</a:t>
              </a:r>
            </a:p>
          </p:txBody>
        </p:sp>
      </p:grpSp>
      <p:sp>
        <p:nvSpPr>
          <p:cNvPr id="73" name="AutoShape 73"/>
          <p:cNvSpPr/>
          <p:nvPr/>
        </p:nvSpPr>
        <p:spPr>
          <a:xfrm rot="8682240">
            <a:off x="7464657" y="4763643"/>
            <a:ext cx="1870043" cy="0"/>
          </a:xfrm>
          <a:prstGeom prst="line">
            <a:avLst/>
          </a:prstGeom>
          <a:ln w="19050" cap="rnd">
            <a:solidFill>
              <a:srgbClr val="2463E8"/>
            </a:solidFill>
            <a:prstDash val="solid"/>
            <a:headEnd type="none" w="sm" len="sm"/>
            <a:tailEnd type="triangle" w="lg" len="med"/>
          </a:ln>
        </p:spPr>
      </p:sp>
      <p:grpSp>
        <p:nvGrpSpPr>
          <p:cNvPr id="74" name="Group 74"/>
          <p:cNvGrpSpPr/>
          <p:nvPr/>
        </p:nvGrpSpPr>
        <p:grpSpPr>
          <a:xfrm>
            <a:off x="7120661" y="5349240"/>
            <a:ext cx="1069848" cy="1069848"/>
            <a:chOff x="0" y="0"/>
            <a:chExt cx="1426464" cy="1426464"/>
          </a:xfrm>
        </p:grpSpPr>
        <p:sp>
          <p:nvSpPr>
            <p:cNvPr id="75" name="Freeform 75"/>
            <p:cNvSpPr/>
            <p:nvPr/>
          </p:nvSpPr>
          <p:spPr>
            <a:xfrm>
              <a:off x="0" y="0"/>
              <a:ext cx="1426464" cy="1426464"/>
            </a:xfrm>
            <a:custGeom>
              <a:avLst/>
              <a:gdLst/>
              <a:ahLst/>
              <a:cxnLst/>
              <a:rect l="l" t="t" r="r" b="b"/>
              <a:pathLst>
                <a:path w="1426464" h="1426464">
                  <a:moveTo>
                    <a:pt x="0" y="313817"/>
                  </a:moveTo>
                  <a:cubicBezTo>
                    <a:pt x="0" y="140462"/>
                    <a:pt x="140462" y="0"/>
                    <a:pt x="313817" y="0"/>
                  </a:cubicBezTo>
                  <a:lnTo>
                    <a:pt x="1112647" y="0"/>
                  </a:lnTo>
                  <a:cubicBezTo>
                    <a:pt x="1286002" y="0"/>
                    <a:pt x="1426464" y="140462"/>
                    <a:pt x="1426464" y="313817"/>
                  </a:cubicBezTo>
                  <a:lnTo>
                    <a:pt x="1426464" y="1112647"/>
                  </a:lnTo>
                  <a:cubicBezTo>
                    <a:pt x="1426464" y="1286002"/>
                    <a:pt x="1286002" y="1426464"/>
                    <a:pt x="1112647" y="1426464"/>
                  </a:cubicBezTo>
                  <a:lnTo>
                    <a:pt x="313817" y="1426464"/>
                  </a:lnTo>
                  <a:cubicBezTo>
                    <a:pt x="140462" y="1426464"/>
                    <a:pt x="0" y="1286002"/>
                    <a:pt x="0" y="1112647"/>
                  </a:cubicBezTo>
                  <a:close/>
                </a:path>
              </a:pathLst>
            </a:custGeom>
            <a:solidFill>
              <a:srgbClr val="2463E8"/>
            </a:solidFill>
          </p:spPr>
        </p:sp>
      </p:grpSp>
      <p:grpSp>
        <p:nvGrpSpPr>
          <p:cNvPr id="76" name="Group 76"/>
          <p:cNvGrpSpPr/>
          <p:nvPr/>
        </p:nvGrpSpPr>
        <p:grpSpPr>
          <a:xfrm>
            <a:off x="7388123" y="5616702"/>
            <a:ext cx="534924" cy="534924"/>
            <a:chOff x="0" y="0"/>
            <a:chExt cx="713232" cy="713232"/>
          </a:xfrm>
        </p:grpSpPr>
        <p:sp>
          <p:nvSpPr>
            <p:cNvPr id="77" name="Freeform 77" descr="preencoded.png"/>
            <p:cNvSpPr/>
            <p:nvPr/>
          </p:nvSpPr>
          <p:spPr>
            <a:xfrm>
              <a:off x="0" y="0"/>
              <a:ext cx="713232" cy="713232"/>
            </a:xfrm>
            <a:custGeom>
              <a:avLst/>
              <a:gdLst/>
              <a:ahLst/>
              <a:cxnLst/>
              <a:rect l="l" t="t" r="r" b="b"/>
              <a:pathLst>
                <a:path w="713232" h="713232">
                  <a:moveTo>
                    <a:pt x="0" y="0"/>
                  </a:moveTo>
                  <a:lnTo>
                    <a:pt x="713232" y="0"/>
                  </a:lnTo>
                  <a:lnTo>
                    <a:pt x="713232" y="713232"/>
                  </a:lnTo>
                  <a:lnTo>
                    <a:pt x="0" y="713232"/>
                  </a:lnTo>
                  <a:lnTo>
                    <a:pt x="0" y="0"/>
                  </a:lnTo>
                  <a:close/>
                </a:path>
              </a:pathLst>
            </a:custGeom>
            <a:blipFill>
              <a:blip r:embed="rId7"/>
              <a:stretch>
                <a:fillRect/>
              </a:stretch>
            </a:blipFill>
          </p:spPr>
        </p:sp>
      </p:grpSp>
      <p:grpSp>
        <p:nvGrpSpPr>
          <p:cNvPr id="78" name="Group 78"/>
          <p:cNvGrpSpPr/>
          <p:nvPr/>
        </p:nvGrpSpPr>
        <p:grpSpPr>
          <a:xfrm>
            <a:off x="7759979" y="5097018"/>
            <a:ext cx="669036" cy="669036"/>
            <a:chOff x="0" y="0"/>
            <a:chExt cx="892048" cy="892048"/>
          </a:xfrm>
        </p:grpSpPr>
        <p:sp>
          <p:nvSpPr>
            <p:cNvPr id="79" name="Freeform 79"/>
            <p:cNvSpPr/>
            <p:nvPr/>
          </p:nvSpPr>
          <p:spPr>
            <a:xfrm>
              <a:off x="0" y="0"/>
              <a:ext cx="892048" cy="892048"/>
            </a:xfrm>
            <a:custGeom>
              <a:avLst/>
              <a:gdLst/>
              <a:ahLst/>
              <a:cxnLst/>
              <a:rect l="l" t="t" r="r" b="b"/>
              <a:pathLst>
                <a:path w="892048" h="892048">
                  <a:moveTo>
                    <a:pt x="0" y="446024"/>
                  </a:moveTo>
                  <a:cubicBezTo>
                    <a:pt x="0" y="199644"/>
                    <a:pt x="199644" y="0"/>
                    <a:pt x="446024" y="0"/>
                  </a:cubicBezTo>
                  <a:cubicBezTo>
                    <a:pt x="692404" y="0"/>
                    <a:pt x="892048" y="199644"/>
                    <a:pt x="892048" y="446024"/>
                  </a:cubicBezTo>
                  <a:cubicBezTo>
                    <a:pt x="892048" y="692404"/>
                    <a:pt x="692404" y="892048"/>
                    <a:pt x="446024" y="892048"/>
                  </a:cubicBezTo>
                  <a:cubicBezTo>
                    <a:pt x="199644" y="892048"/>
                    <a:pt x="0" y="692404"/>
                    <a:pt x="0" y="446024"/>
                  </a:cubicBezTo>
                  <a:close/>
                </a:path>
              </a:pathLst>
            </a:custGeom>
            <a:solidFill>
              <a:srgbClr val="FFFFFF"/>
            </a:solidFill>
            <a:ln w="38100" cap="sq">
              <a:solidFill>
                <a:srgbClr val="2463E8"/>
              </a:solidFill>
              <a:prstDash val="solid"/>
              <a:miter/>
            </a:ln>
          </p:spPr>
        </p:sp>
        <p:sp>
          <p:nvSpPr>
            <p:cNvPr id="80" name="TextBox 80"/>
            <p:cNvSpPr txBox="1"/>
            <p:nvPr/>
          </p:nvSpPr>
          <p:spPr>
            <a:xfrm>
              <a:off x="0" y="-19050"/>
              <a:ext cx="892048" cy="911098"/>
            </a:xfrm>
            <a:prstGeom prst="rect">
              <a:avLst/>
            </a:prstGeom>
          </p:spPr>
          <p:txBody>
            <a:bodyPr lIns="50800" tIns="50800" rIns="50800" bIns="50800" rtlCol="0" anchor="ctr"/>
            <a:lstStyle/>
            <a:p>
              <a:pPr algn="ctr">
                <a:lnSpc>
                  <a:spcPts val="2160"/>
                </a:lnSpc>
              </a:pPr>
              <a:r>
                <a:rPr lang="en-US" sz="1800" b="1">
                  <a:solidFill>
                    <a:srgbClr val="2463E8"/>
                  </a:solidFill>
                  <a:latin typeface="Arial Bold"/>
                  <a:ea typeface="Arial Bold"/>
                  <a:cs typeface="Arial Bold"/>
                  <a:sym typeface="Arial Bold"/>
                </a:rPr>
                <a:t>39</a:t>
              </a:r>
            </a:p>
          </p:txBody>
        </p:sp>
      </p:grpSp>
      <p:sp>
        <p:nvSpPr>
          <p:cNvPr id="81" name="AutoShape 81"/>
          <p:cNvSpPr/>
          <p:nvPr/>
        </p:nvSpPr>
        <p:spPr>
          <a:xfrm rot="5213520">
            <a:off x="8613000" y="4763643"/>
            <a:ext cx="1082107" cy="0"/>
          </a:xfrm>
          <a:prstGeom prst="line">
            <a:avLst/>
          </a:prstGeom>
          <a:ln w="19050" cap="rnd">
            <a:solidFill>
              <a:srgbClr val="F97316"/>
            </a:solidFill>
            <a:prstDash val="solid"/>
            <a:headEnd type="none" w="sm" len="sm"/>
            <a:tailEnd type="triangle" w="lg" len="med"/>
          </a:ln>
        </p:spPr>
      </p:sp>
      <p:grpSp>
        <p:nvGrpSpPr>
          <p:cNvPr id="82" name="Group 82"/>
          <p:cNvGrpSpPr/>
          <p:nvPr/>
        </p:nvGrpSpPr>
        <p:grpSpPr>
          <a:xfrm>
            <a:off x="8629421" y="5349240"/>
            <a:ext cx="1069848" cy="1069848"/>
            <a:chOff x="0" y="0"/>
            <a:chExt cx="1426464" cy="1426464"/>
          </a:xfrm>
        </p:grpSpPr>
        <p:sp>
          <p:nvSpPr>
            <p:cNvPr id="83" name="Freeform 83"/>
            <p:cNvSpPr/>
            <p:nvPr/>
          </p:nvSpPr>
          <p:spPr>
            <a:xfrm>
              <a:off x="0" y="0"/>
              <a:ext cx="1426464" cy="1426464"/>
            </a:xfrm>
            <a:custGeom>
              <a:avLst/>
              <a:gdLst/>
              <a:ahLst/>
              <a:cxnLst/>
              <a:rect l="l" t="t" r="r" b="b"/>
              <a:pathLst>
                <a:path w="1426464" h="1426464">
                  <a:moveTo>
                    <a:pt x="0" y="313817"/>
                  </a:moveTo>
                  <a:cubicBezTo>
                    <a:pt x="0" y="140462"/>
                    <a:pt x="140462" y="0"/>
                    <a:pt x="313817" y="0"/>
                  </a:cubicBezTo>
                  <a:lnTo>
                    <a:pt x="1112647" y="0"/>
                  </a:lnTo>
                  <a:cubicBezTo>
                    <a:pt x="1286002" y="0"/>
                    <a:pt x="1426464" y="140462"/>
                    <a:pt x="1426464" y="313817"/>
                  </a:cubicBezTo>
                  <a:lnTo>
                    <a:pt x="1426464" y="1112647"/>
                  </a:lnTo>
                  <a:cubicBezTo>
                    <a:pt x="1426464" y="1286002"/>
                    <a:pt x="1286002" y="1426464"/>
                    <a:pt x="1112647" y="1426464"/>
                  </a:cubicBezTo>
                  <a:lnTo>
                    <a:pt x="313817" y="1426464"/>
                  </a:lnTo>
                  <a:cubicBezTo>
                    <a:pt x="140462" y="1426464"/>
                    <a:pt x="0" y="1286002"/>
                    <a:pt x="0" y="1112647"/>
                  </a:cubicBezTo>
                  <a:close/>
                </a:path>
              </a:pathLst>
            </a:custGeom>
            <a:solidFill>
              <a:srgbClr val="F97316"/>
            </a:solidFill>
          </p:spPr>
        </p:sp>
      </p:grpSp>
      <p:grpSp>
        <p:nvGrpSpPr>
          <p:cNvPr id="84" name="Group 84"/>
          <p:cNvGrpSpPr/>
          <p:nvPr/>
        </p:nvGrpSpPr>
        <p:grpSpPr>
          <a:xfrm>
            <a:off x="8896883" y="5616702"/>
            <a:ext cx="534924" cy="534924"/>
            <a:chOff x="0" y="0"/>
            <a:chExt cx="713232" cy="713232"/>
          </a:xfrm>
        </p:grpSpPr>
        <p:sp>
          <p:nvSpPr>
            <p:cNvPr id="85" name="Freeform 85" descr="preencoded.png"/>
            <p:cNvSpPr/>
            <p:nvPr/>
          </p:nvSpPr>
          <p:spPr>
            <a:xfrm>
              <a:off x="0" y="0"/>
              <a:ext cx="713232" cy="713232"/>
            </a:xfrm>
            <a:custGeom>
              <a:avLst/>
              <a:gdLst/>
              <a:ahLst/>
              <a:cxnLst/>
              <a:rect l="l" t="t" r="r" b="b"/>
              <a:pathLst>
                <a:path w="713232" h="713232">
                  <a:moveTo>
                    <a:pt x="0" y="0"/>
                  </a:moveTo>
                  <a:lnTo>
                    <a:pt x="713232" y="0"/>
                  </a:lnTo>
                  <a:lnTo>
                    <a:pt x="713232" y="713232"/>
                  </a:lnTo>
                  <a:lnTo>
                    <a:pt x="0" y="713232"/>
                  </a:lnTo>
                  <a:lnTo>
                    <a:pt x="0" y="0"/>
                  </a:lnTo>
                  <a:close/>
                </a:path>
              </a:pathLst>
            </a:custGeom>
            <a:blipFill>
              <a:blip r:embed="rId4"/>
              <a:stretch>
                <a:fillRect/>
              </a:stretch>
            </a:blipFill>
          </p:spPr>
        </p:sp>
      </p:grpSp>
      <p:grpSp>
        <p:nvGrpSpPr>
          <p:cNvPr id="86" name="Group 86"/>
          <p:cNvGrpSpPr/>
          <p:nvPr/>
        </p:nvGrpSpPr>
        <p:grpSpPr>
          <a:xfrm>
            <a:off x="9268739" y="5097018"/>
            <a:ext cx="669036" cy="669036"/>
            <a:chOff x="0" y="0"/>
            <a:chExt cx="892048" cy="892048"/>
          </a:xfrm>
        </p:grpSpPr>
        <p:sp>
          <p:nvSpPr>
            <p:cNvPr id="87" name="Freeform 87"/>
            <p:cNvSpPr/>
            <p:nvPr/>
          </p:nvSpPr>
          <p:spPr>
            <a:xfrm>
              <a:off x="0" y="0"/>
              <a:ext cx="892048" cy="892048"/>
            </a:xfrm>
            <a:custGeom>
              <a:avLst/>
              <a:gdLst/>
              <a:ahLst/>
              <a:cxnLst/>
              <a:rect l="l" t="t" r="r" b="b"/>
              <a:pathLst>
                <a:path w="892048" h="892048">
                  <a:moveTo>
                    <a:pt x="0" y="446024"/>
                  </a:moveTo>
                  <a:cubicBezTo>
                    <a:pt x="0" y="199644"/>
                    <a:pt x="199644" y="0"/>
                    <a:pt x="446024" y="0"/>
                  </a:cubicBezTo>
                  <a:cubicBezTo>
                    <a:pt x="692404" y="0"/>
                    <a:pt x="892048" y="199644"/>
                    <a:pt x="892048" y="446024"/>
                  </a:cubicBezTo>
                  <a:cubicBezTo>
                    <a:pt x="892048" y="692404"/>
                    <a:pt x="692404" y="892048"/>
                    <a:pt x="446024" y="892048"/>
                  </a:cubicBezTo>
                  <a:cubicBezTo>
                    <a:pt x="199644" y="892048"/>
                    <a:pt x="0" y="692404"/>
                    <a:pt x="0" y="446024"/>
                  </a:cubicBezTo>
                  <a:close/>
                </a:path>
              </a:pathLst>
            </a:custGeom>
            <a:solidFill>
              <a:srgbClr val="FFFFFF"/>
            </a:solidFill>
            <a:ln w="38100" cap="sq">
              <a:solidFill>
                <a:srgbClr val="F97316"/>
              </a:solidFill>
              <a:prstDash val="solid"/>
              <a:miter/>
            </a:ln>
          </p:spPr>
        </p:sp>
        <p:sp>
          <p:nvSpPr>
            <p:cNvPr id="88" name="TextBox 88"/>
            <p:cNvSpPr txBox="1"/>
            <p:nvPr/>
          </p:nvSpPr>
          <p:spPr>
            <a:xfrm>
              <a:off x="0" y="-19050"/>
              <a:ext cx="892048" cy="911098"/>
            </a:xfrm>
            <a:prstGeom prst="rect">
              <a:avLst/>
            </a:prstGeom>
          </p:spPr>
          <p:txBody>
            <a:bodyPr lIns="50800" tIns="50800" rIns="50800" bIns="50800" rtlCol="0" anchor="ctr"/>
            <a:lstStyle/>
            <a:p>
              <a:pPr algn="ctr">
                <a:lnSpc>
                  <a:spcPts val="2160"/>
                </a:lnSpc>
              </a:pPr>
              <a:r>
                <a:rPr lang="en-US" sz="1800" b="1">
                  <a:solidFill>
                    <a:srgbClr val="F97316"/>
                  </a:solidFill>
                  <a:latin typeface="Arial Bold"/>
                  <a:ea typeface="Arial Bold"/>
                  <a:cs typeface="Arial Bold"/>
                  <a:sym typeface="Arial Bold"/>
                </a:rPr>
                <a:t>39</a:t>
              </a:r>
            </a:p>
          </p:txBody>
        </p:sp>
      </p:grpSp>
      <p:sp>
        <p:nvSpPr>
          <p:cNvPr id="89" name="AutoShape 89"/>
          <p:cNvSpPr/>
          <p:nvPr/>
        </p:nvSpPr>
        <p:spPr>
          <a:xfrm rot="2074860">
            <a:off x="8956548" y="4763643"/>
            <a:ext cx="1903781" cy="0"/>
          </a:xfrm>
          <a:prstGeom prst="line">
            <a:avLst/>
          </a:prstGeom>
          <a:ln w="19050" cap="rnd">
            <a:solidFill>
              <a:srgbClr val="0AA7A2"/>
            </a:solidFill>
            <a:prstDash val="solid"/>
            <a:headEnd type="none" w="sm" len="sm"/>
            <a:tailEnd type="triangle" w="lg" len="med"/>
          </a:ln>
        </p:spPr>
      </p:sp>
      <p:grpSp>
        <p:nvGrpSpPr>
          <p:cNvPr id="90" name="Group 90"/>
          <p:cNvGrpSpPr/>
          <p:nvPr/>
        </p:nvGrpSpPr>
        <p:grpSpPr>
          <a:xfrm>
            <a:off x="10138181" y="5349240"/>
            <a:ext cx="1069848" cy="1069848"/>
            <a:chOff x="0" y="0"/>
            <a:chExt cx="1426464" cy="1426464"/>
          </a:xfrm>
        </p:grpSpPr>
        <p:sp>
          <p:nvSpPr>
            <p:cNvPr id="91" name="Freeform 91"/>
            <p:cNvSpPr/>
            <p:nvPr/>
          </p:nvSpPr>
          <p:spPr>
            <a:xfrm>
              <a:off x="0" y="0"/>
              <a:ext cx="1426464" cy="1426464"/>
            </a:xfrm>
            <a:custGeom>
              <a:avLst/>
              <a:gdLst/>
              <a:ahLst/>
              <a:cxnLst/>
              <a:rect l="l" t="t" r="r" b="b"/>
              <a:pathLst>
                <a:path w="1426464" h="1426464">
                  <a:moveTo>
                    <a:pt x="0" y="313817"/>
                  </a:moveTo>
                  <a:cubicBezTo>
                    <a:pt x="0" y="140462"/>
                    <a:pt x="140462" y="0"/>
                    <a:pt x="313817" y="0"/>
                  </a:cubicBezTo>
                  <a:lnTo>
                    <a:pt x="1112647" y="0"/>
                  </a:lnTo>
                  <a:cubicBezTo>
                    <a:pt x="1286002" y="0"/>
                    <a:pt x="1426464" y="140462"/>
                    <a:pt x="1426464" y="313817"/>
                  </a:cubicBezTo>
                  <a:lnTo>
                    <a:pt x="1426464" y="1112647"/>
                  </a:lnTo>
                  <a:cubicBezTo>
                    <a:pt x="1426464" y="1286002"/>
                    <a:pt x="1286002" y="1426464"/>
                    <a:pt x="1112647" y="1426464"/>
                  </a:cubicBezTo>
                  <a:lnTo>
                    <a:pt x="313817" y="1426464"/>
                  </a:lnTo>
                  <a:cubicBezTo>
                    <a:pt x="140462" y="1426464"/>
                    <a:pt x="0" y="1286002"/>
                    <a:pt x="0" y="1112647"/>
                  </a:cubicBezTo>
                  <a:close/>
                </a:path>
              </a:pathLst>
            </a:custGeom>
            <a:solidFill>
              <a:srgbClr val="0AA7A2"/>
            </a:solidFill>
          </p:spPr>
        </p:sp>
      </p:grpSp>
      <p:grpSp>
        <p:nvGrpSpPr>
          <p:cNvPr id="92" name="Group 92"/>
          <p:cNvGrpSpPr/>
          <p:nvPr/>
        </p:nvGrpSpPr>
        <p:grpSpPr>
          <a:xfrm>
            <a:off x="10405643" y="5616702"/>
            <a:ext cx="534924" cy="534924"/>
            <a:chOff x="0" y="0"/>
            <a:chExt cx="713232" cy="713232"/>
          </a:xfrm>
        </p:grpSpPr>
        <p:sp>
          <p:nvSpPr>
            <p:cNvPr id="93" name="Freeform 93" descr="preencoded.png"/>
            <p:cNvSpPr/>
            <p:nvPr/>
          </p:nvSpPr>
          <p:spPr>
            <a:xfrm>
              <a:off x="0" y="0"/>
              <a:ext cx="713232" cy="713232"/>
            </a:xfrm>
            <a:custGeom>
              <a:avLst/>
              <a:gdLst/>
              <a:ahLst/>
              <a:cxnLst/>
              <a:rect l="l" t="t" r="r" b="b"/>
              <a:pathLst>
                <a:path w="713232" h="713232">
                  <a:moveTo>
                    <a:pt x="0" y="0"/>
                  </a:moveTo>
                  <a:lnTo>
                    <a:pt x="713232" y="0"/>
                  </a:lnTo>
                  <a:lnTo>
                    <a:pt x="713232" y="713232"/>
                  </a:lnTo>
                  <a:lnTo>
                    <a:pt x="0" y="713232"/>
                  </a:lnTo>
                  <a:lnTo>
                    <a:pt x="0" y="0"/>
                  </a:lnTo>
                  <a:close/>
                </a:path>
              </a:pathLst>
            </a:custGeom>
            <a:blipFill>
              <a:blip r:embed="rId8"/>
              <a:stretch>
                <a:fillRect/>
              </a:stretch>
            </a:blipFill>
          </p:spPr>
        </p:sp>
      </p:grpSp>
      <p:grpSp>
        <p:nvGrpSpPr>
          <p:cNvPr id="94" name="Group 94"/>
          <p:cNvGrpSpPr/>
          <p:nvPr/>
        </p:nvGrpSpPr>
        <p:grpSpPr>
          <a:xfrm>
            <a:off x="10777499" y="5097018"/>
            <a:ext cx="669036" cy="669036"/>
            <a:chOff x="0" y="0"/>
            <a:chExt cx="892048" cy="892048"/>
          </a:xfrm>
        </p:grpSpPr>
        <p:sp>
          <p:nvSpPr>
            <p:cNvPr id="95" name="Freeform 95"/>
            <p:cNvSpPr/>
            <p:nvPr/>
          </p:nvSpPr>
          <p:spPr>
            <a:xfrm>
              <a:off x="0" y="0"/>
              <a:ext cx="892048" cy="892048"/>
            </a:xfrm>
            <a:custGeom>
              <a:avLst/>
              <a:gdLst/>
              <a:ahLst/>
              <a:cxnLst/>
              <a:rect l="l" t="t" r="r" b="b"/>
              <a:pathLst>
                <a:path w="892048" h="892048">
                  <a:moveTo>
                    <a:pt x="0" y="446024"/>
                  </a:moveTo>
                  <a:cubicBezTo>
                    <a:pt x="0" y="199644"/>
                    <a:pt x="199644" y="0"/>
                    <a:pt x="446024" y="0"/>
                  </a:cubicBezTo>
                  <a:cubicBezTo>
                    <a:pt x="692404" y="0"/>
                    <a:pt x="892048" y="199644"/>
                    <a:pt x="892048" y="446024"/>
                  </a:cubicBezTo>
                  <a:cubicBezTo>
                    <a:pt x="892048" y="692404"/>
                    <a:pt x="692404" y="892048"/>
                    <a:pt x="446024" y="892048"/>
                  </a:cubicBezTo>
                  <a:cubicBezTo>
                    <a:pt x="199644" y="892048"/>
                    <a:pt x="0" y="692404"/>
                    <a:pt x="0" y="446024"/>
                  </a:cubicBezTo>
                  <a:close/>
                </a:path>
              </a:pathLst>
            </a:custGeom>
            <a:solidFill>
              <a:srgbClr val="FFFFFF"/>
            </a:solidFill>
            <a:ln w="38100" cap="sq">
              <a:solidFill>
                <a:srgbClr val="0AA7A2"/>
              </a:solidFill>
              <a:prstDash val="solid"/>
              <a:miter/>
            </a:ln>
          </p:spPr>
        </p:sp>
        <p:sp>
          <p:nvSpPr>
            <p:cNvPr id="96" name="TextBox 96"/>
            <p:cNvSpPr txBox="1"/>
            <p:nvPr/>
          </p:nvSpPr>
          <p:spPr>
            <a:xfrm>
              <a:off x="0" y="-19050"/>
              <a:ext cx="892048" cy="911098"/>
            </a:xfrm>
            <a:prstGeom prst="rect">
              <a:avLst/>
            </a:prstGeom>
          </p:spPr>
          <p:txBody>
            <a:bodyPr lIns="50800" tIns="50800" rIns="50800" bIns="50800" rtlCol="0" anchor="ctr"/>
            <a:lstStyle/>
            <a:p>
              <a:pPr algn="ctr">
                <a:lnSpc>
                  <a:spcPts val="2160"/>
                </a:lnSpc>
              </a:pPr>
              <a:r>
                <a:rPr lang="en-US" sz="1800" b="1">
                  <a:solidFill>
                    <a:srgbClr val="0AA7A2"/>
                  </a:solidFill>
                  <a:latin typeface="Arial Bold"/>
                  <a:ea typeface="Arial Bold"/>
                  <a:cs typeface="Arial Bold"/>
                  <a:sym typeface="Arial Bold"/>
                </a:rPr>
                <a:t>39</a:t>
              </a:r>
            </a:p>
          </p:txBody>
        </p:sp>
      </p:grpSp>
      <p:grpSp>
        <p:nvGrpSpPr>
          <p:cNvPr id="97" name="Group 97"/>
          <p:cNvGrpSpPr/>
          <p:nvPr/>
        </p:nvGrpSpPr>
        <p:grpSpPr>
          <a:xfrm>
            <a:off x="12607061" y="3154680"/>
            <a:ext cx="4457700" cy="1508760"/>
            <a:chOff x="0" y="0"/>
            <a:chExt cx="5943600" cy="2011680"/>
          </a:xfrm>
        </p:grpSpPr>
        <p:sp>
          <p:nvSpPr>
            <p:cNvPr id="98" name="Freeform 98"/>
            <p:cNvSpPr/>
            <p:nvPr/>
          </p:nvSpPr>
          <p:spPr>
            <a:xfrm>
              <a:off x="0" y="0"/>
              <a:ext cx="5943600" cy="2011680"/>
            </a:xfrm>
            <a:custGeom>
              <a:avLst/>
              <a:gdLst/>
              <a:ahLst/>
              <a:cxnLst/>
              <a:rect l="l" t="t" r="r" b="b"/>
              <a:pathLst>
                <a:path w="5943600" h="2011680">
                  <a:moveTo>
                    <a:pt x="0" y="329184"/>
                  </a:moveTo>
                  <a:cubicBezTo>
                    <a:pt x="0" y="147447"/>
                    <a:pt x="147447" y="0"/>
                    <a:pt x="329184" y="0"/>
                  </a:cubicBezTo>
                  <a:lnTo>
                    <a:pt x="5614416" y="0"/>
                  </a:lnTo>
                  <a:cubicBezTo>
                    <a:pt x="5796153" y="0"/>
                    <a:pt x="5943600" y="147447"/>
                    <a:pt x="5943600" y="329184"/>
                  </a:cubicBezTo>
                  <a:lnTo>
                    <a:pt x="5943600" y="1682496"/>
                  </a:lnTo>
                  <a:cubicBezTo>
                    <a:pt x="5943600" y="1864360"/>
                    <a:pt x="5796153" y="2011680"/>
                    <a:pt x="5614416" y="2011680"/>
                  </a:cubicBezTo>
                  <a:lnTo>
                    <a:pt x="329184" y="2011680"/>
                  </a:lnTo>
                  <a:cubicBezTo>
                    <a:pt x="147447" y="2011680"/>
                    <a:pt x="0" y="1864233"/>
                    <a:pt x="0" y="1682496"/>
                  </a:cubicBezTo>
                  <a:close/>
                </a:path>
              </a:pathLst>
            </a:custGeom>
            <a:solidFill>
              <a:srgbClr val="DCFCE7"/>
            </a:solidFill>
          </p:spPr>
        </p:sp>
      </p:grpSp>
      <p:grpSp>
        <p:nvGrpSpPr>
          <p:cNvPr id="99" name="Group 99"/>
          <p:cNvGrpSpPr/>
          <p:nvPr/>
        </p:nvGrpSpPr>
        <p:grpSpPr>
          <a:xfrm>
            <a:off x="12881381" y="3429000"/>
            <a:ext cx="905256" cy="905256"/>
            <a:chOff x="0" y="0"/>
            <a:chExt cx="1207008" cy="1207008"/>
          </a:xfrm>
        </p:grpSpPr>
        <p:sp>
          <p:nvSpPr>
            <p:cNvPr id="100" name="Freeform 100"/>
            <p:cNvSpPr/>
            <p:nvPr/>
          </p:nvSpPr>
          <p:spPr>
            <a:xfrm>
              <a:off x="0" y="0"/>
              <a:ext cx="1207008" cy="1207008"/>
            </a:xfrm>
            <a:custGeom>
              <a:avLst/>
              <a:gdLst/>
              <a:ahLst/>
              <a:cxnLst/>
              <a:rect l="l" t="t" r="r" b="b"/>
              <a:pathLst>
                <a:path w="1207008" h="1207008">
                  <a:moveTo>
                    <a:pt x="0" y="265557"/>
                  </a:moveTo>
                  <a:cubicBezTo>
                    <a:pt x="0" y="118872"/>
                    <a:pt x="118872" y="0"/>
                    <a:pt x="265557" y="0"/>
                  </a:cubicBezTo>
                  <a:lnTo>
                    <a:pt x="941451" y="0"/>
                  </a:lnTo>
                  <a:cubicBezTo>
                    <a:pt x="1088136" y="0"/>
                    <a:pt x="1207008" y="118872"/>
                    <a:pt x="1207008" y="265557"/>
                  </a:cubicBezTo>
                  <a:lnTo>
                    <a:pt x="1207008" y="941451"/>
                  </a:lnTo>
                  <a:cubicBezTo>
                    <a:pt x="1207008" y="1088136"/>
                    <a:pt x="1088136" y="1207008"/>
                    <a:pt x="941451" y="1207008"/>
                  </a:cubicBezTo>
                  <a:lnTo>
                    <a:pt x="265557" y="1207008"/>
                  </a:lnTo>
                  <a:cubicBezTo>
                    <a:pt x="118872" y="1207008"/>
                    <a:pt x="0" y="1088136"/>
                    <a:pt x="0" y="941451"/>
                  </a:cubicBezTo>
                  <a:close/>
                </a:path>
              </a:pathLst>
            </a:custGeom>
            <a:solidFill>
              <a:srgbClr val="2463E8"/>
            </a:solidFill>
          </p:spPr>
        </p:sp>
      </p:grpSp>
      <p:grpSp>
        <p:nvGrpSpPr>
          <p:cNvPr id="101" name="Group 101"/>
          <p:cNvGrpSpPr/>
          <p:nvPr/>
        </p:nvGrpSpPr>
        <p:grpSpPr>
          <a:xfrm>
            <a:off x="13107695" y="3655314"/>
            <a:ext cx="452628" cy="452628"/>
            <a:chOff x="0" y="0"/>
            <a:chExt cx="603504" cy="603504"/>
          </a:xfrm>
        </p:grpSpPr>
        <p:sp>
          <p:nvSpPr>
            <p:cNvPr id="102" name="Freeform 102" descr="preencoded.png"/>
            <p:cNvSpPr/>
            <p:nvPr/>
          </p:nvSpPr>
          <p:spPr>
            <a:xfrm>
              <a:off x="0" y="0"/>
              <a:ext cx="603504" cy="603504"/>
            </a:xfrm>
            <a:custGeom>
              <a:avLst/>
              <a:gdLst/>
              <a:ahLst/>
              <a:cxnLst/>
              <a:rect l="l" t="t" r="r" b="b"/>
              <a:pathLst>
                <a:path w="603504" h="603504">
                  <a:moveTo>
                    <a:pt x="0" y="0"/>
                  </a:moveTo>
                  <a:lnTo>
                    <a:pt x="603504" y="0"/>
                  </a:lnTo>
                  <a:lnTo>
                    <a:pt x="603504" y="603504"/>
                  </a:lnTo>
                  <a:lnTo>
                    <a:pt x="0" y="603504"/>
                  </a:lnTo>
                  <a:lnTo>
                    <a:pt x="0" y="0"/>
                  </a:lnTo>
                  <a:close/>
                </a:path>
              </a:pathLst>
            </a:custGeom>
            <a:blipFill>
              <a:blip r:embed="rId7"/>
              <a:stretch>
                <a:fillRect/>
              </a:stretch>
            </a:blipFill>
          </p:spPr>
        </p:sp>
      </p:grpSp>
      <p:grpSp>
        <p:nvGrpSpPr>
          <p:cNvPr id="103" name="Group 103"/>
          <p:cNvGrpSpPr/>
          <p:nvPr/>
        </p:nvGrpSpPr>
        <p:grpSpPr>
          <a:xfrm>
            <a:off x="13978661" y="3429000"/>
            <a:ext cx="905256" cy="905256"/>
            <a:chOff x="0" y="0"/>
            <a:chExt cx="1207008" cy="1207008"/>
          </a:xfrm>
        </p:grpSpPr>
        <p:sp>
          <p:nvSpPr>
            <p:cNvPr id="104" name="Freeform 104"/>
            <p:cNvSpPr/>
            <p:nvPr/>
          </p:nvSpPr>
          <p:spPr>
            <a:xfrm>
              <a:off x="0" y="0"/>
              <a:ext cx="1207008" cy="1207008"/>
            </a:xfrm>
            <a:custGeom>
              <a:avLst/>
              <a:gdLst/>
              <a:ahLst/>
              <a:cxnLst/>
              <a:rect l="l" t="t" r="r" b="b"/>
              <a:pathLst>
                <a:path w="1207008" h="1207008">
                  <a:moveTo>
                    <a:pt x="0" y="265557"/>
                  </a:moveTo>
                  <a:cubicBezTo>
                    <a:pt x="0" y="118872"/>
                    <a:pt x="118872" y="0"/>
                    <a:pt x="265557" y="0"/>
                  </a:cubicBezTo>
                  <a:lnTo>
                    <a:pt x="941451" y="0"/>
                  </a:lnTo>
                  <a:cubicBezTo>
                    <a:pt x="1088136" y="0"/>
                    <a:pt x="1207008" y="118872"/>
                    <a:pt x="1207008" y="265557"/>
                  </a:cubicBezTo>
                  <a:lnTo>
                    <a:pt x="1207008" y="941451"/>
                  </a:lnTo>
                  <a:cubicBezTo>
                    <a:pt x="1207008" y="1088136"/>
                    <a:pt x="1088136" y="1207008"/>
                    <a:pt x="941451" y="1207008"/>
                  </a:cubicBezTo>
                  <a:lnTo>
                    <a:pt x="265557" y="1207008"/>
                  </a:lnTo>
                  <a:cubicBezTo>
                    <a:pt x="118872" y="1207008"/>
                    <a:pt x="0" y="1088136"/>
                    <a:pt x="0" y="941451"/>
                  </a:cubicBezTo>
                  <a:close/>
                </a:path>
              </a:pathLst>
            </a:custGeom>
            <a:solidFill>
              <a:srgbClr val="0AA7A2"/>
            </a:solidFill>
          </p:spPr>
        </p:sp>
      </p:grpSp>
      <p:grpSp>
        <p:nvGrpSpPr>
          <p:cNvPr id="105" name="Group 105"/>
          <p:cNvGrpSpPr/>
          <p:nvPr/>
        </p:nvGrpSpPr>
        <p:grpSpPr>
          <a:xfrm>
            <a:off x="14204975" y="3655314"/>
            <a:ext cx="452628" cy="452628"/>
            <a:chOff x="0" y="0"/>
            <a:chExt cx="603504" cy="603504"/>
          </a:xfrm>
        </p:grpSpPr>
        <p:sp>
          <p:nvSpPr>
            <p:cNvPr id="106" name="Freeform 106" descr="preencoded.png"/>
            <p:cNvSpPr/>
            <p:nvPr/>
          </p:nvSpPr>
          <p:spPr>
            <a:xfrm>
              <a:off x="0" y="0"/>
              <a:ext cx="603504" cy="603504"/>
            </a:xfrm>
            <a:custGeom>
              <a:avLst/>
              <a:gdLst/>
              <a:ahLst/>
              <a:cxnLst/>
              <a:rect l="l" t="t" r="r" b="b"/>
              <a:pathLst>
                <a:path w="603504" h="603504">
                  <a:moveTo>
                    <a:pt x="0" y="0"/>
                  </a:moveTo>
                  <a:lnTo>
                    <a:pt x="603504" y="0"/>
                  </a:lnTo>
                  <a:lnTo>
                    <a:pt x="603504" y="603504"/>
                  </a:lnTo>
                  <a:lnTo>
                    <a:pt x="0" y="603504"/>
                  </a:lnTo>
                  <a:lnTo>
                    <a:pt x="0" y="0"/>
                  </a:lnTo>
                  <a:close/>
                </a:path>
              </a:pathLst>
            </a:custGeom>
            <a:blipFill>
              <a:blip r:embed="rId8"/>
              <a:stretch>
                <a:fillRect/>
              </a:stretch>
            </a:blipFill>
          </p:spPr>
        </p:sp>
      </p:grpSp>
      <p:grpSp>
        <p:nvGrpSpPr>
          <p:cNvPr id="107" name="Group 107"/>
          <p:cNvGrpSpPr/>
          <p:nvPr/>
        </p:nvGrpSpPr>
        <p:grpSpPr>
          <a:xfrm>
            <a:off x="15103373" y="3689604"/>
            <a:ext cx="384048" cy="384048"/>
            <a:chOff x="0" y="0"/>
            <a:chExt cx="512064" cy="512064"/>
          </a:xfrm>
        </p:grpSpPr>
        <p:sp>
          <p:nvSpPr>
            <p:cNvPr id="108" name="Freeform 108" descr="preencoded.png"/>
            <p:cNvSpPr/>
            <p:nvPr/>
          </p:nvSpPr>
          <p:spPr>
            <a:xfrm>
              <a:off x="0" y="0"/>
              <a:ext cx="512064" cy="512064"/>
            </a:xfrm>
            <a:custGeom>
              <a:avLst/>
              <a:gdLst/>
              <a:ahLst/>
              <a:cxnLst/>
              <a:rect l="l" t="t" r="r" b="b"/>
              <a:pathLst>
                <a:path w="512064" h="512064">
                  <a:moveTo>
                    <a:pt x="0" y="0"/>
                  </a:moveTo>
                  <a:lnTo>
                    <a:pt x="512064" y="0"/>
                  </a:lnTo>
                  <a:lnTo>
                    <a:pt x="512064" y="512064"/>
                  </a:lnTo>
                  <a:lnTo>
                    <a:pt x="0" y="512064"/>
                  </a:lnTo>
                  <a:lnTo>
                    <a:pt x="0" y="0"/>
                  </a:lnTo>
                  <a:close/>
                </a:path>
              </a:pathLst>
            </a:custGeom>
            <a:blipFill>
              <a:blip r:embed="rId10"/>
              <a:stretch>
                <a:fillRect/>
              </a:stretch>
            </a:blipFill>
          </p:spPr>
        </p:sp>
      </p:grpSp>
      <p:grpSp>
        <p:nvGrpSpPr>
          <p:cNvPr id="109" name="Group 109"/>
          <p:cNvGrpSpPr/>
          <p:nvPr/>
        </p:nvGrpSpPr>
        <p:grpSpPr>
          <a:xfrm>
            <a:off x="15624581" y="3154680"/>
            <a:ext cx="1303020" cy="1508760"/>
            <a:chOff x="0" y="0"/>
            <a:chExt cx="1737360" cy="2011680"/>
          </a:xfrm>
        </p:grpSpPr>
        <p:sp>
          <p:nvSpPr>
            <p:cNvPr id="110" name="Freeform 110"/>
            <p:cNvSpPr/>
            <p:nvPr/>
          </p:nvSpPr>
          <p:spPr>
            <a:xfrm>
              <a:off x="0" y="0"/>
              <a:ext cx="1737360" cy="2011680"/>
            </a:xfrm>
            <a:custGeom>
              <a:avLst/>
              <a:gdLst/>
              <a:ahLst/>
              <a:cxnLst/>
              <a:rect l="l" t="t" r="r" b="b"/>
              <a:pathLst>
                <a:path w="1737360" h="2011680">
                  <a:moveTo>
                    <a:pt x="0" y="0"/>
                  </a:moveTo>
                  <a:lnTo>
                    <a:pt x="1737360" y="0"/>
                  </a:lnTo>
                  <a:lnTo>
                    <a:pt x="1737360" y="2011680"/>
                  </a:lnTo>
                  <a:lnTo>
                    <a:pt x="0" y="2011680"/>
                  </a:lnTo>
                  <a:close/>
                </a:path>
              </a:pathLst>
            </a:custGeom>
            <a:blipFill>
              <a:blip r:embed="rId3">
                <a:alphaModFix amt="0"/>
              </a:blip>
              <a:stretch>
                <a:fillRect l="-98562" r="-98562"/>
              </a:stretch>
            </a:blipFill>
          </p:spPr>
        </p:sp>
        <p:sp>
          <p:nvSpPr>
            <p:cNvPr id="111" name="TextBox 111"/>
            <p:cNvSpPr txBox="1"/>
            <p:nvPr/>
          </p:nvSpPr>
          <p:spPr>
            <a:xfrm>
              <a:off x="0" y="-28575"/>
              <a:ext cx="1737360" cy="2040255"/>
            </a:xfrm>
            <a:prstGeom prst="rect">
              <a:avLst/>
            </a:prstGeom>
          </p:spPr>
          <p:txBody>
            <a:bodyPr lIns="0" tIns="0" rIns="0" bIns="0" rtlCol="0" anchor="ctr"/>
            <a:lstStyle/>
            <a:p>
              <a:pPr algn="ctr">
                <a:lnSpc>
                  <a:spcPts val="8280"/>
                </a:lnSpc>
              </a:pPr>
              <a:r>
                <a:rPr lang="en-US" sz="6900" b="1">
                  <a:solidFill>
                    <a:srgbClr val="16A34A"/>
                  </a:solidFill>
                  <a:latin typeface="Arial Bold"/>
                  <a:ea typeface="Arial Bold"/>
                  <a:cs typeface="Arial Bold"/>
                  <a:sym typeface="Arial Bold"/>
                </a:rPr>
                <a:t>0%</a:t>
              </a:r>
            </a:p>
          </p:txBody>
        </p:sp>
      </p:grpSp>
      <p:grpSp>
        <p:nvGrpSpPr>
          <p:cNvPr id="112" name="Group 112"/>
          <p:cNvGrpSpPr/>
          <p:nvPr/>
        </p:nvGrpSpPr>
        <p:grpSpPr>
          <a:xfrm>
            <a:off x="12607061" y="5212080"/>
            <a:ext cx="4457700" cy="1508760"/>
            <a:chOff x="0" y="0"/>
            <a:chExt cx="5943600" cy="2011680"/>
          </a:xfrm>
        </p:grpSpPr>
        <p:sp>
          <p:nvSpPr>
            <p:cNvPr id="113" name="Freeform 113"/>
            <p:cNvSpPr/>
            <p:nvPr/>
          </p:nvSpPr>
          <p:spPr>
            <a:xfrm>
              <a:off x="0" y="0"/>
              <a:ext cx="5943600" cy="2011680"/>
            </a:xfrm>
            <a:custGeom>
              <a:avLst/>
              <a:gdLst/>
              <a:ahLst/>
              <a:cxnLst/>
              <a:rect l="l" t="t" r="r" b="b"/>
              <a:pathLst>
                <a:path w="5943600" h="2011680">
                  <a:moveTo>
                    <a:pt x="0" y="329184"/>
                  </a:moveTo>
                  <a:cubicBezTo>
                    <a:pt x="0" y="147447"/>
                    <a:pt x="147447" y="0"/>
                    <a:pt x="329184" y="0"/>
                  </a:cubicBezTo>
                  <a:lnTo>
                    <a:pt x="5614416" y="0"/>
                  </a:lnTo>
                  <a:cubicBezTo>
                    <a:pt x="5796153" y="0"/>
                    <a:pt x="5943600" y="147447"/>
                    <a:pt x="5943600" y="329184"/>
                  </a:cubicBezTo>
                  <a:lnTo>
                    <a:pt x="5943600" y="1682496"/>
                  </a:lnTo>
                  <a:cubicBezTo>
                    <a:pt x="5943600" y="1864360"/>
                    <a:pt x="5796153" y="2011680"/>
                    <a:pt x="5614416" y="2011680"/>
                  </a:cubicBezTo>
                  <a:lnTo>
                    <a:pt x="329184" y="2011680"/>
                  </a:lnTo>
                  <a:cubicBezTo>
                    <a:pt x="147447" y="2011680"/>
                    <a:pt x="0" y="1864233"/>
                    <a:pt x="0" y="1682496"/>
                  </a:cubicBezTo>
                  <a:close/>
                </a:path>
              </a:pathLst>
            </a:custGeom>
            <a:solidFill>
              <a:srgbClr val="FFEDD5"/>
            </a:solidFill>
          </p:spPr>
        </p:sp>
      </p:grpSp>
      <p:grpSp>
        <p:nvGrpSpPr>
          <p:cNvPr id="114" name="Group 114"/>
          <p:cNvGrpSpPr/>
          <p:nvPr/>
        </p:nvGrpSpPr>
        <p:grpSpPr>
          <a:xfrm>
            <a:off x="12881381" y="5486400"/>
            <a:ext cx="905256" cy="905256"/>
            <a:chOff x="0" y="0"/>
            <a:chExt cx="1207008" cy="1207008"/>
          </a:xfrm>
        </p:grpSpPr>
        <p:sp>
          <p:nvSpPr>
            <p:cNvPr id="115" name="Freeform 115"/>
            <p:cNvSpPr/>
            <p:nvPr/>
          </p:nvSpPr>
          <p:spPr>
            <a:xfrm>
              <a:off x="0" y="0"/>
              <a:ext cx="1207008" cy="1207008"/>
            </a:xfrm>
            <a:custGeom>
              <a:avLst/>
              <a:gdLst/>
              <a:ahLst/>
              <a:cxnLst/>
              <a:rect l="l" t="t" r="r" b="b"/>
              <a:pathLst>
                <a:path w="1207008" h="1207008">
                  <a:moveTo>
                    <a:pt x="0" y="265557"/>
                  </a:moveTo>
                  <a:cubicBezTo>
                    <a:pt x="0" y="118872"/>
                    <a:pt x="118872" y="0"/>
                    <a:pt x="265557" y="0"/>
                  </a:cubicBezTo>
                  <a:lnTo>
                    <a:pt x="941451" y="0"/>
                  </a:lnTo>
                  <a:cubicBezTo>
                    <a:pt x="1088136" y="0"/>
                    <a:pt x="1207008" y="118872"/>
                    <a:pt x="1207008" y="265557"/>
                  </a:cubicBezTo>
                  <a:lnTo>
                    <a:pt x="1207008" y="941451"/>
                  </a:lnTo>
                  <a:cubicBezTo>
                    <a:pt x="1207008" y="1088136"/>
                    <a:pt x="1088136" y="1207008"/>
                    <a:pt x="941451" y="1207008"/>
                  </a:cubicBezTo>
                  <a:lnTo>
                    <a:pt x="265557" y="1207008"/>
                  </a:lnTo>
                  <a:cubicBezTo>
                    <a:pt x="118872" y="1207008"/>
                    <a:pt x="0" y="1088136"/>
                    <a:pt x="0" y="941451"/>
                  </a:cubicBezTo>
                  <a:close/>
                </a:path>
              </a:pathLst>
            </a:custGeom>
            <a:solidFill>
              <a:srgbClr val="F97316"/>
            </a:solidFill>
          </p:spPr>
        </p:sp>
      </p:grpSp>
      <p:grpSp>
        <p:nvGrpSpPr>
          <p:cNvPr id="116" name="Group 116"/>
          <p:cNvGrpSpPr/>
          <p:nvPr/>
        </p:nvGrpSpPr>
        <p:grpSpPr>
          <a:xfrm>
            <a:off x="13107695" y="5712714"/>
            <a:ext cx="452628" cy="452628"/>
            <a:chOff x="0" y="0"/>
            <a:chExt cx="603504" cy="603504"/>
          </a:xfrm>
        </p:grpSpPr>
        <p:sp>
          <p:nvSpPr>
            <p:cNvPr id="117" name="Freeform 117" descr="preencoded.png"/>
            <p:cNvSpPr/>
            <p:nvPr/>
          </p:nvSpPr>
          <p:spPr>
            <a:xfrm>
              <a:off x="0" y="0"/>
              <a:ext cx="603504" cy="603504"/>
            </a:xfrm>
            <a:custGeom>
              <a:avLst/>
              <a:gdLst/>
              <a:ahLst/>
              <a:cxnLst/>
              <a:rect l="l" t="t" r="r" b="b"/>
              <a:pathLst>
                <a:path w="603504" h="603504">
                  <a:moveTo>
                    <a:pt x="0" y="0"/>
                  </a:moveTo>
                  <a:lnTo>
                    <a:pt x="603504" y="0"/>
                  </a:lnTo>
                  <a:lnTo>
                    <a:pt x="603504" y="603504"/>
                  </a:lnTo>
                  <a:lnTo>
                    <a:pt x="0" y="603504"/>
                  </a:lnTo>
                  <a:lnTo>
                    <a:pt x="0" y="0"/>
                  </a:lnTo>
                  <a:close/>
                </a:path>
              </a:pathLst>
            </a:custGeom>
            <a:blipFill>
              <a:blip r:embed="rId4"/>
              <a:stretch>
                <a:fillRect/>
              </a:stretch>
            </a:blipFill>
          </p:spPr>
        </p:sp>
      </p:grpSp>
      <p:grpSp>
        <p:nvGrpSpPr>
          <p:cNvPr id="118" name="Group 118"/>
          <p:cNvGrpSpPr/>
          <p:nvPr/>
        </p:nvGrpSpPr>
        <p:grpSpPr>
          <a:xfrm>
            <a:off x="14006093" y="5747004"/>
            <a:ext cx="384048" cy="384048"/>
            <a:chOff x="0" y="0"/>
            <a:chExt cx="512064" cy="512064"/>
          </a:xfrm>
        </p:grpSpPr>
        <p:sp>
          <p:nvSpPr>
            <p:cNvPr id="119" name="Freeform 119" descr="preencoded.png"/>
            <p:cNvSpPr/>
            <p:nvPr/>
          </p:nvSpPr>
          <p:spPr>
            <a:xfrm>
              <a:off x="0" y="0"/>
              <a:ext cx="512064" cy="512064"/>
            </a:xfrm>
            <a:custGeom>
              <a:avLst/>
              <a:gdLst/>
              <a:ahLst/>
              <a:cxnLst/>
              <a:rect l="l" t="t" r="r" b="b"/>
              <a:pathLst>
                <a:path w="512064" h="512064">
                  <a:moveTo>
                    <a:pt x="0" y="0"/>
                  </a:moveTo>
                  <a:lnTo>
                    <a:pt x="512064" y="0"/>
                  </a:lnTo>
                  <a:lnTo>
                    <a:pt x="512064" y="512064"/>
                  </a:lnTo>
                  <a:lnTo>
                    <a:pt x="0" y="512064"/>
                  </a:lnTo>
                  <a:lnTo>
                    <a:pt x="0" y="0"/>
                  </a:lnTo>
                  <a:close/>
                </a:path>
              </a:pathLst>
            </a:custGeom>
            <a:blipFill>
              <a:blip r:embed="rId10"/>
              <a:stretch>
                <a:fillRect/>
              </a:stretch>
            </a:blipFill>
          </p:spPr>
        </p:sp>
      </p:grpSp>
      <p:grpSp>
        <p:nvGrpSpPr>
          <p:cNvPr id="120" name="Group 120"/>
          <p:cNvGrpSpPr/>
          <p:nvPr/>
        </p:nvGrpSpPr>
        <p:grpSpPr>
          <a:xfrm>
            <a:off x="14527301" y="5212080"/>
            <a:ext cx="2400300" cy="1508760"/>
            <a:chOff x="0" y="0"/>
            <a:chExt cx="3200400" cy="2011680"/>
          </a:xfrm>
        </p:grpSpPr>
        <p:sp>
          <p:nvSpPr>
            <p:cNvPr id="121" name="Freeform 121"/>
            <p:cNvSpPr/>
            <p:nvPr/>
          </p:nvSpPr>
          <p:spPr>
            <a:xfrm>
              <a:off x="0" y="0"/>
              <a:ext cx="3200400" cy="2011680"/>
            </a:xfrm>
            <a:custGeom>
              <a:avLst/>
              <a:gdLst/>
              <a:ahLst/>
              <a:cxnLst/>
              <a:rect l="l" t="t" r="r" b="b"/>
              <a:pathLst>
                <a:path w="3200400" h="2011680">
                  <a:moveTo>
                    <a:pt x="0" y="0"/>
                  </a:moveTo>
                  <a:lnTo>
                    <a:pt x="3200400" y="0"/>
                  </a:lnTo>
                  <a:lnTo>
                    <a:pt x="3200400" y="2011680"/>
                  </a:lnTo>
                  <a:lnTo>
                    <a:pt x="0" y="2011680"/>
                  </a:lnTo>
                  <a:close/>
                </a:path>
              </a:pathLst>
            </a:custGeom>
            <a:blipFill>
              <a:blip r:embed="rId3">
                <a:alphaModFix amt="0"/>
              </a:blip>
              <a:stretch>
                <a:fillRect l="-30647" r="-30647"/>
              </a:stretch>
            </a:blipFill>
          </p:spPr>
        </p:sp>
        <p:sp>
          <p:nvSpPr>
            <p:cNvPr id="122" name="TextBox 122"/>
            <p:cNvSpPr txBox="1"/>
            <p:nvPr/>
          </p:nvSpPr>
          <p:spPr>
            <a:xfrm>
              <a:off x="0" y="-19050"/>
              <a:ext cx="3200400" cy="2030730"/>
            </a:xfrm>
            <a:prstGeom prst="rect">
              <a:avLst/>
            </a:prstGeom>
          </p:spPr>
          <p:txBody>
            <a:bodyPr lIns="0" tIns="0" rIns="0" bIns="0" rtlCol="0" anchor="ctr"/>
            <a:lstStyle/>
            <a:p>
              <a:pPr algn="ctr">
                <a:lnSpc>
                  <a:spcPts val="4680"/>
                </a:lnSpc>
              </a:pPr>
              <a:r>
                <a:rPr lang="en-US" sz="3900" b="1">
                  <a:solidFill>
                    <a:srgbClr val="F97316"/>
                  </a:solidFill>
                  <a:latin typeface="Arial Bold"/>
                  <a:ea typeface="Arial Bold"/>
                  <a:cs typeface="Arial Bold"/>
                  <a:sym typeface="Arial Bold"/>
                </a:rPr>
                <a:t>small %</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22960" y="480060"/>
            <a:ext cx="16637508" cy="960120"/>
            <a:chOff x="0" y="0"/>
            <a:chExt cx="22183344" cy="1280160"/>
          </a:xfrm>
        </p:grpSpPr>
        <p:sp>
          <p:nvSpPr>
            <p:cNvPr id="3" name="Freeform 3"/>
            <p:cNvSpPr/>
            <p:nvPr/>
          </p:nvSpPr>
          <p:spPr>
            <a:xfrm>
              <a:off x="0" y="0"/>
              <a:ext cx="22183344" cy="1280160"/>
            </a:xfrm>
            <a:custGeom>
              <a:avLst/>
              <a:gdLst/>
              <a:ahLst/>
              <a:cxnLst/>
              <a:rect l="l" t="t" r="r" b="b"/>
              <a:pathLst>
                <a:path w="22183344" h="1280160">
                  <a:moveTo>
                    <a:pt x="0" y="0"/>
                  </a:moveTo>
                  <a:lnTo>
                    <a:pt x="22183344" y="0"/>
                  </a:lnTo>
                  <a:lnTo>
                    <a:pt x="22183344" y="1280160"/>
                  </a:lnTo>
                  <a:lnTo>
                    <a:pt x="0" y="1280160"/>
                  </a:lnTo>
                  <a:close/>
                </a:path>
              </a:pathLst>
            </a:custGeom>
            <a:blipFill>
              <a:blip r:embed="rId3">
                <a:alphaModFix amt="0"/>
              </a:blip>
              <a:stretch>
                <a:fillRect t="-287647" b="-287647"/>
              </a:stretch>
            </a:blipFill>
          </p:spPr>
        </p:sp>
        <p:sp>
          <p:nvSpPr>
            <p:cNvPr id="4" name="TextBox 4"/>
            <p:cNvSpPr txBox="1"/>
            <p:nvPr/>
          </p:nvSpPr>
          <p:spPr>
            <a:xfrm>
              <a:off x="0" y="-19050"/>
              <a:ext cx="22183344" cy="1299210"/>
            </a:xfrm>
            <a:prstGeom prst="rect">
              <a:avLst/>
            </a:prstGeom>
          </p:spPr>
          <p:txBody>
            <a:bodyPr lIns="0" tIns="0" rIns="0" bIns="0" rtlCol="0" anchor="ctr"/>
            <a:lstStyle/>
            <a:p>
              <a:pPr algn="ctr">
                <a:lnSpc>
                  <a:spcPts val="5759"/>
                </a:lnSpc>
              </a:pPr>
              <a:r>
                <a:rPr lang="en-US" sz="4800" b="1">
                  <a:solidFill>
                    <a:srgbClr val="15243A"/>
                  </a:solidFill>
                  <a:latin typeface="Arial Bold"/>
                  <a:ea typeface="Arial Bold"/>
                  <a:cs typeface="Arial Bold"/>
                  <a:sym typeface="Arial Bold"/>
                </a:rPr>
                <a:t>Who we serve first</a:t>
              </a:r>
            </a:p>
          </p:txBody>
        </p:sp>
      </p:grpSp>
      <p:grpSp>
        <p:nvGrpSpPr>
          <p:cNvPr id="5" name="Group 5"/>
          <p:cNvGrpSpPr/>
          <p:nvPr/>
        </p:nvGrpSpPr>
        <p:grpSpPr>
          <a:xfrm>
            <a:off x="744855" y="1842135"/>
            <a:ext cx="5642610" cy="7219950"/>
            <a:chOff x="0" y="0"/>
            <a:chExt cx="7523480" cy="9626600"/>
          </a:xfrm>
        </p:grpSpPr>
        <p:sp>
          <p:nvSpPr>
            <p:cNvPr id="6" name="Freeform 6"/>
            <p:cNvSpPr/>
            <p:nvPr/>
          </p:nvSpPr>
          <p:spPr>
            <a:xfrm>
              <a:off x="0" y="0"/>
              <a:ext cx="7523480" cy="9626600"/>
            </a:xfrm>
            <a:custGeom>
              <a:avLst/>
              <a:gdLst/>
              <a:ahLst/>
              <a:cxnLst/>
              <a:rect l="l" t="t" r="r" b="b"/>
              <a:pathLst>
                <a:path w="7523480" h="9626600">
                  <a:moveTo>
                    <a:pt x="0" y="367030"/>
                  </a:moveTo>
                  <a:cubicBezTo>
                    <a:pt x="0" y="164338"/>
                    <a:pt x="164338" y="0"/>
                    <a:pt x="367030" y="0"/>
                  </a:cubicBezTo>
                  <a:lnTo>
                    <a:pt x="7156450" y="0"/>
                  </a:lnTo>
                  <a:cubicBezTo>
                    <a:pt x="7359142" y="0"/>
                    <a:pt x="7523480" y="164338"/>
                    <a:pt x="7523480" y="367030"/>
                  </a:cubicBezTo>
                  <a:lnTo>
                    <a:pt x="7523480" y="9259570"/>
                  </a:lnTo>
                  <a:cubicBezTo>
                    <a:pt x="7523480" y="9462262"/>
                    <a:pt x="7359142" y="9626600"/>
                    <a:pt x="7156450" y="9626600"/>
                  </a:cubicBezTo>
                  <a:lnTo>
                    <a:pt x="367030" y="9626600"/>
                  </a:lnTo>
                  <a:cubicBezTo>
                    <a:pt x="164338" y="9626600"/>
                    <a:pt x="0" y="9462262"/>
                    <a:pt x="0" y="9259570"/>
                  </a:cubicBezTo>
                  <a:close/>
                </a:path>
              </a:pathLst>
            </a:custGeom>
            <a:solidFill>
              <a:srgbClr val="FFFFFF"/>
            </a:solidFill>
            <a:ln w="19050" cap="sq">
              <a:solidFill>
                <a:srgbClr val="E2E8F0"/>
              </a:solidFill>
              <a:prstDash val="solid"/>
              <a:miter/>
            </a:ln>
          </p:spPr>
        </p:sp>
      </p:grpSp>
      <p:grpSp>
        <p:nvGrpSpPr>
          <p:cNvPr id="7" name="Group 7"/>
          <p:cNvGrpSpPr/>
          <p:nvPr/>
        </p:nvGrpSpPr>
        <p:grpSpPr>
          <a:xfrm>
            <a:off x="2194560" y="2331720"/>
            <a:ext cx="2743200" cy="2743200"/>
            <a:chOff x="0" y="0"/>
            <a:chExt cx="3657600" cy="3657600"/>
          </a:xfrm>
        </p:grpSpPr>
        <p:sp>
          <p:nvSpPr>
            <p:cNvPr id="8" name="Freeform 8"/>
            <p:cNvSpPr/>
            <p:nvPr/>
          </p:nvSpPr>
          <p:spPr>
            <a:xfrm>
              <a:off x="0" y="0"/>
              <a:ext cx="3657600" cy="3657600"/>
            </a:xfrm>
            <a:custGeom>
              <a:avLst/>
              <a:gdLst/>
              <a:ahLst/>
              <a:cxnLst/>
              <a:rect l="l" t="t" r="r" b="b"/>
              <a:pathLst>
                <a:path w="3657600" h="3657600">
                  <a:moveTo>
                    <a:pt x="0" y="1828800"/>
                  </a:moveTo>
                  <a:cubicBezTo>
                    <a:pt x="0" y="818769"/>
                    <a:pt x="818769" y="0"/>
                    <a:pt x="1828800" y="0"/>
                  </a:cubicBezTo>
                  <a:cubicBezTo>
                    <a:pt x="2838831" y="0"/>
                    <a:pt x="3657600" y="818769"/>
                    <a:pt x="3657600" y="1828800"/>
                  </a:cubicBezTo>
                  <a:cubicBezTo>
                    <a:pt x="3657600" y="2838831"/>
                    <a:pt x="2838831" y="3657600"/>
                    <a:pt x="1828800" y="3657600"/>
                  </a:cubicBezTo>
                  <a:cubicBezTo>
                    <a:pt x="818769" y="3657600"/>
                    <a:pt x="0" y="2838831"/>
                    <a:pt x="0" y="1828800"/>
                  </a:cubicBezTo>
                  <a:close/>
                </a:path>
              </a:pathLst>
            </a:custGeom>
            <a:solidFill>
              <a:srgbClr val="FFEDD5"/>
            </a:solidFill>
          </p:spPr>
        </p:sp>
      </p:grpSp>
      <p:grpSp>
        <p:nvGrpSpPr>
          <p:cNvPr id="9" name="Group 9"/>
          <p:cNvGrpSpPr/>
          <p:nvPr/>
        </p:nvGrpSpPr>
        <p:grpSpPr>
          <a:xfrm>
            <a:off x="2263140" y="2057400"/>
            <a:ext cx="2606040" cy="3250692"/>
            <a:chOff x="0" y="0"/>
            <a:chExt cx="3474720" cy="4334256"/>
          </a:xfrm>
        </p:grpSpPr>
        <p:sp>
          <p:nvSpPr>
            <p:cNvPr id="10" name="Freeform 10" descr="Facebook seller (illustrative persona)"/>
            <p:cNvSpPr/>
            <p:nvPr/>
          </p:nvSpPr>
          <p:spPr>
            <a:xfrm>
              <a:off x="0" y="0"/>
              <a:ext cx="3474720" cy="4334256"/>
            </a:xfrm>
            <a:custGeom>
              <a:avLst/>
              <a:gdLst/>
              <a:ahLst/>
              <a:cxnLst/>
              <a:rect l="l" t="t" r="r" b="b"/>
              <a:pathLst>
                <a:path w="3474720" h="4334256">
                  <a:moveTo>
                    <a:pt x="0" y="0"/>
                  </a:moveTo>
                  <a:lnTo>
                    <a:pt x="3474720" y="0"/>
                  </a:lnTo>
                  <a:lnTo>
                    <a:pt x="3474720" y="4334256"/>
                  </a:lnTo>
                  <a:lnTo>
                    <a:pt x="0" y="4334256"/>
                  </a:lnTo>
                  <a:lnTo>
                    <a:pt x="0" y="0"/>
                  </a:lnTo>
                  <a:close/>
                </a:path>
              </a:pathLst>
            </a:custGeom>
            <a:blipFill>
              <a:blip r:embed="rId4"/>
              <a:stretch>
                <a:fillRect t="-75" b="-75"/>
              </a:stretch>
            </a:blipFill>
          </p:spPr>
        </p:sp>
      </p:grpSp>
      <p:grpSp>
        <p:nvGrpSpPr>
          <p:cNvPr id="11" name="Group 11"/>
          <p:cNvGrpSpPr/>
          <p:nvPr/>
        </p:nvGrpSpPr>
        <p:grpSpPr>
          <a:xfrm>
            <a:off x="754380" y="5417820"/>
            <a:ext cx="5623560" cy="617220"/>
            <a:chOff x="0" y="0"/>
            <a:chExt cx="7498080" cy="822960"/>
          </a:xfrm>
        </p:grpSpPr>
        <p:sp>
          <p:nvSpPr>
            <p:cNvPr id="12" name="Freeform 12"/>
            <p:cNvSpPr/>
            <p:nvPr/>
          </p:nvSpPr>
          <p:spPr>
            <a:xfrm>
              <a:off x="0" y="0"/>
              <a:ext cx="7498080" cy="822960"/>
            </a:xfrm>
            <a:custGeom>
              <a:avLst/>
              <a:gdLst/>
              <a:ahLst/>
              <a:cxnLst/>
              <a:rect l="l" t="t" r="r" b="b"/>
              <a:pathLst>
                <a:path w="7498080" h="822960">
                  <a:moveTo>
                    <a:pt x="0" y="0"/>
                  </a:moveTo>
                  <a:lnTo>
                    <a:pt x="7498080" y="0"/>
                  </a:lnTo>
                  <a:lnTo>
                    <a:pt x="7498080" y="822960"/>
                  </a:lnTo>
                  <a:lnTo>
                    <a:pt x="0" y="822960"/>
                  </a:lnTo>
                  <a:close/>
                </a:path>
              </a:pathLst>
            </a:custGeom>
            <a:blipFill>
              <a:blip r:embed="rId3">
                <a:alphaModFix amt="0"/>
              </a:blip>
              <a:stretch>
                <a:fillRect t="-127530" b="-127530"/>
              </a:stretch>
            </a:blipFill>
          </p:spPr>
        </p:sp>
        <p:sp>
          <p:nvSpPr>
            <p:cNvPr id="13" name="TextBox 13"/>
            <p:cNvSpPr txBox="1"/>
            <p:nvPr/>
          </p:nvSpPr>
          <p:spPr>
            <a:xfrm>
              <a:off x="0" y="-28575"/>
              <a:ext cx="7498080" cy="851535"/>
            </a:xfrm>
            <a:prstGeom prst="rect">
              <a:avLst/>
            </a:prstGeom>
          </p:spPr>
          <p:txBody>
            <a:bodyPr lIns="0" tIns="0" rIns="0" bIns="0" rtlCol="0" anchor="ctr"/>
            <a:lstStyle/>
            <a:p>
              <a:pPr algn="ctr">
                <a:lnSpc>
                  <a:spcPts val="3960"/>
                </a:lnSpc>
              </a:pPr>
              <a:r>
                <a:rPr lang="en-US" sz="3300" b="1">
                  <a:solidFill>
                    <a:srgbClr val="15243A"/>
                  </a:solidFill>
                  <a:latin typeface="Arial Bold"/>
                  <a:ea typeface="Arial Bold"/>
                  <a:cs typeface="Arial Bold"/>
                  <a:sym typeface="Arial Bold"/>
                </a:rPr>
                <a:t>Facebook seller</a:t>
              </a:r>
            </a:p>
          </p:txBody>
        </p:sp>
      </p:grpSp>
      <p:grpSp>
        <p:nvGrpSpPr>
          <p:cNvPr id="14" name="Group 14"/>
          <p:cNvGrpSpPr/>
          <p:nvPr/>
        </p:nvGrpSpPr>
        <p:grpSpPr>
          <a:xfrm>
            <a:off x="1234440" y="6515100"/>
            <a:ext cx="1920240" cy="411480"/>
            <a:chOff x="0" y="0"/>
            <a:chExt cx="2560320" cy="548640"/>
          </a:xfrm>
        </p:grpSpPr>
        <p:sp>
          <p:nvSpPr>
            <p:cNvPr id="15" name="Freeform 15"/>
            <p:cNvSpPr/>
            <p:nvPr/>
          </p:nvSpPr>
          <p:spPr>
            <a:xfrm>
              <a:off x="0" y="0"/>
              <a:ext cx="2560320" cy="548640"/>
            </a:xfrm>
            <a:custGeom>
              <a:avLst/>
              <a:gdLst/>
              <a:ahLst/>
              <a:cxnLst/>
              <a:rect l="l" t="t" r="r" b="b"/>
              <a:pathLst>
                <a:path w="2560320" h="548640">
                  <a:moveTo>
                    <a:pt x="0" y="0"/>
                  </a:moveTo>
                  <a:lnTo>
                    <a:pt x="2560320" y="0"/>
                  </a:lnTo>
                  <a:lnTo>
                    <a:pt x="2560320" y="548640"/>
                  </a:lnTo>
                  <a:lnTo>
                    <a:pt x="0" y="548640"/>
                  </a:lnTo>
                  <a:close/>
                </a:path>
              </a:pathLst>
            </a:custGeom>
            <a:blipFill>
              <a:blip r:embed="rId3">
                <a:alphaModFix amt="0"/>
              </a:blip>
              <a:stretch>
                <a:fillRect t="-40930" b="-40930"/>
              </a:stretch>
            </a:blipFill>
          </p:spPr>
        </p:sp>
        <p:sp>
          <p:nvSpPr>
            <p:cNvPr id="16" name="TextBox 16"/>
            <p:cNvSpPr txBox="1"/>
            <p:nvPr/>
          </p:nvSpPr>
          <p:spPr>
            <a:xfrm>
              <a:off x="0" y="-19050"/>
              <a:ext cx="2560320" cy="567690"/>
            </a:xfrm>
            <a:prstGeom prst="rect">
              <a:avLst/>
            </a:prstGeom>
          </p:spPr>
          <p:txBody>
            <a:bodyPr lIns="0" tIns="0" rIns="0" bIns="0" rtlCol="0" anchor="ctr"/>
            <a:lstStyle/>
            <a:p>
              <a:pPr algn="l">
                <a:lnSpc>
                  <a:spcPts val="1980"/>
                </a:lnSpc>
              </a:pPr>
              <a:r>
                <a:rPr lang="en-US" sz="1650" b="1" spc="150">
                  <a:solidFill>
                    <a:srgbClr val="52637A"/>
                  </a:solidFill>
                  <a:latin typeface="Arial Bold"/>
                  <a:ea typeface="Arial Bold"/>
                  <a:cs typeface="Arial Bold"/>
                  <a:sym typeface="Arial Bold"/>
                </a:rPr>
                <a:t>TODAY</a:t>
              </a:r>
            </a:p>
          </p:txBody>
        </p:sp>
      </p:grpSp>
      <p:grpSp>
        <p:nvGrpSpPr>
          <p:cNvPr id="17" name="Group 17"/>
          <p:cNvGrpSpPr/>
          <p:nvPr/>
        </p:nvGrpSpPr>
        <p:grpSpPr>
          <a:xfrm>
            <a:off x="3154680" y="6405372"/>
            <a:ext cx="630936" cy="630936"/>
            <a:chOff x="0" y="0"/>
            <a:chExt cx="841248" cy="841248"/>
          </a:xfrm>
        </p:grpSpPr>
        <p:sp>
          <p:nvSpPr>
            <p:cNvPr id="18" name="Freeform 18"/>
            <p:cNvSpPr/>
            <p:nvPr/>
          </p:nvSpPr>
          <p:spPr>
            <a:xfrm>
              <a:off x="0" y="0"/>
              <a:ext cx="841248" cy="841248"/>
            </a:xfrm>
            <a:custGeom>
              <a:avLst/>
              <a:gdLst/>
              <a:ahLst/>
              <a:cxnLst/>
              <a:rect l="l" t="t" r="r" b="b"/>
              <a:pathLst>
                <a:path w="841248" h="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1877F2"/>
            </a:solidFill>
          </p:spPr>
        </p:sp>
      </p:grpSp>
      <p:grpSp>
        <p:nvGrpSpPr>
          <p:cNvPr id="19" name="Group 19"/>
          <p:cNvGrpSpPr/>
          <p:nvPr/>
        </p:nvGrpSpPr>
        <p:grpSpPr>
          <a:xfrm>
            <a:off x="3154680" y="6436919"/>
            <a:ext cx="630936" cy="630936"/>
            <a:chOff x="0" y="0"/>
            <a:chExt cx="841248" cy="841248"/>
          </a:xfrm>
        </p:grpSpPr>
        <p:sp>
          <p:nvSpPr>
            <p:cNvPr id="20" name="Freeform 20"/>
            <p:cNvSpPr/>
            <p:nvPr/>
          </p:nvSpPr>
          <p:spPr>
            <a:xfrm>
              <a:off x="0" y="0"/>
              <a:ext cx="841248" cy="841248"/>
            </a:xfrm>
            <a:custGeom>
              <a:avLst/>
              <a:gdLst/>
              <a:ahLst/>
              <a:cxnLst/>
              <a:rect l="l" t="t" r="r" b="b"/>
              <a:pathLst>
                <a:path w="841248" h="841248">
                  <a:moveTo>
                    <a:pt x="0" y="0"/>
                  </a:moveTo>
                  <a:lnTo>
                    <a:pt x="841248" y="0"/>
                  </a:lnTo>
                  <a:lnTo>
                    <a:pt x="841248" y="841248"/>
                  </a:lnTo>
                  <a:lnTo>
                    <a:pt x="0" y="841248"/>
                  </a:lnTo>
                  <a:close/>
                </a:path>
              </a:pathLst>
            </a:custGeom>
            <a:blipFill>
              <a:blip r:embed="rId3">
                <a:alphaModFix amt="0"/>
              </a:blip>
              <a:stretch>
                <a:fillRect l="-78303" r="-78303"/>
              </a:stretch>
            </a:blipFill>
          </p:spPr>
        </p:sp>
        <p:sp>
          <p:nvSpPr>
            <p:cNvPr id="21" name="TextBox 21"/>
            <p:cNvSpPr txBox="1"/>
            <p:nvPr/>
          </p:nvSpPr>
          <p:spPr>
            <a:xfrm>
              <a:off x="0" y="-19050"/>
              <a:ext cx="841248" cy="860298"/>
            </a:xfrm>
            <a:prstGeom prst="rect">
              <a:avLst/>
            </a:prstGeom>
          </p:spPr>
          <p:txBody>
            <a:bodyPr lIns="0" tIns="0" rIns="0" bIns="0" rtlCol="0" anchor="ctr"/>
            <a:lstStyle/>
            <a:p>
              <a:pPr algn="ctr">
                <a:lnSpc>
                  <a:spcPts val="3600"/>
                </a:lnSpc>
              </a:pPr>
              <a:r>
                <a:rPr lang="en-US" sz="3000" b="1">
                  <a:solidFill>
                    <a:srgbClr val="FFFFFF"/>
                  </a:solidFill>
                  <a:latin typeface="Arial Bold"/>
                  <a:ea typeface="Arial Bold"/>
                  <a:cs typeface="Arial Bold"/>
                  <a:sym typeface="Arial Bold"/>
                </a:rPr>
                <a:t>f</a:t>
              </a:r>
            </a:p>
          </p:txBody>
        </p:sp>
      </p:grpSp>
      <p:grpSp>
        <p:nvGrpSpPr>
          <p:cNvPr id="22" name="Group 22"/>
          <p:cNvGrpSpPr/>
          <p:nvPr/>
        </p:nvGrpSpPr>
        <p:grpSpPr>
          <a:xfrm>
            <a:off x="4005072" y="6405372"/>
            <a:ext cx="630936" cy="630936"/>
            <a:chOff x="0" y="0"/>
            <a:chExt cx="841248" cy="841248"/>
          </a:xfrm>
        </p:grpSpPr>
        <p:sp>
          <p:nvSpPr>
            <p:cNvPr id="23" name="Freeform 23"/>
            <p:cNvSpPr/>
            <p:nvPr/>
          </p:nvSpPr>
          <p:spPr>
            <a:xfrm>
              <a:off x="0" y="0"/>
              <a:ext cx="841248" cy="841248"/>
            </a:xfrm>
            <a:custGeom>
              <a:avLst/>
              <a:gdLst/>
              <a:ahLst/>
              <a:cxnLst/>
              <a:rect l="l" t="t" r="r" b="b"/>
              <a:pathLst>
                <a:path w="841248" h="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27A7E7"/>
            </a:solidFill>
          </p:spPr>
        </p:sp>
      </p:grpSp>
      <p:grpSp>
        <p:nvGrpSpPr>
          <p:cNvPr id="24" name="Group 24"/>
          <p:cNvGrpSpPr/>
          <p:nvPr/>
        </p:nvGrpSpPr>
        <p:grpSpPr>
          <a:xfrm>
            <a:off x="4162806" y="6563106"/>
            <a:ext cx="315468" cy="315468"/>
            <a:chOff x="0" y="0"/>
            <a:chExt cx="420624" cy="420624"/>
          </a:xfrm>
        </p:grpSpPr>
        <p:sp>
          <p:nvSpPr>
            <p:cNvPr id="25" name="Freeform 25" descr="preencoded.png"/>
            <p:cNvSpPr/>
            <p:nvPr/>
          </p:nvSpPr>
          <p:spPr>
            <a:xfrm>
              <a:off x="0" y="0"/>
              <a:ext cx="420624" cy="420624"/>
            </a:xfrm>
            <a:custGeom>
              <a:avLst/>
              <a:gdLst/>
              <a:ahLst/>
              <a:cxnLst/>
              <a:rect l="l" t="t" r="r" b="b"/>
              <a:pathLst>
                <a:path w="420624" h="420624">
                  <a:moveTo>
                    <a:pt x="0" y="0"/>
                  </a:moveTo>
                  <a:lnTo>
                    <a:pt x="420624" y="0"/>
                  </a:lnTo>
                  <a:lnTo>
                    <a:pt x="420624" y="420624"/>
                  </a:lnTo>
                  <a:lnTo>
                    <a:pt x="0" y="420624"/>
                  </a:lnTo>
                  <a:lnTo>
                    <a:pt x="0" y="0"/>
                  </a:lnTo>
                  <a:close/>
                </a:path>
              </a:pathLst>
            </a:custGeom>
            <a:blipFill>
              <a:blip r:embed="rId5"/>
              <a:stretch>
                <a:fillRect/>
              </a:stretch>
            </a:blipFill>
          </p:spPr>
        </p:sp>
      </p:grpSp>
      <p:grpSp>
        <p:nvGrpSpPr>
          <p:cNvPr id="26" name="Group 26"/>
          <p:cNvGrpSpPr/>
          <p:nvPr/>
        </p:nvGrpSpPr>
        <p:grpSpPr>
          <a:xfrm>
            <a:off x="1234440" y="7749540"/>
            <a:ext cx="1920240" cy="411480"/>
            <a:chOff x="0" y="0"/>
            <a:chExt cx="2560320" cy="548640"/>
          </a:xfrm>
        </p:grpSpPr>
        <p:sp>
          <p:nvSpPr>
            <p:cNvPr id="27" name="Freeform 27"/>
            <p:cNvSpPr/>
            <p:nvPr/>
          </p:nvSpPr>
          <p:spPr>
            <a:xfrm>
              <a:off x="0" y="0"/>
              <a:ext cx="2560320" cy="548640"/>
            </a:xfrm>
            <a:custGeom>
              <a:avLst/>
              <a:gdLst/>
              <a:ahLst/>
              <a:cxnLst/>
              <a:rect l="l" t="t" r="r" b="b"/>
              <a:pathLst>
                <a:path w="2560320" h="548640">
                  <a:moveTo>
                    <a:pt x="0" y="0"/>
                  </a:moveTo>
                  <a:lnTo>
                    <a:pt x="2560320" y="0"/>
                  </a:lnTo>
                  <a:lnTo>
                    <a:pt x="2560320" y="548640"/>
                  </a:lnTo>
                  <a:lnTo>
                    <a:pt x="0" y="548640"/>
                  </a:lnTo>
                  <a:close/>
                </a:path>
              </a:pathLst>
            </a:custGeom>
            <a:blipFill>
              <a:blip r:embed="rId3">
                <a:alphaModFix amt="0"/>
              </a:blip>
              <a:stretch>
                <a:fillRect t="-40930" b="-40930"/>
              </a:stretch>
            </a:blipFill>
          </p:spPr>
        </p:sp>
        <p:sp>
          <p:nvSpPr>
            <p:cNvPr id="28" name="TextBox 28"/>
            <p:cNvSpPr txBox="1"/>
            <p:nvPr/>
          </p:nvSpPr>
          <p:spPr>
            <a:xfrm>
              <a:off x="0" y="-19050"/>
              <a:ext cx="2560320" cy="567690"/>
            </a:xfrm>
            <a:prstGeom prst="rect">
              <a:avLst/>
            </a:prstGeom>
          </p:spPr>
          <p:txBody>
            <a:bodyPr lIns="0" tIns="0" rIns="0" bIns="0" rtlCol="0" anchor="ctr"/>
            <a:lstStyle/>
            <a:p>
              <a:pPr algn="l">
                <a:lnSpc>
                  <a:spcPts val="1980"/>
                </a:lnSpc>
              </a:pPr>
              <a:r>
                <a:rPr lang="en-US" sz="1650" b="1" spc="150">
                  <a:solidFill>
                    <a:srgbClr val="0AA7A2"/>
                  </a:solidFill>
                  <a:latin typeface="Arial Bold"/>
                  <a:ea typeface="Arial Bold"/>
                  <a:cs typeface="Arial Bold"/>
                  <a:sym typeface="Arial Bold"/>
                </a:rPr>
                <a:t>ON RENTIFY</a:t>
              </a:r>
            </a:p>
          </p:txBody>
        </p:sp>
      </p:grpSp>
      <p:grpSp>
        <p:nvGrpSpPr>
          <p:cNvPr id="29" name="Group 29"/>
          <p:cNvGrpSpPr/>
          <p:nvPr/>
        </p:nvGrpSpPr>
        <p:grpSpPr>
          <a:xfrm>
            <a:off x="3154680" y="7406640"/>
            <a:ext cx="850392" cy="850392"/>
            <a:chOff x="0" y="0"/>
            <a:chExt cx="1133856" cy="1133856"/>
          </a:xfrm>
        </p:grpSpPr>
        <p:sp>
          <p:nvSpPr>
            <p:cNvPr id="30" name="Freeform 30"/>
            <p:cNvSpPr/>
            <p:nvPr/>
          </p:nvSpPr>
          <p:spPr>
            <a:xfrm>
              <a:off x="0" y="0"/>
              <a:ext cx="1133856" cy="1133856"/>
            </a:xfrm>
            <a:custGeom>
              <a:avLst/>
              <a:gdLst/>
              <a:ahLst/>
              <a:cxnLst/>
              <a:rect l="l" t="t" r="r" b="b"/>
              <a:pathLst>
                <a:path w="1133856" h="1133856">
                  <a:moveTo>
                    <a:pt x="0" y="249428"/>
                  </a:moveTo>
                  <a:cubicBezTo>
                    <a:pt x="0" y="111633"/>
                    <a:pt x="111633" y="0"/>
                    <a:pt x="249428" y="0"/>
                  </a:cubicBezTo>
                  <a:lnTo>
                    <a:pt x="884428" y="0"/>
                  </a:lnTo>
                  <a:cubicBezTo>
                    <a:pt x="1022223" y="0"/>
                    <a:pt x="1133856" y="111633"/>
                    <a:pt x="1133856" y="249428"/>
                  </a:cubicBezTo>
                  <a:lnTo>
                    <a:pt x="1133856" y="884428"/>
                  </a:lnTo>
                  <a:cubicBezTo>
                    <a:pt x="1133856" y="1022223"/>
                    <a:pt x="1022223" y="1133856"/>
                    <a:pt x="884428" y="1133856"/>
                  </a:cubicBezTo>
                  <a:lnTo>
                    <a:pt x="249428" y="1133856"/>
                  </a:lnTo>
                  <a:cubicBezTo>
                    <a:pt x="111633" y="1133856"/>
                    <a:pt x="0" y="1022223"/>
                    <a:pt x="0" y="884428"/>
                  </a:cubicBezTo>
                  <a:close/>
                </a:path>
              </a:pathLst>
            </a:custGeom>
            <a:solidFill>
              <a:srgbClr val="F97316"/>
            </a:solidFill>
          </p:spPr>
        </p:sp>
      </p:grpSp>
      <p:grpSp>
        <p:nvGrpSpPr>
          <p:cNvPr id="31" name="Group 31"/>
          <p:cNvGrpSpPr/>
          <p:nvPr/>
        </p:nvGrpSpPr>
        <p:grpSpPr>
          <a:xfrm>
            <a:off x="3358772" y="7610732"/>
            <a:ext cx="442208" cy="442208"/>
            <a:chOff x="0" y="0"/>
            <a:chExt cx="589610" cy="589610"/>
          </a:xfrm>
        </p:grpSpPr>
        <p:sp>
          <p:nvSpPr>
            <p:cNvPr id="32" name="Freeform 32" descr="preencoded.png"/>
            <p:cNvSpPr/>
            <p:nvPr/>
          </p:nvSpPr>
          <p:spPr>
            <a:xfrm>
              <a:off x="0" y="0"/>
              <a:ext cx="589661" cy="589661"/>
            </a:xfrm>
            <a:custGeom>
              <a:avLst/>
              <a:gdLst/>
              <a:ahLst/>
              <a:cxnLst/>
              <a:rect l="l" t="t" r="r" b="b"/>
              <a:pathLst>
                <a:path w="589661" h="589661">
                  <a:moveTo>
                    <a:pt x="0" y="0"/>
                  </a:moveTo>
                  <a:lnTo>
                    <a:pt x="589661" y="0"/>
                  </a:lnTo>
                  <a:lnTo>
                    <a:pt x="589661" y="589661"/>
                  </a:lnTo>
                  <a:lnTo>
                    <a:pt x="0" y="589661"/>
                  </a:lnTo>
                  <a:lnTo>
                    <a:pt x="0" y="0"/>
                  </a:lnTo>
                  <a:close/>
                </a:path>
              </a:pathLst>
            </a:custGeom>
            <a:blipFill>
              <a:blip r:embed="rId6"/>
              <a:stretch>
                <a:fillRect r="8" b="8"/>
              </a:stretch>
            </a:blipFill>
          </p:spPr>
        </p:sp>
      </p:grpSp>
      <p:grpSp>
        <p:nvGrpSpPr>
          <p:cNvPr id="33" name="Group 33"/>
          <p:cNvGrpSpPr/>
          <p:nvPr/>
        </p:nvGrpSpPr>
        <p:grpSpPr>
          <a:xfrm>
            <a:off x="2880360" y="8298180"/>
            <a:ext cx="1399032" cy="342900"/>
            <a:chOff x="0" y="0"/>
            <a:chExt cx="1865376" cy="457200"/>
          </a:xfrm>
        </p:grpSpPr>
        <p:sp>
          <p:nvSpPr>
            <p:cNvPr id="34" name="Freeform 34"/>
            <p:cNvSpPr/>
            <p:nvPr/>
          </p:nvSpPr>
          <p:spPr>
            <a:xfrm>
              <a:off x="0" y="0"/>
              <a:ext cx="1865376" cy="457200"/>
            </a:xfrm>
            <a:custGeom>
              <a:avLst/>
              <a:gdLst/>
              <a:ahLst/>
              <a:cxnLst/>
              <a:rect l="l" t="t" r="r" b="b"/>
              <a:pathLst>
                <a:path w="1865376" h="457200">
                  <a:moveTo>
                    <a:pt x="0" y="0"/>
                  </a:moveTo>
                  <a:lnTo>
                    <a:pt x="1865376" y="0"/>
                  </a:lnTo>
                  <a:lnTo>
                    <a:pt x="1865376" y="457200"/>
                  </a:lnTo>
                  <a:lnTo>
                    <a:pt x="0" y="457200"/>
                  </a:lnTo>
                  <a:close/>
                </a:path>
              </a:pathLst>
            </a:custGeom>
            <a:blipFill>
              <a:blip r:embed="rId3">
                <a:alphaModFix amt="0"/>
              </a:blip>
              <a:stretch>
                <a:fillRect t="-29498" b="-29498"/>
              </a:stretch>
            </a:blipFill>
          </p:spPr>
        </p:sp>
        <p:sp>
          <p:nvSpPr>
            <p:cNvPr id="35" name="TextBox 35"/>
            <p:cNvSpPr txBox="1"/>
            <p:nvPr/>
          </p:nvSpPr>
          <p:spPr>
            <a:xfrm>
              <a:off x="0" y="-19050"/>
              <a:ext cx="1865376" cy="476250"/>
            </a:xfrm>
            <a:prstGeom prst="rect">
              <a:avLst/>
            </a:prstGeom>
          </p:spPr>
          <p:txBody>
            <a:bodyPr lIns="0" tIns="0" rIns="0" bIns="0" rtlCol="0" anchor="ctr"/>
            <a:lstStyle/>
            <a:p>
              <a:pPr algn="ctr">
                <a:lnSpc>
                  <a:spcPts val="1800"/>
                </a:lnSpc>
              </a:pPr>
              <a:r>
                <a:rPr lang="en-US" sz="1500" b="1">
                  <a:solidFill>
                    <a:srgbClr val="F97316"/>
                  </a:solidFill>
                  <a:latin typeface="Arial Bold"/>
                  <a:ea typeface="Arial Bold"/>
                  <a:cs typeface="Arial Bold"/>
                  <a:sym typeface="Arial Bold"/>
                </a:rPr>
                <a:t>Marketplace</a:t>
              </a:r>
            </a:p>
          </p:txBody>
        </p:sp>
      </p:grpSp>
      <p:grpSp>
        <p:nvGrpSpPr>
          <p:cNvPr id="36" name="Group 36"/>
          <p:cNvGrpSpPr/>
          <p:nvPr/>
        </p:nvGrpSpPr>
        <p:grpSpPr>
          <a:xfrm>
            <a:off x="4183380" y="2263140"/>
            <a:ext cx="1783080" cy="548640"/>
            <a:chOff x="0" y="0"/>
            <a:chExt cx="2377440" cy="731520"/>
          </a:xfrm>
        </p:grpSpPr>
        <p:sp>
          <p:nvSpPr>
            <p:cNvPr id="37" name="Freeform 37"/>
            <p:cNvSpPr/>
            <p:nvPr/>
          </p:nvSpPr>
          <p:spPr>
            <a:xfrm>
              <a:off x="0" y="0"/>
              <a:ext cx="2377440" cy="731520"/>
            </a:xfrm>
            <a:custGeom>
              <a:avLst/>
              <a:gdLst/>
              <a:ahLst/>
              <a:cxnLst/>
              <a:rect l="l" t="t" r="r" b="b"/>
              <a:pathLst>
                <a:path w="2377440" h="731520">
                  <a:moveTo>
                    <a:pt x="0" y="365760"/>
                  </a:moveTo>
                  <a:cubicBezTo>
                    <a:pt x="0" y="163703"/>
                    <a:pt x="163703" y="0"/>
                    <a:pt x="365760" y="0"/>
                  </a:cubicBezTo>
                  <a:lnTo>
                    <a:pt x="2011680" y="0"/>
                  </a:lnTo>
                  <a:cubicBezTo>
                    <a:pt x="2213737" y="0"/>
                    <a:pt x="2377440" y="163703"/>
                    <a:pt x="2377440" y="365760"/>
                  </a:cubicBezTo>
                  <a:cubicBezTo>
                    <a:pt x="2377440" y="567817"/>
                    <a:pt x="2213737" y="731520"/>
                    <a:pt x="2011680" y="731520"/>
                  </a:cubicBezTo>
                  <a:lnTo>
                    <a:pt x="365760" y="731520"/>
                  </a:lnTo>
                  <a:cubicBezTo>
                    <a:pt x="163703" y="731520"/>
                    <a:pt x="0" y="567817"/>
                    <a:pt x="0" y="365760"/>
                  </a:cubicBezTo>
                  <a:close/>
                </a:path>
              </a:pathLst>
            </a:custGeom>
            <a:solidFill>
              <a:srgbClr val="FFEDD5"/>
            </a:solidFill>
          </p:spPr>
        </p:sp>
        <p:sp>
          <p:nvSpPr>
            <p:cNvPr id="38" name="TextBox 38"/>
            <p:cNvSpPr txBox="1"/>
            <p:nvPr/>
          </p:nvSpPr>
          <p:spPr>
            <a:xfrm>
              <a:off x="0" y="-19050"/>
              <a:ext cx="2377440" cy="750570"/>
            </a:xfrm>
            <a:prstGeom prst="rect">
              <a:avLst/>
            </a:prstGeom>
          </p:spPr>
          <p:txBody>
            <a:bodyPr lIns="50800" tIns="50800" rIns="50800" bIns="50800" rtlCol="0" anchor="ctr"/>
            <a:lstStyle/>
            <a:p>
              <a:pPr algn="ctr">
                <a:lnSpc>
                  <a:spcPts val="2340"/>
                </a:lnSpc>
              </a:pPr>
              <a:r>
                <a:rPr lang="en-US" sz="1950" b="1">
                  <a:solidFill>
                    <a:srgbClr val="F97316"/>
                  </a:solidFill>
                  <a:latin typeface="Arial Bold"/>
                  <a:ea typeface="Arial Bold"/>
                  <a:cs typeface="Arial Bold"/>
                  <a:sym typeface="Arial Bold"/>
                </a:rPr>
                <a:t>Free plan</a:t>
              </a:r>
            </a:p>
          </p:txBody>
        </p:sp>
      </p:grpSp>
      <p:grpSp>
        <p:nvGrpSpPr>
          <p:cNvPr id="39" name="Group 39"/>
          <p:cNvGrpSpPr/>
          <p:nvPr/>
        </p:nvGrpSpPr>
        <p:grpSpPr>
          <a:xfrm>
            <a:off x="6779895" y="1842135"/>
            <a:ext cx="5642610" cy="7219950"/>
            <a:chOff x="0" y="0"/>
            <a:chExt cx="7523480" cy="9626600"/>
          </a:xfrm>
        </p:grpSpPr>
        <p:sp>
          <p:nvSpPr>
            <p:cNvPr id="40" name="Freeform 40"/>
            <p:cNvSpPr/>
            <p:nvPr/>
          </p:nvSpPr>
          <p:spPr>
            <a:xfrm>
              <a:off x="0" y="0"/>
              <a:ext cx="7523480" cy="9626600"/>
            </a:xfrm>
            <a:custGeom>
              <a:avLst/>
              <a:gdLst/>
              <a:ahLst/>
              <a:cxnLst/>
              <a:rect l="l" t="t" r="r" b="b"/>
              <a:pathLst>
                <a:path w="7523480" h="9626600">
                  <a:moveTo>
                    <a:pt x="0" y="367030"/>
                  </a:moveTo>
                  <a:cubicBezTo>
                    <a:pt x="0" y="164338"/>
                    <a:pt x="164338" y="0"/>
                    <a:pt x="367030" y="0"/>
                  </a:cubicBezTo>
                  <a:lnTo>
                    <a:pt x="7156450" y="0"/>
                  </a:lnTo>
                  <a:cubicBezTo>
                    <a:pt x="7359142" y="0"/>
                    <a:pt x="7523480" y="164338"/>
                    <a:pt x="7523480" y="367030"/>
                  </a:cubicBezTo>
                  <a:lnTo>
                    <a:pt x="7523480" y="9259570"/>
                  </a:lnTo>
                  <a:cubicBezTo>
                    <a:pt x="7523480" y="9462262"/>
                    <a:pt x="7359142" y="9626600"/>
                    <a:pt x="7156450" y="9626600"/>
                  </a:cubicBezTo>
                  <a:lnTo>
                    <a:pt x="367030" y="9626600"/>
                  </a:lnTo>
                  <a:cubicBezTo>
                    <a:pt x="164338" y="9626600"/>
                    <a:pt x="0" y="9462262"/>
                    <a:pt x="0" y="9259570"/>
                  </a:cubicBezTo>
                  <a:close/>
                </a:path>
              </a:pathLst>
            </a:custGeom>
            <a:solidFill>
              <a:srgbClr val="FFFFFF"/>
            </a:solidFill>
            <a:ln w="19050" cap="sq">
              <a:solidFill>
                <a:srgbClr val="E2E8F0"/>
              </a:solidFill>
              <a:prstDash val="solid"/>
              <a:miter/>
            </a:ln>
          </p:spPr>
        </p:sp>
      </p:grpSp>
      <p:grpSp>
        <p:nvGrpSpPr>
          <p:cNvPr id="41" name="Group 41"/>
          <p:cNvGrpSpPr/>
          <p:nvPr/>
        </p:nvGrpSpPr>
        <p:grpSpPr>
          <a:xfrm>
            <a:off x="8229600" y="2331720"/>
            <a:ext cx="2743200" cy="2743200"/>
            <a:chOff x="0" y="0"/>
            <a:chExt cx="3657600" cy="3657600"/>
          </a:xfrm>
        </p:grpSpPr>
        <p:sp>
          <p:nvSpPr>
            <p:cNvPr id="42" name="Freeform 42"/>
            <p:cNvSpPr/>
            <p:nvPr/>
          </p:nvSpPr>
          <p:spPr>
            <a:xfrm>
              <a:off x="0" y="0"/>
              <a:ext cx="3657600" cy="3657600"/>
            </a:xfrm>
            <a:custGeom>
              <a:avLst/>
              <a:gdLst/>
              <a:ahLst/>
              <a:cxnLst/>
              <a:rect l="l" t="t" r="r" b="b"/>
              <a:pathLst>
                <a:path w="3657600" h="3657600">
                  <a:moveTo>
                    <a:pt x="0" y="1828800"/>
                  </a:moveTo>
                  <a:cubicBezTo>
                    <a:pt x="0" y="818769"/>
                    <a:pt x="818769" y="0"/>
                    <a:pt x="1828800" y="0"/>
                  </a:cubicBezTo>
                  <a:cubicBezTo>
                    <a:pt x="2838831" y="0"/>
                    <a:pt x="3657600" y="818769"/>
                    <a:pt x="3657600" y="1828800"/>
                  </a:cubicBezTo>
                  <a:cubicBezTo>
                    <a:pt x="3657600" y="2838831"/>
                    <a:pt x="2838831" y="3657600"/>
                    <a:pt x="1828800" y="3657600"/>
                  </a:cubicBezTo>
                  <a:cubicBezTo>
                    <a:pt x="818769" y="3657600"/>
                    <a:pt x="0" y="2838831"/>
                    <a:pt x="0" y="1828800"/>
                  </a:cubicBezTo>
                  <a:close/>
                </a:path>
              </a:pathLst>
            </a:custGeom>
            <a:solidFill>
              <a:srgbClr val="DBEAFE"/>
            </a:solidFill>
          </p:spPr>
        </p:sp>
      </p:grpSp>
      <p:grpSp>
        <p:nvGrpSpPr>
          <p:cNvPr id="43" name="Group 43"/>
          <p:cNvGrpSpPr/>
          <p:nvPr/>
        </p:nvGrpSpPr>
        <p:grpSpPr>
          <a:xfrm>
            <a:off x="8298180" y="2057400"/>
            <a:ext cx="2606040" cy="3250692"/>
            <a:chOff x="0" y="0"/>
            <a:chExt cx="3474720" cy="4334256"/>
          </a:xfrm>
        </p:grpSpPr>
        <p:sp>
          <p:nvSpPr>
            <p:cNvPr id="44" name="Freeform 44" descr="Small shop (illustrative persona)"/>
            <p:cNvSpPr/>
            <p:nvPr/>
          </p:nvSpPr>
          <p:spPr>
            <a:xfrm>
              <a:off x="0" y="0"/>
              <a:ext cx="3474720" cy="4334256"/>
            </a:xfrm>
            <a:custGeom>
              <a:avLst/>
              <a:gdLst/>
              <a:ahLst/>
              <a:cxnLst/>
              <a:rect l="l" t="t" r="r" b="b"/>
              <a:pathLst>
                <a:path w="3474720" h="4334256">
                  <a:moveTo>
                    <a:pt x="0" y="0"/>
                  </a:moveTo>
                  <a:lnTo>
                    <a:pt x="3474720" y="0"/>
                  </a:lnTo>
                  <a:lnTo>
                    <a:pt x="3474720" y="4334256"/>
                  </a:lnTo>
                  <a:lnTo>
                    <a:pt x="0" y="4334256"/>
                  </a:lnTo>
                  <a:lnTo>
                    <a:pt x="0" y="0"/>
                  </a:lnTo>
                  <a:close/>
                </a:path>
              </a:pathLst>
            </a:custGeom>
            <a:blipFill>
              <a:blip r:embed="rId7"/>
              <a:stretch>
                <a:fillRect t="-75" b="-75"/>
              </a:stretch>
            </a:blipFill>
          </p:spPr>
        </p:sp>
      </p:grpSp>
      <p:grpSp>
        <p:nvGrpSpPr>
          <p:cNvPr id="45" name="Group 45"/>
          <p:cNvGrpSpPr/>
          <p:nvPr/>
        </p:nvGrpSpPr>
        <p:grpSpPr>
          <a:xfrm>
            <a:off x="6789420" y="5417820"/>
            <a:ext cx="5623560" cy="617220"/>
            <a:chOff x="0" y="0"/>
            <a:chExt cx="7498080" cy="822960"/>
          </a:xfrm>
        </p:grpSpPr>
        <p:sp>
          <p:nvSpPr>
            <p:cNvPr id="46" name="Freeform 46"/>
            <p:cNvSpPr/>
            <p:nvPr/>
          </p:nvSpPr>
          <p:spPr>
            <a:xfrm>
              <a:off x="0" y="0"/>
              <a:ext cx="7498080" cy="822960"/>
            </a:xfrm>
            <a:custGeom>
              <a:avLst/>
              <a:gdLst/>
              <a:ahLst/>
              <a:cxnLst/>
              <a:rect l="l" t="t" r="r" b="b"/>
              <a:pathLst>
                <a:path w="7498080" h="822960">
                  <a:moveTo>
                    <a:pt x="0" y="0"/>
                  </a:moveTo>
                  <a:lnTo>
                    <a:pt x="7498080" y="0"/>
                  </a:lnTo>
                  <a:lnTo>
                    <a:pt x="7498080" y="822960"/>
                  </a:lnTo>
                  <a:lnTo>
                    <a:pt x="0" y="822960"/>
                  </a:lnTo>
                  <a:close/>
                </a:path>
              </a:pathLst>
            </a:custGeom>
            <a:blipFill>
              <a:blip r:embed="rId3">
                <a:alphaModFix amt="0"/>
              </a:blip>
              <a:stretch>
                <a:fillRect t="-127530" b="-127530"/>
              </a:stretch>
            </a:blipFill>
          </p:spPr>
        </p:sp>
        <p:sp>
          <p:nvSpPr>
            <p:cNvPr id="47" name="TextBox 47"/>
            <p:cNvSpPr txBox="1"/>
            <p:nvPr/>
          </p:nvSpPr>
          <p:spPr>
            <a:xfrm>
              <a:off x="0" y="-28575"/>
              <a:ext cx="7498080" cy="851535"/>
            </a:xfrm>
            <a:prstGeom prst="rect">
              <a:avLst/>
            </a:prstGeom>
          </p:spPr>
          <p:txBody>
            <a:bodyPr lIns="0" tIns="0" rIns="0" bIns="0" rtlCol="0" anchor="ctr"/>
            <a:lstStyle/>
            <a:p>
              <a:pPr algn="ctr">
                <a:lnSpc>
                  <a:spcPts val="3960"/>
                </a:lnSpc>
              </a:pPr>
              <a:r>
                <a:rPr lang="en-US" sz="3300" b="1">
                  <a:solidFill>
                    <a:srgbClr val="15243A"/>
                  </a:solidFill>
                  <a:latin typeface="Arial Bold"/>
                  <a:ea typeface="Arial Bold"/>
                  <a:cs typeface="Arial Bold"/>
                  <a:sym typeface="Arial Bold"/>
                </a:rPr>
                <a:t>Small shop</a:t>
              </a:r>
            </a:p>
          </p:txBody>
        </p:sp>
      </p:grpSp>
      <p:grpSp>
        <p:nvGrpSpPr>
          <p:cNvPr id="48" name="Group 48"/>
          <p:cNvGrpSpPr/>
          <p:nvPr/>
        </p:nvGrpSpPr>
        <p:grpSpPr>
          <a:xfrm>
            <a:off x="7269480" y="6515100"/>
            <a:ext cx="1920240" cy="411480"/>
            <a:chOff x="0" y="0"/>
            <a:chExt cx="2560320" cy="548640"/>
          </a:xfrm>
        </p:grpSpPr>
        <p:sp>
          <p:nvSpPr>
            <p:cNvPr id="49" name="Freeform 49"/>
            <p:cNvSpPr/>
            <p:nvPr/>
          </p:nvSpPr>
          <p:spPr>
            <a:xfrm>
              <a:off x="0" y="0"/>
              <a:ext cx="2560320" cy="548640"/>
            </a:xfrm>
            <a:custGeom>
              <a:avLst/>
              <a:gdLst/>
              <a:ahLst/>
              <a:cxnLst/>
              <a:rect l="l" t="t" r="r" b="b"/>
              <a:pathLst>
                <a:path w="2560320" h="548640">
                  <a:moveTo>
                    <a:pt x="0" y="0"/>
                  </a:moveTo>
                  <a:lnTo>
                    <a:pt x="2560320" y="0"/>
                  </a:lnTo>
                  <a:lnTo>
                    <a:pt x="2560320" y="548640"/>
                  </a:lnTo>
                  <a:lnTo>
                    <a:pt x="0" y="548640"/>
                  </a:lnTo>
                  <a:close/>
                </a:path>
              </a:pathLst>
            </a:custGeom>
            <a:blipFill>
              <a:blip r:embed="rId3">
                <a:alphaModFix amt="0"/>
              </a:blip>
              <a:stretch>
                <a:fillRect t="-40930" b="-40930"/>
              </a:stretch>
            </a:blipFill>
          </p:spPr>
        </p:sp>
        <p:sp>
          <p:nvSpPr>
            <p:cNvPr id="50" name="TextBox 50"/>
            <p:cNvSpPr txBox="1"/>
            <p:nvPr/>
          </p:nvSpPr>
          <p:spPr>
            <a:xfrm>
              <a:off x="0" y="-19050"/>
              <a:ext cx="2560320" cy="567690"/>
            </a:xfrm>
            <a:prstGeom prst="rect">
              <a:avLst/>
            </a:prstGeom>
          </p:spPr>
          <p:txBody>
            <a:bodyPr lIns="0" tIns="0" rIns="0" bIns="0" rtlCol="0" anchor="ctr"/>
            <a:lstStyle/>
            <a:p>
              <a:pPr algn="l">
                <a:lnSpc>
                  <a:spcPts val="1980"/>
                </a:lnSpc>
              </a:pPr>
              <a:r>
                <a:rPr lang="en-US" sz="1650" b="1" spc="150">
                  <a:solidFill>
                    <a:srgbClr val="52637A"/>
                  </a:solidFill>
                  <a:latin typeface="Arial Bold"/>
                  <a:ea typeface="Arial Bold"/>
                  <a:cs typeface="Arial Bold"/>
                  <a:sym typeface="Arial Bold"/>
                </a:rPr>
                <a:t>TODAY</a:t>
              </a:r>
            </a:p>
          </p:txBody>
        </p:sp>
      </p:grpSp>
      <p:grpSp>
        <p:nvGrpSpPr>
          <p:cNvPr id="51" name="Group 51"/>
          <p:cNvGrpSpPr/>
          <p:nvPr/>
        </p:nvGrpSpPr>
        <p:grpSpPr>
          <a:xfrm>
            <a:off x="9189720" y="6405372"/>
            <a:ext cx="630936" cy="630936"/>
            <a:chOff x="0" y="0"/>
            <a:chExt cx="841248" cy="841248"/>
          </a:xfrm>
        </p:grpSpPr>
        <p:sp>
          <p:nvSpPr>
            <p:cNvPr id="52" name="Freeform 52"/>
            <p:cNvSpPr/>
            <p:nvPr/>
          </p:nvSpPr>
          <p:spPr>
            <a:xfrm>
              <a:off x="0" y="0"/>
              <a:ext cx="841248" cy="841248"/>
            </a:xfrm>
            <a:custGeom>
              <a:avLst/>
              <a:gdLst/>
              <a:ahLst/>
              <a:cxnLst/>
              <a:rect l="l" t="t" r="r" b="b"/>
              <a:pathLst>
                <a:path w="841248" h="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64748B"/>
            </a:solidFill>
          </p:spPr>
        </p:sp>
      </p:grpSp>
      <p:grpSp>
        <p:nvGrpSpPr>
          <p:cNvPr id="53" name="Group 53"/>
          <p:cNvGrpSpPr/>
          <p:nvPr/>
        </p:nvGrpSpPr>
        <p:grpSpPr>
          <a:xfrm>
            <a:off x="9347454" y="6563106"/>
            <a:ext cx="315468" cy="315468"/>
            <a:chOff x="0" y="0"/>
            <a:chExt cx="420624" cy="420624"/>
          </a:xfrm>
        </p:grpSpPr>
        <p:sp>
          <p:nvSpPr>
            <p:cNvPr id="54" name="Freeform 54" descr="preencoded.png"/>
            <p:cNvSpPr/>
            <p:nvPr/>
          </p:nvSpPr>
          <p:spPr>
            <a:xfrm>
              <a:off x="0" y="0"/>
              <a:ext cx="420624" cy="420624"/>
            </a:xfrm>
            <a:custGeom>
              <a:avLst/>
              <a:gdLst/>
              <a:ahLst/>
              <a:cxnLst/>
              <a:rect l="l" t="t" r="r" b="b"/>
              <a:pathLst>
                <a:path w="420624" h="420624">
                  <a:moveTo>
                    <a:pt x="0" y="0"/>
                  </a:moveTo>
                  <a:lnTo>
                    <a:pt x="420624" y="0"/>
                  </a:lnTo>
                  <a:lnTo>
                    <a:pt x="420624" y="420624"/>
                  </a:lnTo>
                  <a:lnTo>
                    <a:pt x="0" y="420624"/>
                  </a:lnTo>
                  <a:lnTo>
                    <a:pt x="0" y="0"/>
                  </a:lnTo>
                  <a:close/>
                </a:path>
              </a:pathLst>
            </a:custGeom>
            <a:blipFill>
              <a:blip r:embed="rId8"/>
              <a:stretch>
                <a:fillRect/>
              </a:stretch>
            </a:blipFill>
          </p:spPr>
        </p:sp>
      </p:grpSp>
      <p:grpSp>
        <p:nvGrpSpPr>
          <p:cNvPr id="55" name="Group 55"/>
          <p:cNvGrpSpPr/>
          <p:nvPr/>
        </p:nvGrpSpPr>
        <p:grpSpPr>
          <a:xfrm>
            <a:off x="10040112" y="6405372"/>
            <a:ext cx="630936" cy="630936"/>
            <a:chOff x="0" y="0"/>
            <a:chExt cx="841248" cy="841248"/>
          </a:xfrm>
        </p:grpSpPr>
        <p:sp>
          <p:nvSpPr>
            <p:cNvPr id="56" name="Freeform 56"/>
            <p:cNvSpPr/>
            <p:nvPr/>
          </p:nvSpPr>
          <p:spPr>
            <a:xfrm>
              <a:off x="0" y="0"/>
              <a:ext cx="841248" cy="841248"/>
            </a:xfrm>
            <a:custGeom>
              <a:avLst/>
              <a:gdLst/>
              <a:ahLst/>
              <a:cxnLst/>
              <a:rect l="l" t="t" r="r" b="b"/>
              <a:pathLst>
                <a:path w="841248" h="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64748B"/>
            </a:solidFill>
          </p:spPr>
        </p:sp>
      </p:grpSp>
      <p:grpSp>
        <p:nvGrpSpPr>
          <p:cNvPr id="57" name="Group 57"/>
          <p:cNvGrpSpPr/>
          <p:nvPr/>
        </p:nvGrpSpPr>
        <p:grpSpPr>
          <a:xfrm>
            <a:off x="10197846" y="6563106"/>
            <a:ext cx="315468" cy="315468"/>
            <a:chOff x="0" y="0"/>
            <a:chExt cx="420624" cy="420624"/>
          </a:xfrm>
        </p:grpSpPr>
        <p:sp>
          <p:nvSpPr>
            <p:cNvPr id="58" name="Freeform 58" descr="preencoded.png"/>
            <p:cNvSpPr/>
            <p:nvPr/>
          </p:nvSpPr>
          <p:spPr>
            <a:xfrm>
              <a:off x="0" y="0"/>
              <a:ext cx="420624" cy="420624"/>
            </a:xfrm>
            <a:custGeom>
              <a:avLst/>
              <a:gdLst/>
              <a:ahLst/>
              <a:cxnLst/>
              <a:rect l="l" t="t" r="r" b="b"/>
              <a:pathLst>
                <a:path w="420624" h="420624">
                  <a:moveTo>
                    <a:pt x="0" y="0"/>
                  </a:moveTo>
                  <a:lnTo>
                    <a:pt x="420624" y="0"/>
                  </a:lnTo>
                  <a:lnTo>
                    <a:pt x="420624" y="420624"/>
                  </a:lnTo>
                  <a:lnTo>
                    <a:pt x="0" y="420624"/>
                  </a:lnTo>
                  <a:lnTo>
                    <a:pt x="0" y="0"/>
                  </a:lnTo>
                  <a:close/>
                </a:path>
              </a:pathLst>
            </a:custGeom>
            <a:blipFill>
              <a:blip r:embed="rId9"/>
              <a:stretch>
                <a:fillRect/>
              </a:stretch>
            </a:blipFill>
          </p:spPr>
        </p:sp>
      </p:grpSp>
      <p:grpSp>
        <p:nvGrpSpPr>
          <p:cNvPr id="59" name="Group 59"/>
          <p:cNvGrpSpPr/>
          <p:nvPr/>
        </p:nvGrpSpPr>
        <p:grpSpPr>
          <a:xfrm>
            <a:off x="7269480" y="7749540"/>
            <a:ext cx="1920240" cy="411480"/>
            <a:chOff x="0" y="0"/>
            <a:chExt cx="2560320" cy="548640"/>
          </a:xfrm>
        </p:grpSpPr>
        <p:sp>
          <p:nvSpPr>
            <p:cNvPr id="60" name="Freeform 60"/>
            <p:cNvSpPr/>
            <p:nvPr/>
          </p:nvSpPr>
          <p:spPr>
            <a:xfrm>
              <a:off x="0" y="0"/>
              <a:ext cx="2560320" cy="548640"/>
            </a:xfrm>
            <a:custGeom>
              <a:avLst/>
              <a:gdLst/>
              <a:ahLst/>
              <a:cxnLst/>
              <a:rect l="l" t="t" r="r" b="b"/>
              <a:pathLst>
                <a:path w="2560320" h="548640">
                  <a:moveTo>
                    <a:pt x="0" y="0"/>
                  </a:moveTo>
                  <a:lnTo>
                    <a:pt x="2560320" y="0"/>
                  </a:lnTo>
                  <a:lnTo>
                    <a:pt x="2560320" y="548640"/>
                  </a:lnTo>
                  <a:lnTo>
                    <a:pt x="0" y="548640"/>
                  </a:lnTo>
                  <a:close/>
                </a:path>
              </a:pathLst>
            </a:custGeom>
            <a:blipFill>
              <a:blip r:embed="rId3">
                <a:alphaModFix amt="0"/>
              </a:blip>
              <a:stretch>
                <a:fillRect t="-40930" b="-40930"/>
              </a:stretch>
            </a:blipFill>
          </p:spPr>
        </p:sp>
        <p:sp>
          <p:nvSpPr>
            <p:cNvPr id="61" name="TextBox 61"/>
            <p:cNvSpPr txBox="1"/>
            <p:nvPr/>
          </p:nvSpPr>
          <p:spPr>
            <a:xfrm>
              <a:off x="0" y="-19050"/>
              <a:ext cx="2560320" cy="567690"/>
            </a:xfrm>
            <a:prstGeom prst="rect">
              <a:avLst/>
            </a:prstGeom>
          </p:spPr>
          <p:txBody>
            <a:bodyPr lIns="0" tIns="0" rIns="0" bIns="0" rtlCol="0" anchor="ctr"/>
            <a:lstStyle/>
            <a:p>
              <a:pPr algn="l">
                <a:lnSpc>
                  <a:spcPts val="1980"/>
                </a:lnSpc>
              </a:pPr>
              <a:r>
                <a:rPr lang="en-US" sz="1650" b="1" spc="150">
                  <a:solidFill>
                    <a:srgbClr val="0AA7A2"/>
                  </a:solidFill>
                  <a:latin typeface="Arial Bold"/>
                  <a:ea typeface="Arial Bold"/>
                  <a:cs typeface="Arial Bold"/>
                  <a:sym typeface="Arial Bold"/>
                </a:rPr>
                <a:t>ON RENTIFY</a:t>
              </a:r>
            </a:p>
          </p:txBody>
        </p:sp>
      </p:grpSp>
      <p:grpSp>
        <p:nvGrpSpPr>
          <p:cNvPr id="62" name="Group 62"/>
          <p:cNvGrpSpPr/>
          <p:nvPr/>
        </p:nvGrpSpPr>
        <p:grpSpPr>
          <a:xfrm>
            <a:off x="9189720" y="7406640"/>
            <a:ext cx="850392" cy="850392"/>
            <a:chOff x="0" y="0"/>
            <a:chExt cx="1133856" cy="1133856"/>
          </a:xfrm>
        </p:grpSpPr>
        <p:sp>
          <p:nvSpPr>
            <p:cNvPr id="63" name="Freeform 63"/>
            <p:cNvSpPr/>
            <p:nvPr/>
          </p:nvSpPr>
          <p:spPr>
            <a:xfrm>
              <a:off x="0" y="0"/>
              <a:ext cx="1133856" cy="1133856"/>
            </a:xfrm>
            <a:custGeom>
              <a:avLst/>
              <a:gdLst/>
              <a:ahLst/>
              <a:cxnLst/>
              <a:rect l="l" t="t" r="r" b="b"/>
              <a:pathLst>
                <a:path w="1133856" h="1133856">
                  <a:moveTo>
                    <a:pt x="0" y="249428"/>
                  </a:moveTo>
                  <a:cubicBezTo>
                    <a:pt x="0" y="111633"/>
                    <a:pt x="111633" y="0"/>
                    <a:pt x="249428" y="0"/>
                  </a:cubicBezTo>
                  <a:lnTo>
                    <a:pt x="884428" y="0"/>
                  </a:lnTo>
                  <a:cubicBezTo>
                    <a:pt x="1022223" y="0"/>
                    <a:pt x="1133856" y="111633"/>
                    <a:pt x="1133856" y="249428"/>
                  </a:cubicBezTo>
                  <a:lnTo>
                    <a:pt x="1133856" y="884428"/>
                  </a:lnTo>
                  <a:cubicBezTo>
                    <a:pt x="1133856" y="1022223"/>
                    <a:pt x="1022223" y="1133856"/>
                    <a:pt x="884428" y="1133856"/>
                  </a:cubicBezTo>
                  <a:lnTo>
                    <a:pt x="249428" y="1133856"/>
                  </a:lnTo>
                  <a:cubicBezTo>
                    <a:pt x="111633" y="1133856"/>
                    <a:pt x="0" y="1022223"/>
                    <a:pt x="0" y="884428"/>
                  </a:cubicBezTo>
                  <a:close/>
                </a:path>
              </a:pathLst>
            </a:custGeom>
            <a:solidFill>
              <a:srgbClr val="2463E8"/>
            </a:solidFill>
          </p:spPr>
        </p:sp>
      </p:grpSp>
      <p:grpSp>
        <p:nvGrpSpPr>
          <p:cNvPr id="64" name="Group 64"/>
          <p:cNvGrpSpPr/>
          <p:nvPr/>
        </p:nvGrpSpPr>
        <p:grpSpPr>
          <a:xfrm>
            <a:off x="9393812" y="7610732"/>
            <a:ext cx="442208" cy="442208"/>
            <a:chOff x="0" y="0"/>
            <a:chExt cx="589610" cy="589610"/>
          </a:xfrm>
        </p:grpSpPr>
        <p:sp>
          <p:nvSpPr>
            <p:cNvPr id="65" name="Freeform 65" descr="preencoded.png"/>
            <p:cNvSpPr/>
            <p:nvPr/>
          </p:nvSpPr>
          <p:spPr>
            <a:xfrm>
              <a:off x="0" y="0"/>
              <a:ext cx="589661" cy="589661"/>
            </a:xfrm>
            <a:custGeom>
              <a:avLst/>
              <a:gdLst/>
              <a:ahLst/>
              <a:cxnLst/>
              <a:rect l="l" t="t" r="r" b="b"/>
              <a:pathLst>
                <a:path w="589661" h="589661">
                  <a:moveTo>
                    <a:pt x="0" y="0"/>
                  </a:moveTo>
                  <a:lnTo>
                    <a:pt x="589661" y="0"/>
                  </a:lnTo>
                  <a:lnTo>
                    <a:pt x="589661" y="589661"/>
                  </a:lnTo>
                  <a:lnTo>
                    <a:pt x="0" y="589661"/>
                  </a:lnTo>
                  <a:lnTo>
                    <a:pt x="0" y="0"/>
                  </a:lnTo>
                  <a:close/>
                </a:path>
              </a:pathLst>
            </a:custGeom>
            <a:blipFill>
              <a:blip r:embed="rId10"/>
              <a:stretch>
                <a:fillRect r="8" b="8"/>
              </a:stretch>
            </a:blipFill>
          </p:spPr>
        </p:sp>
      </p:grpSp>
      <p:grpSp>
        <p:nvGrpSpPr>
          <p:cNvPr id="66" name="Group 66"/>
          <p:cNvGrpSpPr/>
          <p:nvPr/>
        </p:nvGrpSpPr>
        <p:grpSpPr>
          <a:xfrm>
            <a:off x="8915400" y="8298180"/>
            <a:ext cx="1399032" cy="342900"/>
            <a:chOff x="0" y="0"/>
            <a:chExt cx="1865376" cy="457200"/>
          </a:xfrm>
        </p:grpSpPr>
        <p:sp>
          <p:nvSpPr>
            <p:cNvPr id="67" name="Freeform 67"/>
            <p:cNvSpPr/>
            <p:nvPr/>
          </p:nvSpPr>
          <p:spPr>
            <a:xfrm>
              <a:off x="0" y="0"/>
              <a:ext cx="1865376" cy="457200"/>
            </a:xfrm>
            <a:custGeom>
              <a:avLst/>
              <a:gdLst/>
              <a:ahLst/>
              <a:cxnLst/>
              <a:rect l="l" t="t" r="r" b="b"/>
              <a:pathLst>
                <a:path w="1865376" h="457200">
                  <a:moveTo>
                    <a:pt x="0" y="0"/>
                  </a:moveTo>
                  <a:lnTo>
                    <a:pt x="1865376" y="0"/>
                  </a:lnTo>
                  <a:lnTo>
                    <a:pt x="1865376" y="457200"/>
                  </a:lnTo>
                  <a:lnTo>
                    <a:pt x="0" y="457200"/>
                  </a:lnTo>
                  <a:close/>
                </a:path>
              </a:pathLst>
            </a:custGeom>
            <a:blipFill>
              <a:blip r:embed="rId3">
                <a:alphaModFix amt="0"/>
              </a:blip>
              <a:stretch>
                <a:fillRect t="-29498" b="-29498"/>
              </a:stretch>
            </a:blipFill>
          </p:spPr>
        </p:sp>
        <p:sp>
          <p:nvSpPr>
            <p:cNvPr id="68" name="TextBox 68"/>
            <p:cNvSpPr txBox="1"/>
            <p:nvPr/>
          </p:nvSpPr>
          <p:spPr>
            <a:xfrm>
              <a:off x="0" y="-19050"/>
              <a:ext cx="1865376" cy="476250"/>
            </a:xfrm>
            <a:prstGeom prst="rect">
              <a:avLst/>
            </a:prstGeom>
          </p:spPr>
          <p:txBody>
            <a:bodyPr lIns="0" tIns="0" rIns="0" bIns="0" rtlCol="0" anchor="ctr"/>
            <a:lstStyle/>
            <a:p>
              <a:pPr algn="ctr">
                <a:lnSpc>
                  <a:spcPts val="1800"/>
                </a:lnSpc>
              </a:pPr>
              <a:r>
                <a:rPr lang="en-US" sz="1500" b="1">
                  <a:solidFill>
                    <a:srgbClr val="2463E8"/>
                  </a:solidFill>
                  <a:latin typeface="Arial Bold"/>
                  <a:ea typeface="Arial Bold"/>
                  <a:cs typeface="Arial Bold"/>
                  <a:sym typeface="Arial Bold"/>
                </a:rPr>
                <a:t>Storefront</a:t>
              </a:r>
            </a:p>
          </p:txBody>
        </p:sp>
      </p:grpSp>
      <p:grpSp>
        <p:nvGrpSpPr>
          <p:cNvPr id="69" name="Group 69"/>
          <p:cNvGrpSpPr/>
          <p:nvPr/>
        </p:nvGrpSpPr>
        <p:grpSpPr>
          <a:xfrm>
            <a:off x="10492740" y="7406640"/>
            <a:ext cx="850392" cy="850392"/>
            <a:chOff x="0" y="0"/>
            <a:chExt cx="1133856" cy="1133856"/>
          </a:xfrm>
        </p:grpSpPr>
        <p:sp>
          <p:nvSpPr>
            <p:cNvPr id="70" name="Freeform 70"/>
            <p:cNvSpPr/>
            <p:nvPr/>
          </p:nvSpPr>
          <p:spPr>
            <a:xfrm>
              <a:off x="0" y="0"/>
              <a:ext cx="1133856" cy="1133856"/>
            </a:xfrm>
            <a:custGeom>
              <a:avLst/>
              <a:gdLst/>
              <a:ahLst/>
              <a:cxnLst/>
              <a:rect l="l" t="t" r="r" b="b"/>
              <a:pathLst>
                <a:path w="1133856" h="1133856">
                  <a:moveTo>
                    <a:pt x="0" y="249428"/>
                  </a:moveTo>
                  <a:cubicBezTo>
                    <a:pt x="0" y="111633"/>
                    <a:pt x="111633" y="0"/>
                    <a:pt x="249428" y="0"/>
                  </a:cubicBezTo>
                  <a:lnTo>
                    <a:pt x="884428" y="0"/>
                  </a:lnTo>
                  <a:cubicBezTo>
                    <a:pt x="1022223" y="0"/>
                    <a:pt x="1133856" y="111633"/>
                    <a:pt x="1133856" y="249428"/>
                  </a:cubicBezTo>
                  <a:lnTo>
                    <a:pt x="1133856" y="884428"/>
                  </a:lnTo>
                  <a:cubicBezTo>
                    <a:pt x="1133856" y="1022223"/>
                    <a:pt x="1022223" y="1133856"/>
                    <a:pt x="884428" y="1133856"/>
                  </a:cubicBezTo>
                  <a:lnTo>
                    <a:pt x="249428" y="1133856"/>
                  </a:lnTo>
                  <a:cubicBezTo>
                    <a:pt x="111633" y="1133856"/>
                    <a:pt x="0" y="1022223"/>
                    <a:pt x="0" y="884428"/>
                  </a:cubicBezTo>
                  <a:close/>
                </a:path>
              </a:pathLst>
            </a:custGeom>
            <a:solidFill>
              <a:srgbClr val="0AA7A2"/>
            </a:solidFill>
          </p:spPr>
        </p:sp>
      </p:grpSp>
      <p:grpSp>
        <p:nvGrpSpPr>
          <p:cNvPr id="71" name="Group 71"/>
          <p:cNvGrpSpPr/>
          <p:nvPr/>
        </p:nvGrpSpPr>
        <p:grpSpPr>
          <a:xfrm>
            <a:off x="10696832" y="7610732"/>
            <a:ext cx="442208" cy="442208"/>
            <a:chOff x="0" y="0"/>
            <a:chExt cx="589610" cy="589610"/>
          </a:xfrm>
        </p:grpSpPr>
        <p:sp>
          <p:nvSpPr>
            <p:cNvPr id="72" name="Freeform 72" descr="preencoded.png"/>
            <p:cNvSpPr/>
            <p:nvPr/>
          </p:nvSpPr>
          <p:spPr>
            <a:xfrm>
              <a:off x="0" y="0"/>
              <a:ext cx="589661" cy="589661"/>
            </a:xfrm>
            <a:custGeom>
              <a:avLst/>
              <a:gdLst/>
              <a:ahLst/>
              <a:cxnLst/>
              <a:rect l="l" t="t" r="r" b="b"/>
              <a:pathLst>
                <a:path w="589661" h="589661">
                  <a:moveTo>
                    <a:pt x="0" y="0"/>
                  </a:moveTo>
                  <a:lnTo>
                    <a:pt x="589661" y="0"/>
                  </a:lnTo>
                  <a:lnTo>
                    <a:pt x="589661" y="589661"/>
                  </a:lnTo>
                  <a:lnTo>
                    <a:pt x="0" y="589661"/>
                  </a:lnTo>
                  <a:lnTo>
                    <a:pt x="0" y="0"/>
                  </a:lnTo>
                  <a:close/>
                </a:path>
              </a:pathLst>
            </a:custGeom>
            <a:blipFill>
              <a:blip r:embed="rId11"/>
              <a:stretch>
                <a:fillRect r="8" b="8"/>
              </a:stretch>
            </a:blipFill>
          </p:spPr>
        </p:sp>
      </p:grpSp>
      <p:grpSp>
        <p:nvGrpSpPr>
          <p:cNvPr id="73" name="Group 73"/>
          <p:cNvGrpSpPr/>
          <p:nvPr/>
        </p:nvGrpSpPr>
        <p:grpSpPr>
          <a:xfrm>
            <a:off x="10218420" y="8298180"/>
            <a:ext cx="1399032" cy="342900"/>
            <a:chOff x="0" y="0"/>
            <a:chExt cx="1865376" cy="457200"/>
          </a:xfrm>
        </p:grpSpPr>
        <p:sp>
          <p:nvSpPr>
            <p:cNvPr id="74" name="Freeform 74"/>
            <p:cNvSpPr/>
            <p:nvPr/>
          </p:nvSpPr>
          <p:spPr>
            <a:xfrm>
              <a:off x="0" y="0"/>
              <a:ext cx="1865376" cy="457200"/>
            </a:xfrm>
            <a:custGeom>
              <a:avLst/>
              <a:gdLst/>
              <a:ahLst/>
              <a:cxnLst/>
              <a:rect l="l" t="t" r="r" b="b"/>
              <a:pathLst>
                <a:path w="1865376" h="457200">
                  <a:moveTo>
                    <a:pt x="0" y="0"/>
                  </a:moveTo>
                  <a:lnTo>
                    <a:pt x="1865376" y="0"/>
                  </a:lnTo>
                  <a:lnTo>
                    <a:pt x="1865376" y="457200"/>
                  </a:lnTo>
                  <a:lnTo>
                    <a:pt x="0" y="457200"/>
                  </a:lnTo>
                  <a:close/>
                </a:path>
              </a:pathLst>
            </a:custGeom>
            <a:blipFill>
              <a:blip r:embed="rId3">
                <a:alphaModFix amt="0"/>
              </a:blip>
              <a:stretch>
                <a:fillRect t="-29498" b="-29498"/>
              </a:stretch>
            </a:blipFill>
          </p:spPr>
        </p:sp>
        <p:sp>
          <p:nvSpPr>
            <p:cNvPr id="75" name="TextBox 75"/>
            <p:cNvSpPr txBox="1"/>
            <p:nvPr/>
          </p:nvSpPr>
          <p:spPr>
            <a:xfrm>
              <a:off x="0" y="-19050"/>
              <a:ext cx="1865376" cy="476250"/>
            </a:xfrm>
            <a:prstGeom prst="rect">
              <a:avLst/>
            </a:prstGeom>
          </p:spPr>
          <p:txBody>
            <a:bodyPr lIns="0" tIns="0" rIns="0" bIns="0" rtlCol="0" anchor="ctr"/>
            <a:lstStyle/>
            <a:p>
              <a:pPr algn="ctr">
                <a:lnSpc>
                  <a:spcPts val="1800"/>
                </a:lnSpc>
              </a:pPr>
              <a:r>
                <a:rPr lang="en-US" sz="1500" b="1">
                  <a:solidFill>
                    <a:srgbClr val="0AA7A2"/>
                  </a:solidFill>
                  <a:latin typeface="Arial Bold"/>
                  <a:ea typeface="Arial Bold"/>
                  <a:cs typeface="Arial Bold"/>
                  <a:sym typeface="Arial Bold"/>
                </a:rPr>
                <a:t>POS</a:t>
              </a:r>
            </a:p>
          </p:txBody>
        </p:sp>
      </p:grpSp>
      <p:grpSp>
        <p:nvGrpSpPr>
          <p:cNvPr id="76" name="Group 76"/>
          <p:cNvGrpSpPr/>
          <p:nvPr/>
        </p:nvGrpSpPr>
        <p:grpSpPr>
          <a:xfrm>
            <a:off x="10218420" y="2263140"/>
            <a:ext cx="1783080" cy="548640"/>
            <a:chOff x="0" y="0"/>
            <a:chExt cx="2377440" cy="731520"/>
          </a:xfrm>
        </p:grpSpPr>
        <p:sp>
          <p:nvSpPr>
            <p:cNvPr id="77" name="Freeform 77"/>
            <p:cNvSpPr/>
            <p:nvPr/>
          </p:nvSpPr>
          <p:spPr>
            <a:xfrm>
              <a:off x="0" y="0"/>
              <a:ext cx="2377440" cy="731520"/>
            </a:xfrm>
            <a:custGeom>
              <a:avLst/>
              <a:gdLst/>
              <a:ahLst/>
              <a:cxnLst/>
              <a:rect l="l" t="t" r="r" b="b"/>
              <a:pathLst>
                <a:path w="2377440" h="731520">
                  <a:moveTo>
                    <a:pt x="0" y="365760"/>
                  </a:moveTo>
                  <a:cubicBezTo>
                    <a:pt x="0" y="163703"/>
                    <a:pt x="163703" y="0"/>
                    <a:pt x="365760" y="0"/>
                  </a:cubicBezTo>
                  <a:lnTo>
                    <a:pt x="2011680" y="0"/>
                  </a:lnTo>
                  <a:cubicBezTo>
                    <a:pt x="2213737" y="0"/>
                    <a:pt x="2377440" y="163703"/>
                    <a:pt x="2377440" y="365760"/>
                  </a:cubicBezTo>
                  <a:cubicBezTo>
                    <a:pt x="2377440" y="567817"/>
                    <a:pt x="2213737" y="731520"/>
                    <a:pt x="2011680" y="731520"/>
                  </a:cubicBezTo>
                  <a:lnTo>
                    <a:pt x="365760" y="731520"/>
                  </a:lnTo>
                  <a:cubicBezTo>
                    <a:pt x="163703" y="731520"/>
                    <a:pt x="0" y="567817"/>
                    <a:pt x="0" y="365760"/>
                  </a:cubicBezTo>
                  <a:close/>
                </a:path>
              </a:pathLst>
            </a:custGeom>
            <a:solidFill>
              <a:srgbClr val="111D35"/>
            </a:solidFill>
          </p:spPr>
        </p:sp>
        <p:sp>
          <p:nvSpPr>
            <p:cNvPr id="78" name="TextBox 78"/>
            <p:cNvSpPr txBox="1"/>
            <p:nvPr/>
          </p:nvSpPr>
          <p:spPr>
            <a:xfrm>
              <a:off x="0" y="-19050"/>
              <a:ext cx="2377440" cy="750570"/>
            </a:xfrm>
            <a:prstGeom prst="rect">
              <a:avLst/>
            </a:prstGeom>
          </p:spPr>
          <p:txBody>
            <a:bodyPr lIns="50800" tIns="50800" rIns="50800" bIns="50800" rtlCol="0" anchor="ctr"/>
            <a:lstStyle/>
            <a:p>
              <a:pPr algn="ctr">
                <a:lnSpc>
                  <a:spcPts val="2340"/>
                </a:lnSpc>
              </a:pPr>
              <a:r>
                <a:rPr lang="en-US" sz="1950" b="1">
                  <a:solidFill>
                    <a:srgbClr val="FFFFFF"/>
                  </a:solidFill>
                  <a:latin typeface="Arial Bold"/>
                  <a:ea typeface="Arial Bold"/>
                  <a:cs typeface="Arial Bold"/>
                  <a:sym typeface="Arial Bold"/>
                </a:rPr>
                <a:t>Starter plan</a:t>
              </a:r>
            </a:p>
          </p:txBody>
        </p:sp>
      </p:grpSp>
      <p:grpSp>
        <p:nvGrpSpPr>
          <p:cNvPr id="79" name="Group 79"/>
          <p:cNvGrpSpPr/>
          <p:nvPr/>
        </p:nvGrpSpPr>
        <p:grpSpPr>
          <a:xfrm>
            <a:off x="12824460" y="1851660"/>
            <a:ext cx="4708703" cy="7200900"/>
            <a:chOff x="0" y="0"/>
            <a:chExt cx="6278270" cy="9601200"/>
          </a:xfrm>
        </p:grpSpPr>
        <p:sp>
          <p:nvSpPr>
            <p:cNvPr id="80" name="Freeform 80"/>
            <p:cNvSpPr/>
            <p:nvPr/>
          </p:nvSpPr>
          <p:spPr>
            <a:xfrm>
              <a:off x="0" y="0"/>
              <a:ext cx="6278245" cy="9601200"/>
            </a:xfrm>
            <a:custGeom>
              <a:avLst/>
              <a:gdLst/>
              <a:ahLst/>
              <a:cxnLst/>
              <a:rect l="l" t="t" r="r" b="b"/>
              <a:pathLst>
                <a:path w="6278245" h="9601200">
                  <a:moveTo>
                    <a:pt x="0" y="365760"/>
                  </a:moveTo>
                  <a:cubicBezTo>
                    <a:pt x="0" y="163703"/>
                    <a:pt x="163703" y="0"/>
                    <a:pt x="365760" y="0"/>
                  </a:cubicBezTo>
                  <a:lnTo>
                    <a:pt x="5912485" y="0"/>
                  </a:lnTo>
                  <a:cubicBezTo>
                    <a:pt x="6114542" y="0"/>
                    <a:pt x="6278245" y="163703"/>
                    <a:pt x="6278245" y="365760"/>
                  </a:cubicBezTo>
                  <a:lnTo>
                    <a:pt x="6278245" y="9235440"/>
                  </a:lnTo>
                  <a:cubicBezTo>
                    <a:pt x="6278245" y="9437497"/>
                    <a:pt x="6114542" y="9601200"/>
                    <a:pt x="5912485" y="9601200"/>
                  </a:cubicBezTo>
                  <a:lnTo>
                    <a:pt x="365760" y="9601200"/>
                  </a:lnTo>
                  <a:cubicBezTo>
                    <a:pt x="163703" y="9601200"/>
                    <a:pt x="0" y="9437497"/>
                    <a:pt x="0" y="9235440"/>
                  </a:cubicBezTo>
                  <a:close/>
                </a:path>
              </a:pathLst>
            </a:custGeom>
            <a:solidFill>
              <a:srgbClr val="111D35"/>
            </a:solidFill>
          </p:spPr>
        </p:sp>
      </p:grpSp>
      <p:grpSp>
        <p:nvGrpSpPr>
          <p:cNvPr id="81" name="Group 81"/>
          <p:cNvGrpSpPr/>
          <p:nvPr/>
        </p:nvGrpSpPr>
        <p:grpSpPr>
          <a:xfrm>
            <a:off x="13304520" y="2263140"/>
            <a:ext cx="3748583" cy="411480"/>
            <a:chOff x="0" y="0"/>
            <a:chExt cx="4998110" cy="548640"/>
          </a:xfrm>
        </p:grpSpPr>
        <p:sp>
          <p:nvSpPr>
            <p:cNvPr id="82" name="Freeform 82"/>
            <p:cNvSpPr/>
            <p:nvPr/>
          </p:nvSpPr>
          <p:spPr>
            <a:xfrm>
              <a:off x="0" y="0"/>
              <a:ext cx="4998110" cy="548640"/>
            </a:xfrm>
            <a:custGeom>
              <a:avLst/>
              <a:gdLst/>
              <a:ahLst/>
              <a:cxnLst/>
              <a:rect l="l" t="t" r="r" b="b"/>
              <a:pathLst>
                <a:path w="4998110" h="548640">
                  <a:moveTo>
                    <a:pt x="0" y="0"/>
                  </a:moveTo>
                  <a:lnTo>
                    <a:pt x="4998110" y="0"/>
                  </a:lnTo>
                  <a:lnTo>
                    <a:pt x="4998110" y="548640"/>
                  </a:lnTo>
                  <a:lnTo>
                    <a:pt x="0" y="548640"/>
                  </a:lnTo>
                  <a:close/>
                </a:path>
              </a:pathLst>
            </a:custGeom>
            <a:blipFill>
              <a:blip r:embed="rId3">
                <a:alphaModFix amt="0"/>
              </a:blip>
              <a:stretch>
                <a:fillRect t="-127508" b="-127508"/>
              </a:stretch>
            </a:blipFill>
          </p:spPr>
        </p:sp>
        <p:sp>
          <p:nvSpPr>
            <p:cNvPr id="83" name="TextBox 83"/>
            <p:cNvSpPr txBox="1"/>
            <p:nvPr/>
          </p:nvSpPr>
          <p:spPr>
            <a:xfrm>
              <a:off x="0" y="-19050"/>
              <a:ext cx="4998110" cy="567690"/>
            </a:xfrm>
            <a:prstGeom prst="rect">
              <a:avLst/>
            </a:prstGeom>
          </p:spPr>
          <p:txBody>
            <a:bodyPr lIns="0" tIns="0" rIns="0" bIns="0" rtlCol="0" anchor="ctr"/>
            <a:lstStyle/>
            <a:p>
              <a:pPr algn="l">
                <a:lnSpc>
                  <a:spcPts val="1980"/>
                </a:lnSpc>
              </a:pPr>
              <a:r>
                <a:rPr lang="en-US" sz="1650" b="1" spc="299">
                  <a:solidFill>
                    <a:srgbClr val="A7F3D0"/>
                  </a:solidFill>
                  <a:latin typeface="Arial Bold"/>
                  <a:ea typeface="Arial Bold"/>
                  <a:cs typeface="Arial Bold"/>
                  <a:sym typeface="Arial Bold"/>
                </a:rPr>
                <a:t>WE START IN</a:t>
              </a:r>
            </a:p>
          </p:txBody>
        </p:sp>
      </p:grpSp>
      <p:grpSp>
        <p:nvGrpSpPr>
          <p:cNvPr id="84" name="Group 84"/>
          <p:cNvGrpSpPr/>
          <p:nvPr/>
        </p:nvGrpSpPr>
        <p:grpSpPr>
          <a:xfrm>
            <a:off x="13235940" y="2839212"/>
            <a:ext cx="754380" cy="754380"/>
            <a:chOff x="0" y="0"/>
            <a:chExt cx="1005840" cy="1005840"/>
          </a:xfrm>
        </p:grpSpPr>
        <p:sp>
          <p:nvSpPr>
            <p:cNvPr id="85" name="Freeform 85" descr="preencoded.png"/>
            <p:cNvSpPr/>
            <p:nvPr/>
          </p:nvSpPr>
          <p:spPr>
            <a:xfrm>
              <a:off x="0" y="0"/>
              <a:ext cx="1005840" cy="1005840"/>
            </a:xfrm>
            <a:custGeom>
              <a:avLst/>
              <a:gdLst/>
              <a:ahLst/>
              <a:cxnLst/>
              <a:rect l="l" t="t" r="r" b="b"/>
              <a:pathLst>
                <a:path w="1005840" h="1005840">
                  <a:moveTo>
                    <a:pt x="0" y="0"/>
                  </a:moveTo>
                  <a:lnTo>
                    <a:pt x="1005840" y="0"/>
                  </a:lnTo>
                  <a:lnTo>
                    <a:pt x="1005840" y="1005840"/>
                  </a:lnTo>
                  <a:lnTo>
                    <a:pt x="0" y="1005840"/>
                  </a:lnTo>
                  <a:lnTo>
                    <a:pt x="0" y="0"/>
                  </a:lnTo>
                  <a:close/>
                </a:path>
              </a:pathLst>
            </a:custGeom>
            <a:blipFill>
              <a:blip r:embed="rId12"/>
              <a:stretch>
                <a:fillRect/>
              </a:stretch>
            </a:blipFill>
          </p:spPr>
        </p:sp>
      </p:grpSp>
      <p:grpSp>
        <p:nvGrpSpPr>
          <p:cNvPr id="86" name="Group 86"/>
          <p:cNvGrpSpPr/>
          <p:nvPr/>
        </p:nvGrpSpPr>
        <p:grpSpPr>
          <a:xfrm>
            <a:off x="14127480" y="2784348"/>
            <a:ext cx="3199943" cy="850392"/>
            <a:chOff x="0" y="0"/>
            <a:chExt cx="4266590" cy="1133856"/>
          </a:xfrm>
        </p:grpSpPr>
        <p:sp>
          <p:nvSpPr>
            <p:cNvPr id="87" name="Freeform 87"/>
            <p:cNvSpPr/>
            <p:nvPr/>
          </p:nvSpPr>
          <p:spPr>
            <a:xfrm>
              <a:off x="0" y="0"/>
              <a:ext cx="4266590" cy="1133856"/>
            </a:xfrm>
            <a:custGeom>
              <a:avLst/>
              <a:gdLst/>
              <a:ahLst/>
              <a:cxnLst/>
              <a:rect l="l" t="t" r="r" b="b"/>
              <a:pathLst>
                <a:path w="4266590" h="1133856">
                  <a:moveTo>
                    <a:pt x="0" y="0"/>
                  </a:moveTo>
                  <a:lnTo>
                    <a:pt x="4266590" y="0"/>
                  </a:lnTo>
                  <a:lnTo>
                    <a:pt x="4266590" y="1133856"/>
                  </a:lnTo>
                  <a:lnTo>
                    <a:pt x="0" y="1133856"/>
                  </a:lnTo>
                  <a:close/>
                </a:path>
              </a:pathLst>
            </a:custGeom>
            <a:blipFill>
              <a:blip r:embed="rId3">
                <a:alphaModFix amt="0"/>
              </a:blip>
              <a:stretch>
                <a:fillRect t="-23320" b="-23320"/>
              </a:stretch>
            </a:blipFill>
          </p:spPr>
        </p:sp>
        <p:sp>
          <p:nvSpPr>
            <p:cNvPr id="88" name="TextBox 88"/>
            <p:cNvSpPr txBox="1"/>
            <p:nvPr/>
          </p:nvSpPr>
          <p:spPr>
            <a:xfrm>
              <a:off x="0" y="-28575"/>
              <a:ext cx="4266590" cy="1162431"/>
            </a:xfrm>
            <a:prstGeom prst="rect">
              <a:avLst/>
            </a:prstGeom>
          </p:spPr>
          <p:txBody>
            <a:bodyPr lIns="0" tIns="0" rIns="0" bIns="0" rtlCol="0" anchor="ctr"/>
            <a:lstStyle/>
            <a:p>
              <a:pPr algn="l">
                <a:lnSpc>
                  <a:spcPts val="4320"/>
                </a:lnSpc>
              </a:pPr>
              <a:r>
                <a:rPr lang="en-US" sz="3600" b="1">
                  <a:solidFill>
                    <a:srgbClr val="FFFFFF"/>
                  </a:solidFill>
                  <a:latin typeface="Arial Bold"/>
                  <a:ea typeface="Arial Bold"/>
                  <a:cs typeface="Arial Bold"/>
                  <a:sym typeface="Arial Bold"/>
                </a:rPr>
                <a:t>Phnom Penh</a:t>
              </a:r>
            </a:p>
          </p:txBody>
        </p:sp>
      </p:grpSp>
      <p:grpSp>
        <p:nvGrpSpPr>
          <p:cNvPr id="89" name="Group 89"/>
          <p:cNvGrpSpPr/>
          <p:nvPr/>
        </p:nvGrpSpPr>
        <p:grpSpPr>
          <a:xfrm>
            <a:off x="13304520" y="3703320"/>
            <a:ext cx="3748583" cy="822960"/>
            <a:chOff x="0" y="0"/>
            <a:chExt cx="4998110" cy="1097280"/>
          </a:xfrm>
        </p:grpSpPr>
        <p:sp>
          <p:nvSpPr>
            <p:cNvPr id="90" name="Freeform 90"/>
            <p:cNvSpPr/>
            <p:nvPr/>
          </p:nvSpPr>
          <p:spPr>
            <a:xfrm>
              <a:off x="0" y="0"/>
              <a:ext cx="4998110" cy="1097280"/>
            </a:xfrm>
            <a:custGeom>
              <a:avLst/>
              <a:gdLst/>
              <a:ahLst/>
              <a:cxnLst/>
              <a:rect l="l" t="t" r="r" b="b"/>
              <a:pathLst>
                <a:path w="4998110" h="1097280">
                  <a:moveTo>
                    <a:pt x="0" y="0"/>
                  </a:moveTo>
                  <a:lnTo>
                    <a:pt x="4998110" y="0"/>
                  </a:lnTo>
                  <a:lnTo>
                    <a:pt x="4998110" y="1097280"/>
                  </a:lnTo>
                  <a:lnTo>
                    <a:pt x="0" y="1097280"/>
                  </a:lnTo>
                  <a:close/>
                </a:path>
              </a:pathLst>
            </a:custGeom>
            <a:blipFill>
              <a:blip r:embed="rId3">
                <a:alphaModFix amt="0"/>
              </a:blip>
              <a:stretch>
                <a:fillRect t="-38754" b="-38754"/>
              </a:stretch>
            </a:blipFill>
          </p:spPr>
        </p:sp>
        <p:sp>
          <p:nvSpPr>
            <p:cNvPr id="91" name="TextBox 91"/>
            <p:cNvSpPr txBox="1"/>
            <p:nvPr/>
          </p:nvSpPr>
          <p:spPr>
            <a:xfrm>
              <a:off x="0" y="-28575"/>
              <a:ext cx="4998110" cy="1125855"/>
            </a:xfrm>
            <a:prstGeom prst="rect">
              <a:avLst/>
            </a:prstGeom>
          </p:spPr>
          <p:txBody>
            <a:bodyPr lIns="0" tIns="0" rIns="0" bIns="0" rtlCol="0" anchor="ctr"/>
            <a:lstStyle/>
            <a:p>
              <a:pPr algn="l">
                <a:lnSpc>
                  <a:spcPts val="6120"/>
                </a:lnSpc>
              </a:pPr>
              <a:r>
                <a:rPr lang="en-US" sz="5100" b="1">
                  <a:solidFill>
                    <a:srgbClr val="A7F3D0"/>
                  </a:solidFill>
                  <a:latin typeface="Arial Bold"/>
                  <a:ea typeface="Arial Bold"/>
                  <a:cs typeface="Arial Bold"/>
                  <a:sym typeface="Arial Bold"/>
                </a:rPr>
                <a:t>1 in 5</a:t>
              </a:r>
            </a:p>
          </p:txBody>
        </p:sp>
      </p:grpSp>
      <p:grpSp>
        <p:nvGrpSpPr>
          <p:cNvPr id="92" name="Group 92"/>
          <p:cNvGrpSpPr/>
          <p:nvPr/>
        </p:nvGrpSpPr>
        <p:grpSpPr>
          <a:xfrm>
            <a:off x="13304520" y="4485132"/>
            <a:ext cx="3748583" cy="411480"/>
            <a:chOff x="0" y="0"/>
            <a:chExt cx="4998110" cy="548640"/>
          </a:xfrm>
        </p:grpSpPr>
        <p:sp>
          <p:nvSpPr>
            <p:cNvPr id="93" name="Freeform 93"/>
            <p:cNvSpPr/>
            <p:nvPr/>
          </p:nvSpPr>
          <p:spPr>
            <a:xfrm>
              <a:off x="0" y="0"/>
              <a:ext cx="4998110" cy="548640"/>
            </a:xfrm>
            <a:custGeom>
              <a:avLst/>
              <a:gdLst/>
              <a:ahLst/>
              <a:cxnLst/>
              <a:rect l="l" t="t" r="r" b="b"/>
              <a:pathLst>
                <a:path w="4998110" h="548640">
                  <a:moveTo>
                    <a:pt x="0" y="0"/>
                  </a:moveTo>
                  <a:lnTo>
                    <a:pt x="4998110" y="0"/>
                  </a:lnTo>
                  <a:lnTo>
                    <a:pt x="4998110" y="548640"/>
                  </a:lnTo>
                  <a:lnTo>
                    <a:pt x="0" y="548640"/>
                  </a:lnTo>
                  <a:close/>
                </a:path>
              </a:pathLst>
            </a:custGeom>
            <a:blipFill>
              <a:blip r:embed="rId3">
                <a:alphaModFix amt="0"/>
              </a:blip>
              <a:stretch>
                <a:fillRect t="-127508" b="-127508"/>
              </a:stretch>
            </a:blipFill>
          </p:spPr>
        </p:sp>
        <p:sp>
          <p:nvSpPr>
            <p:cNvPr id="94" name="TextBox 94"/>
            <p:cNvSpPr txBox="1"/>
            <p:nvPr/>
          </p:nvSpPr>
          <p:spPr>
            <a:xfrm>
              <a:off x="0" y="-19050"/>
              <a:ext cx="4998110" cy="567690"/>
            </a:xfrm>
            <a:prstGeom prst="rect">
              <a:avLst/>
            </a:prstGeom>
          </p:spPr>
          <p:txBody>
            <a:bodyPr lIns="0" tIns="0" rIns="0" bIns="0" rtlCol="0" anchor="ctr"/>
            <a:lstStyle/>
            <a:p>
              <a:pPr algn="l">
                <a:lnSpc>
                  <a:spcPts val="2160"/>
                </a:lnSpc>
              </a:pPr>
              <a:r>
                <a:rPr lang="en-US" sz="1800">
                  <a:solidFill>
                    <a:srgbClr val="9FB3CF"/>
                  </a:solidFill>
                  <a:latin typeface="Arial"/>
                  <a:ea typeface="Arial"/>
                  <a:cs typeface="Arial"/>
                  <a:sym typeface="Arial"/>
                </a:rPr>
                <a:t>Cambodian businesses are here</a:t>
              </a:r>
            </a:p>
          </p:txBody>
        </p:sp>
      </p:grpSp>
      <p:sp>
        <p:nvSpPr>
          <p:cNvPr id="95" name="AutoShape 95"/>
          <p:cNvSpPr/>
          <p:nvPr/>
        </p:nvSpPr>
        <p:spPr>
          <a:xfrm rot="17400">
            <a:off x="13294966" y="5138738"/>
            <a:ext cx="3767680" cy="0"/>
          </a:xfrm>
          <a:prstGeom prst="line">
            <a:avLst/>
          </a:prstGeom>
          <a:ln w="9525" cap="rnd">
            <a:solidFill>
              <a:srgbClr val="2A3B5C"/>
            </a:solidFill>
            <a:prstDash val="solid"/>
            <a:headEnd type="none" w="sm" len="sm"/>
            <a:tailEnd type="none" w="sm" len="sm"/>
          </a:ln>
        </p:spPr>
      </p:sp>
      <p:grpSp>
        <p:nvGrpSpPr>
          <p:cNvPr id="96" name="Group 96"/>
          <p:cNvGrpSpPr/>
          <p:nvPr/>
        </p:nvGrpSpPr>
        <p:grpSpPr>
          <a:xfrm>
            <a:off x="13304520" y="5349240"/>
            <a:ext cx="3017520" cy="411480"/>
            <a:chOff x="0" y="0"/>
            <a:chExt cx="4023360" cy="548640"/>
          </a:xfrm>
        </p:grpSpPr>
        <p:sp>
          <p:nvSpPr>
            <p:cNvPr id="97" name="Freeform 97"/>
            <p:cNvSpPr/>
            <p:nvPr/>
          </p:nvSpPr>
          <p:spPr>
            <a:xfrm>
              <a:off x="0" y="0"/>
              <a:ext cx="4023360" cy="548640"/>
            </a:xfrm>
            <a:custGeom>
              <a:avLst/>
              <a:gdLst/>
              <a:ahLst/>
              <a:cxnLst/>
              <a:rect l="l" t="t" r="r" b="b"/>
              <a:pathLst>
                <a:path w="4023360" h="548640">
                  <a:moveTo>
                    <a:pt x="0" y="0"/>
                  </a:moveTo>
                  <a:lnTo>
                    <a:pt x="4023360" y="0"/>
                  </a:lnTo>
                  <a:lnTo>
                    <a:pt x="4023360" y="548640"/>
                  </a:lnTo>
                  <a:lnTo>
                    <a:pt x="0" y="548640"/>
                  </a:lnTo>
                  <a:close/>
                </a:path>
              </a:pathLst>
            </a:custGeom>
            <a:blipFill>
              <a:blip r:embed="rId3">
                <a:alphaModFix amt="0"/>
              </a:blip>
              <a:stretch>
                <a:fillRect t="-92890" b="-92890"/>
              </a:stretch>
            </a:blipFill>
          </p:spPr>
        </p:sp>
        <p:sp>
          <p:nvSpPr>
            <p:cNvPr id="98" name="TextBox 98"/>
            <p:cNvSpPr txBox="1"/>
            <p:nvPr/>
          </p:nvSpPr>
          <p:spPr>
            <a:xfrm>
              <a:off x="0" y="-19050"/>
              <a:ext cx="4023360" cy="567690"/>
            </a:xfrm>
            <a:prstGeom prst="rect">
              <a:avLst/>
            </a:prstGeom>
          </p:spPr>
          <p:txBody>
            <a:bodyPr lIns="0" tIns="0" rIns="0" bIns="0" rtlCol="0" anchor="ctr"/>
            <a:lstStyle/>
            <a:p>
              <a:pPr algn="l">
                <a:lnSpc>
                  <a:spcPts val="1980"/>
                </a:lnSpc>
              </a:pPr>
              <a:r>
                <a:rPr lang="en-US" sz="1650" b="1" spc="299">
                  <a:solidFill>
                    <a:srgbClr val="A7F3D0"/>
                  </a:solidFill>
                  <a:latin typeface="Arial Bold"/>
                  <a:ea typeface="Arial Bold"/>
                  <a:cs typeface="Arial Bold"/>
                  <a:sym typeface="Arial Bold"/>
                </a:rPr>
                <a:t>FIRST CATEGORIES</a:t>
              </a:r>
            </a:p>
          </p:txBody>
        </p:sp>
      </p:grpSp>
      <p:grpSp>
        <p:nvGrpSpPr>
          <p:cNvPr id="99" name="Group 99"/>
          <p:cNvGrpSpPr/>
          <p:nvPr/>
        </p:nvGrpSpPr>
        <p:grpSpPr>
          <a:xfrm>
            <a:off x="13802754" y="6131052"/>
            <a:ext cx="877824" cy="877824"/>
            <a:chOff x="0" y="0"/>
            <a:chExt cx="1170432" cy="1170432"/>
          </a:xfrm>
        </p:grpSpPr>
        <p:sp>
          <p:nvSpPr>
            <p:cNvPr id="100" name="Freeform 100"/>
            <p:cNvSpPr/>
            <p:nvPr/>
          </p:nvSpPr>
          <p:spPr>
            <a:xfrm>
              <a:off x="0" y="0"/>
              <a:ext cx="1170432" cy="1170432"/>
            </a:xfrm>
            <a:custGeom>
              <a:avLst/>
              <a:gdLst/>
              <a:ahLst/>
              <a:cxnLst/>
              <a:rect l="l" t="t" r="r" b="b"/>
              <a:pathLst>
                <a:path w="1170432" h="1170432">
                  <a:moveTo>
                    <a:pt x="0" y="292608"/>
                  </a:moveTo>
                  <a:cubicBezTo>
                    <a:pt x="0" y="131064"/>
                    <a:pt x="131064" y="0"/>
                    <a:pt x="292608" y="0"/>
                  </a:cubicBezTo>
                  <a:lnTo>
                    <a:pt x="877824" y="0"/>
                  </a:lnTo>
                  <a:cubicBezTo>
                    <a:pt x="1039368" y="0"/>
                    <a:pt x="1170432" y="131064"/>
                    <a:pt x="1170432" y="292608"/>
                  </a:cubicBezTo>
                  <a:lnTo>
                    <a:pt x="1170432" y="877824"/>
                  </a:lnTo>
                  <a:cubicBezTo>
                    <a:pt x="1170432" y="1039368"/>
                    <a:pt x="1039368" y="1170432"/>
                    <a:pt x="877824" y="1170432"/>
                  </a:cubicBezTo>
                  <a:lnTo>
                    <a:pt x="292608" y="1170432"/>
                  </a:lnTo>
                  <a:cubicBezTo>
                    <a:pt x="131064" y="1170432"/>
                    <a:pt x="0" y="1039368"/>
                    <a:pt x="0" y="877824"/>
                  </a:cubicBezTo>
                  <a:close/>
                </a:path>
              </a:pathLst>
            </a:custGeom>
            <a:solidFill>
              <a:srgbClr val="EC4899"/>
            </a:solidFill>
          </p:spPr>
        </p:sp>
      </p:grpSp>
      <p:grpSp>
        <p:nvGrpSpPr>
          <p:cNvPr id="101" name="Group 101"/>
          <p:cNvGrpSpPr/>
          <p:nvPr/>
        </p:nvGrpSpPr>
        <p:grpSpPr>
          <a:xfrm>
            <a:off x="14022210" y="6350508"/>
            <a:ext cx="438912" cy="438912"/>
            <a:chOff x="0" y="0"/>
            <a:chExt cx="585216" cy="585216"/>
          </a:xfrm>
        </p:grpSpPr>
        <p:sp>
          <p:nvSpPr>
            <p:cNvPr id="102" name="Freeform 102" descr="preencoded.png"/>
            <p:cNvSpPr/>
            <p:nvPr/>
          </p:nvSpPr>
          <p:spPr>
            <a:xfrm>
              <a:off x="0" y="0"/>
              <a:ext cx="585216" cy="585216"/>
            </a:xfrm>
            <a:custGeom>
              <a:avLst/>
              <a:gdLst/>
              <a:ahLst/>
              <a:cxnLst/>
              <a:rect l="l" t="t" r="r" b="b"/>
              <a:pathLst>
                <a:path w="585216" h="585216">
                  <a:moveTo>
                    <a:pt x="0" y="0"/>
                  </a:moveTo>
                  <a:lnTo>
                    <a:pt x="585216" y="0"/>
                  </a:lnTo>
                  <a:lnTo>
                    <a:pt x="585216" y="585216"/>
                  </a:lnTo>
                  <a:lnTo>
                    <a:pt x="0" y="585216"/>
                  </a:lnTo>
                  <a:lnTo>
                    <a:pt x="0" y="0"/>
                  </a:lnTo>
                  <a:close/>
                </a:path>
              </a:pathLst>
            </a:custGeom>
            <a:blipFill>
              <a:blip r:embed="rId13"/>
              <a:stretch>
                <a:fillRect/>
              </a:stretch>
            </a:blipFill>
          </p:spPr>
        </p:sp>
      </p:grpSp>
      <p:grpSp>
        <p:nvGrpSpPr>
          <p:cNvPr id="103" name="Group 103"/>
          <p:cNvGrpSpPr/>
          <p:nvPr/>
        </p:nvGrpSpPr>
        <p:grpSpPr>
          <a:xfrm>
            <a:off x="14296530" y="5884164"/>
            <a:ext cx="822960" cy="438912"/>
            <a:chOff x="0" y="0"/>
            <a:chExt cx="1097280" cy="585216"/>
          </a:xfrm>
        </p:grpSpPr>
        <p:sp>
          <p:nvSpPr>
            <p:cNvPr id="104" name="Freeform 104"/>
            <p:cNvSpPr/>
            <p:nvPr/>
          </p:nvSpPr>
          <p:spPr>
            <a:xfrm>
              <a:off x="0" y="0"/>
              <a:ext cx="1097280" cy="585216"/>
            </a:xfrm>
            <a:custGeom>
              <a:avLst/>
              <a:gdLst/>
              <a:ahLst/>
              <a:cxnLst/>
              <a:rect l="l" t="t" r="r" b="b"/>
              <a:pathLst>
                <a:path w="1097280" h="585216">
                  <a:moveTo>
                    <a:pt x="0" y="292608"/>
                  </a:moveTo>
                  <a:cubicBezTo>
                    <a:pt x="0" y="131064"/>
                    <a:pt x="131064" y="0"/>
                    <a:pt x="292608" y="0"/>
                  </a:cubicBezTo>
                  <a:lnTo>
                    <a:pt x="804672" y="0"/>
                  </a:lnTo>
                  <a:cubicBezTo>
                    <a:pt x="966216" y="0"/>
                    <a:pt x="1097280" y="131064"/>
                    <a:pt x="1097280" y="292608"/>
                  </a:cubicBezTo>
                  <a:cubicBezTo>
                    <a:pt x="1097280" y="454152"/>
                    <a:pt x="966216" y="585216"/>
                    <a:pt x="804672" y="585216"/>
                  </a:cubicBezTo>
                  <a:lnTo>
                    <a:pt x="292608" y="585216"/>
                  </a:lnTo>
                  <a:cubicBezTo>
                    <a:pt x="131064" y="585216"/>
                    <a:pt x="0" y="454152"/>
                    <a:pt x="0" y="292608"/>
                  </a:cubicBezTo>
                  <a:close/>
                </a:path>
              </a:pathLst>
            </a:custGeom>
            <a:solidFill>
              <a:srgbClr val="FFFFFF"/>
            </a:solidFill>
          </p:spPr>
        </p:sp>
        <p:sp>
          <p:nvSpPr>
            <p:cNvPr id="105" name="TextBox 105"/>
            <p:cNvSpPr txBox="1"/>
            <p:nvPr/>
          </p:nvSpPr>
          <p:spPr>
            <a:xfrm>
              <a:off x="0" y="-19050"/>
              <a:ext cx="1097280" cy="604266"/>
            </a:xfrm>
            <a:prstGeom prst="rect">
              <a:avLst/>
            </a:prstGeom>
          </p:spPr>
          <p:txBody>
            <a:bodyPr lIns="50800" tIns="50800" rIns="50800" bIns="50800" rtlCol="0" anchor="ctr"/>
            <a:lstStyle/>
            <a:p>
              <a:pPr algn="ctr">
                <a:lnSpc>
                  <a:spcPts val="1980"/>
                </a:lnSpc>
              </a:pPr>
              <a:r>
                <a:rPr lang="en-US" sz="1650" b="1">
                  <a:solidFill>
                    <a:srgbClr val="EC4899"/>
                  </a:solidFill>
                  <a:latin typeface="Arial Bold"/>
                  <a:ea typeface="Arial Bold"/>
                  <a:cs typeface="Arial Bold"/>
                  <a:sym typeface="Arial Bold"/>
                </a:rPr>
                <a:t>37%</a:t>
              </a:r>
            </a:p>
          </p:txBody>
        </p:sp>
      </p:grpSp>
      <p:grpSp>
        <p:nvGrpSpPr>
          <p:cNvPr id="106" name="Group 106"/>
          <p:cNvGrpSpPr/>
          <p:nvPr/>
        </p:nvGrpSpPr>
        <p:grpSpPr>
          <a:xfrm>
            <a:off x="13254114" y="7063740"/>
            <a:ext cx="1975104" cy="356616"/>
            <a:chOff x="0" y="0"/>
            <a:chExt cx="2633472" cy="475488"/>
          </a:xfrm>
        </p:grpSpPr>
        <p:sp>
          <p:nvSpPr>
            <p:cNvPr id="107" name="Freeform 107"/>
            <p:cNvSpPr/>
            <p:nvPr/>
          </p:nvSpPr>
          <p:spPr>
            <a:xfrm>
              <a:off x="0" y="0"/>
              <a:ext cx="2633472" cy="475488"/>
            </a:xfrm>
            <a:custGeom>
              <a:avLst/>
              <a:gdLst/>
              <a:ahLst/>
              <a:cxnLst/>
              <a:rect l="l" t="t" r="r" b="b"/>
              <a:pathLst>
                <a:path w="2633472" h="475488">
                  <a:moveTo>
                    <a:pt x="0" y="0"/>
                  </a:moveTo>
                  <a:lnTo>
                    <a:pt x="2633472" y="0"/>
                  </a:lnTo>
                  <a:lnTo>
                    <a:pt x="2633472" y="475488"/>
                  </a:lnTo>
                  <a:lnTo>
                    <a:pt x="0" y="475488"/>
                  </a:lnTo>
                  <a:close/>
                </a:path>
              </a:pathLst>
            </a:custGeom>
            <a:blipFill>
              <a:blip r:embed="rId3">
                <a:alphaModFix amt="0"/>
              </a:blip>
              <a:stretch>
                <a:fillRect t="-57917" b="-57917"/>
              </a:stretch>
            </a:blipFill>
          </p:spPr>
        </p:sp>
        <p:sp>
          <p:nvSpPr>
            <p:cNvPr id="108" name="TextBox 108"/>
            <p:cNvSpPr txBox="1"/>
            <p:nvPr/>
          </p:nvSpPr>
          <p:spPr>
            <a:xfrm>
              <a:off x="0" y="-19050"/>
              <a:ext cx="2633472" cy="494538"/>
            </a:xfrm>
            <a:prstGeom prst="rect">
              <a:avLst/>
            </a:prstGeom>
          </p:spPr>
          <p:txBody>
            <a:bodyPr lIns="0" tIns="0" rIns="0" bIns="0" rtlCol="0" anchor="ctr"/>
            <a:lstStyle/>
            <a:p>
              <a:pPr algn="ctr">
                <a:lnSpc>
                  <a:spcPts val="2160"/>
                </a:lnSpc>
              </a:pPr>
              <a:r>
                <a:rPr lang="en-US" sz="1800" b="1">
                  <a:solidFill>
                    <a:srgbClr val="FFFFFF"/>
                  </a:solidFill>
                  <a:latin typeface="Arial Bold"/>
                  <a:ea typeface="Arial Bold"/>
                  <a:cs typeface="Arial Bold"/>
                  <a:sym typeface="Arial Bold"/>
                </a:rPr>
                <a:t>Fashion</a:t>
              </a:r>
            </a:p>
          </p:txBody>
        </p:sp>
      </p:grpSp>
      <p:grpSp>
        <p:nvGrpSpPr>
          <p:cNvPr id="109" name="Group 109"/>
          <p:cNvGrpSpPr/>
          <p:nvPr/>
        </p:nvGrpSpPr>
        <p:grpSpPr>
          <a:xfrm>
            <a:off x="15677045" y="6131052"/>
            <a:ext cx="877824" cy="877824"/>
            <a:chOff x="0" y="0"/>
            <a:chExt cx="1170432" cy="1170432"/>
          </a:xfrm>
        </p:grpSpPr>
        <p:sp>
          <p:nvSpPr>
            <p:cNvPr id="110" name="Freeform 110"/>
            <p:cNvSpPr/>
            <p:nvPr/>
          </p:nvSpPr>
          <p:spPr>
            <a:xfrm>
              <a:off x="0" y="0"/>
              <a:ext cx="1170432" cy="1170432"/>
            </a:xfrm>
            <a:custGeom>
              <a:avLst/>
              <a:gdLst/>
              <a:ahLst/>
              <a:cxnLst/>
              <a:rect l="l" t="t" r="r" b="b"/>
              <a:pathLst>
                <a:path w="1170432" h="1170432">
                  <a:moveTo>
                    <a:pt x="0" y="292608"/>
                  </a:moveTo>
                  <a:cubicBezTo>
                    <a:pt x="0" y="131064"/>
                    <a:pt x="131064" y="0"/>
                    <a:pt x="292608" y="0"/>
                  </a:cubicBezTo>
                  <a:lnTo>
                    <a:pt x="877824" y="0"/>
                  </a:lnTo>
                  <a:cubicBezTo>
                    <a:pt x="1039368" y="0"/>
                    <a:pt x="1170432" y="131064"/>
                    <a:pt x="1170432" y="292608"/>
                  </a:cubicBezTo>
                  <a:lnTo>
                    <a:pt x="1170432" y="877824"/>
                  </a:lnTo>
                  <a:cubicBezTo>
                    <a:pt x="1170432" y="1039368"/>
                    <a:pt x="1039368" y="1170432"/>
                    <a:pt x="877824" y="1170432"/>
                  </a:cubicBezTo>
                  <a:lnTo>
                    <a:pt x="292608" y="1170432"/>
                  </a:lnTo>
                  <a:cubicBezTo>
                    <a:pt x="131064" y="1170432"/>
                    <a:pt x="0" y="1039368"/>
                    <a:pt x="0" y="877824"/>
                  </a:cubicBezTo>
                  <a:close/>
                </a:path>
              </a:pathLst>
            </a:custGeom>
            <a:solidFill>
              <a:srgbClr val="A855F7"/>
            </a:solidFill>
          </p:spPr>
        </p:sp>
      </p:grpSp>
      <p:grpSp>
        <p:nvGrpSpPr>
          <p:cNvPr id="111" name="Group 111"/>
          <p:cNvGrpSpPr/>
          <p:nvPr/>
        </p:nvGrpSpPr>
        <p:grpSpPr>
          <a:xfrm>
            <a:off x="15896501" y="6350508"/>
            <a:ext cx="438912" cy="438912"/>
            <a:chOff x="0" y="0"/>
            <a:chExt cx="585216" cy="585216"/>
          </a:xfrm>
        </p:grpSpPr>
        <p:sp>
          <p:nvSpPr>
            <p:cNvPr id="112" name="Freeform 112" descr="preencoded.png"/>
            <p:cNvSpPr/>
            <p:nvPr/>
          </p:nvSpPr>
          <p:spPr>
            <a:xfrm>
              <a:off x="0" y="0"/>
              <a:ext cx="585216" cy="585216"/>
            </a:xfrm>
            <a:custGeom>
              <a:avLst/>
              <a:gdLst/>
              <a:ahLst/>
              <a:cxnLst/>
              <a:rect l="l" t="t" r="r" b="b"/>
              <a:pathLst>
                <a:path w="585216" h="585216">
                  <a:moveTo>
                    <a:pt x="0" y="0"/>
                  </a:moveTo>
                  <a:lnTo>
                    <a:pt x="585216" y="0"/>
                  </a:lnTo>
                  <a:lnTo>
                    <a:pt x="585216" y="585216"/>
                  </a:lnTo>
                  <a:lnTo>
                    <a:pt x="0" y="585216"/>
                  </a:lnTo>
                  <a:lnTo>
                    <a:pt x="0" y="0"/>
                  </a:lnTo>
                  <a:close/>
                </a:path>
              </a:pathLst>
            </a:custGeom>
            <a:blipFill>
              <a:blip r:embed="rId14"/>
              <a:stretch>
                <a:fillRect/>
              </a:stretch>
            </a:blipFill>
          </p:spPr>
        </p:sp>
      </p:grpSp>
      <p:grpSp>
        <p:nvGrpSpPr>
          <p:cNvPr id="113" name="Group 113"/>
          <p:cNvGrpSpPr/>
          <p:nvPr/>
        </p:nvGrpSpPr>
        <p:grpSpPr>
          <a:xfrm>
            <a:off x="16170821" y="5884164"/>
            <a:ext cx="822960" cy="438912"/>
            <a:chOff x="0" y="0"/>
            <a:chExt cx="1097280" cy="585216"/>
          </a:xfrm>
        </p:grpSpPr>
        <p:sp>
          <p:nvSpPr>
            <p:cNvPr id="114" name="Freeform 114"/>
            <p:cNvSpPr/>
            <p:nvPr/>
          </p:nvSpPr>
          <p:spPr>
            <a:xfrm>
              <a:off x="0" y="0"/>
              <a:ext cx="1097280" cy="585216"/>
            </a:xfrm>
            <a:custGeom>
              <a:avLst/>
              <a:gdLst/>
              <a:ahLst/>
              <a:cxnLst/>
              <a:rect l="l" t="t" r="r" b="b"/>
              <a:pathLst>
                <a:path w="1097280" h="585216">
                  <a:moveTo>
                    <a:pt x="0" y="292608"/>
                  </a:moveTo>
                  <a:cubicBezTo>
                    <a:pt x="0" y="131064"/>
                    <a:pt x="131064" y="0"/>
                    <a:pt x="292608" y="0"/>
                  </a:cubicBezTo>
                  <a:lnTo>
                    <a:pt x="804672" y="0"/>
                  </a:lnTo>
                  <a:cubicBezTo>
                    <a:pt x="966216" y="0"/>
                    <a:pt x="1097280" y="131064"/>
                    <a:pt x="1097280" y="292608"/>
                  </a:cubicBezTo>
                  <a:cubicBezTo>
                    <a:pt x="1097280" y="454152"/>
                    <a:pt x="966216" y="585216"/>
                    <a:pt x="804672" y="585216"/>
                  </a:cubicBezTo>
                  <a:lnTo>
                    <a:pt x="292608" y="585216"/>
                  </a:lnTo>
                  <a:cubicBezTo>
                    <a:pt x="131064" y="585216"/>
                    <a:pt x="0" y="454152"/>
                    <a:pt x="0" y="292608"/>
                  </a:cubicBezTo>
                  <a:close/>
                </a:path>
              </a:pathLst>
            </a:custGeom>
            <a:solidFill>
              <a:srgbClr val="FFFFFF"/>
            </a:solidFill>
          </p:spPr>
        </p:sp>
        <p:sp>
          <p:nvSpPr>
            <p:cNvPr id="115" name="TextBox 115"/>
            <p:cNvSpPr txBox="1"/>
            <p:nvPr/>
          </p:nvSpPr>
          <p:spPr>
            <a:xfrm>
              <a:off x="0" y="-19050"/>
              <a:ext cx="1097280" cy="604266"/>
            </a:xfrm>
            <a:prstGeom prst="rect">
              <a:avLst/>
            </a:prstGeom>
          </p:spPr>
          <p:txBody>
            <a:bodyPr lIns="50800" tIns="50800" rIns="50800" bIns="50800" rtlCol="0" anchor="ctr"/>
            <a:lstStyle/>
            <a:p>
              <a:pPr algn="ctr">
                <a:lnSpc>
                  <a:spcPts val="1980"/>
                </a:lnSpc>
              </a:pPr>
              <a:r>
                <a:rPr lang="en-US" sz="1650" b="1">
                  <a:solidFill>
                    <a:srgbClr val="A855F7"/>
                  </a:solidFill>
                  <a:latin typeface="Arial Bold"/>
                  <a:ea typeface="Arial Bold"/>
                  <a:cs typeface="Arial Bold"/>
                  <a:sym typeface="Arial Bold"/>
                </a:rPr>
                <a:t>20%</a:t>
              </a:r>
            </a:p>
          </p:txBody>
        </p:sp>
      </p:grpSp>
      <p:grpSp>
        <p:nvGrpSpPr>
          <p:cNvPr id="116" name="Group 116"/>
          <p:cNvGrpSpPr/>
          <p:nvPr/>
        </p:nvGrpSpPr>
        <p:grpSpPr>
          <a:xfrm>
            <a:off x="15128405" y="7063740"/>
            <a:ext cx="1975104" cy="356616"/>
            <a:chOff x="0" y="0"/>
            <a:chExt cx="2633472" cy="475488"/>
          </a:xfrm>
        </p:grpSpPr>
        <p:sp>
          <p:nvSpPr>
            <p:cNvPr id="117" name="Freeform 117"/>
            <p:cNvSpPr/>
            <p:nvPr/>
          </p:nvSpPr>
          <p:spPr>
            <a:xfrm>
              <a:off x="0" y="0"/>
              <a:ext cx="2633472" cy="475488"/>
            </a:xfrm>
            <a:custGeom>
              <a:avLst/>
              <a:gdLst/>
              <a:ahLst/>
              <a:cxnLst/>
              <a:rect l="l" t="t" r="r" b="b"/>
              <a:pathLst>
                <a:path w="2633472" h="475488">
                  <a:moveTo>
                    <a:pt x="0" y="0"/>
                  </a:moveTo>
                  <a:lnTo>
                    <a:pt x="2633472" y="0"/>
                  </a:lnTo>
                  <a:lnTo>
                    <a:pt x="2633472" y="475488"/>
                  </a:lnTo>
                  <a:lnTo>
                    <a:pt x="0" y="475488"/>
                  </a:lnTo>
                  <a:close/>
                </a:path>
              </a:pathLst>
            </a:custGeom>
            <a:blipFill>
              <a:blip r:embed="rId3">
                <a:alphaModFix amt="0"/>
              </a:blip>
              <a:stretch>
                <a:fillRect t="-57917" b="-57917"/>
              </a:stretch>
            </a:blipFill>
          </p:spPr>
        </p:sp>
        <p:sp>
          <p:nvSpPr>
            <p:cNvPr id="118" name="TextBox 118"/>
            <p:cNvSpPr txBox="1"/>
            <p:nvPr/>
          </p:nvSpPr>
          <p:spPr>
            <a:xfrm>
              <a:off x="0" y="-19050"/>
              <a:ext cx="2633472" cy="494538"/>
            </a:xfrm>
            <a:prstGeom prst="rect">
              <a:avLst/>
            </a:prstGeom>
          </p:spPr>
          <p:txBody>
            <a:bodyPr lIns="0" tIns="0" rIns="0" bIns="0" rtlCol="0" anchor="ctr"/>
            <a:lstStyle/>
            <a:p>
              <a:pPr algn="ctr">
                <a:lnSpc>
                  <a:spcPts val="2160"/>
                </a:lnSpc>
              </a:pPr>
              <a:r>
                <a:rPr lang="en-US" sz="1800" b="1">
                  <a:solidFill>
                    <a:srgbClr val="FFFFFF"/>
                  </a:solidFill>
                  <a:latin typeface="Arial Bold"/>
                  <a:ea typeface="Arial Bold"/>
                  <a:cs typeface="Arial Bold"/>
                  <a:sym typeface="Arial Bold"/>
                </a:rPr>
                <a:t>Beauty</a:t>
              </a:r>
            </a:p>
          </p:txBody>
        </p:sp>
      </p:grpSp>
      <p:grpSp>
        <p:nvGrpSpPr>
          <p:cNvPr id="119" name="Group 119"/>
          <p:cNvGrpSpPr/>
          <p:nvPr/>
        </p:nvGrpSpPr>
        <p:grpSpPr>
          <a:xfrm>
            <a:off x="13802754" y="7530084"/>
            <a:ext cx="877824" cy="877824"/>
            <a:chOff x="0" y="0"/>
            <a:chExt cx="1170432" cy="1170432"/>
          </a:xfrm>
        </p:grpSpPr>
        <p:sp>
          <p:nvSpPr>
            <p:cNvPr id="120" name="Freeform 120"/>
            <p:cNvSpPr/>
            <p:nvPr/>
          </p:nvSpPr>
          <p:spPr>
            <a:xfrm>
              <a:off x="0" y="0"/>
              <a:ext cx="1170432" cy="1170432"/>
            </a:xfrm>
            <a:custGeom>
              <a:avLst/>
              <a:gdLst/>
              <a:ahLst/>
              <a:cxnLst/>
              <a:rect l="l" t="t" r="r" b="b"/>
              <a:pathLst>
                <a:path w="1170432" h="1170432">
                  <a:moveTo>
                    <a:pt x="0" y="292608"/>
                  </a:moveTo>
                  <a:cubicBezTo>
                    <a:pt x="0" y="131064"/>
                    <a:pt x="131064" y="0"/>
                    <a:pt x="292608" y="0"/>
                  </a:cubicBezTo>
                  <a:lnTo>
                    <a:pt x="877824" y="0"/>
                  </a:lnTo>
                  <a:cubicBezTo>
                    <a:pt x="1039368" y="0"/>
                    <a:pt x="1170432" y="131064"/>
                    <a:pt x="1170432" y="292608"/>
                  </a:cubicBezTo>
                  <a:lnTo>
                    <a:pt x="1170432" y="877824"/>
                  </a:lnTo>
                  <a:cubicBezTo>
                    <a:pt x="1170432" y="1039368"/>
                    <a:pt x="1039368" y="1170432"/>
                    <a:pt x="877824" y="1170432"/>
                  </a:cubicBezTo>
                  <a:lnTo>
                    <a:pt x="292608" y="1170432"/>
                  </a:lnTo>
                  <a:cubicBezTo>
                    <a:pt x="131064" y="1170432"/>
                    <a:pt x="0" y="1039368"/>
                    <a:pt x="0" y="877824"/>
                  </a:cubicBezTo>
                  <a:close/>
                </a:path>
              </a:pathLst>
            </a:custGeom>
            <a:solidFill>
              <a:srgbClr val="3B82F6"/>
            </a:solidFill>
          </p:spPr>
        </p:sp>
      </p:grpSp>
      <p:grpSp>
        <p:nvGrpSpPr>
          <p:cNvPr id="121" name="Group 121"/>
          <p:cNvGrpSpPr/>
          <p:nvPr/>
        </p:nvGrpSpPr>
        <p:grpSpPr>
          <a:xfrm>
            <a:off x="14022210" y="7749540"/>
            <a:ext cx="438912" cy="438912"/>
            <a:chOff x="0" y="0"/>
            <a:chExt cx="585216" cy="585216"/>
          </a:xfrm>
        </p:grpSpPr>
        <p:sp>
          <p:nvSpPr>
            <p:cNvPr id="122" name="Freeform 122" descr="preencoded.png"/>
            <p:cNvSpPr/>
            <p:nvPr/>
          </p:nvSpPr>
          <p:spPr>
            <a:xfrm>
              <a:off x="0" y="0"/>
              <a:ext cx="585216" cy="585216"/>
            </a:xfrm>
            <a:custGeom>
              <a:avLst/>
              <a:gdLst/>
              <a:ahLst/>
              <a:cxnLst/>
              <a:rect l="l" t="t" r="r" b="b"/>
              <a:pathLst>
                <a:path w="585216" h="585216">
                  <a:moveTo>
                    <a:pt x="0" y="0"/>
                  </a:moveTo>
                  <a:lnTo>
                    <a:pt x="585216" y="0"/>
                  </a:lnTo>
                  <a:lnTo>
                    <a:pt x="585216" y="585216"/>
                  </a:lnTo>
                  <a:lnTo>
                    <a:pt x="0" y="585216"/>
                  </a:lnTo>
                  <a:lnTo>
                    <a:pt x="0" y="0"/>
                  </a:lnTo>
                  <a:close/>
                </a:path>
              </a:pathLst>
            </a:custGeom>
            <a:blipFill>
              <a:blip r:embed="rId15"/>
              <a:stretch>
                <a:fillRect/>
              </a:stretch>
            </a:blipFill>
          </p:spPr>
        </p:sp>
      </p:grpSp>
      <p:grpSp>
        <p:nvGrpSpPr>
          <p:cNvPr id="123" name="Group 123"/>
          <p:cNvGrpSpPr/>
          <p:nvPr/>
        </p:nvGrpSpPr>
        <p:grpSpPr>
          <a:xfrm>
            <a:off x="13254114" y="8462772"/>
            <a:ext cx="1975104" cy="356616"/>
            <a:chOff x="0" y="0"/>
            <a:chExt cx="2633472" cy="475488"/>
          </a:xfrm>
        </p:grpSpPr>
        <p:sp>
          <p:nvSpPr>
            <p:cNvPr id="124" name="Freeform 124"/>
            <p:cNvSpPr/>
            <p:nvPr/>
          </p:nvSpPr>
          <p:spPr>
            <a:xfrm>
              <a:off x="0" y="0"/>
              <a:ext cx="2633472" cy="475488"/>
            </a:xfrm>
            <a:custGeom>
              <a:avLst/>
              <a:gdLst/>
              <a:ahLst/>
              <a:cxnLst/>
              <a:rect l="l" t="t" r="r" b="b"/>
              <a:pathLst>
                <a:path w="2633472" h="475488">
                  <a:moveTo>
                    <a:pt x="0" y="0"/>
                  </a:moveTo>
                  <a:lnTo>
                    <a:pt x="2633472" y="0"/>
                  </a:lnTo>
                  <a:lnTo>
                    <a:pt x="2633472" y="475488"/>
                  </a:lnTo>
                  <a:lnTo>
                    <a:pt x="0" y="475488"/>
                  </a:lnTo>
                  <a:close/>
                </a:path>
              </a:pathLst>
            </a:custGeom>
            <a:blipFill>
              <a:blip r:embed="rId3">
                <a:alphaModFix amt="0"/>
              </a:blip>
              <a:stretch>
                <a:fillRect t="-57917" b="-57917"/>
              </a:stretch>
            </a:blipFill>
          </p:spPr>
        </p:sp>
        <p:sp>
          <p:nvSpPr>
            <p:cNvPr id="125" name="TextBox 125"/>
            <p:cNvSpPr txBox="1"/>
            <p:nvPr/>
          </p:nvSpPr>
          <p:spPr>
            <a:xfrm>
              <a:off x="0" y="-19050"/>
              <a:ext cx="2633472" cy="494538"/>
            </a:xfrm>
            <a:prstGeom prst="rect">
              <a:avLst/>
            </a:prstGeom>
          </p:spPr>
          <p:txBody>
            <a:bodyPr lIns="0" tIns="0" rIns="0" bIns="0" rtlCol="0" anchor="ctr"/>
            <a:lstStyle/>
            <a:p>
              <a:pPr algn="ctr">
                <a:lnSpc>
                  <a:spcPts val="2160"/>
                </a:lnSpc>
              </a:pPr>
              <a:r>
                <a:rPr lang="en-US" sz="1800" b="1">
                  <a:solidFill>
                    <a:srgbClr val="FFFFFF"/>
                  </a:solidFill>
                  <a:latin typeface="Arial Bold"/>
                  <a:ea typeface="Arial Bold"/>
                  <a:cs typeface="Arial Bold"/>
                  <a:sym typeface="Arial Bold"/>
                </a:rPr>
                <a:t>Electronics</a:t>
              </a:r>
            </a:p>
          </p:txBody>
        </p:sp>
      </p:grpSp>
      <p:grpSp>
        <p:nvGrpSpPr>
          <p:cNvPr id="126" name="Group 126"/>
          <p:cNvGrpSpPr/>
          <p:nvPr/>
        </p:nvGrpSpPr>
        <p:grpSpPr>
          <a:xfrm>
            <a:off x="15677045" y="7530084"/>
            <a:ext cx="877824" cy="877824"/>
            <a:chOff x="0" y="0"/>
            <a:chExt cx="1170432" cy="1170432"/>
          </a:xfrm>
        </p:grpSpPr>
        <p:sp>
          <p:nvSpPr>
            <p:cNvPr id="127" name="Freeform 127"/>
            <p:cNvSpPr/>
            <p:nvPr/>
          </p:nvSpPr>
          <p:spPr>
            <a:xfrm>
              <a:off x="0" y="0"/>
              <a:ext cx="1170432" cy="1170432"/>
            </a:xfrm>
            <a:custGeom>
              <a:avLst/>
              <a:gdLst/>
              <a:ahLst/>
              <a:cxnLst/>
              <a:rect l="l" t="t" r="r" b="b"/>
              <a:pathLst>
                <a:path w="1170432" h="1170432">
                  <a:moveTo>
                    <a:pt x="0" y="292608"/>
                  </a:moveTo>
                  <a:cubicBezTo>
                    <a:pt x="0" y="131064"/>
                    <a:pt x="131064" y="0"/>
                    <a:pt x="292608" y="0"/>
                  </a:cubicBezTo>
                  <a:lnTo>
                    <a:pt x="877824" y="0"/>
                  </a:lnTo>
                  <a:cubicBezTo>
                    <a:pt x="1039368" y="0"/>
                    <a:pt x="1170432" y="131064"/>
                    <a:pt x="1170432" y="292608"/>
                  </a:cubicBezTo>
                  <a:lnTo>
                    <a:pt x="1170432" y="877824"/>
                  </a:lnTo>
                  <a:cubicBezTo>
                    <a:pt x="1170432" y="1039368"/>
                    <a:pt x="1039368" y="1170432"/>
                    <a:pt x="877824" y="1170432"/>
                  </a:cubicBezTo>
                  <a:lnTo>
                    <a:pt x="292608" y="1170432"/>
                  </a:lnTo>
                  <a:cubicBezTo>
                    <a:pt x="131064" y="1170432"/>
                    <a:pt x="0" y="1039368"/>
                    <a:pt x="0" y="877824"/>
                  </a:cubicBezTo>
                  <a:close/>
                </a:path>
              </a:pathLst>
            </a:custGeom>
            <a:solidFill>
              <a:srgbClr val="F59E0B"/>
            </a:solidFill>
          </p:spPr>
        </p:sp>
      </p:grpSp>
      <p:grpSp>
        <p:nvGrpSpPr>
          <p:cNvPr id="128" name="Group 128"/>
          <p:cNvGrpSpPr/>
          <p:nvPr/>
        </p:nvGrpSpPr>
        <p:grpSpPr>
          <a:xfrm>
            <a:off x="15896501" y="7749540"/>
            <a:ext cx="438912" cy="438912"/>
            <a:chOff x="0" y="0"/>
            <a:chExt cx="585216" cy="585216"/>
          </a:xfrm>
        </p:grpSpPr>
        <p:sp>
          <p:nvSpPr>
            <p:cNvPr id="129" name="Freeform 129" descr="preencoded.png"/>
            <p:cNvSpPr/>
            <p:nvPr/>
          </p:nvSpPr>
          <p:spPr>
            <a:xfrm>
              <a:off x="0" y="0"/>
              <a:ext cx="585216" cy="585216"/>
            </a:xfrm>
            <a:custGeom>
              <a:avLst/>
              <a:gdLst/>
              <a:ahLst/>
              <a:cxnLst/>
              <a:rect l="l" t="t" r="r" b="b"/>
              <a:pathLst>
                <a:path w="585216" h="585216">
                  <a:moveTo>
                    <a:pt x="0" y="0"/>
                  </a:moveTo>
                  <a:lnTo>
                    <a:pt x="585216" y="0"/>
                  </a:lnTo>
                  <a:lnTo>
                    <a:pt x="585216" y="585216"/>
                  </a:lnTo>
                  <a:lnTo>
                    <a:pt x="0" y="585216"/>
                  </a:lnTo>
                  <a:lnTo>
                    <a:pt x="0" y="0"/>
                  </a:lnTo>
                  <a:close/>
                </a:path>
              </a:pathLst>
            </a:custGeom>
            <a:blipFill>
              <a:blip r:embed="rId16"/>
              <a:stretch>
                <a:fillRect/>
              </a:stretch>
            </a:blipFill>
          </p:spPr>
        </p:sp>
      </p:grpSp>
      <p:grpSp>
        <p:nvGrpSpPr>
          <p:cNvPr id="130" name="Group 130"/>
          <p:cNvGrpSpPr/>
          <p:nvPr/>
        </p:nvGrpSpPr>
        <p:grpSpPr>
          <a:xfrm>
            <a:off x="15128405" y="8462772"/>
            <a:ext cx="1975104" cy="356616"/>
            <a:chOff x="0" y="0"/>
            <a:chExt cx="2633472" cy="475488"/>
          </a:xfrm>
        </p:grpSpPr>
        <p:sp>
          <p:nvSpPr>
            <p:cNvPr id="131" name="Freeform 131"/>
            <p:cNvSpPr/>
            <p:nvPr/>
          </p:nvSpPr>
          <p:spPr>
            <a:xfrm>
              <a:off x="0" y="0"/>
              <a:ext cx="2633472" cy="475488"/>
            </a:xfrm>
            <a:custGeom>
              <a:avLst/>
              <a:gdLst/>
              <a:ahLst/>
              <a:cxnLst/>
              <a:rect l="l" t="t" r="r" b="b"/>
              <a:pathLst>
                <a:path w="2633472" h="475488">
                  <a:moveTo>
                    <a:pt x="0" y="0"/>
                  </a:moveTo>
                  <a:lnTo>
                    <a:pt x="2633472" y="0"/>
                  </a:lnTo>
                  <a:lnTo>
                    <a:pt x="2633472" y="475488"/>
                  </a:lnTo>
                  <a:lnTo>
                    <a:pt x="0" y="475488"/>
                  </a:lnTo>
                  <a:close/>
                </a:path>
              </a:pathLst>
            </a:custGeom>
            <a:blipFill>
              <a:blip r:embed="rId3">
                <a:alphaModFix amt="0"/>
              </a:blip>
              <a:stretch>
                <a:fillRect t="-57917" b="-57917"/>
              </a:stretch>
            </a:blipFill>
          </p:spPr>
        </p:sp>
        <p:sp>
          <p:nvSpPr>
            <p:cNvPr id="132" name="TextBox 132"/>
            <p:cNvSpPr txBox="1"/>
            <p:nvPr/>
          </p:nvSpPr>
          <p:spPr>
            <a:xfrm>
              <a:off x="0" y="-19050"/>
              <a:ext cx="2633472" cy="494538"/>
            </a:xfrm>
            <a:prstGeom prst="rect">
              <a:avLst/>
            </a:prstGeom>
          </p:spPr>
          <p:txBody>
            <a:bodyPr lIns="0" tIns="0" rIns="0" bIns="0" rtlCol="0" anchor="ctr"/>
            <a:lstStyle/>
            <a:p>
              <a:pPr algn="ctr">
                <a:lnSpc>
                  <a:spcPts val="2160"/>
                </a:lnSpc>
              </a:pPr>
              <a:r>
                <a:rPr lang="en-US" sz="1800" b="1">
                  <a:solidFill>
                    <a:srgbClr val="FFFFFF"/>
                  </a:solidFill>
                  <a:latin typeface="Arial Bold"/>
                  <a:ea typeface="Arial Bold"/>
                  <a:cs typeface="Arial Bold"/>
                  <a:sym typeface="Arial Bold"/>
                </a:rPr>
                <a:t>Home</a:t>
              </a:r>
            </a:p>
          </p:txBody>
        </p:sp>
      </p:grpSp>
      <p:grpSp>
        <p:nvGrpSpPr>
          <p:cNvPr id="133" name="Group 133"/>
          <p:cNvGrpSpPr/>
          <p:nvPr/>
        </p:nvGrpSpPr>
        <p:grpSpPr>
          <a:xfrm>
            <a:off x="822960" y="9338310"/>
            <a:ext cx="16596360" cy="733831"/>
            <a:chOff x="0" y="0"/>
            <a:chExt cx="22128480" cy="978441"/>
          </a:xfrm>
        </p:grpSpPr>
        <p:sp>
          <p:nvSpPr>
            <p:cNvPr id="134" name="Freeform 134"/>
            <p:cNvSpPr/>
            <p:nvPr/>
          </p:nvSpPr>
          <p:spPr>
            <a:xfrm>
              <a:off x="0" y="0"/>
              <a:ext cx="22128480" cy="978441"/>
            </a:xfrm>
            <a:custGeom>
              <a:avLst/>
              <a:gdLst/>
              <a:ahLst/>
              <a:cxnLst/>
              <a:rect l="l" t="t" r="r" b="b"/>
              <a:pathLst>
                <a:path w="22128480" h="978441">
                  <a:moveTo>
                    <a:pt x="0" y="0"/>
                  </a:moveTo>
                  <a:lnTo>
                    <a:pt x="22128480" y="0"/>
                  </a:lnTo>
                  <a:lnTo>
                    <a:pt x="22128480" y="978441"/>
                  </a:lnTo>
                  <a:lnTo>
                    <a:pt x="0" y="978441"/>
                  </a:lnTo>
                  <a:close/>
                </a:path>
              </a:pathLst>
            </a:custGeom>
            <a:blipFill>
              <a:blip r:embed="rId3">
                <a:alphaModFix amt="0"/>
              </a:blip>
              <a:stretch>
                <a:fillRect t="-412638" b="-368711"/>
              </a:stretch>
            </a:blipFill>
          </p:spPr>
        </p:sp>
        <p:sp>
          <p:nvSpPr>
            <p:cNvPr id="135" name="TextBox 135"/>
            <p:cNvSpPr txBox="1"/>
            <p:nvPr/>
          </p:nvSpPr>
          <p:spPr>
            <a:xfrm>
              <a:off x="0" y="-19050"/>
              <a:ext cx="22128480" cy="997491"/>
            </a:xfrm>
            <a:prstGeom prst="rect">
              <a:avLst/>
            </a:prstGeom>
          </p:spPr>
          <p:txBody>
            <a:bodyPr lIns="0" tIns="0" rIns="0" bIns="0" rtlCol="0" anchor="ctr"/>
            <a:lstStyle/>
            <a:p>
              <a:pPr algn="l">
                <a:lnSpc>
                  <a:spcPts val="1919"/>
                </a:lnSpc>
              </a:pPr>
              <a:r>
                <a:rPr lang="en-US" sz="1599">
                  <a:solidFill>
                    <a:srgbClr val="52637A"/>
                  </a:solidFill>
                  <a:latin typeface="Arial"/>
                  <a:ea typeface="Arial"/>
                  <a:cs typeface="Arial"/>
                  <a:sym typeface="Arial"/>
                </a:rPr>
                <a:t>Sources: NIS Economic Census 2022 (Phnom Penh has 20% of establishments); Ministry of Commerce iTrade Bulletin, March 2025 (37% / 20% = share of online purchases).</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22960" y="480060"/>
            <a:ext cx="16637508" cy="960120"/>
            <a:chOff x="0" y="0"/>
            <a:chExt cx="22183344" cy="1280160"/>
          </a:xfrm>
        </p:grpSpPr>
        <p:sp>
          <p:nvSpPr>
            <p:cNvPr id="3" name="Freeform 3"/>
            <p:cNvSpPr/>
            <p:nvPr/>
          </p:nvSpPr>
          <p:spPr>
            <a:xfrm>
              <a:off x="0" y="0"/>
              <a:ext cx="22183344" cy="1280160"/>
            </a:xfrm>
            <a:custGeom>
              <a:avLst/>
              <a:gdLst/>
              <a:ahLst/>
              <a:cxnLst/>
              <a:rect l="l" t="t" r="r" b="b"/>
              <a:pathLst>
                <a:path w="22183344" h="1280160">
                  <a:moveTo>
                    <a:pt x="0" y="0"/>
                  </a:moveTo>
                  <a:lnTo>
                    <a:pt x="22183344" y="0"/>
                  </a:lnTo>
                  <a:lnTo>
                    <a:pt x="22183344" y="1280160"/>
                  </a:lnTo>
                  <a:lnTo>
                    <a:pt x="0" y="1280160"/>
                  </a:lnTo>
                  <a:close/>
                </a:path>
              </a:pathLst>
            </a:custGeom>
            <a:blipFill>
              <a:blip r:embed="rId3">
                <a:alphaModFix amt="0"/>
              </a:blip>
              <a:stretch>
                <a:fillRect t="-287647" b="-287647"/>
              </a:stretch>
            </a:blipFill>
          </p:spPr>
        </p:sp>
        <p:sp>
          <p:nvSpPr>
            <p:cNvPr id="4" name="TextBox 4"/>
            <p:cNvSpPr txBox="1"/>
            <p:nvPr/>
          </p:nvSpPr>
          <p:spPr>
            <a:xfrm>
              <a:off x="0" y="-19050"/>
              <a:ext cx="22183344" cy="1299210"/>
            </a:xfrm>
            <a:prstGeom prst="rect">
              <a:avLst/>
            </a:prstGeom>
          </p:spPr>
          <p:txBody>
            <a:bodyPr lIns="0" tIns="0" rIns="0" bIns="0" rtlCol="0" anchor="ctr"/>
            <a:lstStyle/>
            <a:p>
              <a:pPr algn="ctr">
                <a:lnSpc>
                  <a:spcPts val="5759"/>
                </a:lnSpc>
              </a:pPr>
              <a:r>
                <a:rPr lang="en-US" sz="4800" b="1">
                  <a:solidFill>
                    <a:srgbClr val="15243A"/>
                  </a:solidFill>
                  <a:latin typeface="Arial Bold"/>
                  <a:ea typeface="Arial Bold"/>
                  <a:cs typeface="Arial Bold"/>
                  <a:sym typeface="Arial Bold"/>
                </a:rPr>
                <a:t>Start free. Upgrade when you grow.</a:t>
              </a:r>
            </a:p>
          </p:txBody>
        </p:sp>
      </p:grpSp>
      <p:grpSp>
        <p:nvGrpSpPr>
          <p:cNvPr id="5" name="Group 5"/>
          <p:cNvGrpSpPr/>
          <p:nvPr/>
        </p:nvGrpSpPr>
        <p:grpSpPr>
          <a:xfrm>
            <a:off x="1007516" y="4585335"/>
            <a:ext cx="5162550" cy="4476750"/>
            <a:chOff x="0" y="0"/>
            <a:chExt cx="6883400" cy="5969000"/>
          </a:xfrm>
        </p:grpSpPr>
        <p:sp>
          <p:nvSpPr>
            <p:cNvPr id="6" name="Freeform 6"/>
            <p:cNvSpPr/>
            <p:nvPr/>
          </p:nvSpPr>
          <p:spPr>
            <a:xfrm>
              <a:off x="0" y="0"/>
              <a:ext cx="6883400" cy="5969000"/>
            </a:xfrm>
            <a:custGeom>
              <a:avLst/>
              <a:gdLst/>
              <a:ahLst/>
              <a:cxnLst/>
              <a:rect l="l" t="t" r="r" b="b"/>
              <a:pathLst>
                <a:path w="6883400" h="5969000">
                  <a:moveTo>
                    <a:pt x="0" y="367284"/>
                  </a:moveTo>
                  <a:cubicBezTo>
                    <a:pt x="0" y="164465"/>
                    <a:pt x="164465" y="0"/>
                    <a:pt x="367284" y="0"/>
                  </a:cubicBezTo>
                  <a:lnTo>
                    <a:pt x="6516116" y="0"/>
                  </a:lnTo>
                  <a:cubicBezTo>
                    <a:pt x="6718935" y="0"/>
                    <a:pt x="6883400" y="164465"/>
                    <a:pt x="6883400" y="367284"/>
                  </a:cubicBezTo>
                  <a:lnTo>
                    <a:pt x="6883400" y="5601716"/>
                  </a:lnTo>
                  <a:cubicBezTo>
                    <a:pt x="6883400" y="5804535"/>
                    <a:pt x="6718935" y="5969000"/>
                    <a:pt x="6516116" y="5969000"/>
                  </a:cubicBezTo>
                  <a:lnTo>
                    <a:pt x="367284" y="5969000"/>
                  </a:lnTo>
                  <a:cubicBezTo>
                    <a:pt x="164465" y="5969000"/>
                    <a:pt x="0" y="5804535"/>
                    <a:pt x="0" y="5601716"/>
                  </a:cubicBezTo>
                  <a:close/>
                </a:path>
              </a:pathLst>
            </a:custGeom>
            <a:solidFill>
              <a:srgbClr val="FFFFFF"/>
            </a:solidFill>
            <a:ln w="19050" cap="sq">
              <a:solidFill>
                <a:srgbClr val="E2E8F0"/>
              </a:solidFill>
              <a:prstDash val="solid"/>
              <a:miter/>
            </a:ln>
          </p:spPr>
        </p:sp>
      </p:grpSp>
      <p:grpSp>
        <p:nvGrpSpPr>
          <p:cNvPr id="7" name="Group 7"/>
          <p:cNvGrpSpPr/>
          <p:nvPr/>
        </p:nvGrpSpPr>
        <p:grpSpPr>
          <a:xfrm>
            <a:off x="1497101" y="4978908"/>
            <a:ext cx="2194560" cy="548640"/>
            <a:chOff x="0" y="0"/>
            <a:chExt cx="2926080" cy="731520"/>
          </a:xfrm>
        </p:grpSpPr>
        <p:sp>
          <p:nvSpPr>
            <p:cNvPr id="8" name="Freeform 8"/>
            <p:cNvSpPr/>
            <p:nvPr/>
          </p:nvSpPr>
          <p:spPr>
            <a:xfrm>
              <a:off x="0" y="0"/>
              <a:ext cx="2926080" cy="731520"/>
            </a:xfrm>
            <a:custGeom>
              <a:avLst/>
              <a:gdLst/>
              <a:ahLst/>
              <a:cxnLst/>
              <a:rect l="l" t="t" r="r" b="b"/>
              <a:pathLst>
                <a:path w="2926080" h="731520">
                  <a:moveTo>
                    <a:pt x="0" y="0"/>
                  </a:moveTo>
                  <a:lnTo>
                    <a:pt x="2926080" y="0"/>
                  </a:lnTo>
                  <a:lnTo>
                    <a:pt x="2926080" y="731520"/>
                  </a:lnTo>
                  <a:lnTo>
                    <a:pt x="0" y="731520"/>
                  </a:lnTo>
                  <a:close/>
                </a:path>
              </a:pathLst>
            </a:custGeom>
            <a:blipFill>
              <a:blip r:embed="rId3">
                <a:alphaModFix amt="0"/>
              </a:blip>
              <a:stretch>
                <a:fillRect t="-27940" b="-27940"/>
              </a:stretch>
            </a:blipFill>
          </p:spPr>
        </p:sp>
        <p:sp>
          <p:nvSpPr>
            <p:cNvPr id="9" name="TextBox 9"/>
            <p:cNvSpPr txBox="1"/>
            <p:nvPr/>
          </p:nvSpPr>
          <p:spPr>
            <a:xfrm>
              <a:off x="0" y="-19050"/>
              <a:ext cx="2926080" cy="750570"/>
            </a:xfrm>
            <a:prstGeom prst="rect">
              <a:avLst/>
            </a:prstGeom>
          </p:spPr>
          <p:txBody>
            <a:bodyPr lIns="0" tIns="0" rIns="0" bIns="0" rtlCol="0" anchor="ctr"/>
            <a:lstStyle/>
            <a:p>
              <a:pPr algn="l">
                <a:lnSpc>
                  <a:spcPts val="3240"/>
                </a:lnSpc>
              </a:pPr>
              <a:r>
                <a:rPr lang="en-US" sz="2700" b="1">
                  <a:solidFill>
                    <a:srgbClr val="15243A"/>
                  </a:solidFill>
                  <a:latin typeface="Arial Bold"/>
                  <a:ea typeface="Arial Bold"/>
                  <a:cs typeface="Arial Bold"/>
                  <a:sym typeface="Arial Bold"/>
                </a:rPr>
                <a:t>Free</a:t>
              </a:r>
            </a:p>
          </p:txBody>
        </p:sp>
      </p:grpSp>
      <p:grpSp>
        <p:nvGrpSpPr>
          <p:cNvPr id="10" name="Group 10"/>
          <p:cNvGrpSpPr/>
          <p:nvPr/>
        </p:nvGrpSpPr>
        <p:grpSpPr>
          <a:xfrm>
            <a:off x="3211601" y="4800600"/>
            <a:ext cx="2537460" cy="960120"/>
            <a:chOff x="0" y="0"/>
            <a:chExt cx="3383280" cy="1280160"/>
          </a:xfrm>
        </p:grpSpPr>
        <p:sp>
          <p:nvSpPr>
            <p:cNvPr id="11" name="Freeform 11"/>
            <p:cNvSpPr/>
            <p:nvPr/>
          </p:nvSpPr>
          <p:spPr>
            <a:xfrm>
              <a:off x="0" y="0"/>
              <a:ext cx="3383280" cy="1280160"/>
            </a:xfrm>
            <a:custGeom>
              <a:avLst/>
              <a:gdLst/>
              <a:ahLst/>
              <a:cxnLst/>
              <a:rect l="l" t="t" r="r" b="b"/>
              <a:pathLst>
                <a:path w="3383280" h="1280160">
                  <a:moveTo>
                    <a:pt x="0" y="0"/>
                  </a:moveTo>
                  <a:lnTo>
                    <a:pt x="3383280" y="0"/>
                  </a:lnTo>
                  <a:lnTo>
                    <a:pt x="3383280" y="1280160"/>
                  </a:lnTo>
                  <a:lnTo>
                    <a:pt x="0" y="1280160"/>
                  </a:lnTo>
                  <a:close/>
                </a:path>
              </a:pathLst>
            </a:custGeom>
            <a:blipFill>
              <a:blip r:embed="rId3">
                <a:alphaModFix amt="0"/>
              </a:blip>
              <a:stretch>
                <a:fillRect t="-1496" b="-1496"/>
              </a:stretch>
            </a:blipFill>
          </p:spPr>
        </p:sp>
        <p:sp>
          <p:nvSpPr>
            <p:cNvPr id="12" name="TextBox 12"/>
            <p:cNvSpPr txBox="1"/>
            <p:nvPr/>
          </p:nvSpPr>
          <p:spPr>
            <a:xfrm>
              <a:off x="0" y="-28575"/>
              <a:ext cx="3383280" cy="1308735"/>
            </a:xfrm>
            <a:prstGeom prst="rect">
              <a:avLst/>
            </a:prstGeom>
          </p:spPr>
          <p:txBody>
            <a:bodyPr lIns="0" tIns="0" rIns="0" bIns="0" rtlCol="0" anchor="b"/>
            <a:lstStyle/>
            <a:p>
              <a:pPr algn="r">
                <a:lnSpc>
                  <a:spcPts val="6480"/>
                </a:lnSpc>
              </a:pPr>
              <a:r>
                <a:rPr lang="en-US" sz="5400" b="1">
                  <a:solidFill>
                    <a:srgbClr val="15243A"/>
                  </a:solidFill>
                  <a:latin typeface="Arial Bold"/>
                  <a:ea typeface="Arial Bold"/>
                  <a:cs typeface="Arial Bold"/>
                  <a:sym typeface="Arial Bold"/>
                </a:rPr>
                <a:t>$0</a:t>
              </a:r>
            </a:p>
          </p:txBody>
        </p:sp>
      </p:grpSp>
      <p:grpSp>
        <p:nvGrpSpPr>
          <p:cNvPr id="13" name="Group 13"/>
          <p:cNvGrpSpPr/>
          <p:nvPr/>
        </p:nvGrpSpPr>
        <p:grpSpPr>
          <a:xfrm>
            <a:off x="1558823" y="6035040"/>
            <a:ext cx="1152144" cy="1152144"/>
            <a:chOff x="0" y="0"/>
            <a:chExt cx="1536192" cy="1536192"/>
          </a:xfrm>
        </p:grpSpPr>
        <p:sp>
          <p:nvSpPr>
            <p:cNvPr id="14" name="Freeform 14"/>
            <p:cNvSpPr/>
            <p:nvPr/>
          </p:nvSpPr>
          <p:spPr>
            <a:xfrm>
              <a:off x="0" y="0"/>
              <a:ext cx="1536192" cy="1536192"/>
            </a:xfrm>
            <a:custGeom>
              <a:avLst/>
              <a:gdLst/>
              <a:ahLst/>
              <a:cxnLst/>
              <a:rect l="l" t="t" r="r" b="b"/>
              <a:pathLst>
                <a:path w="1536192" h="1536192">
                  <a:moveTo>
                    <a:pt x="0" y="337947"/>
                  </a:moveTo>
                  <a:cubicBezTo>
                    <a:pt x="0" y="151257"/>
                    <a:pt x="151257" y="0"/>
                    <a:pt x="337947" y="0"/>
                  </a:cubicBezTo>
                  <a:lnTo>
                    <a:pt x="1198245" y="0"/>
                  </a:lnTo>
                  <a:cubicBezTo>
                    <a:pt x="1384935" y="0"/>
                    <a:pt x="1536192" y="151257"/>
                    <a:pt x="1536192" y="337947"/>
                  </a:cubicBezTo>
                  <a:lnTo>
                    <a:pt x="1536192" y="1198245"/>
                  </a:lnTo>
                  <a:cubicBezTo>
                    <a:pt x="1536192" y="1384935"/>
                    <a:pt x="1384935" y="1536192"/>
                    <a:pt x="1198245" y="1536192"/>
                  </a:cubicBezTo>
                  <a:lnTo>
                    <a:pt x="337947" y="1536192"/>
                  </a:lnTo>
                  <a:cubicBezTo>
                    <a:pt x="151257" y="1536192"/>
                    <a:pt x="0" y="1384935"/>
                    <a:pt x="0" y="1198245"/>
                  </a:cubicBezTo>
                  <a:close/>
                </a:path>
              </a:pathLst>
            </a:custGeom>
            <a:solidFill>
              <a:srgbClr val="F97316"/>
            </a:solidFill>
          </p:spPr>
        </p:sp>
      </p:grpSp>
      <p:grpSp>
        <p:nvGrpSpPr>
          <p:cNvPr id="15" name="Group 15"/>
          <p:cNvGrpSpPr/>
          <p:nvPr/>
        </p:nvGrpSpPr>
        <p:grpSpPr>
          <a:xfrm>
            <a:off x="1835334" y="6311551"/>
            <a:ext cx="599113" cy="599113"/>
            <a:chOff x="0" y="0"/>
            <a:chExt cx="798817" cy="798817"/>
          </a:xfrm>
        </p:grpSpPr>
        <p:sp>
          <p:nvSpPr>
            <p:cNvPr id="16" name="Freeform 16" descr="preencoded.png"/>
            <p:cNvSpPr/>
            <p:nvPr/>
          </p:nvSpPr>
          <p:spPr>
            <a:xfrm>
              <a:off x="0" y="0"/>
              <a:ext cx="798830" cy="798830"/>
            </a:xfrm>
            <a:custGeom>
              <a:avLst/>
              <a:gdLst/>
              <a:ahLst/>
              <a:cxnLst/>
              <a:rect l="l" t="t" r="r" b="b"/>
              <a:pathLst>
                <a:path w="798830" h="798830">
                  <a:moveTo>
                    <a:pt x="0" y="0"/>
                  </a:moveTo>
                  <a:lnTo>
                    <a:pt x="798830" y="0"/>
                  </a:lnTo>
                  <a:lnTo>
                    <a:pt x="798830" y="798830"/>
                  </a:lnTo>
                  <a:lnTo>
                    <a:pt x="0" y="798830"/>
                  </a:lnTo>
                  <a:lnTo>
                    <a:pt x="0" y="0"/>
                  </a:lnTo>
                  <a:close/>
                </a:path>
              </a:pathLst>
            </a:custGeom>
            <a:blipFill>
              <a:blip r:embed="rId4"/>
              <a:stretch>
                <a:fillRect r="1" b="1"/>
              </a:stretch>
            </a:blipFill>
          </p:spPr>
        </p:sp>
      </p:grpSp>
      <p:grpSp>
        <p:nvGrpSpPr>
          <p:cNvPr id="17" name="Group 17"/>
          <p:cNvGrpSpPr/>
          <p:nvPr/>
        </p:nvGrpSpPr>
        <p:grpSpPr>
          <a:xfrm>
            <a:off x="1353083" y="7269480"/>
            <a:ext cx="1563624" cy="384048"/>
            <a:chOff x="0" y="0"/>
            <a:chExt cx="2084832" cy="512064"/>
          </a:xfrm>
        </p:grpSpPr>
        <p:sp>
          <p:nvSpPr>
            <p:cNvPr id="18" name="Freeform 18"/>
            <p:cNvSpPr/>
            <p:nvPr/>
          </p:nvSpPr>
          <p:spPr>
            <a:xfrm>
              <a:off x="0" y="0"/>
              <a:ext cx="2084832" cy="512064"/>
            </a:xfrm>
            <a:custGeom>
              <a:avLst/>
              <a:gdLst/>
              <a:ahLst/>
              <a:cxnLst/>
              <a:rect l="l" t="t" r="r" b="b"/>
              <a:pathLst>
                <a:path w="2084832" h="512064">
                  <a:moveTo>
                    <a:pt x="0" y="0"/>
                  </a:moveTo>
                  <a:lnTo>
                    <a:pt x="2084832" y="0"/>
                  </a:lnTo>
                  <a:lnTo>
                    <a:pt x="2084832" y="512064"/>
                  </a:lnTo>
                  <a:lnTo>
                    <a:pt x="0" y="512064"/>
                  </a:lnTo>
                  <a:close/>
                </a:path>
              </a:pathLst>
            </a:custGeom>
            <a:blipFill>
              <a:blip r:embed="rId3">
                <a:alphaModFix amt="0"/>
              </a:blip>
              <a:stretch>
                <a:fillRect t="-29331" b="-29331"/>
              </a:stretch>
            </a:blipFill>
          </p:spPr>
        </p:sp>
        <p:sp>
          <p:nvSpPr>
            <p:cNvPr id="19" name="TextBox 19"/>
            <p:cNvSpPr txBox="1"/>
            <p:nvPr/>
          </p:nvSpPr>
          <p:spPr>
            <a:xfrm>
              <a:off x="0" y="-9525"/>
              <a:ext cx="2084832" cy="521589"/>
            </a:xfrm>
            <a:prstGeom prst="rect">
              <a:avLst/>
            </a:prstGeom>
          </p:spPr>
          <p:txBody>
            <a:bodyPr lIns="0" tIns="0" rIns="0" bIns="0" rtlCol="0" anchor="ctr"/>
            <a:lstStyle/>
            <a:p>
              <a:pPr algn="ctr">
                <a:lnSpc>
                  <a:spcPts val="1889"/>
                </a:lnSpc>
              </a:pPr>
              <a:r>
                <a:rPr lang="en-US" sz="1575" b="1">
                  <a:solidFill>
                    <a:srgbClr val="F97316"/>
                  </a:solidFill>
                  <a:latin typeface="Arial Bold"/>
                  <a:ea typeface="Arial Bold"/>
                  <a:cs typeface="Arial Bold"/>
                  <a:sym typeface="Arial Bold"/>
                </a:rPr>
                <a:t>Marketplace</a:t>
              </a:r>
            </a:p>
          </p:txBody>
        </p:sp>
      </p:grpSp>
      <p:grpSp>
        <p:nvGrpSpPr>
          <p:cNvPr id="20" name="Group 20"/>
          <p:cNvGrpSpPr/>
          <p:nvPr/>
        </p:nvGrpSpPr>
        <p:grpSpPr>
          <a:xfrm>
            <a:off x="3012719" y="6035040"/>
            <a:ext cx="1152144" cy="1152144"/>
            <a:chOff x="0" y="0"/>
            <a:chExt cx="1536192" cy="1536192"/>
          </a:xfrm>
        </p:grpSpPr>
        <p:sp>
          <p:nvSpPr>
            <p:cNvPr id="21" name="Freeform 21"/>
            <p:cNvSpPr/>
            <p:nvPr/>
          </p:nvSpPr>
          <p:spPr>
            <a:xfrm>
              <a:off x="0" y="0"/>
              <a:ext cx="1536192" cy="1536192"/>
            </a:xfrm>
            <a:custGeom>
              <a:avLst/>
              <a:gdLst/>
              <a:ahLst/>
              <a:cxnLst/>
              <a:rect l="l" t="t" r="r" b="b"/>
              <a:pathLst>
                <a:path w="1536192" h="1536192">
                  <a:moveTo>
                    <a:pt x="0" y="337947"/>
                  </a:moveTo>
                  <a:cubicBezTo>
                    <a:pt x="0" y="151257"/>
                    <a:pt x="151257" y="0"/>
                    <a:pt x="337947" y="0"/>
                  </a:cubicBezTo>
                  <a:lnTo>
                    <a:pt x="1198245" y="0"/>
                  </a:lnTo>
                  <a:cubicBezTo>
                    <a:pt x="1384935" y="0"/>
                    <a:pt x="1536192" y="151257"/>
                    <a:pt x="1536192" y="337947"/>
                  </a:cubicBezTo>
                  <a:lnTo>
                    <a:pt x="1536192" y="1198245"/>
                  </a:lnTo>
                  <a:cubicBezTo>
                    <a:pt x="1536192" y="1384935"/>
                    <a:pt x="1384935" y="1536192"/>
                    <a:pt x="1198245" y="1536192"/>
                  </a:cubicBezTo>
                  <a:lnTo>
                    <a:pt x="337947" y="1536192"/>
                  </a:lnTo>
                  <a:cubicBezTo>
                    <a:pt x="151257" y="1536192"/>
                    <a:pt x="0" y="1384935"/>
                    <a:pt x="0" y="1198245"/>
                  </a:cubicBezTo>
                  <a:close/>
                </a:path>
              </a:pathLst>
            </a:custGeom>
            <a:solidFill>
              <a:srgbClr val="E2E8F0"/>
            </a:solidFill>
          </p:spPr>
        </p:sp>
      </p:grpSp>
      <p:grpSp>
        <p:nvGrpSpPr>
          <p:cNvPr id="22" name="Group 22"/>
          <p:cNvGrpSpPr/>
          <p:nvPr/>
        </p:nvGrpSpPr>
        <p:grpSpPr>
          <a:xfrm>
            <a:off x="3289230" y="6311551"/>
            <a:ext cx="599113" cy="599113"/>
            <a:chOff x="0" y="0"/>
            <a:chExt cx="798817" cy="798817"/>
          </a:xfrm>
        </p:grpSpPr>
        <p:sp>
          <p:nvSpPr>
            <p:cNvPr id="23" name="Freeform 23" descr="preencoded.png"/>
            <p:cNvSpPr/>
            <p:nvPr/>
          </p:nvSpPr>
          <p:spPr>
            <a:xfrm>
              <a:off x="0" y="0"/>
              <a:ext cx="798830" cy="798830"/>
            </a:xfrm>
            <a:custGeom>
              <a:avLst/>
              <a:gdLst/>
              <a:ahLst/>
              <a:cxnLst/>
              <a:rect l="l" t="t" r="r" b="b"/>
              <a:pathLst>
                <a:path w="798830" h="798830">
                  <a:moveTo>
                    <a:pt x="0" y="0"/>
                  </a:moveTo>
                  <a:lnTo>
                    <a:pt x="798830" y="0"/>
                  </a:lnTo>
                  <a:lnTo>
                    <a:pt x="798830" y="798830"/>
                  </a:lnTo>
                  <a:lnTo>
                    <a:pt x="0" y="798830"/>
                  </a:lnTo>
                  <a:lnTo>
                    <a:pt x="0" y="0"/>
                  </a:lnTo>
                  <a:close/>
                </a:path>
              </a:pathLst>
            </a:custGeom>
            <a:blipFill>
              <a:blip r:embed="rId5"/>
              <a:stretch>
                <a:fillRect r="1" b="1"/>
              </a:stretch>
            </a:blipFill>
          </p:spPr>
        </p:sp>
      </p:grpSp>
      <p:grpSp>
        <p:nvGrpSpPr>
          <p:cNvPr id="24" name="Group 24"/>
          <p:cNvGrpSpPr/>
          <p:nvPr/>
        </p:nvGrpSpPr>
        <p:grpSpPr>
          <a:xfrm>
            <a:off x="2806979" y="7269480"/>
            <a:ext cx="1563624" cy="384048"/>
            <a:chOff x="0" y="0"/>
            <a:chExt cx="2084832" cy="512064"/>
          </a:xfrm>
        </p:grpSpPr>
        <p:sp>
          <p:nvSpPr>
            <p:cNvPr id="25" name="Freeform 25"/>
            <p:cNvSpPr/>
            <p:nvPr/>
          </p:nvSpPr>
          <p:spPr>
            <a:xfrm>
              <a:off x="0" y="0"/>
              <a:ext cx="2084832" cy="512064"/>
            </a:xfrm>
            <a:custGeom>
              <a:avLst/>
              <a:gdLst/>
              <a:ahLst/>
              <a:cxnLst/>
              <a:rect l="l" t="t" r="r" b="b"/>
              <a:pathLst>
                <a:path w="2084832" h="512064">
                  <a:moveTo>
                    <a:pt x="0" y="0"/>
                  </a:moveTo>
                  <a:lnTo>
                    <a:pt x="2084832" y="0"/>
                  </a:lnTo>
                  <a:lnTo>
                    <a:pt x="2084832" y="512064"/>
                  </a:lnTo>
                  <a:lnTo>
                    <a:pt x="0" y="512064"/>
                  </a:lnTo>
                  <a:close/>
                </a:path>
              </a:pathLst>
            </a:custGeom>
            <a:blipFill>
              <a:blip r:embed="rId3">
                <a:alphaModFix amt="0"/>
              </a:blip>
              <a:stretch>
                <a:fillRect t="-29331" b="-29331"/>
              </a:stretch>
            </a:blipFill>
          </p:spPr>
        </p:sp>
        <p:sp>
          <p:nvSpPr>
            <p:cNvPr id="26" name="TextBox 26"/>
            <p:cNvSpPr txBox="1"/>
            <p:nvPr/>
          </p:nvSpPr>
          <p:spPr>
            <a:xfrm>
              <a:off x="0" y="-9525"/>
              <a:ext cx="2084832" cy="521589"/>
            </a:xfrm>
            <a:prstGeom prst="rect">
              <a:avLst/>
            </a:prstGeom>
          </p:spPr>
          <p:txBody>
            <a:bodyPr lIns="0" tIns="0" rIns="0" bIns="0" rtlCol="0" anchor="ctr"/>
            <a:lstStyle/>
            <a:p>
              <a:pPr algn="ctr">
                <a:lnSpc>
                  <a:spcPts val="1889"/>
                </a:lnSpc>
              </a:pPr>
              <a:r>
                <a:rPr lang="en-US" sz="1575" b="1">
                  <a:solidFill>
                    <a:srgbClr val="94A3B8"/>
                  </a:solidFill>
                  <a:latin typeface="Arial Bold"/>
                  <a:ea typeface="Arial Bold"/>
                  <a:cs typeface="Arial Bold"/>
                  <a:sym typeface="Arial Bold"/>
                </a:rPr>
                <a:t>Storefront</a:t>
              </a:r>
            </a:p>
          </p:txBody>
        </p:sp>
      </p:grpSp>
      <p:grpSp>
        <p:nvGrpSpPr>
          <p:cNvPr id="27" name="Group 27"/>
          <p:cNvGrpSpPr/>
          <p:nvPr/>
        </p:nvGrpSpPr>
        <p:grpSpPr>
          <a:xfrm>
            <a:off x="4466615" y="6035040"/>
            <a:ext cx="1152144" cy="1152144"/>
            <a:chOff x="0" y="0"/>
            <a:chExt cx="1536192" cy="1536192"/>
          </a:xfrm>
        </p:grpSpPr>
        <p:sp>
          <p:nvSpPr>
            <p:cNvPr id="28" name="Freeform 28"/>
            <p:cNvSpPr/>
            <p:nvPr/>
          </p:nvSpPr>
          <p:spPr>
            <a:xfrm>
              <a:off x="0" y="0"/>
              <a:ext cx="1536192" cy="1536192"/>
            </a:xfrm>
            <a:custGeom>
              <a:avLst/>
              <a:gdLst/>
              <a:ahLst/>
              <a:cxnLst/>
              <a:rect l="l" t="t" r="r" b="b"/>
              <a:pathLst>
                <a:path w="1536192" h="1536192">
                  <a:moveTo>
                    <a:pt x="0" y="337947"/>
                  </a:moveTo>
                  <a:cubicBezTo>
                    <a:pt x="0" y="151257"/>
                    <a:pt x="151257" y="0"/>
                    <a:pt x="337947" y="0"/>
                  </a:cubicBezTo>
                  <a:lnTo>
                    <a:pt x="1198245" y="0"/>
                  </a:lnTo>
                  <a:cubicBezTo>
                    <a:pt x="1384935" y="0"/>
                    <a:pt x="1536192" y="151257"/>
                    <a:pt x="1536192" y="337947"/>
                  </a:cubicBezTo>
                  <a:lnTo>
                    <a:pt x="1536192" y="1198245"/>
                  </a:lnTo>
                  <a:cubicBezTo>
                    <a:pt x="1536192" y="1384935"/>
                    <a:pt x="1384935" y="1536192"/>
                    <a:pt x="1198245" y="1536192"/>
                  </a:cubicBezTo>
                  <a:lnTo>
                    <a:pt x="337947" y="1536192"/>
                  </a:lnTo>
                  <a:cubicBezTo>
                    <a:pt x="151257" y="1536192"/>
                    <a:pt x="0" y="1384935"/>
                    <a:pt x="0" y="1198245"/>
                  </a:cubicBezTo>
                  <a:close/>
                </a:path>
              </a:pathLst>
            </a:custGeom>
            <a:solidFill>
              <a:srgbClr val="E2E8F0"/>
            </a:solidFill>
          </p:spPr>
        </p:sp>
      </p:grpSp>
      <p:grpSp>
        <p:nvGrpSpPr>
          <p:cNvPr id="29" name="Group 29"/>
          <p:cNvGrpSpPr/>
          <p:nvPr/>
        </p:nvGrpSpPr>
        <p:grpSpPr>
          <a:xfrm>
            <a:off x="4743126" y="6311551"/>
            <a:ext cx="599113" cy="599113"/>
            <a:chOff x="0" y="0"/>
            <a:chExt cx="798817" cy="798817"/>
          </a:xfrm>
        </p:grpSpPr>
        <p:sp>
          <p:nvSpPr>
            <p:cNvPr id="30" name="Freeform 30" descr="preencoded.png"/>
            <p:cNvSpPr/>
            <p:nvPr/>
          </p:nvSpPr>
          <p:spPr>
            <a:xfrm>
              <a:off x="0" y="0"/>
              <a:ext cx="798830" cy="798830"/>
            </a:xfrm>
            <a:custGeom>
              <a:avLst/>
              <a:gdLst/>
              <a:ahLst/>
              <a:cxnLst/>
              <a:rect l="l" t="t" r="r" b="b"/>
              <a:pathLst>
                <a:path w="798830" h="798830">
                  <a:moveTo>
                    <a:pt x="0" y="0"/>
                  </a:moveTo>
                  <a:lnTo>
                    <a:pt x="798830" y="0"/>
                  </a:lnTo>
                  <a:lnTo>
                    <a:pt x="798830" y="798830"/>
                  </a:lnTo>
                  <a:lnTo>
                    <a:pt x="0" y="798830"/>
                  </a:lnTo>
                  <a:lnTo>
                    <a:pt x="0" y="0"/>
                  </a:lnTo>
                  <a:close/>
                </a:path>
              </a:pathLst>
            </a:custGeom>
            <a:blipFill>
              <a:blip r:embed="rId6"/>
              <a:stretch>
                <a:fillRect r="1" b="1"/>
              </a:stretch>
            </a:blipFill>
          </p:spPr>
        </p:sp>
      </p:grpSp>
      <p:grpSp>
        <p:nvGrpSpPr>
          <p:cNvPr id="31" name="Group 31"/>
          <p:cNvGrpSpPr/>
          <p:nvPr/>
        </p:nvGrpSpPr>
        <p:grpSpPr>
          <a:xfrm>
            <a:off x="4260875" y="7269480"/>
            <a:ext cx="1563624" cy="384048"/>
            <a:chOff x="0" y="0"/>
            <a:chExt cx="2084832" cy="512064"/>
          </a:xfrm>
        </p:grpSpPr>
        <p:sp>
          <p:nvSpPr>
            <p:cNvPr id="32" name="Freeform 32"/>
            <p:cNvSpPr/>
            <p:nvPr/>
          </p:nvSpPr>
          <p:spPr>
            <a:xfrm>
              <a:off x="0" y="0"/>
              <a:ext cx="2084832" cy="512064"/>
            </a:xfrm>
            <a:custGeom>
              <a:avLst/>
              <a:gdLst/>
              <a:ahLst/>
              <a:cxnLst/>
              <a:rect l="l" t="t" r="r" b="b"/>
              <a:pathLst>
                <a:path w="2084832" h="512064">
                  <a:moveTo>
                    <a:pt x="0" y="0"/>
                  </a:moveTo>
                  <a:lnTo>
                    <a:pt x="2084832" y="0"/>
                  </a:lnTo>
                  <a:lnTo>
                    <a:pt x="2084832" y="512064"/>
                  </a:lnTo>
                  <a:lnTo>
                    <a:pt x="0" y="512064"/>
                  </a:lnTo>
                  <a:close/>
                </a:path>
              </a:pathLst>
            </a:custGeom>
            <a:blipFill>
              <a:blip r:embed="rId3">
                <a:alphaModFix amt="0"/>
              </a:blip>
              <a:stretch>
                <a:fillRect t="-29331" b="-29331"/>
              </a:stretch>
            </a:blipFill>
          </p:spPr>
        </p:sp>
        <p:sp>
          <p:nvSpPr>
            <p:cNvPr id="33" name="TextBox 33"/>
            <p:cNvSpPr txBox="1"/>
            <p:nvPr/>
          </p:nvSpPr>
          <p:spPr>
            <a:xfrm>
              <a:off x="0" y="-9525"/>
              <a:ext cx="2084832" cy="521589"/>
            </a:xfrm>
            <a:prstGeom prst="rect">
              <a:avLst/>
            </a:prstGeom>
          </p:spPr>
          <p:txBody>
            <a:bodyPr lIns="0" tIns="0" rIns="0" bIns="0" rtlCol="0" anchor="ctr"/>
            <a:lstStyle/>
            <a:p>
              <a:pPr algn="ctr">
                <a:lnSpc>
                  <a:spcPts val="1889"/>
                </a:lnSpc>
              </a:pPr>
              <a:r>
                <a:rPr lang="en-US" sz="1575" b="1">
                  <a:solidFill>
                    <a:srgbClr val="94A3B8"/>
                  </a:solidFill>
                  <a:latin typeface="Arial Bold"/>
                  <a:ea typeface="Arial Bold"/>
                  <a:cs typeface="Arial Bold"/>
                  <a:sym typeface="Arial Bold"/>
                </a:rPr>
                <a:t>POS</a:t>
              </a:r>
            </a:p>
          </p:txBody>
        </p:sp>
      </p:grpSp>
      <p:grpSp>
        <p:nvGrpSpPr>
          <p:cNvPr id="34" name="Group 34"/>
          <p:cNvGrpSpPr/>
          <p:nvPr/>
        </p:nvGrpSpPr>
        <p:grpSpPr>
          <a:xfrm>
            <a:off x="1428521" y="7955280"/>
            <a:ext cx="4320540" cy="685800"/>
            <a:chOff x="0" y="0"/>
            <a:chExt cx="5760720" cy="914400"/>
          </a:xfrm>
        </p:grpSpPr>
        <p:sp>
          <p:nvSpPr>
            <p:cNvPr id="35" name="Freeform 35"/>
            <p:cNvSpPr/>
            <p:nvPr/>
          </p:nvSpPr>
          <p:spPr>
            <a:xfrm>
              <a:off x="0" y="0"/>
              <a:ext cx="5760720" cy="914400"/>
            </a:xfrm>
            <a:custGeom>
              <a:avLst/>
              <a:gdLst/>
              <a:ahLst/>
              <a:cxnLst/>
              <a:rect l="l" t="t" r="r" b="b"/>
              <a:pathLst>
                <a:path w="5760720" h="914400">
                  <a:moveTo>
                    <a:pt x="0" y="457200"/>
                  </a:moveTo>
                  <a:cubicBezTo>
                    <a:pt x="0" y="204724"/>
                    <a:pt x="204724" y="0"/>
                    <a:pt x="457200" y="0"/>
                  </a:cubicBezTo>
                  <a:lnTo>
                    <a:pt x="5303520" y="0"/>
                  </a:lnTo>
                  <a:cubicBezTo>
                    <a:pt x="5555996" y="0"/>
                    <a:pt x="5760720" y="204724"/>
                    <a:pt x="5760720" y="457200"/>
                  </a:cubicBezTo>
                  <a:cubicBezTo>
                    <a:pt x="5760720" y="709676"/>
                    <a:pt x="5555996" y="914400"/>
                    <a:pt x="5303520" y="914400"/>
                  </a:cubicBezTo>
                  <a:lnTo>
                    <a:pt x="457200" y="914400"/>
                  </a:lnTo>
                  <a:cubicBezTo>
                    <a:pt x="204724" y="914400"/>
                    <a:pt x="0" y="709676"/>
                    <a:pt x="0" y="457200"/>
                  </a:cubicBezTo>
                  <a:close/>
                </a:path>
              </a:pathLst>
            </a:custGeom>
            <a:solidFill>
              <a:srgbClr val="FFEDD5"/>
            </a:solidFill>
          </p:spPr>
        </p:sp>
        <p:sp>
          <p:nvSpPr>
            <p:cNvPr id="36" name="TextBox 36"/>
            <p:cNvSpPr txBox="1"/>
            <p:nvPr/>
          </p:nvSpPr>
          <p:spPr>
            <a:xfrm>
              <a:off x="0" y="-19050"/>
              <a:ext cx="5760720" cy="933450"/>
            </a:xfrm>
            <a:prstGeom prst="rect">
              <a:avLst/>
            </a:prstGeom>
          </p:spPr>
          <p:txBody>
            <a:bodyPr lIns="50800" tIns="50800" rIns="50800" bIns="50800" rtlCol="0" anchor="ctr"/>
            <a:lstStyle/>
            <a:p>
              <a:pPr algn="ctr">
                <a:lnSpc>
                  <a:spcPts val="2340"/>
                </a:lnSpc>
              </a:pPr>
              <a:r>
                <a:rPr lang="en-US" sz="1950" b="1">
                  <a:solidFill>
                    <a:srgbClr val="F97316"/>
                  </a:solidFill>
                  <a:latin typeface="Arial Bold"/>
                  <a:ea typeface="Arial Bold"/>
                  <a:cs typeface="Arial Bold"/>
                  <a:sym typeface="Arial Bold"/>
                </a:rPr>
                <a:t>3% on marketplace sales</a:t>
              </a:r>
            </a:p>
          </p:txBody>
        </p:sp>
      </p:grpSp>
      <p:grpSp>
        <p:nvGrpSpPr>
          <p:cNvPr id="37" name="Group 37"/>
          <p:cNvGrpSpPr/>
          <p:nvPr/>
        </p:nvGrpSpPr>
        <p:grpSpPr>
          <a:xfrm>
            <a:off x="6572021" y="3771900"/>
            <a:ext cx="5143500" cy="5280660"/>
            <a:chOff x="0" y="0"/>
            <a:chExt cx="6858000" cy="7040880"/>
          </a:xfrm>
        </p:grpSpPr>
        <p:sp>
          <p:nvSpPr>
            <p:cNvPr id="38" name="Freeform 38"/>
            <p:cNvSpPr/>
            <p:nvPr/>
          </p:nvSpPr>
          <p:spPr>
            <a:xfrm>
              <a:off x="0" y="0"/>
              <a:ext cx="6858000" cy="7040880"/>
            </a:xfrm>
            <a:custGeom>
              <a:avLst/>
              <a:gdLst/>
              <a:ahLst/>
              <a:cxnLst/>
              <a:rect l="l" t="t" r="r" b="b"/>
              <a:pathLst>
                <a:path w="6858000" h="7040880">
                  <a:moveTo>
                    <a:pt x="0" y="365760"/>
                  </a:moveTo>
                  <a:cubicBezTo>
                    <a:pt x="0" y="163703"/>
                    <a:pt x="163703" y="0"/>
                    <a:pt x="365760" y="0"/>
                  </a:cubicBezTo>
                  <a:lnTo>
                    <a:pt x="6492240" y="0"/>
                  </a:lnTo>
                  <a:cubicBezTo>
                    <a:pt x="6694297" y="0"/>
                    <a:pt x="6858000" y="163703"/>
                    <a:pt x="6858000" y="365760"/>
                  </a:cubicBezTo>
                  <a:lnTo>
                    <a:pt x="6858000" y="6675120"/>
                  </a:lnTo>
                  <a:cubicBezTo>
                    <a:pt x="6858000" y="6877050"/>
                    <a:pt x="6694297" y="7040880"/>
                    <a:pt x="6492240" y="7040880"/>
                  </a:cubicBezTo>
                  <a:lnTo>
                    <a:pt x="365760" y="7040880"/>
                  </a:lnTo>
                  <a:cubicBezTo>
                    <a:pt x="163703" y="7040880"/>
                    <a:pt x="0" y="6877177"/>
                    <a:pt x="0" y="6675120"/>
                  </a:cubicBezTo>
                  <a:close/>
                </a:path>
              </a:pathLst>
            </a:custGeom>
            <a:solidFill>
              <a:srgbClr val="111D35"/>
            </a:solidFill>
          </p:spPr>
        </p:sp>
      </p:grpSp>
      <p:grpSp>
        <p:nvGrpSpPr>
          <p:cNvPr id="39" name="Group 39"/>
          <p:cNvGrpSpPr/>
          <p:nvPr/>
        </p:nvGrpSpPr>
        <p:grpSpPr>
          <a:xfrm>
            <a:off x="8046491" y="3538728"/>
            <a:ext cx="2194560" cy="466344"/>
            <a:chOff x="0" y="0"/>
            <a:chExt cx="2926080" cy="621792"/>
          </a:xfrm>
        </p:grpSpPr>
        <p:sp>
          <p:nvSpPr>
            <p:cNvPr id="40" name="Freeform 40"/>
            <p:cNvSpPr/>
            <p:nvPr/>
          </p:nvSpPr>
          <p:spPr>
            <a:xfrm>
              <a:off x="0" y="0"/>
              <a:ext cx="2926080" cy="621792"/>
            </a:xfrm>
            <a:custGeom>
              <a:avLst/>
              <a:gdLst/>
              <a:ahLst/>
              <a:cxnLst/>
              <a:rect l="l" t="t" r="r" b="b"/>
              <a:pathLst>
                <a:path w="2926080" h="621792">
                  <a:moveTo>
                    <a:pt x="0" y="310896"/>
                  </a:moveTo>
                  <a:cubicBezTo>
                    <a:pt x="0" y="139192"/>
                    <a:pt x="139192" y="0"/>
                    <a:pt x="310896" y="0"/>
                  </a:cubicBezTo>
                  <a:lnTo>
                    <a:pt x="2615184" y="0"/>
                  </a:lnTo>
                  <a:cubicBezTo>
                    <a:pt x="2786888" y="0"/>
                    <a:pt x="2926080" y="139192"/>
                    <a:pt x="2926080" y="310896"/>
                  </a:cubicBezTo>
                  <a:cubicBezTo>
                    <a:pt x="2926080" y="482600"/>
                    <a:pt x="2786888" y="621792"/>
                    <a:pt x="2615184" y="621792"/>
                  </a:cubicBezTo>
                  <a:lnTo>
                    <a:pt x="310896" y="621792"/>
                  </a:lnTo>
                  <a:cubicBezTo>
                    <a:pt x="139192" y="621792"/>
                    <a:pt x="0" y="482600"/>
                    <a:pt x="0" y="310896"/>
                  </a:cubicBezTo>
                  <a:close/>
                </a:path>
              </a:pathLst>
            </a:custGeom>
            <a:solidFill>
              <a:srgbClr val="0AA7A2"/>
            </a:solidFill>
          </p:spPr>
        </p:sp>
        <p:sp>
          <p:nvSpPr>
            <p:cNvPr id="41" name="TextBox 41"/>
            <p:cNvSpPr txBox="1"/>
            <p:nvPr/>
          </p:nvSpPr>
          <p:spPr>
            <a:xfrm>
              <a:off x="0" y="-19050"/>
              <a:ext cx="2926080" cy="640842"/>
            </a:xfrm>
            <a:prstGeom prst="rect">
              <a:avLst/>
            </a:prstGeom>
          </p:spPr>
          <p:txBody>
            <a:bodyPr lIns="50800" tIns="50800" rIns="50800" bIns="50800" rtlCol="0" anchor="ctr"/>
            <a:lstStyle/>
            <a:p>
              <a:pPr algn="ctr">
                <a:lnSpc>
                  <a:spcPts val="1800"/>
                </a:lnSpc>
              </a:pPr>
              <a:r>
                <a:rPr lang="en-US" sz="1500" b="1" spc="150">
                  <a:solidFill>
                    <a:srgbClr val="FFFFFF"/>
                  </a:solidFill>
                  <a:latin typeface="Arial Bold"/>
                  <a:ea typeface="Arial Bold"/>
                  <a:cs typeface="Arial Bold"/>
                  <a:sym typeface="Arial Bold"/>
                </a:rPr>
                <a:t>MOST SHOPS</a:t>
              </a:r>
            </a:p>
          </p:txBody>
        </p:sp>
      </p:grpSp>
      <p:grpSp>
        <p:nvGrpSpPr>
          <p:cNvPr id="42" name="Group 42"/>
          <p:cNvGrpSpPr/>
          <p:nvPr/>
        </p:nvGrpSpPr>
        <p:grpSpPr>
          <a:xfrm>
            <a:off x="7052081" y="4155948"/>
            <a:ext cx="2194560" cy="548640"/>
            <a:chOff x="0" y="0"/>
            <a:chExt cx="2926080" cy="731520"/>
          </a:xfrm>
        </p:grpSpPr>
        <p:sp>
          <p:nvSpPr>
            <p:cNvPr id="43" name="Freeform 43"/>
            <p:cNvSpPr/>
            <p:nvPr/>
          </p:nvSpPr>
          <p:spPr>
            <a:xfrm>
              <a:off x="0" y="0"/>
              <a:ext cx="2926080" cy="731520"/>
            </a:xfrm>
            <a:custGeom>
              <a:avLst/>
              <a:gdLst/>
              <a:ahLst/>
              <a:cxnLst/>
              <a:rect l="l" t="t" r="r" b="b"/>
              <a:pathLst>
                <a:path w="2926080" h="731520">
                  <a:moveTo>
                    <a:pt x="0" y="0"/>
                  </a:moveTo>
                  <a:lnTo>
                    <a:pt x="2926080" y="0"/>
                  </a:lnTo>
                  <a:lnTo>
                    <a:pt x="2926080" y="731520"/>
                  </a:lnTo>
                  <a:lnTo>
                    <a:pt x="0" y="731520"/>
                  </a:lnTo>
                  <a:close/>
                </a:path>
              </a:pathLst>
            </a:custGeom>
            <a:blipFill>
              <a:blip r:embed="rId3">
                <a:alphaModFix amt="0"/>
              </a:blip>
              <a:stretch>
                <a:fillRect t="-27940" b="-27940"/>
              </a:stretch>
            </a:blipFill>
          </p:spPr>
        </p:sp>
        <p:sp>
          <p:nvSpPr>
            <p:cNvPr id="44" name="TextBox 44"/>
            <p:cNvSpPr txBox="1"/>
            <p:nvPr/>
          </p:nvSpPr>
          <p:spPr>
            <a:xfrm>
              <a:off x="0" y="-19050"/>
              <a:ext cx="2926080" cy="750570"/>
            </a:xfrm>
            <a:prstGeom prst="rect">
              <a:avLst/>
            </a:prstGeom>
          </p:spPr>
          <p:txBody>
            <a:bodyPr lIns="0" tIns="0" rIns="0" bIns="0" rtlCol="0" anchor="ctr"/>
            <a:lstStyle/>
            <a:p>
              <a:pPr algn="l">
                <a:lnSpc>
                  <a:spcPts val="3240"/>
                </a:lnSpc>
              </a:pPr>
              <a:r>
                <a:rPr lang="en-US" sz="2700" b="1">
                  <a:solidFill>
                    <a:srgbClr val="FFFFFF"/>
                  </a:solidFill>
                  <a:latin typeface="Arial Bold"/>
                  <a:ea typeface="Arial Bold"/>
                  <a:cs typeface="Arial Bold"/>
                  <a:sym typeface="Arial Bold"/>
                </a:rPr>
                <a:t>Starter</a:t>
              </a:r>
            </a:p>
          </p:txBody>
        </p:sp>
      </p:grpSp>
      <p:grpSp>
        <p:nvGrpSpPr>
          <p:cNvPr id="45" name="Group 45"/>
          <p:cNvGrpSpPr/>
          <p:nvPr/>
        </p:nvGrpSpPr>
        <p:grpSpPr>
          <a:xfrm>
            <a:off x="8766581" y="3977640"/>
            <a:ext cx="2537460" cy="960120"/>
            <a:chOff x="0" y="0"/>
            <a:chExt cx="3383280" cy="1280160"/>
          </a:xfrm>
        </p:grpSpPr>
        <p:sp>
          <p:nvSpPr>
            <p:cNvPr id="46" name="Freeform 46"/>
            <p:cNvSpPr/>
            <p:nvPr/>
          </p:nvSpPr>
          <p:spPr>
            <a:xfrm>
              <a:off x="0" y="0"/>
              <a:ext cx="3383280" cy="1280160"/>
            </a:xfrm>
            <a:custGeom>
              <a:avLst/>
              <a:gdLst/>
              <a:ahLst/>
              <a:cxnLst/>
              <a:rect l="l" t="t" r="r" b="b"/>
              <a:pathLst>
                <a:path w="3383280" h="1280160">
                  <a:moveTo>
                    <a:pt x="0" y="0"/>
                  </a:moveTo>
                  <a:lnTo>
                    <a:pt x="3383280" y="0"/>
                  </a:lnTo>
                  <a:lnTo>
                    <a:pt x="3383280" y="1280160"/>
                  </a:lnTo>
                  <a:lnTo>
                    <a:pt x="0" y="1280160"/>
                  </a:lnTo>
                  <a:close/>
                </a:path>
              </a:pathLst>
            </a:custGeom>
            <a:blipFill>
              <a:blip r:embed="rId3">
                <a:alphaModFix amt="0"/>
              </a:blip>
              <a:stretch>
                <a:fillRect t="-1496" b="-1496"/>
              </a:stretch>
            </a:blipFill>
          </p:spPr>
        </p:sp>
        <p:sp>
          <p:nvSpPr>
            <p:cNvPr id="47" name="TextBox 47"/>
            <p:cNvSpPr txBox="1"/>
            <p:nvPr/>
          </p:nvSpPr>
          <p:spPr>
            <a:xfrm>
              <a:off x="0" y="-9525"/>
              <a:ext cx="3383280" cy="1289685"/>
            </a:xfrm>
            <a:prstGeom prst="rect">
              <a:avLst/>
            </a:prstGeom>
          </p:spPr>
          <p:txBody>
            <a:bodyPr lIns="0" tIns="0" rIns="0" bIns="0" rtlCol="0" anchor="b"/>
            <a:lstStyle/>
            <a:p>
              <a:pPr algn="r">
                <a:lnSpc>
                  <a:spcPts val="2520"/>
                </a:lnSpc>
              </a:pPr>
              <a:r>
                <a:rPr lang="en-US" sz="2100" b="1">
                  <a:solidFill>
                    <a:srgbClr val="FFFFFF"/>
                  </a:solidFill>
                  <a:latin typeface="Arial Bold"/>
                  <a:ea typeface="Arial Bold"/>
                  <a:cs typeface="Arial Bold"/>
                  <a:sym typeface="Arial Bold"/>
                </a:rPr>
                <a:t>$5</a:t>
              </a:r>
              <a:r>
                <a:rPr lang="en-US" sz="2100">
                  <a:solidFill>
                    <a:srgbClr val="FFFFFF"/>
                  </a:solidFill>
                  <a:latin typeface="Arial"/>
                  <a:ea typeface="Arial"/>
                  <a:cs typeface="Arial"/>
                  <a:sym typeface="Arial"/>
                </a:rPr>
                <a:t> /mo</a:t>
              </a:r>
            </a:p>
          </p:txBody>
        </p:sp>
      </p:grpSp>
      <p:grpSp>
        <p:nvGrpSpPr>
          <p:cNvPr id="48" name="Group 48"/>
          <p:cNvGrpSpPr/>
          <p:nvPr/>
        </p:nvGrpSpPr>
        <p:grpSpPr>
          <a:xfrm>
            <a:off x="7113803" y="5212080"/>
            <a:ext cx="1152144" cy="1152144"/>
            <a:chOff x="0" y="0"/>
            <a:chExt cx="1536192" cy="1536192"/>
          </a:xfrm>
        </p:grpSpPr>
        <p:sp>
          <p:nvSpPr>
            <p:cNvPr id="49" name="Freeform 49"/>
            <p:cNvSpPr/>
            <p:nvPr/>
          </p:nvSpPr>
          <p:spPr>
            <a:xfrm>
              <a:off x="0" y="0"/>
              <a:ext cx="1536192" cy="1536192"/>
            </a:xfrm>
            <a:custGeom>
              <a:avLst/>
              <a:gdLst/>
              <a:ahLst/>
              <a:cxnLst/>
              <a:rect l="l" t="t" r="r" b="b"/>
              <a:pathLst>
                <a:path w="1536192" h="1536192">
                  <a:moveTo>
                    <a:pt x="0" y="337947"/>
                  </a:moveTo>
                  <a:cubicBezTo>
                    <a:pt x="0" y="151257"/>
                    <a:pt x="151257" y="0"/>
                    <a:pt x="337947" y="0"/>
                  </a:cubicBezTo>
                  <a:lnTo>
                    <a:pt x="1198245" y="0"/>
                  </a:lnTo>
                  <a:cubicBezTo>
                    <a:pt x="1384935" y="0"/>
                    <a:pt x="1536192" y="151257"/>
                    <a:pt x="1536192" y="337947"/>
                  </a:cubicBezTo>
                  <a:lnTo>
                    <a:pt x="1536192" y="1198245"/>
                  </a:lnTo>
                  <a:cubicBezTo>
                    <a:pt x="1536192" y="1384935"/>
                    <a:pt x="1384935" y="1536192"/>
                    <a:pt x="1198245" y="1536192"/>
                  </a:cubicBezTo>
                  <a:lnTo>
                    <a:pt x="337947" y="1536192"/>
                  </a:lnTo>
                  <a:cubicBezTo>
                    <a:pt x="151257" y="1536192"/>
                    <a:pt x="0" y="1384935"/>
                    <a:pt x="0" y="1198245"/>
                  </a:cubicBezTo>
                  <a:close/>
                </a:path>
              </a:pathLst>
            </a:custGeom>
            <a:solidFill>
              <a:srgbClr val="F97316"/>
            </a:solidFill>
          </p:spPr>
        </p:sp>
      </p:grpSp>
      <p:grpSp>
        <p:nvGrpSpPr>
          <p:cNvPr id="50" name="Group 50"/>
          <p:cNvGrpSpPr/>
          <p:nvPr/>
        </p:nvGrpSpPr>
        <p:grpSpPr>
          <a:xfrm>
            <a:off x="7390314" y="5488591"/>
            <a:ext cx="599113" cy="599113"/>
            <a:chOff x="0" y="0"/>
            <a:chExt cx="798817" cy="798817"/>
          </a:xfrm>
        </p:grpSpPr>
        <p:sp>
          <p:nvSpPr>
            <p:cNvPr id="51" name="Freeform 51" descr="preencoded.png"/>
            <p:cNvSpPr/>
            <p:nvPr/>
          </p:nvSpPr>
          <p:spPr>
            <a:xfrm>
              <a:off x="0" y="0"/>
              <a:ext cx="798830" cy="798830"/>
            </a:xfrm>
            <a:custGeom>
              <a:avLst/>
              <a:gdLst/>
              <a:ahLst/>
              <a:cxnLst/>
              <a:rect l="l" t="t" r="r" b="b"/>
              <a:pathLst>
                <a:path w="798830" h="798830">
                  <a:moveTo>
                    <a:pt x="0" y="0"/>
                  </a:moveTo>
                  <a:lnTo>
                    <a:pt x="798830" y="0"/>
                  </a:lnTo>
                  <a:lnTo>
                    <a:pt x="798830" y="798830"/>
                  </a:lnTo>
                  <a:lnTo>
                    <a:pt x="0" y="798830"/>
                  </a:lnTo>
                  <a:lnTo>
                    <a:pt x="0" y="0"/>
                  </a:lnTo>
                  <a:close/>
                </a:path>
              </a:pathLst>
            </a:custGeom>
            <a:blipFill>
              <a:blip r:embed="rId4"/>
              <a:stretch>
                <a:fillRect r="1" b="1"/>
              </a:stretch>
            </a:blipFill>
          </p:spPr>
        </p:sp>
      </p:grpSp>
      <p:grpSp>
        <p:nvGrpSpPr>
          <p:cNvPr id="52" name="Group 52"/>
          <p:cNvGrpSpPr/>
          <p:nvPr/>
        </p:nvGrpSpPr>
        <p:grpSpPr>
          <a:xfrm>
            <a:off x="6908063" y="6446520"/>
            <a:ext cx="1563624" cy="384048"/>
            <a:chOff x="0" y="0"/>
            <a:chExt cx="2084832" cy="512064"/>
          </a:xfrm>
        </p:grpSpPr>
        <p:sp>
          <p:nvSpPr>
            <p:cNvPr id="53" name="Freeform 53"/>
            <p:cNvSpPr/>
            <p:nvPr/>
          </p:nvSpPr>
          <p:spPr>
            <a:xfrm>
              <a:off x="0" y="0"/>
              <a:ext cx="2084832" cy="512064"/>
            </a:xfrm>
            <a:custGeom>
              <a:avLst/>
              <a:gdLst/>
              <a:ahLst/>
              <a:cxnLst/>
              <a:rect l="l" t="t" r="r" b="b"/>
              <a:pathLst>
                <a:path w="2084832" h="512064">
                  <a:moveTo>
                    <a:pt x="0" y="0"/>
                  </a:moveTo>
                  <a:lnTo>
                    <a:pt x="2084832" y="0"/>
                  </a:lnTo>
                  <a:lnTo>
                    <a:pt x="2084832" y="512064"/>
                  </a:lnTo>
                  <a:lnTo>
                    <a:pt x="0" y="512064"/>
                  </a:lnTo>
                  <a:close/>
                </a:path>
              </a:pathLst>
            </a:custGeom>
            <a:blipFill>
              <a:blip r:embed="rId3">
                <a:alphaModFix amt="0"/>
              </a:blip>
              <a:stretch>
                <a:fillRect t="-29331" b="-29331"/>
              </a:stretch>
            </a:blipFill>
          </p:spPr>
        </p:sp>
        <p:sp>
          <p:nvSpPr>
            <p:cNvPr id="54" name="TextBox 54"/>
            <p:cNvSpPr txBox="1"/>
            <p:nvPr/>
          </p:nvSpPr>
          <p:spPr>
            <a:xfrm>
              <a:off x="0" y="-9525"/>
              <a:ext cx="2084832" cy="521589"/>
            </a:xfrm>
            <a:prstGeom prst="rect">
              <a:avLst/>
            </a:prstGeom>
          </p:spPr>
          <p:txBody>
            <a:bodyPr lIns="0" tIns="0" rIns="0" bIns="0" rtlCol="0" anchor="ctr"/>
            <a:lstStyle/>
            <a:p>
              <a:pPr algn="ctr">
                <a:lnSpc>
                  <a:spcPts val="1889"/>
                </a:lnSpc>
              </a:pPr>
              <a:r>
                <a:rPr lang="en-US" sz="1575" b="1">
                  <a:solidFill>
                    <a:srgbClr val="A7F3D0"/>
                  </a:solidFill>
                  <a:latin typeface="Arial Bold"/>
                  <a:ea typeface="Arial Bold"/>
                  <a:cs typeface="Arial Bold"/>
                  <a:sym typeface="Arial Bold"/>
                </a:rPr>
                <a:t>Marketplace</a:t>
              </a:r>
            </a:p>
          </p:txBody>
        </p:sp>
      </p:grpSp>
      <p:grpSp>
        <p:nvGrpSpPr>
          <p:cNvPr id="55" name="Group 55"/>
          <p:cNvGrpSpPr/>
          <p:nvPr/>
        </p:nvGrpSpPr>
        <p:grpSpPr>
          <a:xfrm>
            <a:off x="8567699" y="5212080"/>
            <a:ext cx="1152144" cy="1152144"/>
            <a:chOff x="0" y="0"/>
            <a:chExt cx="1536192" cy="1536192"/>
          </a:xfrm>
        </p:grpSpPr>
        <p:sp>
          <p:nvSpPr>
            <p:cNvPr id="56" name="Freeform 56"/>
            <p:cNvSpPr/>
            <p:nvPr/>
          </p:nvSpPr>
          <p:spPr>
            <a:xfrm>
              <a:off x="0" y="0"/>
              <a:ext cx="1536192" cy="1536192"/>
            </a:xfrm>
            <a:custGeom>
              <a:avLst/>
              <a:gdLst/>
              <a:ahLst/>
              <a:cxnLst/>
              <a:rect l="l" t="t" r="r" b="b"/>
              <a:pathLst>
                <a:path w="1536192" h="1536192">
                  <a:moveTo>
                    <a:pt x="0" y="337947"/>
                  </a:moveTo>
                  <a:cubicBezTo>
                    <a:pt x="0" y="151257"/>
                    <a:pt x="151257" y="0"/>
                    <a:pt x="337947" y="0"/>
                  </a:cubicBezTo>
                  <a:lnTo>
                    <a:pt x="1198245" y="0"/>
                  </a:lnTo>
                  <a:cubicBezTo>
                    <a:pt x="1384935" y="0"/>
                    <a:pt x="1536192" y="151257"/>
                    <a:pt x="1536192" y="337947"/>
                  </a:cubicBezTo>
                  <a:lnTo>
                    <a:pt x="1536192" y="1198245"/>
                  </a:lnTo>
                  <a:cubicBezTo>
                    <a:pt x="1536192" y="1384935"/>
                    <a:pt x="1384935" y="1536192"/>
                    <a:pt x="1198245" y="1536192"/>
                  </a:cubicBezTo>
                  <a:lnTo>
                    <a:pt x="337947" y="1536192"/>
                  </a:lnTo>
                  <a:cubicBezTo>
                    <a:pt x="151257" y="1536192"/>
                    <a:pt x="0" y="1384935"/>
                    <a:pt x="0" y="1198245"/>
                  </a:cubicBezTo>
                  <a:close/>
                </a:path>
              </a:pathLst>
            </a:custGeom>
            <a:solidFill>
              <a:srgbClr val="2463E8"/>
            </a:solidFill>
          </p:spPr>
        </p:sp>
      </p:grpSp>
      <p:grpSp>
        <p:nvGrpSpPr>
          <p:cNvPr id="57" name="Group 57"/>
          <p:cNvGrpSpPr/>
          <p:nvPr/>
        </p:nvGrpSpPr>
        <p:grpSpPr>
          <a:xfrm>
            <a:off x="8844210" y="5488591"/>
            <a:ext cx="599113" cy="599113"/>
            <a:chOff x="0" y="0"/>
            <a:chExt cx="798817" cy="798817"/>
          </a:xfrm>
        </p:grpSpPr>
        <p:sp>
          <p:nvSpPr>
            <p:cNvPr id="58" name="Freeform 58" descr="preencoded.png"/>
            <p:cNvSpPr/>
            <p:nvPr/>
          </p:nvSpPr>
          <p:spPr>
            <a:xfrm>
              <a:off x="0" y="0"/>
              <a:ext cx="798830" cy="798830"/>
            </a:xfrm>
            <a:custGeom>
              <a:avLst/>
              <a:gdLst/>
              <a:ahLst/>
              <a:cxnLst/>
              <a:rect l="l" t="t" r="r" b="b"/>
              <a:pathLst>
                <a:path w="798830" h="798830">
                  <a:moveTo>
                    <a:pt x="0" y="0"/>
                  </a:moveTo>
                  <a:lnTo>
                    <a:pt x="798830" y="0"/>
                  </a:lnTo>
                  <a:lnTo>
                    <a:pt x="798830" y="798830"/>
                  </a:lnTo>
                  <a:lnTo>
                    <a:pt x="0" y="798830"/>
                  </a:lnTo>
                  <a:lnTo>
                    <a:pt x="0" y="0"/>
                  </a:lnTo>
                  <a:close/>
                </a:path>
              </a:pathLst>
            </a:custGeom>
            <a:blipFill>
              <a:blip r:embed="rId7"/>
              <a:stretch>
                <a:fillRect r="1" b="1"/>
              </a:stretch>
            </a:blipFill>
          </p:spPr>
        </p:sp>
      </p:grpSp>
      <p:grpSp>
        <p:nvGrpSpPr>
          <p:cNvPr id="59" name="Group 59"/>
          <p:cNvGrpSpPr/>
          <p:nvPr/>
        </p:nvGrpSpPr>
        <p:grpSpPr>
          <a:xfrm>
            <a:off x="8361959" y="6446520"/>
            <a:ext cx="1563624" cy="384048"/>
            <a:chOff x="0" y="0"/>
            <a:chExt cx="2084832" cy="512064"/>
          </a:xfrm>
        </p:grpSpPr>
        <p:sp>
          <p:nvSpPr>
            <p:cNvPr id="60" name="Freeform 60"/>
            <p:cNvSpPr/>
            <p:nvPr/>
          </p:nvSpPr>
          <p:spPr>
            <a:xfrm>
              <a:off x="0" y="0"/>
              <a:ext cx="2084832" cy="512064"/>
            </a:xfrm>
            <a:custGeom>
              <a:avLst/>
              <a:gdLst/>
              <a:ahLst/>
              <a:cxnLst/>
              <a:rect l="l" t="t" r="r" b="b"/>
              <a:pathLst>
                <a:path w="2084832" h="512064">
                  <a:moveTo>
                    <a:pt x="0" y="0"/>
                  </a:moveTo>
                  <a:lnTo>
                    <a:pt x="2084832" y="0"/>
                  </a:lnTo>
                  <a:lnTo>
                    <a:pt x="2084832" y="512064"/>
                  </a:lnTo>
                  <a:lnTo>
                    <a:pt x="0" y="512064"/>
                  </a:lnTo>
                  <a:close/>
                </a:path>
              </a:pathLst>
            </a:custGeom>
            <a:blipFill>
              <a:blip r:embed="rId3">
                <a:alphaModFix amt="0"/>
              </a:blip>
              <a:stretch>
                <a:fillRect t="-29331" b="-29331"/>
              </a:stretch>
            </a:blipFill>
          </p:spPr>
        </p:sp>
        <p:sp>
          <p:nvSpPr>
            <p:cNvPr id="61" name="TextBox 61"/>
            <p:cNvSpPr txBox="1"/>
            <p:nvPr/>
          </p:nvSpPr>
          <p:spPr>
            <a:xfrm>
              <a:off x="0" y="-9525"/>
              <a:ext cx="2084832" cy="521589"/>
            </a:xfrm>
            <a:prstGeom prst="rect">
              <a:avLst/>
            </a:prstGeom>
          </p:spPr>
          <p:txBody>
            <a:bodyPr lIns="0" tIns="0" rIns="0" bIns="0" rtlCol="0" anchor="ctr"/>
            <a:lstStyle/>
            <a:p>
              <a:pPr algn="ctr">
                <a:lnSpc>
                  <a:spcPts val="1889"/>
                </a:lnSpc>
              </a:pPr>
              <a:r>
                <a:rPr lang="en-US" sz="1575" b="1">
                  <a:solidFill>
                    <a:srgbClr val="A7F3D0"/>
                  </a:solidFill>
                  <a:latin typeface="Arial Bold"/>
                  <a:ea typeface="Arial Bold"/>
                  <a:cs typeface="Arial Bold"/>
                  <a:sym typeface="Arial Bold"/>
                </a:rPr>
                <a:t>Storefront</a:t>
              </a:r>
            </a:p>
          </p:txBody>
        </p:sp>
      </p:grpSp>
      <p:grpSp>
        <p:nvGrpSpPr>
          <p:cNvPr id="62" name="Group 62"/>
          <p:cNvGrpSpPr/>
          <p:nvPr/>
        </p:nvGrpSpPr>
        <p:grpSpPr>
          <a:xfrm>
            <a:off x="10021595" y="5212080"/>
            <a:ext cx="1152144" cy="1152144"/>
            <a:chOff x="0" y="0"/>
            <a:chExt cx="1536192" cy="1536192"/>
          </a:xfrm>
        </p:grpSpPr>
        <p:sp>
          <p:nvSpPr>
            <p:cNvPr id="63" name="Freeform 63"/>
            <p:cNvSpPr/>
            <p:nvPr/>
          </p:nvSpPr>
          <p:spPr>
            <a:xfrm>
              <a:off x="0" y="0"/>
              <a:ext cx="1536192" cy="1536192"/>
            </a:xfrm>
            <a:custGeom>
              <a:avLst/>
              <a:gdLst/>
              <a:ahLst/>
              <a:cxnLst/>
              <a:rect l="l" t="t" r="r" b="b"/>
              <a:pathLst>
                <a:path w="1536192" h="1536192">
                  <a:moveTo>
                    <a:pt x="0" y="337947"/>
                  </a:moveTo>
                  <a:cubicBezTo>
                    <a:pt x="0" y="151257"/>
                    <a:pt x="151257" y="0"/>
                    <a:pt x="337947" y="0"/>
                  </a:cubicBezTo>
                  <a:lnTo>
                    <a:pt x="1198245" y="0"/>
                  </a:lnTo>
                  <a:cubicBezTo>
                    <a:pt x="1384935" y="0"/>
                    <a:pt x="1536192" y="151257"/>
                    <a:pt x="1536192" y="337947"/>
                  </a:cubicBezTo>
                  <a:lnTo>
                    <a:pt x="1536192" y="1198245"/>
                  </a:lnTo>
                  <a:cubicBezTo>
                    <a:pt x="1536192" y="1384935"/>
                    <a:pt x="1384935" y="1536192"/>
                    <a:pt x="1198245" y="1536192"/>
                  </a:cubicBezTo>
                  <a:lnTo>
                    <a:pt x="337947" y="1536192"/>
                  </a:lnTo>
                  <a:cubicBezTo>
                    <a:pt x="151257" y="1536192"/>
                    <a:pt x="0" y="1384935"/>
                    <a:pt x="0" y="1198245"/>
                  </a:cubicBezTo>
                  <a:close/>
                </a:path>
              </a:pathLst>
            </a:custGeom>
            <a:solidFill>
              <a:srgbClr val="0AA7A2"/>
            </a:solidFill>
          </p:spPr>
        </p:sp>
      </p:grpSp>
      <p:grpSp>
        <p:nvGrpSpPr>
          <p:cNvPr id="64" name="Group 64"/>
          <p:cNvGrpSpPr/>
          <p:nvPr/>
        </p:nvGrpSpPr>
        <p:grpSpPr>
          <a:xfrm>
            <a:off x="10298106" y="5488591"/>
            <a:ext cx="599113" cy="599113"/>
            <a:chOff x="0" y="0"/>
            <a:chExt cx="798817" cy="798817"/>
          </a:xfrm>
        </p:grpSpPr>
        <p:sp>
          <p:nvSpPr>
            <p:cNvPr id="65" name="Freeform 65" descr="preencoded.png"/>
            <p:cNvSpPr/>
            <p:nvPr/>
          </p:nvSpPr>
          <p:spPr>
            <a:xfrm>
              <a:off x="0" y="0"/>
              <a:ext cx="798830" cy="798830"/>
            </a:xfrm>
            <a:custGeom>
              <a:avLst/>
              <a:gdLst/>
              <a:ahLst/>
              <a:cxnLst/>
              <a:rect l="l" t="t" r="r" b="b"/>
              <a:pathLst>
                <a:path w="798830" h="798830">
                  <a:moveTo>
                    <a:pt x="0" y="0"/>
                  </a:moveTo>
                  <a:lnTo>
                    <a:pt x="798830" y="0"/>
                  </a:lnTo>
                  <a:lnTo>
                    <a:pt x="798830" y="798830"/>
                  </a:lnTo>
                  <a:lnTo>
                    <a:pt x="0" y="798830"/>
                  </a:lnTo>
                  <a:lnTo>
                    <a:pt x="0" y="0"/>
                  </a:lnTo>
                  <a:close/>
                </a:path>
              </a:pathLst>
            </a:custGeom>
            <a:blipFill>
              <a:blip r:embed="rId8"/>
              <a:stretch>
                <a:fillRect r="1" b="1"/>
              </a:stretch>
            </a:blipFill>
          </p:spPr>
        </p:sp>
      </p:grpSp>
      <p:grpSp>
        <p:nvGrpSpPr>
          <p:cNvPr id="66" name="Group 66"/>
          <p:cNvGrpSpPr/>
          <p:nvPr/>
        </p:nvGrpSpPr>
        <p:grpSpPr>
          <a:xfrm>
            <a:off x="9815855" y="6446520"/>
            <a:ext cx="1563624" cy="384048"/>
            <a:chOff x="0" y="0"/>
            <a:chExt cx="2084832" cy="512064"/>
          </a:xfrm>
        </p:grpSpPr>
        <p:sp>
          <p:nvSpPr>
            <p:cNvPr id="67" name="Freeform 67"/>
            <p:cNvSpPr/>
            <p:nvPr/>
          </p:nvSpPr>
          <p:spPr>
            <a:xfrm>
              <a:off x="0" y="0"/>
              <a:ext cx="2084832" cy="512064"/>
            </a:xfrm>
            <a:custGeom>
              <a:avLst/>
              <a:gdLst/>
              <a:ahLst/>
              <a:cxnLst/>
              <a:rect l="l" t="t" r="r" b="b"/>
              <a:pathLst>
                <a:path w="2084832" h="512064">
                  <a:moveTo>
                    <a:pt x="0" y="0"/>
                  </a:moveTo>
                  <a:lnTo>
                    <a:pt x="2084832" y="0"/>
                  </a:lnTo>
                  <a:lnTo>
                    <a:pt x="2084832" y="512064"/>
                  </a:lnTo>
                  <a:lnTo>
                    <a:pt x="0" y="512064"/>
                  </a:lnTo>
                  <a:close/>
                </a:path>
              </a:pathLst>
            </a:custGeom>
            <a:blipFill>
              <a:blip r:embed="rId3">
                <a:alphaModFix amt="0"/>
              </a:blip>
              <a:stretch>
                <a:fillRect t="-29331" b="-29331"/>
              </a:stretch>
            </a:blipFill>
          </p:spPr>
        </p:sp>
        <p:sp>
          <p:nvSpPr>
            <p:cNvPr id="68" name="TextBox 68"/>
            <p:cNvSpPr txBox="1"/>
            <p:nvPr/>
          </p:nvSpPr>
          <p:spPr>
            <a:xfrm>
              <a:off x="0" y="-9525"/>
              <a:ext cx="2084832" cy="521589"/>
            </a:xfrm>
            <a:prstGeom prst="rect">
              <a:avLst/>
            </a:prstGeom>
          </p:spPr>
          <p:txBody>
            <a:bodyPr lIns="0" tIns="0" rIns="0" bIns="0" rtlCol="0" anchor="ctr"/>
            <a:lstStyle/>
            <a:p>
              <a:pPr algn="ctr">
                <a:lnSpc>
                  <a:spcPts val="1889"/>
                </a:lnSpc>
              </a:pPr>
              <a:r>
                <a:rPr lang="en-US" sz="1575" b="1">
                  <a:solidFill>
                    <a:srgbClr val="A7F3D0"/>
                  </a:solidFill>
                  <a:latin typeface="Arial Bold"/>
                  <a:ea typeface="Arial Bold"/>
                  <a:cs typeface="Arial Bold"/>
                  <a:sym typeface="Arial Bold"/>
                </a:rPr>
                <a:t>POS</a:t>
              </a:r>
            </a:p>
          </p:txBody>
        </p:sp>
      </p:grpSp>
      <p:grpSp>
        <p:nvGrpSpPr>
          <p:cNvPr id="69" name="Group 69"/>
          <p:cNvGrpSpPr/>
          <p:nvPr/>
        </p:nvGrpSpPr>
        <p:grpSpPr>
          <a:xfrm>
            <a:off x="6983501" y="7955280"/>
            <a:ext cx="4320540" cy="685800"/>
            <a:chOff x="0" y="0"/>
            <a:chExt cx="5760720" cy="914400"/>
          </a:xfrm>
        </p:grpSpPr>
        <p:sp>
          <p:nvSpPr>
            <p:cNvPr id="70" name="Freeform 70"/>
            <p:cNvSpPr/>
            <p:nvPr/>
          </p:nvSpPr>
          <p:spPr>
            <a:xfrm>
              <a:off x="0" y="0"/>
              <a:ext cx="5760720" cy="914400"/>
            </a:xfrm>
            <a:custGeom>
              <a:avLst/>
              <a:gdLst/>
              <a:ahLst/>
              <a:cxnLst/>
              <a:rect l="l" t="t" r="r" b="b"/>
              <a:pathLst>
                <a:path w="5760720" h="914400">
                  <a:moveTo>
                    <a:pt x="0" y="457200"/>
                  </a:moveTo>
                  <a:cubicBezTo>
                    <a:pt x="0" y="204724"/>
                    <a:pt x="204724" y="0"/>
                    <a:pt x="457200" y="0"/>
                  </a:cubicBezTo>
                  <a:lnTo>
                    <a:pt x="5303520" y="0"/>
                  </a:lnTo>
                  <a:cubicBezTo>
                    <a:pt x="5555996" y="0"/>
                    <a:pt x="5760720" y="204724"/>
                    <a:pt x="5760720" y="457200"/>
                  </a:cubicBezTo>
                  <a:cubicBezTo>
                    <a:pt x="5760720" y="709676"/>
                    <a:pt x="5555996" y="914400"/>
                    <a:pt x="5303520" y="914400"/>
                  </a:cubicBezTo>
                  <a:lnTo>
                    <a:pt x="457200" y="914400"/>
                  </a:lnTo>
                  <a:cubicBezTo>
                    <a:pt x="204724" y="914400"/>
                    <a:pt x="0" y="709676"/>
                    <a:pt x="0" y="457200"/>
                  </a:cubicBezTo>
                  <a:close/>
                </a:path>
              </a:pathLst>
            </a:custGeom>
            <a:solidFill>
              <a:srgbClr val="DCFCE7"/>
            </a:solidFill>
          </p:spPr>
        </p:sp>
        <p:sp>
          <p:nvSpPr>
            <p:cNvPr id="71" name="TextBox 71"/>
            <p:cNvSpPr txBox="1"/>
            <p:nvPr/>
          </p:nvSpPr>
          <p:spPr>
            <a:xfrm>
              <a:off x="0" y="-19050"/>
              <a:ext cx="5760720" cy="933450"/>
            </a:xfrm>
            <a:prstGeom prst="rect">
              <a:avLst/>
            </a:prstGeom>
          </p:spPr>
          <p:txBody>
            <a:bodyPr lIns="50800" tIns="50800" rIns="50800" bIns="50800" rtlCol="0" anchor="ctr"/>
            <a:lstStyle/>
            <a:p>
              <a:pPr algn="ctr">
                <a:lnSpc>
                  <a:spcPts val="2340"/>
                </a:lnSpc>
              </a:pPr>
              <a:r>
                <a:rPr lang="en-US" sz="1950" b="1">
                  <a:solidFill>
                    <a:srgbClr val="16A34A"/>
                  </a:solidFill>
                  <a:latin typeface="Arial Bold"/>
                  <a:ea typeface="Arial Bold"/>
                  <a:cs typeface="Arial Bold"/>
                  <a:sym typeface="Arial Bold"/>
                </a:rPr>
                <a:t>0% on your own sales</a:t>
              </a:r>
            </a:p>
          </p:txBody>
        </p:sp>
      </p:grpSp>
      <p:grpSp>
        <p:nvGrpSpPr>
          <p:cNvPr id="72" name="Group 72"/>
          <p:cNvGrpSpPr/>
          <p:nvPr/>
        </p:nvGrpSpPr>
        <p:grpSpPr>
          <a:xfrm>
            <a:off x="12117476" y="2870835"/>
            <a:ext cx="5162550" cy="6191250"/>
            <a:chOff x="0" y="0"/>
            <a:chExt cx="6883400" cy="8255000"/>
          </a:xfrm>
        </p:grpSpPr>
        <p:sp>
          <p:nvSpPr>
            <p:cNvPr id="73" name="Freeform 73"/>
            <p:cNvSpPr/>
            <p:nvPr/>
          </p:nvSpPr>
          <p:spPr>
            <a:xfrm>
              <a:off x="0" y="0"/>
              <a:ext cx="6883400" cy="8255000"/>
            </a:xfrm>
            <a:custGeom>
              <a:avLst/>
              <a:gdLst/>
              <a:ahLst/>
              <a:cxnLst/>
              <a:rect l="l" t="t" r="r" b="b"/>
              <a:pathLst>
                <a:path w="6883400" h="8255000">
                  <a:moveTo>
                    <a:pt x="0" y="367030"/>
                  </a:moveTo>
                  <a:cubicBezTo>
                    <a:pt x="0" y="164338"/>
                    <a:pt x="164338" y="0"/>
                    <a:pt x="367030" y="0"/>
                  </a:cubicBezTo>
                  <a:lnTo>
                    <a:pt x="6516370" y="0"/>
                  </a:lnTo>
                  <a:cubicBezTo>
                    <a:pt x="6719062" y="0"/>
                    <a:pt x="6883400" y="164338"/>
                    <a:pt x="6883400" y="367030"/>
                  </a:cubicBezTo>
                  <a:lnTo>
                    <a:pt x="6883400" y="7887970"/>
                  </a:lnTo>
                  <a:cubicBezTo>
                    <a:pt x="6883400" y="8090662"/>
                    <a:pt x="6719062" y="8255000"/>
                    <a:pt x="6516370" y="8255000"/>
                  </a:cubicBezTo>
                  <a:lnTo>
                    <a:pt x="367030" y="8255000"/>
                  </a:lnTo>
                  <a:cubicBezTo>
                    <a:pt x="164338" y="8255000"/>
                    <a:pt x="0" y="8090662"/>
                    <a:pt x="0" y="7887970"/>
                  </a:cubicBezTo>
                  <a:close/>
                </a:path>
              </a:pathLst>
            </a:custGeom>
            <a:solidFill>
              <a:srgbClr val="FFFFFF"/>
            </a:solidFill>
            <a:ln w="19050" cap="sq">
              <a:solidFill>
                <a:srgbClr val="E2E8F0"/>
              </a:solidFill>
              <a:prstDash val="solid"/>
              <a:miter/>
            </a:ln>
          </p:spPr>
        </p:sp>
      </p:grpSp>
      <p:grpSp>
        <p:nvGrpSpPr>
          <p:cNvPr id="74" name="Group 74"/>
          <p:cNvGrpSpPr/>
          <p:nvPr/>
        </p:nvGrpSpPr>
        <p:grpSpPr>
          <a:xfrm>
            <a:off x="12607061" y="3264408"/>
            <a:ext cx="2194560" cy="548640"/>
            <a:chOff x="0" y="0"/>
            <a:chExt cx="2926080" cy="731520"/>
          </a:xfrm>
        </p:grpSpPr>
        <p:sp>
          <p:nvSpPr>
            <p:cNvPr id="75" name="Freeform 75"/>
            <p:cNvSpPr/>
            <p:nvPr/>
          </p:nvSpPr>
          <p:spPr>
            <a:xfrm>
              <a:off x="0" y="0"/>
              <a:ext cx="2926080" cy="731520"/>
            </a:xfrm>
            <a:custGeom>
              <a:avLst/>
              <a:gdLst/>
              <a:ahLst/>
              <a:cxnLst/>
              <a:rect l="l" t="t" r="r" b="b"/>
              <a:pathLst>
                <a:path w="2926080" h="731520">
                  <a:moveTo>
                    <a:pt x="0" y="0"/>
                  </a:moveTo>
                  <a:lnTo>
                    <a:pt x="2926080" y="0"/>
                  </a:lnTo>
                  <a:lnTo>
                    <a:pt x="2926080" y="731520"/>
                  </a:lnTo>
                  <a:lnTo>
                    <a:pt x="0" y="731520"/>
                  </a:lnTo>
                  <a:close/>
                </a:path>
              </a:pathLst>
            </a:custGeom>
            <a:blipFill>
              <a:blip r:embed="rId3">
                <a:alphaModFix amt="0"/>
              </a:blip>
              <a:stretch>
                <a:fillRect t="-27940" b="-27940"/>
              </a:stretch>
            </a:blipFill>
          </p:spPr>
        </p:sp>
        <p:sp>
          <p:nvSpPr>
            <p:cNvPr id="76" name="TextBox 76"/>
            <p:cNvSpPr txBox="1"/>
            <p:nvPr/>
          </p:nvSpPr>
          <p:spPr>
            <a:xfrm>
              <a:off x="0" y="-19050"/>
              <a:ext cx="2926080" cy="750570"/>
            </a:xfrm>
            <a:prstGeom prst="rect">
              <a:avLst/>
            </a:prstGeom>
          </p:spPr>
          <p:txBody>
            <a:bodyPr lIns="0" tIns="0" rIns="0" bIns="0" rtlCol="0" anchor="ctr"/>
            <a:lstStyle/>
            <a:p>
              <a:pPr algn="l">
                <a:lnSpc>
                  <a:spcPts val="3240"/>
                </a:lnSpc>
              </a:pPr>
              <a:r>
                <a:rPr lang="en-US" sz="2700" b="1">
                  <a:solidFill>
                    <a:srgbClr val="15243A"/>
                  </a:solidFill>
                  <a:latin typeface="Arial Bold"/>
                  <a:ea typeface="Arial Bold"/>
                  <a:cs typeface="Arial Bold"/>
                  <a:sym typeface="Arial Bold"/>
                </a:rPr>
                <a:t>Pro</a:t>
              </a:r>
            </a:p>
          </p:txBody>
        </p:sp>
      </p:grpSp>
      <p:grpSp>
        <p:nvGrpSpPr>
          <p:cNvPr id="77" name="Group 77"/>
          <p:cNvGrpSpPr/>
          <p:nvPr/>
        </p:nvGrpSpPr>
        <p:grpSpPr>
          <a:xfrm>
            <a:off x="14321561" y="3086100"/>
            <a:ext cx="2537460" cy="960120"/>
            <a:chOff x="0" y="0"/>
            <a:chExt cx="3383280" cy="1280160"/>
          </a:xfrm>
        </p:grpSpPr>
        <p:sp>
          <p:nvSpPr>
            <p:cNvPr id="78" name="Freeform 78"/>
            <p:cNvSpPr/>
            <p:nvPr/>
          </p:nvSpPr>
          <p:spPr>
            <a:xfrm>
              <a:off x="0" y="0"/>
              <a:ext cx="3383280" cy="1280160"/>
            </a:xfrm>
            <a:custGeom>
              <a:avLst/>
              <a:gdLst/>
              <a:ahLst/>
              <a:cxnLst/>
              <a:rect l="l" t="t" r="r" b="b"/>
              <a:pathLst>
                <a:path w="3383280" h="1280160">
                  <a:moveTo>
                    <a:pt x="0" y="0"/>
                  </a:moveTo>
                  <a:lnTo>
                    <a:pt x="3383280" y="0"/>
                  </a:lnTo>
                  <a:lnTo>
                    <a:pt x="3383280" y="1280160"/>
                  </a:lnTo>
                  <a:lnTo>
                    <a:pt x="0" y="1280160"/>
                  </a:lnTo>
                  <a:close/>
                </a:path>
              </a:pathLst>
            </a:custGeom>
            <a:blipFill>
              <a:blip r:embed="rId3">
                <a:alphaModFix amt="0"/>
              </a:blip>
              <a:stretch>
                <a:fillRect t="-1496" b="-1496"/>
              </a:stretch>
            </a:blipFill>
          </p:spPr>
        </p:sp>
        <p:sp>
          <p:nvSpPr>
            <p:cNvPr id="79" name="TextBox 79"/>
            <p:cNvSpPr txBox="1"/>
            <p:nvPr/>
          </p:nvSpPr>
          <p:spPr>
            <a:xfrm>
              <a:off x="0" y="-9525"/>
              <a:ext cx="3383280" cy="1289685"/>
            </a:xfrm>
            <a:prstGeom prst="rect">
              <a:avLst/>
            </a:prstGeom>
          </p:spPr>
          <p:txBody>
            <a:bodyPr lIns="0" tIns="0" rIns="0" bIns="0" rtlCol="0" anchor="b"/>
            <a:lstStyle/>
            <a:p>
              <a:pPr algn="r">
                <a:lnSpc>
                  <a:spcPts val="2520"/>
                </a:lnSpc>
              </a:pPr>
              <a:r>
                <a:rPr lang="en-US" sz="2100" b="1">
                  <a:solidFill>
                    <a:srgbClr val="15243A"/>
                  </a:solidFill>
                  <a:latin typeface="Arial Bold"/>
                  <a:ea typeface="Arial Bold"/>
                  <a:cs typeface="Arial Bold"/>
                  <a:sym typeface="Arial Bold"/>
                </a:rPr>
                <a:t>$10</a:t>
              </a:r>
              <a:r>
                <a:rPr lang="en-US" sz="2100">
                  <a:solidFill>
                    <a:srgbClr val="15243A"/>
                  </a:solidFill>
                  <a:latin typeface="Arial"/>
                  <a:ea typeface="Arial"/>
                  <a:cs typeface="Arial"/>
                  <a:sym typeface="Arial"/>
                </a:rPr>
                <a:t> /mo</a:t>
              </a:r>
            </a:p>
          </p:txBody>
        </p:sp>
      </p:grpSp>
      <p:grpSp>
        <p:nvGrpSpPr>
          <p:cNvPr id="80" name="Group 80"/>
          <p:cNvGrpSpPr/>
          <p:nvPr/>
        </p:nvGrpSpPr>
        <p:grpSpPr>
          <a:xfrm>
            <a:off x="12668783" y="4320540"/>
            <a:ext cx="1152144" cy="1152144"/>
            <a:chOff x="0" y="0"/>
            <a:chExt cx="1536192" cy="1536192"/>
          </a:xfrm>
        </p:grpSpPr>
        <p:sp>
          <p:nvSpPr>
            <p:cNvPr id="81" name="Freeform 81"/>
            <p:cNvSpPr/>
            <p:nvPr/>
          </p:nvSpPr>
          <p:spPr>
            <a:xfrm>
              <a:off x="0" y="0"/>
              <a:ext cx="1536192" cy="1536192"/>
            </a:xfrm>
            <a:custGeom>
              <a:avLst/>
              <a:gdLst/>
              <a:ahLst/>
              <a:cxnLst/>
              <a:rect l="l" t="t" r="r" b="b"/>
              <a:pathLst>
                <a:path w="1536192" h="1536192">
                  <a:moveTo>
                    <a:pt x="0" y="337947"/>
                  </a:moveTo>
                  <a:cubicBezTo>
                    <a:pt x="0" y="151257"/>
                    <a:pt x="151257" y="0"/>
                    <a:pt x="337947" y="0"/>
                  </a:cubicBezTo>
                  <a:lnTo>
                    <a:pt x="1198245" y="0"/>
                  </a:lnTo>
                  <a:cubicBezTo>
                    <a:pt x="1384935" y="0"/>
                    <a:pt x="1536192" y="151257"/>
                    <a:pt x="1536192" y="337947"/>
                  </a:cubicBezTo>
                  <a:lnTo>
                    <a:pt x="1536192" y="1198245"/>
                  </a:lnTo>
                  <a:cubicBezTo>
                    <a:pt x="1536192" y="1384935"/>
                    <a:pt x="1384935" y="1536192"/>
                    <a:pt x="1198245" y="1536192"/>
                  </a:cubicBezTo>
                  <a:lnTo>
                    <a:pt x="337947" y="1536192"/>
                  </a:lnTo>
                  <a:cubicBezTo>
                    <a:pt x="151257" y="1536192"/>
                    <a:pt x="0" y="1384935"/>
                    <a:pt x="0" y="1198245"/>
                  </a:cubicBezTo>
                  <a:close/>
                </a:path>
              </a:pathLst>
            </a:custGeom>
            <a:solidFill>
              <a:srgbClr val="F97316"/>
            </a:solidFill>
          </p:spPr>
        </p:sp>
      </p:grpSp>
      <p:grpSp>
        <p:nvGrpSpPr>
          <p:cNvPr id="82" name="Group 82"/>
          <p:cNvGrpSpPr/>
          <p:nvPr/>
        </p:nvGrpSpPr>
        <p:grpSpPr>
          <a:xfrm>
            <a:off x="12945294" y="4597051"/>
            <a:ext cx="599113" cy="599113"/>
            <a:chOff x="0" y="0"/>
            <a:chExt cx="798817" cy="798817"/>
          </a:xfrm>
        </p:grpSpPr>
        <p:sp>
          <p:nvSpPr>
            <p:cNvPr id="83" name="Freeform 83" descr="preencoded.png"/>
            <p:cNvSpPr/>
            <p:nvPr/>
          </p:nvSpPr>
          <p:spPr>
            <a:xfrm>
              <a:off x="0" y="0"/>
              <a:ext cx="798830" cy="798830"/>
            </a:xfrm>
            <a:custGeom>
              <a:avLst/>
              <a:gdLst/>
              <a:ahLst/>
              <a:cxnLst/>
              <a:rect l="l" t="t" r="r" b="b"/>
              <a:pathLst>
                <a:path w="798830" h="798830">
                  <a:moveTo>
                    <a:pt x="0" y="0"/>
                  </a:moveTo>
                  <a:lnTo>
                    <a:pt x="798830" y="0"/>
                  </a:lnTo>
                  <a:lnTo>
                    <a:pt x="798830" y="798830"/>
                  </a:lnTo>
                  <a:lnTo>
                    <a:pt x="0" y="798830"/>
                  </a:lnTo>
                  <a:lnTo>
                    <a:pt x="0" y="0"/>
                  </a:lnTo>
                  <a:close/>
                </a:path>
              </a:pathLst>
            </a:custGeom>
            <a:blipFill>
              <a:blip r:embed="rId4"/>
              <a:stretch>
                <a:fillRect r="1" b="1"/>
              </a:stretch>
            </a:blipFill>
          </p:spPr>
        </p:sp>
      </p:grpSp>
      <p:grpSp>
        <p:nvGrpSpPr>
          <p:cNvPr id="84" name="Group 84"/>
          <p:cNvGrpSpPr/>
          <p:nvPr/>
        </p:nvGrpSpPr>
        <p:grpSpPr>
          <a:xfrm>
            <a:off x="12463043" y="5554980"/>
            <a:ext cx="1563624" cy="384048"/>
            <a:chOff x="0" y="0"/>
            <a:chExt cx="2084832" cy="512064"/>
          </a:xfrm>
        </p:grpSpPr>
        <p:sp>
          <p:nvSpPr>
            <p:cNvPr id="85" name="Freeform 85"/>
            <p:cNvSpPr/>
            <p:nvPr/>
          </p:nvSpPr>
          <p:spPr>
            <a:xfrm>
              <a:off x="0" y="0"/>
              <a:ext cx="2084832" cy="512064"/>
            </a:xfrm>
            <a:custGeom>
              <a:avLst/>
              <a:gdLst/>
              <a:ahLst/>
              <a:cxnLst/>
              <a:rect l="l" t="t" r="r" b="b"/>
              <a:pathLst>
                <a:path w="2084832" h="512064">
                  <a:moveTo>
                    <a:pt x="0" y="0"/>
                  </a:moveTo>
                  <a:lnTo>
                    <a:pt x="2084832" y="0"/>
                  </a:lnTo>
                  <a:lnTo>
                    <a:pt x="2084832" y="512064"/>
                  </a:lnTo>
                  <a:lnTo>
                    <a:pt x="0" y="512064"/>
                  </a:lnTo>
                  <a:close/>
                </a:path>
              </a:pathLst>
            </a:custGeom>
            <a:blipFill>
              <a:blip r:embed="rId3">
                <a:alphaModFix amt="0"/>
              </a:blip>
              <a:stretch>
                <a:fillRect t="-29331" b="-29331"/>
              </a:stretch>
            </a:blipFill>
          </p:spPr>
        </p:sp>
        <p:sp>
          <p:nvSpPr>
            <p:cNvPr id="86" name="TextBox 86"/>
            <p:cNvSpPr txBox="1"/>
            <p:nvPr/>
          </p:nvSpPr>
          <p:spPr>
            <a:xfrm>
              <a:off x="0" y="-9525"/>
              <a:ext cx="2084832" cy="521589"/>
            </a:xfrm>
            <a:prstGeom prst="rect">
              <a:avLst/>
            </a:prstGeom>
          </p:spPr>
          <p:txBody>
            <a:bodyPr lIns="0" tIns="0" rIns="0" bIns="0" rtlCol="0" anchor="ctr"/>
            <a:lstStyle/>
            <a:p>
              <a:pPr algn="ctr">
                <a:lnSpc>
                  <a:spcPts val="1889"/>
                </a:lnSpc>
              </a:pPr>
              <a:r>
                <a:rPr lang="en-US" sz="1575" b="1">
                  <a:solidFill>
                    <a:srgbClr val="F97316"/>
                  </a:solidFill>
                  <a:latin typeface="Arial Bold"/>
                  <a:ea typeface="Arial Bold"/>
                  <a:cs typeface="Arial Bold"/>
                  <a:sym typeface="Arial Bold"/>
                </a:rPr>
                <a:t>Marketplace</a:t>
              </a:r>
            </a:p>
          </p:txBody>
        </p:sp>
      </p:grpSp>
      <p:grpSp>
        <p:nvGrpSpPr>
          <p:cNvPr id="87" name="Group 87"/>
          <p:cNvGrpSpPr/>
          <p:nvPr/>
        </p:nvGrpSpPr>
        <p:grpSpPr>
          <a:xfrm>
            <a:off x="14122679" y="4320540"/>
            <a:ext cx="1152144" cy="1152144"/>
            <a:chOff x="0" y="0"/>
            <a:chExt cx="1536192" cy="1536192"/>
          </a:xfrm>
        </p:grpSpPr>
        <p:sp>
          <p:nvSpPr>
            <p:cNvPr id="88" name="Freeform 88"/>
            <p:cNvSpPr/>
            <p:nvPr/>
          </p:nvSpPr>
          <p:spPr>
            <a:xfrm>
              <a:off x="0" y="0"/>
              <a:ext cx="1536192" cy="1536192"/>
            </a:xfrm>
            <a:custGeom>
              <a:avLst/>
              <a:gdLst/>
              <a:ahLst/>
              <a:cxnLst/>
              <a:rect l="l" t="t" r="r" b="b"/>
              <a:pathLst>
                <a:path w="1536192" h="1536192">
                  <a:moveTo>
                    <a:pt x="0" y="337947"/>
                  </a:moveTo>
                  <a:cubicBezTo>
                    <a:pt x="0" y="151257"/>
                    <a:pt x="151257" y="0"/>
                    <a:pt x="337947" y="0"/>
                  </a:cubicBezTo>
                  <a:lnTo>
                    <a:pt x="1198245" y="0"/>
                  </a:lnTo>
                  <a:cubicBezTo>
                    <a:pt x="1384935" y="0"/>
                    <a:pt x="1536192" y="151257"/>
                    <a:pt x="1536192" y="337947"/>
                  </a:cubicBezTo>
                  <a:lnTo>
                    <a:pt x="1536192" y="1198245"/>
                  </a:lnTo>
                  <a:cubicBezTo>
                    <a:pt x="1536192" y="1384935"/>
                    <a:pt x="1384935" y="1536192"/>
                    <a:pt x="1198245" y="1536192"/>
                  </a:cubicBezTo>
                  <a:lnTo>
                    <a:pt x="337947" y="1536192"/>
                  </a:lnTo>
                  <a:cubicBezTo>
                    <a:pt x="151257" y="1536192"/>
                    <a:pt x="0" y="1384935"/>
                    <a:pt x="0" y="1198245"/>
                  </a:cubicBezTo>
                  <a:close/>
                </a:path>
              </a:pathLst>
            </a:custGeom>
            <a:solidFill>
              <a:srgbClr val="2463E8"/>
            </a:solidFill>
          </p:spPr>
        </p:sp>
      </p:grpSp>
      <p:grpSp>
        <p:nvGrpSpPr>
          <p:cNvPr id="89" name="Group 89"/>
          <p:cNvGrpSpPr/>
          <p:nvPr/>
        </p:nvGrpSpPr>
        <p:grpSpPr>
          <a:xfrm>
            <a:off x="14399190" y="4597051"/>
            <a:ext cx="599113" cy="599113"/>
            <a:chOff x="0" y="0"/>
            <a:chExt cx="798817" cy="798817"/>
          </a:xfrm>
        </p:grpSpPr>
        <p:sp>
          <p:nvSpPr>
            <p:cNvPr id="90" name="Freeform 90" descr="preencoded.png"/>
            <p:cNvSpPr/>
            <p:nvPr/>
          </p:nvSpPr>
          <p:spPr>
            <a:xfrm>
              <a:off x="0" y="0"/>
              <a:ext cx="798830" cy="798830"/>
            </a:xfrm>
            <a:custGeom>
              <a:avLst/>
              <a:gdLst/>
              <a:ahLst/>
              <a:cxnLst/>
              <a:rect l="l" t="t" r="r" b="b"/>
              <a:pathLst>
                <a:path w="798830" h="798830">
                  <a:moveTo>
                    <a:pt x="0" y="0"/>
                  </a:moveTo>
                  <a:lnTo>
                    <a:pt x="798830" y="0"/>
                  </a:lnTo>
                  <a:lnTo>
                    <a:pt x="798830" y="798830"/>
                  </a:lnTo>
                  <a:lnTo>
                    <a:pt x="0" y="798830"/>
                  </a:lnTo>
                  <a:lnTo>
                    <a:pt x="0" y="0"/>
                  </a:lnTo>
                  <a:close/>
                </a:path>
              </a:pathLst>
            </a:custGeom>
            <a:blipFill>
              <a:blip r:embed="rId7"/>
              <a:stretch>
                <a:fillRect r="1" b="1"/>
              </a:stretch>
            </a:blipFill>
          </p:spPr>
        </p:sp>
      </p:grpSp>
      <p:grpSp>
        <p:nvGrpSpPr>
          <p:cNvPr id="91" name="Group 91"/>
          <p:cNvGrpSpPr/>
          <p:nvPr/>
        </p:nvGrpSpPr>
        <p:grpSpPr>
          <a:xfrm>
            <a:off x="13916939" y="5554980"/>
            <a:ext cx="1563624" cy="384048"/>
            <a:chOff x="0" y="0"/>
            <a:chExt cx="2084832" cy="512064"/>
          </a:xfrm>
        </p:grpSpPr>
        <p:sp>
          <p:nvSpPr>
            <p:cNvPr id="92" name="Freeform 92"/>
            <p:cNvSpPr/>
            <p:nvPr/>
          </p:nvSpPr>
          <p:spPr>
            <a:xfrm>
              <a:off x="0" y="0"/>
              <a:ext cx="2084832" cy="512064"/>
            </a:xfrm>
            <a:custGeom>
              <a:avLst/>
              <a:gdLst/>
              <a:ahLst/>
              <a:cxnLst/>
              <a:rect l="l" t="t" r="r" b="b"/>
              <a:pathLst>
                <a:path w="2084832" h="512064">
                  <a:moveTo>
                    <a:pt x="0" y="0"/>
                  </a:moveTo>
                  <a:lnTo>
                    <a:pt x="2084832" y="0"/>
                  </a:lnTo>
                  <a:lnTo>
                    <a:pt x="2084832" y="512064"/>
                  </a:lnTo>
                  <a:lnTo>
                    <a:pt x="0" y="512064"/>
                  </a:lnTo>
                  <a:close/>
                </a:path>
              </a:pathLst>
            </a:custGeom>
            <a:blipFill>
              <a:blip r:embed="rId3">
                <a:alphaModFix amt="0"/>
              </a:blip>
              <a:stretch>
                <a:fillRect t="-29331" b="-29331"/>
              </a:stretch>
            </a:blipFill>
          </p:spPr>
        </p:sp>
        <p:sp>
          <p:nvSpPr>
            <p:cNvPr id="93" name="TextBox 93"/>
            <p:cNvSpPr txBox="1"/>
            <p:nvPr/>
          </p:nvSpPr>
          <p:spPr>
            <a:xfrm>
              <a:off x="0" y="-9525"/>
              <a:ext cx="2084832" cy="521589"/>
            </a:xfrm>
            <a:prstGeom prst="rect">
              <a:avLst/>
            </a:prstGeom>
          </p:spPr>
          <p:txBody>
            <a:bodyPr lIns="0" tIns="0" rIns="0" bIns="0" rtlCol="0" anchor="ctr"/>
            <a:lstStyle/>
            <a:p>
              <a:pPr algn="ctr">
                <a:lnSpc>
                  <a:spcPts val="1889"/>
                </a:lnSpc>
              </a:pPr>
              <a:r>
                <a:rPr lang="en-US" sz="1575" b="1">
                  <a:solidFill>
                    <a:srgbClr val="2463E8"/>
                  </a:solidFill>
                  <a:latin typeface="Arial Bold"/>
                  <a:ea typeface="Arial Bold"/>
                  <a:cs typeface="Arial Bold"/>
                  <a:sym typeface="Arial Bold"/>
                </a:rPr>
                <a:t>Storefront</a:t>
              </a:r>
            </a:p>
          </p:txBody>
        </p:sp>
      </p:grpSp>
      <p:grpSp>
        <p:nvGrpSpPr>
          <p:cNvPr id="94" name="Group 94"/>
          <p:cNvGrpSpPr/>
          <p:nvPr/>
        </p:nvGrpSpPr>
        <p:grpSpPr>
          <a:xfrm>
            <a:off x="15576575" y="4320540"/>
            <a:ext cx="1152144" cy="1152144"/>
            <a:chOff x="0" y="0"/>
            <a:chExt cx="1536192" cy="1536192"/>
          </a:xfrm>
        </p:grpSpPr>
        <p:sp>
          <p:nvSpPr>
            <p:cNvPr id="95" name="Freeform 95"/>
            <p:cNvSpPr/>
            <p:nvPr/>
          </p:nvSpPr>
          <p:spPr>
            <a:xfrm>
              <a:off x="0" y="0"/>
              <a:ext cx="1536192" cy="1536192"/>
            </a:xfrm>
            <a:custGeom>
              <a:avLst/>
              <a:gdLst/>
              <a:ahLst/>
              <a:cxnLst/>
              <a:rect l="l" t="t" r="r" b="b"/>
              <a:pathLst>
                <a:path w="1536192" h="1536192">
                  <a:moveTo>
                    <a:pt x="0" y="337947"/>
                  </a:moveTo>
                  <a:cubicBezTo>
                    <a:pt x="0" y="151257"/>
                    <a:pt x="151257" y="0"/>
                    <a:pt x="337947" y="0"/>
                  </a:cubicBezTo>
                  <a:lnTo>
                    <a:pt x="1198245" y="0"/>
                  </a:lnTo>
                  <a:cubicBezTo>
                    <a:pt x="1384935" y="0"/>
                    <a:pt x="1536192" y="151257"/>
                    <a:pt x="1536192" y="337947"/>
                  </a:cubicBezTo>
                  <a:lnTo>
                    <a:pt x="1536192" y="1198245"/>
                  </a:lnTo>
                  <a:cubicBezTo>
                    <a:pt x="1536192" y="1384935"/>
                    <a:pt x="1384935" y="1536192"/>
                    <a:pt x="1198245" y="1536192"/>
                  </a:cubicBezTo>
                  <a:lnTo>
                    <a:pt x="337947" y="1536192"/>
                  </a:lnTo>
                  <a:cubicBezTo>
                    <a:pt x="151257" y="1536192"/>
                    <a:pt x="0" y="1384935"/>
                    <a:pt x="0" y="1198245"/>
                  </a:cubicBezTo>
                  <a:close/>
                </a:path>
              </a:pathLst>
            </a:custGeom>
            <a:solidFill>
              <a:srgbClr val="0AA7A2"/>
            </a:solidFill>
          </p:spPr>
        </p:sp>
      </p:grpSp>
      <p:grpSp>
        <p:nvGrpSpPr>
          <p:cNvPr id="96" name="Group 96"/>
          <p:cNvGrpSpPr/>
          <p:nvPr/>
        </p:nvGrpSpPr>
        <p:grpSpPr>
          <a:xfrm>
            <a:off x="15853086" y="4597051"/>
            <a:ext cx="599113" cy="599113"/>
            <a:chOff x="0" y="0"/>
            <a:chExt cx="798817" cy="798817"/>
          </a:xfrm>
        </p:grpSpPr>
        <p:sp>
          <p:nvSpPr>
            <p:cNvPr id="97" name="Freeform 97" descr="preencoded.png"/>
            <p:cNvSpPr/>
            <p:nvPr/>
          </p:nvSpPr>
          <p:spPr>
            <a:xfrm>
              <a:off x="0" y="0"/>
              <a:ext cx="798830" cy="798830"/>
            </a:xfrm>
            <a:custGeom>
              <a:avLst/>
              <a:gdLst/>
              <a:ahLst/>
              <a:cxnLst/>
              <a:rect l="l" t="t" r="r" b="b"/>
              <a:pathLst>
                <a:path w="798830" h="798830">
                  <a:moveTo>
                    <a:pt x="0" y="0"/>
                  </a:moveTo>
                  <a:lnTo>
                    <a:pt x="798830" y="0"/>
                  </a:lnTo>
                  <a:lnTo>
                    <a:pt x="798830" y="798830"/>
                  </a:lnTo>
                  <a:lnTo>
                    <a:pt x="0" y="798830"/>
                  </a:lnTo>
                  <a:lnTo>
                    <a:pt x="0" y="0"/>
                  </a:lnTo>
                  <a:close/>
                </a:path>
              </a:pathLst>
            </a:custGeom>
            <a:blipFill>
              <a:blip r:embed="rId8"/>
              <a:stretch>
                <a:fillRect r="1" b="1"/>
              </a:stretch>
            </a:blipFill>
          </p:spPr>
        </p:sp>
      </p:grpSp>
      <p:grpSp>
        <p:nvGrpSpPr>
          <p:cNvPr id="98" name="Group 98"/>
          <p:cNvGrpSpPr/>
          <p:nvPr/>
        </p:nvGrpSpPr>
        <p:grpSpPr>
          <a:xfrm>
            <a:off x="15370835" y="5554980"/>
            <a:ext cx="1563624" cy="384048"/>
            <a:chOff x="0" y="0"/>
            <a:chExt cx="2084832" cy="512064"/>
          </a:xfrm>
        </p:grpSpPr>
        <p:sp>
          <p:nvSpPr>
            <p:cNvPr id="99" name="Freeform 99"/>
            <p:cNvSpPr/>
            <p:nvPr/>
          </p:nvSpPr>
          <p:spPr>
            <a:xfrm>
              <a:off x="0" y="0"/>
              <a:ext cx="2084832" cy="512064"/>
            </a:xfrm>
            <a:custGeom>
              <a:avLst/>
              <a:gdLst/>
              <a:ahLst/>
              <a:cxnLst/>
              <a:rect l="l" t="t" r="r" b="b"/>
              <a:pathLst>
                <a:path w="2084832" h="512064">
                  <a:moveTo>
                    <a:pt x="0" y="0"/>
                  </a:moveTo>
                  <a:lnTo>
                    <a:pt x="2084832" y="0"/>
                  </a:lnTo>
                  <a:lnTo>
                    <a:pt x="2084832" y="512064"/>
                  </a:lnTo>
                  <a:lnTo>
                    <a:pt x="0" y="512064"/>
                  </a:lnTo>
                  <a:close/>
                </a:path>
              </a:pathLst>
            </a:custGeom>
            <a:blipFill>
              <a:blip r:embed="rId3">
                <a:alphaModFix amt="0"/>
              </a:blip>
              <a:stretch>
                <a:fillRect t="-29331" b="-29331"/>
              </a:stretch>
            </a:blipFill>
          </p:spPr>
        </p:sp>
        <p:sp>
          <p:nvSpPr>
            <p:cNvPr id="100" name="TextBox 100"/>
            <p:cNvSpPr txBox="1"/>
            <p:nvPr/>
          </p:nvSpPr>
          <p:spPr>
            <a:xfrm>
              <a:off x="0" y="-9525"/>
              <a:ext cx="2084832" cy="521589"/>
            </a:xfrm>
            <a:prstGeom prst="rect">
              <a:avLst/>
            </a:prstGeom>
          </p:spPr>
          <p:txBody>
            <a:bodyPr lIns="0" tIns="0" rIns="0" bIns="0" rtlCol="0" anchor="ctr"/>
            <a:lstStyle/>
            <a:p>
              <a:pPr algn="ctr">
                <a:lnSpc>
                  <a:spcPts val="1889"/>
                </a:lnSpc>
              </a:pPr>
              <a:r>
                <a:rPr lang="en-US" sz="1575" b="1">
                  <a:solidFill>
                    <a:srgbClr val="0AA7A2"/>
                  </a:solidFill>
                  <a:latin typeface="Arial Bold"/>
                  <a:ea typeface="Arial Bold"/>
                  <a:cs typeface="Arial Bold"/>
                  <a:sym typeface="Arial Bold"/>
                </a:rPr>
                <a:t>POS</a:t>
              </a:r>
            </a:p>
          </p:txBody>
        </p:sp>
      </p:grpSp>
      <p:grpSp>
        <p:nvGrpSpPr>
          <p:cNvPr id="101" name="Group 101"/>
          <p:cNvGrpSpPr/>
          <p:nvPr/>
        </p:nvGrpSpPr>
        <p:grpSpPr>
          <a:xfrm>
            <a:off x="12833375" y="6309360"/>
            <a:ext cx="822960" cy="822960"/>
            <a:chOff x="0" y="0"/>
            <a:chExt cx="1097280" cy="1097280"/>
          </a:xfrm>
        </p:grpSpPr>
        <p:sp>
          <p:nvSpPr>
            <p:cNvPr id="102" name="Freeform 102"/>
            <p:cNvSpPr/>
            <p:nvPr/>
          </p:nvSpPr>
          <p:spPr>
            <a:xfrm>
              <a:off x="0" y="0"/>
              <a:ext cx="1097280" cy="1097280"/>
            </a:xfrm>
            <a:custGeom>
              <a:avLst/>
              <a:gdLst/>
              <a:ahLst/>
              <a:cxnLst/>
              <a:rect l="l" t="t" r="r" b="b"/>
              <a:pathLst>
                <a:path w="1097280" h="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EEF2FF"/>
            </a:solidFill>
          </p:spPr>
        </p:sp>
      </p:grpSp>
      <p:grpSp>
        <p:nvGrpSpPr>
          <p:cNvPr id="103" name="Group 103"/>
          <p:cNvGrpSpPr/>
          <p:nvPr/>
        </p:nvGrpSpPr>
        <p:grpSpPr>
          <a:xfrm>
            <a:off x="13025399" y="6501384"/>
            <a:ext cx="438912" cy="438912"/>
            <a:chOff x="0" y="0"/>
            <a:chExt cx="585216" cy="585216"/>
          </a:xfrm>
        </p:grpSpPr>
        <p:sp>
          <p:nvSpPr>
            <p:cNvPr id="104" name="Freeform 104" descr="preencoded.png"/>
            <p:cNvSpPr/>
            <p:nvPr/>
          </p:nvSpPr>
          <p:spPr>
            <a:xfrm>
              <a:off x="0" y="0"/>
              <a:ext cx="585216" cy="585216"/>
            </a:xfrm>
            <a:custGeom>
              <a:avLst/>
              <a:gdLst/>
              <a:ahLst/>
              <a:cxnLst/>
              <a:rect l="l" t="t" r="r" b="b"/>
              <a:pathLst>
                <a:path w="585216" h="585216">
                  <a:moveTo>
                    <a:pt x="0" y="0"/>
                  </a:moveTo>
                  <a:lnTo>
                    <a:pt x="585216" y="0"/>
                  </a:lnTo>
                  <a:lnTo>
                    <a:pt x="585216" y="585216"/>
                  </a:lnTo>
                  <a:lnTo>
                    <a:pt x="0" y="585216"/>
                  </a:lnTo>
                  <a:lnTo>
                    <a:pt x="0" y="0"/>
                  </a:lnTo>
                  <a:close/>
                </a:path>
              </a:pathLst>
            </a:custGeom>
            <a:blipFill>
              <a:blip r:embed="rId9"/>
              <a:stretch>
                <a:fillRect/>
              </a:stretch>
            </a:blipFill>
          </p:spPr>
        </p:sp>
      </p:grpSp>
      <p:grpSp>
        <p:nvGrpSpPr>
          <p:cNvPr id="105" name="Group 105"/>
          <p:cNvGrpSpPr/>
          <p:nvPr/>
        </p:nvGrpSpPr>
        <p:grpSpPr>
          <a:xfrm>
            <a:off x="12463043" y="7200900"/>
            <a:ext cx="1563624" cy="411480"/>
            <a:chOff x="0" y="0"/>
            <a:chExt cx="2084832" cy="548640"/>
          </a:xfrm>
        </p:grpSpPr>
        <p:sp>
          <p:nvSpPr>
            <p:cNvPr id="106" name="Freeform 106"/>
            <p:cNvSpPr/>
            <p:nvPr/>
          </p:nvSpPr>
          <p:spPr>
            <a:xfrm>
              <a:off x="0" y="0"/>
              <a:ext cx="2084832" cy="548640"/>
            </a:xfrm>
            <a:custGeom>
              <a:avLst/>
              <a:gdLst/>
              <a:ahLst/>
              <a:cxnLst/>
              <a:rect l="l" t="t" r="r" b="b"/>
              <a:pathLst>
                <a:path w="2084832" h="548640">
                  <a:moveTo>
                    <a:pt x="0" y="0"/>
                  </a:moveTo>
                  <a:lnTo>
                    <a:pt x="2084832" y="0"/>
                  </a:lnTo>
                  <a:lnTo>
                    <a:pt x="2084832" y="548640"/>
                  </a:lnTo>
                  <a:lnTo>
                    <a:pt x="0" y="548640"/>
                  </a:lnTo>
                  <a:close/>
                </a:path>
              </a:pathLst>
            </a:custGeom>
            <a:blipFill>
              <a:blip r:embed="rId3">
                <a:alphaModFix amt="0"/>
              </a:blip>
              <a:stretch>
                <a:fillRect t="-24043" b="-24043"/>
              </a:stretch>
            </a:blipFill>
          </p:spPr>
        </p:sp>
        <p:sp>
          <p:nvSpPr>
            <p:cNvPr id="107" name="TextBox 107"/>
            <p:cNvSpPr txBox="1"/>
            <p:nvPr/>
          </p:nvSpPr>
          <p:spPr>
            <a:xfrm>
              <a:off x="0" y="-19050"/>
              <a:ext cx="2084832" cy="567690"/>
            </a:xfrm>
            <a:prstGeom prst="rect">
              <a:avLst/>
            </a:prstGeom>
          </p:spPr>
          <p:txBody>
            <a:bodyPr lIns="0" tIns="0" rIns="0" bIns="0" rtlCol="0" anchor="ctr"/>
            <a:lstStyle/>
            <a:p>
              <a:pPr algn="ctr">
                <a:lnSpc>
                  <a:spcPts val="1980"/>
                </a:lnSpc>
              </a:pPr>
              <a:r>
                <a:rPr lang="en-US" sz="1650" b="1">
                  <a:solidFill>
                    <a:srgbClr val="52637A"/>
                  </a:solidFill>
                  <a:latin typeface="Arial Bold"/>
                  <a:ea typeface="Arial Bold"/>
                  <a:cs typeface="Arial Bold"/>
                  <a:sym typeface="Arial Bold"/>
                </a:rPr>
                <a:t>Own domain</a:t>
              </a:r>
            </a:p>
          </p:txBody>
        </p:sp>
      </p:grpSp>
      <p:grpSp>
        <p:nvGrpSpPr>
          <p:cNvPr id="108" name="Group 108"/>
          <p:cNvGrpSpPr/>
          <p:nvPr/>
        </p:nvGrpSpPr>
        <p:grpSpPr>
          <a:xfrm>
            <a:off x="14287271" y="6309360"/>
            <a:ext cx="822960" cy="822960"/>
            <a:chOff x="0" y="0"/>
            <a:chExt cx="1097280" cy="1097280"/>
          </a:xfrm>
        </p:grpSpPr>
        <p:sp>
          <p:nvSpPr>
            <p:cNvPr id="109" name="Freeform 109"/>
            <p:cNvSpPr/>
            <p:nvPr/>
          </p:nvSpPr>
          <p:spPr>
            <a:xfrm>
              <a:off x="0" y="0"/>
              <a:ext cx="1097280" cy="1097280"/>
            </a:xfrm>
            <a:custGeom>
              <a:avLst/>
              <a:gdLst/>
              <a:ahLst/>
              <a:cxnLst/>
              <a:rect l="l" t="t" r="r" b="b"/>
              <a:pathLst>
                <a:path w="1097280" h="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EEF2FF"/>
            </a:solidFill>
          </p:spPr>
        </p:sp>
      </p:grpSp>
      <p:grpSp>
        <p:nvGrpSpPr>
          <p:cNvPr id="110" name="Group 110"/>
          <p:cNvGrpSpPr/>
          <p:nvPr/>
        </p:nvGrpSpPr>
        <p:grpSpPr>
          <a:xfrm>
            <a:off x="14479295" y="6501384"/>
            <a:ext cx="438912" cy="438912"/>
            <a:chOff x="0" y="0"/>
            <a:chExt cx="585216" cy="585216"/>
          </a:xfrm>
        </p:grpSpPr>
        <p:sp>
          <p:nvSpPr>
            <p:cNvPr id="111" name="Freeform 111" descr="preencoded.png"/>
            <p:cNvSpPr/>
            <p:nvPr/>
          </p:nvSpPr>
          <p:spPr>
            <a:xfrm>
              <a:off x="0" y="0"/>
              <a:ext cx="585216" cy="585216"/>
            </a:xfrm>
            <a:custGeom>
              <a:avLst/>
              <a:gdLst/>
              <a:ahLst/>
              <a:cxnLst/>
              <a:rect l="l" t="t" r="r" b="b"/>
              <a:pathLst>
                <a:path w="585216" h="585216">
                  <a:moveTo>
                    <a:pt x="0" y="0"/>
                  </a:moveTo>
                  <a:lnTo>
                    <a:pt x="585216" y="0"/>
                  </a:lnTo>
                  <a:lnTo>
                    <a:pt x="585216" y="585216"/>
                  </a:lnTo>
                  <a:lnTo>
                    <a:pt x="0" y="585216"/>
                  </a:lnTo>
                  <a:lnTo>
                    <a:pt x="0" y="0"/>
                  </a:lnTo>
                  <a:close/>
                </a:path>
              </a:pathLst>
            </a:custGeom>
            <a:blipFill>
              <a:blip r:embed="rId10"/>
              <a:stretch>
                <a:fillRect/>
              </a:stretch>
            </a:blipFill>
          </p:spPr>
        </p:sp>
      </p:grpSp>
      <p:grpSp>
        <p:nvGrpSpPr>
          <p:cNvPr id="112" name="Group 112"/>
          <p:cNvGrpSpPr/>
          <p:nvPr/>
        </p:nvGrpSpPr>
        <p:grpSpPr>
          <a:xfrm>
            <a:off x="13916939" y="7200900"/>
            <a:ext cx="1563624" cy="411480"/>
            <a:chOff x="0" y="0"/>
            <a:chExt cx="2084832" cy="548640"/>
          </a:xfrm>
        </p:grpSpPr>
        <p:sp>
          <p:nvSpPr>
            <p:cNvPr id="113" name="Freeform 113"/>
            <p:cNvSpPr/>
            <p:nvPr/>
          </p:nvSpPr>
          <p:spPr>
            <a:xfrm>
              <a:off x="0" y="0"/>
              <a:ext cx="2084832" cy="548640"/>
            </a:xfrm>
            <a:custGeom>
              <a:avLst/>
              <a:gdLst/>
              <a:ahLst/>
              <a:cxnLst/>
              <a:rect l="l" t="t" r="r" b="b"/>
              <a:pathLst>
                <a:path w="2084832" h="548640">
                  <a:moveTo>
                    <a:pt x="0" y="0"/>
                  </a:moveTo>
                  <a:lnTo>
                    <a:pt x="2084832" y="0"/>
                  </a:lnTo>
                  <a:lnTo>
                    <a:pt x="2084832" y="548640"/>
                  </a:lnTo>
                  <a:lnTo>
                    <a:pt x="0" y="548640"/>
                  </a:lnTo>
                  <a:close/>
                </a:path>
              </a:pathLst>
            </a:custGeom>
            <a:blipFill>
              <a:blip r:embed="rId3">
                <a:alphaModFix amt="0"/>
              </a:blip>
              <a:stretch>
                <a:fillRect t="-24043" b="-24043"/>
              </a:stretch>
            </a:blipFill>
          </p:spPr>
        </p:sp>
        <p:sp>
          <p:nvSpPr>
            <p:cNvPr id="114" name="TextBox 114"/>
            <p:cNvSpPr txBox="1"/>
            <p:nvPr/>
          </p:nvSpPr>
          <p:spPr>
            <a:xfrm>
              <a:off x="0" y="-19050"/>
              <a:ext cx="2084832" cy="567690"/>
            </a:xfrm>
            <a:prstGeom prst="rect">
              <a:avLst/>
            </a:prstGeom>
          </p:spPr>
          <p:txBody>
            <a:bodyPr lIns="0" tIns="0" rIns="0" bIns="0" rtlCol="0" anchor="ctr"/>
            <a:lstStyle/>
            <a:p>
              <a:pPr algn="ctr">
                <a:lnSpc>
                  <a:spcPts val="1980"/>
                </a:lnSpc>
              </a:pPr>
              <a:r>
                <a:rPr lang="en-US" sz="1650" b="1">
                  <a:solidFill>
                    <a:srgbClr val="52637A"/>
                  </a:solidFill>
                  <a:latin typeface="Arial Bold"/>
                  <a:ea typeface="Arial Bold"/>
                  <a:cs typeface="Arial Bold"/>
                  <a:sym typeface="Arial Bold"/>
                </a:rPr>
                <a:t>Staff</a:t>
              </a:r>
            </a:p>
          </p:txBody>
        </p:sp>
      </p:grpSp>
      <p:grpSp>
        <p:nvGrpSpPr>
          <p:cNvPr id="115" name="Group 115"/>
          <p:cNvGrpSpPr/>
          <p:nvPr/>
        </p:nvGrpSpPr>
        <p:grpSpPr>
          <a:xfrm>
            <a:off x="15741167" y="6309360"/>
            <a:ext cx="822960" cy="822960"/>
            <a:chOff x="0" y="0"/>
            <a:chExt cx="1097280" cy="1097280"/>
          </a:xfrm>
        </p:grpSpPr>
        <p:sp>
          <p:nvSpPr>
            <p:cNvPr id="116" name="Freeform 116"/>
            <p:cNvSpPr/>
            <p:nvPr/>
          </p:nvSpPr>
          <p:spPr>
            <a:xfrm>
              <a:off x="0" y="0"/>
              <a:ext cx="1097280" cy="1097280"/>
            </a:xfrm>
            <a:custGeom>
              <a:avLst/>
              <a:gdLst/>
              <a:ahLst/>
              <a:cxnLst/>
              <a:rect l="l" t="t" r="r" b="b"/>
              <a:pathLst>
                <a:path w="1097280" h="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EEF2FF"/>
            </a:solidFill>
          </p:spPr>
        </p:sp>
      </p:grpSp>
      <p:grpSp>
        <p:nvGrpSpPr>
          <p:cNvPr id="117" name="Group 117"/>
          <p:cNvGrpSpPr/>
          <p:nvPr/>
        </p:nvGrpSpPr>
        <p:grpSpPr>
          <a:xfrm>
            <a:off x="15933191" y="6501384"/>
            <a:ext cx="438912" cy="438912"/>
            <a:chOff x="0" y="0"/>
            <a:chExt cx="585216" cy="585216"/>
          </a:xfrm>
        </p:grpSpPr>
        <p:sp>
          <p:nvSpPr>
            <p:cNvPr id="118" name="Freeform 118" descr="preencoded.png"/>
            <p:cNvSpPr/>
            <p:nvPr/>
          </p:nvSpPr>
          <p:spPr>
            <a:xfrm>
              <a:off x="0" y="0"/>
              <a:ext cx="585216" cy="585216"/>
            </a:xfrm>
            <a:custGeom>
              <a:avLst/>
              <a:gdLst/>
              <a:ahLst/>
              <a:cxnLst/>
              <a:rect l="l" t="t" r="r" b="b"/>
              <a:pathLst>
                <a:path w="585216" h="585216">
                  <a:moveTo>
                    <a:pt x="0" y="0"/>
                  </a:moveTo>
                  <a:lnTo>
                    <a:pt x="585216" y="0"/>
                  </a:lnTo>
                  <a:lnTo>
                    <a:pt x="585216" y="585216"/>
                  </a:lnTo>
                  <a:lnTo>
                    <a:pt x="0" y="585216"/>
                  </a:lnTo>
                  <a:lnTo>
                    <a:pt x="0" y="0"/>
                  </a:lnTo>
                  <a:close/>
                </a:path>
              </a:pathLst>
            </a:custGeom>
            <a:blipFill>
              <a:blip r:embed="rId11"/>
              <a:stretch>
                <a:fillRect/>
              </a:stretch>
            </a:blipFill>
          </p:spPr>
        </p:sp>
      </p:grpSp>
      <p:grpSp>
        <p:nvGrpSpPr>
          <p:cNvPr id="119" name="Group 119"/>
          <p:cNvGrpSpPr/>
          <p:nvPr/>
        </p:nvGrpSpPr>
        <p:grpSpPr>
          <a:xfrm>
            <a:off x="15370835" y="7200900"/>
            <a:ext cx="1563624" cy="411480"/>
            <a:chOff x="0" y="0"/>
            <a:chExt cx="2084832" cy="548640"/>
          </a:xfrm>
        </p:grpSpPr>
        <p:sp>
          <p:nvSpPr>
            <p:cNvPr id="120" name="Freeform 120"/>
            <p:cNvSpPr/>
            <p:nvPr/>
          </p:nvSpPr>
          <p:spPr>
            <a:xfrm>
              <a:off x="0" y="0"/>
              <a:ext cx="2084832" cy="548640"/>
            </a:xfrm>
            <a:custGeom>
              <a:avLst/>
              <a:gdLst/>
              <a:ahLst/>
              <a:cxnLst/>
              <a:rect l="l" t="t" r="r" b="b"/>
              <a:pathLst>
                <a:path w="2084832" h="548640">
                  <a:moveTo>
                    <a:pt x="0" y="0"/>
                  </a:moveTo>
                  <a:lnTo>
                    <a:pt x="2084832" y="0"/>
                  </a:lnTo>
                  <a:lnTo>
                    <a:pt x="2084832" y="548640"/>
                  </a:lnTo>
                  <a:lnTo>
                    <a:pt x="0" y="548640"/>
                  </a:lnTo>
                  <a:close/>
                </a:path>
              </a:pathLst>
            </a:custGeom>
            <a:blipFill>
              <a:blip r:embed="rId3">
                <a:alphaModFix amt="0"/>
              </a:blip>
              <a:stretch>
                <a:fillRect t="-24043" b="-24043"/>
              </a:stretch>
            </a:blipFill>
          </p:spPr>
        </p:sp>
        <p:sp>
          <p:nvSpPr>
            <p:cNvPr id="121" name="TextBox 121"/>
            <p:cNvSpPr txBox="1"/>
            <p:nvPr/>
          </p:nvSpPr>
          <p:spPr>
            <a:xfrm>
              <a:off x="0" y="-19050"/>
              <a:ext cx="2084832" cy="567690"/>
            </a:xfrm>
            <a:prstGeom prst="rect">
              <a:avLst/>
            </a:prstGeom>
          </p:spPr>
          <p:txBody>
            <a:bodyPr lIns="0" tIns="0" rIns="0" bIns="0" rtlCol="0" anchor="ctr"/>
            <a:lstStyle/>
            <a:p>
              <a:pPr algn="ctr">
                <a:lnSpc>
                  <a:spcPts val="1980"/>
                </a:lnSpc>
              </a:pPr>
              <a:r>
                <a:rPr lang="en-US" sz="1650" b="1">
                  <a:solidFill>
                    <a:srgbClr val="52637A"/>
                  </a:solidFill>
                  <a:latin typeface="Arial Bold"/>
                  <a:ea typeface="Arial Bold"/>
                  <a:cs typeface="Arial Bold"/>
                  <a:sym typeface="Arial Bold"/>
                </a:rPr>
                <a:t>Insights</a:t>
              </a:r>
            </a:p>
          </p:txBody>
        </p:sp>
      </p:grpSp>
      <p:grpSp>
        <p:nvGrpSpPr>
          <p:cNvPr id="122" name="Group 122"/>
          <p:cNvGrpSpPr/>
          <p:nvPr/>
        </p:nvGrpSpPr>
        <p:grpSpPr>
          <a:xfrm>
            <a:off x="12538481" y="7955280"/>
            <a:ext cx="4320540" cy="685800"/>
            <a:chOff x="0" y="0"/>
            <a:chExt cx="5760720" cy="914400"/>
          </a:xfrm>
        </p:grpSpPr>
        <p:sp>
          <p:nvSpPr>
            <p:cNvPr id="123" name="Freeform 123"/>
            <p:cNvSpPr/>
            <p:nvPr/>
          </p:nvSpPr>
          <p:spPr>
            <a:xfrm>
              <a:off x="0" y="0"/>
              <a:ext cx="5760720" cy="914400"/>
            </a:xfrm>
            <a:custGeom>
              <a:avLst/>
              <a:gdLst/>
              <a:ahLst/>
              <a:cxnLst/>
              <a:rect l="l" t="t" r="r" b="b"/>
              <a:pathLst>
                <a:path w="5760720" h="914400">
                  <a:moveTo>
                    <a:pt x="0" y="457200"/>
                  </a:moveTo>
                  <a:cubicBezTo>
                    <a:pt x="0" y="204724"/>
                    <a:pt x="204724" y="0"/>
                    <a:pt x="457200" y="0"/>
                  </a:cubicBezTo>
                  <a:lnTo>
                    <a:pt x="5303520" y="0"/>
                  </a:lnTo>
                  <a:cubicBezTo>
                    <a:pt x="5555996" y="0"/>
                    <a:pt x="5760720" y="204724"/>
                    <a:pt x="5760720" y="457200"/>
                  </a:cubicBezTo>
                  <a:cubicBezTo>
                    <a:pt x="5760720" y="709676"/>
                    <a:pt x="5555996" y="914400"/>
                    <a:pt x="5303520" y="914400"/>
                  </a:cubicBezTo>
                  <a:lnTo>
                    <a:pt x="457200" y="914400"/>
                  </a:lnTo>
                  <a:cubicBezTo>
                    <a:pt x="204724" y="914400"/>
                    <a:pt x="0" y="709676"/>
                    <a:pt x="0" y="457200"/>
                  </a:cubicBezTo>
                  <a:close/>
                </a:path>
              </a:pathLst>
            </a:custGeom>
            <a:solidFill>
              <a:srgbClr val="DCFCE7"/>
            </a:solidFill>
          </p:spPr>
        </p:sp>
        <p:sp>
          <p:nvSpPr>
            <p:cNvPr id="124" name="TextBox 124"/>
            <p:cNvSpPr txBox="1"/>
            <p:nvPr/>
          </p:nvSpPr>
          <p:spPr>
            <a:xfrm>
              <a:off x="0" y="-19050"/>
              <a:ext cx="5760720" cy="933450"/>
            </a:xfrm>
            <a:prstGeom prst="rect">
              <a:avLst/>
            </a:prstGeom>
          </p:spPr>
          <p:txBody>
            <a:bodyPr lIns="50800" tIns="50800" rIns="50800" bIns="50800" rtlCol="0" anchor="ctr"/>
            <a:lstStyle/>
            <a:p>
              <a:pPr algn="ctr">
                <a:lnSpc>
                  <a:spcPts val="2340"/>
                </a:lnSpc>
              </a:pPr>
              <a:r>
                <a:rPr lang="en-US" sz="1950" b="1">
                  <a:solidFill>
                    <a:srgbClr val="16A34A"/>
                  </a:solidFill>
                  <a:latin typeface="Arial Bold"/>
                  <a:ea typeface="Arial Bold"/>
                  <a:cs typeface="Arial Bold"/>
                  <a:sym typeface="Arial Bold"/>
                </a:rPr>
                <a:t>0% on your own sales</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22960" y="480060"/>
            <a:ext cx="16637508" cy="960120"/>
            <a:chOff x="0" y="0"/>
            <a:chExt cx="22183344" cy="1280160"/>
          </a:xfrm>
        </p:grpSpPr>
        <p:sp>
          <p:nvSpPr>
            <p:cNvPr id="3" name="Freeform 3"/>
            <p:cNvSpPr/>
            <p:nvPr/>
          </p:nvSpPr>
          <p:spPr>
            <a:xfrm>
              <a:off x="0" y="0"/>
              <a:ext cx="22183344" cy="1280160"/>
            </a:xfrm>
            <a:custGeom>
              <a:avLst/>
              <a:gdLst/>
              <a:ahLst/>
              <a:cxnLst/>
              <a:rect l="l" t="t" r="r" b="b"/>
              <a:pathLst>
                <a:path w="22183344" h="1280160">
                  <a:moveTo>
                    <a:pt x="0" y="0"/>
                  </a:moveTo>
                  <a:lnTo>
                    <a:pt x="22183344" y="0"/>
                  </a:lnTo>
                  <a:lnTo>
                    <a:pt x="22183344" y="1280160"/>
                  </a:lnTo>
                  <a:lnTo>
                    <a:pt x="0" y="1280160"/>
                  </a:lnTo>
                  <a:close/>
                </a:path>
              </a:pathLst>
            </a:custGeom>
            <a:blipFill>
              <a:blip r:embed="rId3">
                <a:alphaModFix amt="0"/>
              </a:blip>
              <a:stretch>
                <a:fillRect t="-287647" b="-287647"/>
              </a:stretch>
            </a:blipFill>
          </p:spPr>
        </p:sp>
        <p:sp>
          <p:nvSpPr>
            <p:cNvPr id="4" name="TextBox 4"/>
            <p:cNvSpPr txBox="1"/>
            <p:nvPr/>
          </p:nvSpPr>
          <p:spPr>
            <a:xfrm>
              <a:off x="0" y="-28575"/>
              <a:ext cx="22183344" cy="1308735"/>
            </a:xfrm>
            <a:prstGeom prst="rect">
              <a:avLst/>
            </a:prstGeom>
          </p:spPr>
          <p:txBody>
            <a:bodyPr lIns="0" tIns="0" rIns="0" bIns="0" rtlCol="0" anchor="ctr"/>
            <a:lstStyle/>
            <a:p>
              <a:pPr algn="ctr">
                <a:lnSpc>
                  <a:spcPts val="5400"/>
                </a:lnSpc>
              </a:pPr>
              <a:r>
                <a:rPr lang="en-US" sz="4500" b="1">
                  <a:solidFill>
                    <a:srgbClr val="15243A"/>
                  </a:solidFill>
                  <a:latin typeface="Arial Bold"/>
                  <a:ea typeface="Arial Bold"/>
                  <a:cs typeface="Arial Bold"/>
                  <a:sym typeface="Arial Bold"/>
                </a:rPr>
                <a:t>A growing market, counted from the ground up</a:t>
              </a:r>
            </a:p>
          </p:txBody>
        </p:sp>
      </p:grpSp>
      <p:grpSp>
        <p:nvGrpSpPr>
          <p:cNvPr id="5" name="Group 5"/>
          <p:cNvGrpSpPr/>
          <p:nvPr/>
        </p:nvGrpSpPr>
        <p:grpSpPr>
          <a:xfrm>
            <a:off x="754380" y="1851660"/>
            <a:ext cx="7406640" cy="7200900"/>
            <a:chOff x="0" y="0"/>
            <a:chExt cx="9875520" cy="9601200"/>
          </a:xfrm>
        </p:grpSpPr>
        <p:sp>
          <p:nvSpPr>
            <p:cNvPr id="6" name="Freeform 6"/>
            <p:cNvSpPr/>
            <p:nvPr/>
          </p:nvSpPr>
          <p:spPr>
            <a:xfrm>
              <a:off x="0" y="0"/>
              <a:ext cx="9875520" cy="9601200"/>
            </a:xfrm>
            <a:custGeom>
              <a:avLst/>
              <a:gdLst/>
              <a:ahLst/>
              <a:cxnLst/>
              <a:rect l="l" t="t" r="r" b="b"/>
              <a:pathLst>
                <a:path w="9875520" h="9601200">
                  <a:moveTo>
                    <a:pt x="0" y="365760"/>
                  </a:moveTo>
                  <a:cubicBezTo>
                    <a:pt x="0" y="163830"/>
                    <a:pt x="163830" y="0"/>
                    <a:pt x="365760" y="0"/>
                  </a:cubicBezTo>
                  <a:lnTo>
                    <a:pt x="9509760" y="0"/>
                  </a:lnTo>
                  <a:cubicBezTo>
                    <a:pt x="9711817" y="0"/>
                    <a:pt x="9875520" y="163830"/>
                    <a:pt x="9875520" y="365760"/>
                  </a:cubicBezTo>
                  <a:lnTo>
                    <a:pt x="9875520" y="9235440"/>
                  </a:lnTo>
                  <a:cubicBezTo>
                    <a:pt x="9875520" y="9437497"/>
                    <a:pt x="9711690" y="9601200"/>
                    <a:pt x="9509760" y="9601200"/>
                  </a:cubicBezTo>
                  <a:lnTo>
                    <a:pt x="365760" y="9601200"/>
                  </a:lnTo>
                  <a:cubicBezTo>
                    <a:pt x="163830" y="9601200"/>
                    <a:pt x="0" y="9437370"/>
                    <a:pt x="0" y="9235440"/>
                  </a:cubicBezTo>
                  <a:close/>
                </a:path>
              </a:pathLst>
            </a:custGeom>
            <a:solidFill>
              <a:srgbClr val="111D35"/>
            </a:solidFill>
          </p:spPr>
        </p:sp>
      </p:grpSp>
      <p:grpSp>
        <p:nvGrpSpPr>
          <p:cNvPr id="7" name="Group 7"/>
          <p:cNvGrpSpPr/>
          <p:nvPr/>
        </p:nvGrpSpPr>
        <p:grpSpPr>
          <a:xfrm>
            <a:off x="1234440" y="2263140"/>
            <a:ext cx="6446520" cy="411480"/>
            <a:chOff x="0" y="0"/>
            <a:chExt cx="8595360" cy="548640"/>
          </a:xfrm>
        </p:grpSpPr>
        <p:sp>
          <p:nvSpPr>
            <p:cNvPr id="8" name="Freeform 8"/>
            <p:cNvSpPr/>
            <p:nvPr/>
          </p:nvSpPr>
          <p:spPr>
            <a:xfrm>
              <a:off x="0" y="0"/>
              <a:ext cx="8595360" cy="548640"/>
            </a:xfrm>
            <a:custGeom>
              <a:avLst/>
              <a:gdLst/>
              <a:ahLst/>
              <a:cxnLst/>
              <a:rect l="l" t="t" r="r" b="b"/>
              <a:pathLst>
                <a:path w="8595360" h="548640">
                  <a:moveTo>
                    <a:pt x="0" y="0"/>
                  </a:moveTo>
                  <a:lnTo>
                    <a:pt x="8595360" y="0"/>
                  </a:lnTo>
                  <a:lnTo>
                    <a:pt x="8595360" y="548640"/>
                  </a:lnTo>
                  <a:lnTo>
                    <a:pt x="0" y="548640"/>
                  </a:lnTo>
                  <a:close/>
                </a:path>
              </a:pathLst>
            </a:custGeom>
            <a:blipFill>
              <a:blip r:embed="rId3">
                <a:alphaModFix amt="0"/>
              </a:blip>
              <a:stretch>
                <a:fillRect t="-255265" b="-255265"/>
              </a:stretch>
            </a:blipFill>
          </p:spPr>
        </p:sp>
        <p:sp>
          <p:nvSpPr>
            <p:cNvPr id="9" name="TextBox 9"/>
            <p:cNvSpPr txBox="1"/>
            <p:nvPr/>
          </p:nvSpPr>
          <p:spPr>
            <a:xfrm>
              <a:off x="0" y="-19050"/>
              <a:ext cx="8595360" cy="567690"/>
            </a:xfrm>
            <a:prstGeom prst="rect">
              <a:avLst/>
            </a:prstGeom>
          </p:spPr>
          <p:txBody>
            <a:bodyPr lIns="0" tIns="0" rIns="0" bIns="0" rtlCol="0" anchor="ctr"/>
            <a:lstStyle/>
            <a:p>
              <a:pPr algn="l">
                <a:lnSpc>
                  <a:spcPts val="1980"/>
                </a:lnSpc>
              </a:pPr>
              <a:r>
                <a:rPr lang="en-US" sz="1650" b="1" spc="299">
                  <a:solidFill>
                    <a:srgbClr val="A7F3D0"/>
                  </a:solidFill>
                  <a:latin typeface="Arial Bold"/>
                  <a:ea typeface="Arial Bold"/>
                  <a:cs typeface="Arial Bold"/>
                  <a:sym typeface="Arial Bold"/>
                </a:rPr>
                <a:t>CAMBODIA E-COMMERCE</a:t>
              </a:r>
            </a:p>
          </p:txBody>
        </p:sp>
      </p:grpSp>
      <p:grpSp>
        <p:nvGrpSpPr>
          <p:cNvPr id="10" name="Group 10"/>
          <p:cNvGrpSpPr/>
          <p:nvPr/>
        </p:nvGrpSpPr>
        <p:grpSpPr>
          <a:xfrm>
            <a:off x="1234440" y="2948940"/>
            <a:ext cx="960120" cy="754380"/>
            <a:chOff x="0" y="0"/>
            <a:chExt cx="1280160" cy="1005840"/>
          </a:xfrm>
        </p:grpSpPr>
        <p:sp>
          <p:nvSpPr>
            <p:cNvPr id="11" name="Freeform 11"/>
            <p:cNvSpPr/>
            <p:nvPr/>
          </p:nvSpPr>
          <p:spPr>
            <a:xfrm>
              <a:off x="0" y="0"/>
              <a:ext cx="1280160" cy="1005840"/>
            </a:xfrm>
            <a:custGeom>
              <a:avLst/>
              <a:gdLst/>
              <a:ahLst/>
              <a:cxnLst/>
              <a:rect l="l" t="t" r="r" b="b"/>
              <a:pathLst>
                <a:path w="1280160" h="1005840">
                  <a:moveTo>
                    <a:pt x="0" y="0"/>
                  </a:moveTo>
                  <a:lnTo>
                    <a:pt x="1280160" y="0"/>
                  </a:lnTo>
                  <a:lnTo>
                    <a:pt x="1280160" y="1005840"/>
                  </a:lnTo>
                  <a:lnTo>
                    <a:pt x="0" y="1005840"/>
                  </a:lnTo>
                  <a:close/>
                </a:path>
              </a:pathLst>
            </a:custGeom>
            <a:blipFill>
              <a:blip r:embed="rId3">
                <a:alphaModFix amt="0"/>
              </a:blip>
              <a:stretch>
                <a:fillRect l="-50809" r="-50809"/>
              </a:stretch>
            </a:blipFill>
          </p:spPr>
        </p:sp>
        <p:sp>
          <p:nvSpPr>
            <p:cNvPr id="12" name="TextBox 12"/>
            <p:cNvSpPr txBox="1"/>
            <p:nvPr/>
          </p:nvSpPr>
          <p:spPr>
            <a:xfrm>
              <a:off x="0" y="-9525"/>
              <a:ext cx="1280160" cy="1015365"/>
            </a:xfrm>
            <a:prstGeom prst="rect">
              <a:avLst/>
            </a:prstGeom>
          </p:spPr>
          <p:txBody>
            <a:bodyPr lIns="0" tIns="0" rIns="0" bIns="0" rtlCol="0" anchor="ctr"/>
            <a:lstStyle/>
            <a:p>
              <a:pPr algn="l">
                <a:lnSpc>
                  <a:spcPts val="2520"/>
                </a:lnSpc>
              </a:pPr>
              <a:r>
                <a:rPr lang="en-US" sz="2100" b="1">
                  <a:solidFill>
                    <a:srgbClr val="9FB3CF"/>
                  </a:solidFill>
                  <a:latin typeface="Arial Bold"/>
                  <a:ea typeface="Arial Bold"/>
                  <a:cs typeface="Arial Bold"/>
                  <a:sym typeface="Arial Bold"/>
                </a:rPr>
                <a:t>2024</a:t>
              </a:r>
            </a:p>
          </p:txBody>
        </p:sp>
      </p:grpSp>
      <p:grpSp>
        <p:nvGrpSpPr>
          <p:cNvPr id="13" name="Group 13"/>
          <p:cNvGrpSpPr/>
          <p:nvPr/>
        </p:nvGrpSpPr>
        <p:grpSpPr>
          <a:xfrm>
            <a:off x="2194560" y="3017520"/>
            <a:ext cx="3607003" cy="617220"/>
            <a:chOff x="0" y="0"/>
            <a:chExt cx="4809338" cy="822960"/>
          </a:xfrm>
        </p:grpSpPr>
        <p:sp>
          <p:nvSpPr>
            <p:cNvPr id="14" name="Freeform 14"/>
            <p:cNvSpPr/>
            <p:nvPr/>
          </p:nvSpPr>
          <p:spPr>
            <a:xfrm>
              <a:off x="0" y="0"/>
              <a:ext cx="4809363" cy="822960"/>
            </a:xfrm>
            <a:custGeom>
              <a:avLst/>
              <a:gdLst/>
              <a:ahLst/>
              <a:cxnLst/>
              <a:rect l="l" t="t" r="r" b="b"/>
              <a:pathLst>
                <a:path w="4809363" h="822960">
                  <a:moveTo>
                    <a:pt x="0" y="182880"/>
                  </a:moveTo>
                  <a:cubicBezTo>
                    <a:pt x="0" y="81915"/>
                    <a:pt x="81915" y="0"/>
                    <a:pt x="182880" y="0"/>
                  </a:cubicBezTo>
                  <a:lnTo>
                    <a:pt x="4626483" y="0"/>
                  </a:lnTo>
                  <a:cubicBezTo>
                    <a:pt x="4727448" y="0"/>
                    <a:pt x="4809363" y="81915"/>
                    <a:pt x="4809363" y="182880"/>
                  </a:cubicBezTo>
                  <a:lnTo>
                    <a:pt x="4809363" y="640080"/>
                  </a:lnTo>
                  <a:cubicBezTo>
                    <a:pt x="4809363" y="741045"/>
                    <a:pt x="4727448" y="822960"/>
                    <a:pt x="4626483" y="822960"/>
                  </a:cubicBezTo>
                  <a:lnTo>
                    <a:pt x="182880" y="822960"/>
                  </a:lnTo>
                  <a:cubicBezTo>
                    <a:pt x="81915" y="822960"/>
                    <a:pt x="0" y="741045"/>
                    <a:pt x="0" y="640080"/>
                  </a:cubicBezTo>
                  <a:close/>
                </a:path>
              </a:pathLst>
            </a:custGeom>
            <a:solidFill>
              <a:srgbClr val="0AA7A2"/>
            </a:solidFill>
          </p:spPr>
        </p:sp>
      </p:grpSp>
      <p:grpSp>
        <p:nvGrpSpPr>
          <p:cNvPr id="15" name="Group 15"/>
          <p:cNvGrpSpPr/>
          <p:nvPr/>
        </p:nvGrpSpPr>
        <p:grpSpPr>
          <a:xfrm>
            <a:off x="4087063" y="3017520"/>
            <a:ext cx="1577340" cy="617220"/>
            <a:chOff x="0" y="0"/>
            <a:chExt cx="2103120" cy="822960"/>
          </a:xfrm>
        </p:grpSpPr>
        <p:sp>
          <p:nvSpPr>
            <p:cNvPr id="16" name="Freeform 16"/>
            <p:cNvSpPr/>
            <p:nvPr/>
          </p:nvSpPr>
          <p:spPr>
            <a:xfrm>
              <a:off x="0" y="0"/>
              <a:ext cx="2103120" cy="822960"/>
            </a:xfrm>
            <a:custGeom>
              <a:avLst/>
              <a:gdLst/>
              <a:ahLst/>
              <a:cxnLst/>
              <a:rect l="l" t="t" r="r" b="b"/>
              <a:pathLst>
                <a:path w="2103120" h="822960">
                  <a:moveTo>
                    <a:pt x="0" y="0"/>
                  </a:moveTo>
                  <a:lnTo>
                    <a:pt x="2103120" y="0"/>
                  </a:lnTo>
                  <a:lnTo>
                    <a:pt x="2103120" y="822960"/>
                  </a:lnTo>
                  <a:lnTo>
                    <a:pt x="0" y="822960"/>
                  </a:lnTo>
                  <a:close/>
                </a:path>
              </a:pathLst>
            </a:custGeom>
            <a:blipFill>
              <a:blip r:embed="rId3">
                <a:alphaModFix amt="0"/>
              </a:blip>
              <a:stretch>
                <a:fillRect l="-205" r="-205"/>
              </a:stretch>
            </a:blipFill>
          </p:spPr>
        </p:sp>
        <p:sp>
          <p:nvSpPr>
            <p:cNvPr id="17" name="TextBox 17"/>
            <p:cNvSpPr txBox="1"/>
            <p:nvPr/>
          </p:nvSpPr>
          <p:spPr>
            <a:xfrm>
              <a:off x="0" y="-9525"/>
              <a:ext cx="2103120" cy="832485"/>
            </a:xfrm>
            <a:prstGeom prst="rect">
              <a:avLst/>
            </a:prstGeom>
          </p:spPr>
          <p:txBody>
            <a:bodyPr lIns="0" tIns="0" rIns="0" bIns="0" rtlCol="0" anchor="ctr"/>
            <a:lstStyle/>
            <a:p>
              <a:pPr algn="r">
                <a:lnSpc>
                  <a:spcPts val="2879"/>
                </a:lnSpc>
              </a:pPr>
              <a:r>
                <a:rPr lang="en-US" sz="2400" b="1">
                  <a:solidFill>
                    <a:srgbClr val="111D35"/>
                  </a:solidFill>
                  <a:latin typeface="Arial Bold"/>
                  <a:ea typeface="Arial Bold"/>
                  <a:cs typeface="Arial Bold"/>
                  <a:sym typeface="Arial Bold"/>
                </a:rPr>
                <a:t>$1.51B</a:t>
              </a:r>
            </a:p>
          </p:txBody>
        </p:sp>
      </p:grpSp>
      <p:grpSp>
        <p:nvGrpSpPr>
          <p:cNvPr id="18" name="Group 18"/>
          <p:cNvGrpSpPr/>
          <p:nvPr/>
        </p:nvGrpSpPr>
        <p:grpSpPr>
          <a:xfrm>
            <a:off x="1234440" y="4046220"/>
            <a:ext cx="960120" cy="754380"/>
            <a:chOff x="0" y="0"/>
            <a:chExt cx="1280160" cy="1005840"/>
          </a:xfrm>
        </p:grpSpPr>
        <p:sp>
          <p:nvSpPr>
            <p:cNvPr id="19" name="Freeform 19"/>
            <p:cNvSpPr/>
            <p:nvPr/>
          </p:nvSpPr>
          <p:spPr>
            <a:xfrm>
              <a:off x="0" y="0"/>
              <a:ext cx="1280160" cy="1005840"/>
            </a:xfrm>
            <a:custGeom>
              <a:avLst/>
              <a:gdLst/>
              <a:ahLst/>
              <a:cxnLst/>
              <a:rect l="l" t="t" r="r" b="b"/>
              <a:pathLst>
                <a:path w="1280160" h="1005840">
                  <a:moveTo>
                    <a:pt x="0" y="0"/>
                  </a:moveTo>
                  <a:lnTo>
                    <a:pt x="1280160" y="0"/>
                  </a:lnTo>
                  <a:lnTo>
                    <a:pt x="1280160" y="1005840"/>
                  </a:lnTo>
                  <a:lnTo>
                    <a:pt x="0" y="1005840"/>
                  </a:lnTo>
                  <a:close/>
                </a:path>
              </a:pathLst>
            </a:custGeom>
            <a:blipFill>
              <a:blip r:embed="rId3">
                <a:alphaModFix amt="0"/>
              </a:blip>
              <a:stretch>
                <a:fillRect l="-50809" r="-50809"/>
              </a:stretch>
            </a:blipFill>
          </p:spPr>
        </p:sp>
        <p:sp>
          <p:nvSpPr>
            <p:cNvPr id="20" name="TextBox 20"/>
            <p:cNvSpPr txBox="1"/>
            <p:nvPr/>
          </p:nvSpPr>
          <p:spPr>
            <a:xfrm>
              <a:off x="0" y="-9525"/>
              <a:ext cx="1280160" cy="1015365"/>
            </a:xfrm>
            <a:prstGeom prst="rect">
              <a:avLst/>
            </a:prstGeom>
          </p:spPr>
          <p:txBody>
            <a:bodyPr lIns="0" tIns="0" rIns="0" bIns="0" rtlCol="0" anchor="ctr"/>
            <a:lstStyle/>
            <a:p>
              <a:pPr algn="l">
                <a:lnSpc>
                  <a:spcPts val="2520"/>
                </a:lnSpc>
              </a:pPr>
              <a:r>
                <a:rPr lang="en-US" sz="2100" b="1">
                  <a:solidFill>
                    <a:srgbClr val="9FB3CF"/>
                  </a:solidFill>
                  <a:latin typeface="Arial Bold"/>
                  <a:ea typeface="Arial Bold"/>
                  <a:cs typeface="Arial Bold"/>
                  <a:sym typeface="Arial Bold"/>
                </a:rPr>
                <a:t>2025*</a:t>
              </a:r>
            </a:p>
          </p:txBody>
        </p:sp>
      </p:grpSp>
      <p:grpSp>
        <p:nvGrpSpPr>
          <p:cNvPr id="21" name="Group 21"/>
          <p:cNvGrpSpPr/>
          <p:nvPr/>
        </p:nvGrpSpPr>
        <p:grpSpPr>
          <a:xfrm>
            <a:off x="2194560" y="4114800"/>
            <a:ext cx="4251960" cy="617220"/>
            <a:chOff x="0" y="0"/>
            <a:chExt cx="5669280" cy="822960"/>
          </a:xfrm>
        </p:grpSpPr>
        <p:sp>
          <p:nvSpPr>
            <p:cNvPr id="22" name="Freeform 22"/>
            <p:cNvSpPr/>
            <p:nvPr/>
          </p:nvSpPr>
          <p:spPr>
            <a:xfrm>
              <a:off x="0" y="0"/>
              <a:ext cx="5669280" cy="822960"/>
            </a:xfrm>
            <a:custGeom>
              <a:avLst/>
              <a:gdLst/>
              <a:ahLst/>
              <a:cxnLst/>
              <a:rect l="l" t="t" r="r" b="b"/>
              <a:pathLst>
                <a:path w="5669280" h="822960">
                  <a:moveTo>
                    <a:pt x="0" y="182880"/>
                  </a:moveTo>
                  <a:cubicBezTo>
                    <a:pt x="0" y="81915"/>
                    <a:pt x="81915" y="0"/>
                    <a:pt x="182880" y="0"/>
                  </a:cubicBezTo>
                  <a:lnTo>
                    <a:pt x="5486400" y="0"/>
                  </a:lnTo>
                  <a:cubicBezTo>
                    <a:pt x="5587365" y="0"/>
                    <a:pt x="5669280" y="81915"/>
                    <a:pt x="5669280" y="182880"/>
                  </a:cubicBezTo>
                  <a:lnTo>
                    <a:pt x="5669280" y="640080"/>
                  </a:lnTo>
                  <a:cubicBezTo>
                    <a:pt x="5669280" y="741045"/>
                    <a:pt x="5587365" y="822960"/>
                    <a:pt x="5486400" y="822960"/>
                  </a:cubicBezTo>
                  <a:lnTo>
                    <a:pt x="182880" y="822960"/>
                  </a:lnTo>
                  <a:cubicBezTo>
                    <a:pt x="81915" y="822960"/>
                    <a:pt x="0" y="741045"/>
                    <a:pt x="0" y="640080"/>
                  </a:cubicBezTo>
                  <a:close/>
                </a:path>
              </a:pathLst>
            </a:custGeom>
            <a:solidFill>
              <a:srgbClr val="A7F3D0"/>
            </a:solidFill>
          </p:spPr>
        </p:sp>
      </p:grpSp>
      <p:grpSp>
        <p:nvGrpSpPr>
          <p:cNvPr id="23" name="Group 23"/>
          <p:cNvGrpSpPr/>
          <p:nvPr/>
        </p:nvGrpSpPr>
        <p:grpSpPr>
          <a:xfrm>
            <a:off x="4732020" y="4114800"/>
            <a:ext cx="1577340" cy="617220"/>
            <a:chOff x="0" y="0"/>
            <a:chExt cx="2103120" cy="822960"/>
          </a:xfrm>
        </p:grpSpPr>
        <p:sp>
          <p:nvSpPr>
            <p:cNvPr id="24" name="Freeform 24"/>
            <p:cNvSpPr/>
            <p:nvPr/>
          </p:nvSpPr>
          <p:spPr>
            <a:xfrm>
              <a:off x="0" y="0"/>
              <a:ext cx="2103120" cy="822960"/>
            </a:xfrm>
            <a:custGeom>
              <a:avLst/>
              <a:gdLst/>
              <a:ahLst/>
              <a:cxnLst/>
              <a:rect l="l" t="t" r="r" b="b"/>
              <a:pathLst>
                <a:path w="2103120" h="822960">
                  <a:moveTo>
                    <a:pt x="0" y="0"/>
                  </a:moveTo>
                  <a:lnTo>
                    <a:pt x="2103120" y="0"/>
                  </a:lnTo>
                  <a:lnTo>
                    <a:pt x="2103120" y="822960"/>
                  </a:lnTo>
                  <a:lnTo>
                    <a:pt x="0" y="822960"/>
                  </a:lnTo>
                  <a:close/>
                </a:path>
              </a:pathLst>
            </a:custGeom>
            <a:blipFill>
              <a:blip r:embed="rId3">
                <a:alphaModFix amt="0"/>
              </a:blip>
              <a:stretch>
                <a:fillRect l="-205" r="-205"/>
              </a:stretch>
            </a:blipFill>
          </p:spPr>
        </p:sp>
        <p:sp>
          <p:nvSpPr>
            <p:cNvPr id="25" name="TextBox 25"/>
            <p:cNvSpPr txBox="1"/>
            <p:nvPr/>
          </p:nvSpPr>
          <p:spPr>
            <a:xfrm>
              <a:off x="0" y="-9525"/>
              <a:ext cx="2103120" cy="832485"/>
            </a:xfrm>
            <a:prstGeom prst="rect">
              <a:avLst/>
            </a:prstGeom>
          </p:spPr>
          <p:txBody>
            <a:bodyPr lIns="0" tIns="0" rIns="0" bIns="0" rtlCol="0" anchor="ctr"/>
            <a:lstStyle/>
            <a:p>
              <a:pPr algn="r">
                <a:lnSpc>
                  <a:spcPts val="2879"/>
                </a:lnSpc>
              </a:pPr>
              <a:r>
                <a:rPr lang="en-US" sz="2400" b="1">
                  <a:solidFill>
                    <a:srgbClr val="111D35"/>
                  </a:solidFill>
                  <a:latin typeface="Arial Bold"/>
                  <a:ea typeface="Arial Bold"/>
                  <a:cs typeface="Arial Bold"/>
                  <a:sym typeface="Arial Bold"/>
                </a:rPr>
                <a:t>$1.78B</a:t>
              </a:r>
            </a:p>
          </p:txBody>
        </p:sp>
      </p:grpSp>
      <p:grpSp>
        <p:nvGrpSpPr>
          <p:cNvPr id="26" name="Group 26"/>
          <p:cNvGrpSpPr/>
          <p:nvPr/>
        </p:nvGrpSpPr>
        <p:grpSpPr>
          <a:xfrm>
            <a:off x="1224915" y="5202555"/>
            <a:ext cx="2625090" cy="595122"/>
            <a:chOff x="0" y="0"/>
            <a:chExt cx="3500120" cy="793496"/>
          </a:xfrm>
        </p:grpSpPr>
        <p:sp>
          <p:nvSpPr>
            <p:cNvPr id="27" name="Freeform 27"/>
            <p:cNvSpPr/>
            <p:nvPr/>
          </p:nvSpPr>
          <p:spPr>
            <a:xfrm>
              <a:off x="0" y="0"/>
              <a:ext cx="3500120" cy="793496"/>
            </a:xfrm>
            <a:custGeom>
              <a:avLst/>
              <a:gdLst/>
              <a:ahLst/>
              <a:cxnLst/>
              <a:rect l="l" t="t" r="r" b="b"/>
              <a:pathLst>
                <a:path w="3500120" h="793496">
                  <a:moveTo>
                    <a:pt x="0" y="396748"/>
                  </a:moveTo>
                  <a:cubicBezTo>
                    <a:pt x="0" y="177673"/>
                    <a:pt x="177673" y="0"/>
                    <a:pt x="396748" y="0"/>
                  </a:cubicBezTo>
                  <a:lnTo>
                    <a:pt x="3103372" y="0"/>
                  </a:lnTo>
                  <a:cubicBezTo>
                    <a:pt x="3322447" y="0"/>
                    <a:pt x="3500120" y="177673"/>
                    <a:pt x="3500120" y="396748"/>
                  </a:cubicBezTo>
                  <a:cubicBezTo>
                    <a:pt x="3500120" y="615823"/>
                    <a:pt x="3322447" y="793496"/>
                    <a:pt x="3103372" y="793496"/>
                  </a:cubicBezTo>
                  <a:lnTo>
                    <a:pt x="396748" y="793496"/>
                  </a:lnTo>
                  <a:cubicBezTo>
                    <a:pt x="177673" y="793496"/>
                    <a:pt x="0" y="615823"/>
                    <a:pt x="0" y="396748"/>
                  </a:cubicBezTo>
                  <a:close/>
                </a:path>
              </a:pathLst>
            </a:custGeom>
            <a:solidFill>
              <a:srgbClr val="1A2A4A"/>
            </a:solidFill>
            <a:ln w="19050" cap="sq">
              <a:solidFill>
                <a:srgbClr val="0AA7A2"/>
              </a:solidFill>
              <a:prstDash val="solid"/>
              <a:miter/>
            </a:ln>
          </p:spPr>
        </p:sp>
        <p:sp>
          <p:nvSpPr>
            <p:cNvPr id="28" name="TextBox 28"/>
            <p:cNvSpPr txBox="1"/>
            <p:nvPr/>
          </p:nvSpPr>
          <p:spPr>
            <a:xfrm>
              <a:off x="0" y="-19050"/>
              <a:ext cx="3500120" cy="812546"/>
            </a:xfrm>
            <a:prstGeom prst="rect">
              <a:avLst/>
            </a:prstGeom>
          </p:spPr>
          <p:txBody>
            <a:bodyPr lIns="50800" tIns="50800" rIns="50800" bIns="50800" rtlCol="0" anchor="ctr"/>
            <a:lstStyle/>
            <a:p>
              <a:pPr algn="ctr">
                <a:lnSpc>
                  <a:spcPts val="2340"/>
                </a:lnSpc>
              </a:pPr>
              <a:r>
                <a:rPr lang="en-US" sz="1950" b="1">
                  <a:solidFill>
                    <a:srgbClr val="A7F3D0"/>
                  </a:solidFill>
                  <a:latin typeface="Arial Bold"/>
                  <a:ea typeface="Arial Bold"/>
                  <a:cs typeface="Arial Bold"/>
                  <a:sym typeface="Arial Bold"/>
                </a:rPr>
                <a:t>+17.9% a year</a:t>
              </a:r>
            </a:p>
          </p:txBody>
        </p:sp>
      </p:grpSp>
      <p:grpSp>
        <p:nvGrpSpPr>
          <p:cNvPr id="29" name="Group 29"/>
          <p:cNvGrpSpPr/>
          <p:nvPr/>
        </p:nvGrpSpPr>
        <p:grpSpPr>
          <a:xfrm>
            <a:off x="1234440" y="6172200"/>
            <a:ext cx="6446520" cy="411480"/>
            <a:chOff x="0" y="0"/>
            <a:chExt cx="8595360" cy="548640"/>
          </a:xfrm>
        </p:grpSpPr>
        <p:sp>
          <p:nvSpPr>
            <p:cNvPr id="30" name="Freeform 30"/>
            <p:cNvSpPr/>
            <p:nvPr/>
          </p:nvSpPr>
          <p:spPr>
            <a:xfrm>
              <a:off x="0" y="0"/>
              <a:ext cx="8595360" cy="548640"/>
            </a:xfrm>
            <a:custGeom>
              <a:avLst/>
              <a:gdLst/>
              <a:ahLst/>
              <a:cxnLst/>
              <a:rect l="l" t="t" r="r" b="b"/>
              <a:pathLst>
                <a:path w="8595360" h="548640">
                  <a:moveTo>
                    <a:pt x="0" y="0"/>
                  </a:moveTo>
                  <a:lnTo>
                    <a:pt x="8595360" y="0"/>
                  </a:lnTo>
                  <a:lnTo>
                    <a:pt x="8595360" y="548640"/>
                  </a:lnTo>
                  <a:lnTo>
                    <a:pt x="0" y="548640"/>
                  </a:lnTo>
                  <a:close/>
                </a:path>
              </a:pathLst>
            </a:custGeom>
            <a:blipFill>
              <a:blip r:embed="rId3">
                <a:alphaModFix amt="0"/>
              </a:blip>
              <a:stretch>
                <a:fillRect t="-255265" b="-255265"/>
              </a:stretch>
            </a:blipFill>
          </p:spPr>
        </p:sp>
        <p:sp>
          <p:nvSpPr>
            <p:cNvPr id="31" name="TextBox 31"/>
            <p:cNvSpPr txBox="1"/>
            <p:nvPr/>
          </p:nvSpPr>
          <p:spPr>
            <a:xfrm>
              <a:off x="0" y="-19050"/>
              <a:ext cx="8595360" cy="567690"/>
            </a:xfrm>
            <a:prstGeom prst="rect">
              <a:avLst/>
            </a:prstGeom>
          </p:spPr>
          <p:txBody>
            <a:bodyPr lIns="0" tIns="0" rIns="0" bIns="0" rtlCol="0" anchor="ctr"/>
            <a:lstStyle/>
            <a:p>
              <a:pPr algn="l">
                <a:lnSpc>
                  <a:spcPts val="1980"/>
                </a:lnSpc>
              </a:pPr>
              <a:r>
                <a:rPr lang="en-US" sz="1650" b="1" spc="299">
                  <a:solidFill>
                    <a:srgbClr val="A7F3D0"/>
                  </a:solidFill>
                  <a:latin typeface="Arial Bold"/>
                  <a:ea typeface="Arial Bold"/>
                  <a:cs typeface="Arial Bold"/>
                  <a:sym typeface="Arial Bold"/>
                </a:rPr>
                <a:t>TOP ONLINE PURCHASES</a:t>
              </a:r>
            </a:p>
          </p:txBody>
        </p:sp>
      </p:grpSp>
      <p:grpSp>
        <p:nvGrpSpPr>
          <p:cNvPr id="32" name="Group 32"/>
          <p:cNvGrpSpPr/>
          <p:nvPr/>
        </p:nvGrpSpPr>
        <p:grpSpPr>
          <a:xfrm>
            <a:off x="1234440" y="6789420"/>
            <a:ext cx="768096" cy="768096"/>
            <a:chOff x="0" y="0"/>
            <a:chExt cx="1024128" cy="1024128"/>
          </a:xfrm>
        </p:grpSpPr>
        <p:sp>
          <p:nvSpPr>
            <p:cNvPr id="33" name="Freeform 33"/>
            <p:cNvSpPr/>
            <p:nvPr/>
          </p:nvSpPr>
          <p:spPr>
            <a:xfrm>
              <a:off x="0" y="0"/>
              <a:ext cx="1024128" cy="1024128"/>
            </a:xfrm>
            <a:custGeom>
              <a:avLst/>
              <a:gdLst/>
              <a:ahLst/>
              <a:cxnLst/>
              <a:rect l="l" t="t" r="r" b="b"/>
              <a:pathLst>
                <a:path w="1024128" h="1024128">
                  <a:moveTo>
                    <a:pt x="0" y="237744"/>
                  </a:moveTo>
                  <a:cubicBezTo>
                    <a:pt x="0" y="106426"/>
                    <a:pt x="106426" y="0"/>
                    <a:pt x="237744" y="0"/>
                  </a:cubicBezTo>
                  <a:lnTo>
                    <a:pt x="786384" y="0"/>
                  </a:lnTo>
                  <a:cubicBezTo>
                    <a:pt x="917702" y="0"/>
                    <a:pt x="1024128" y="106426"/>
                    <a:pt x="1024128" y="237744"/>
                  </a:cubicBezTo>
                  <a:lnTo>
                    <a:pt x="1024128" y="786384"/>
                  </a:lnTo>
                  <a:cubicBezTo>
                    <a:pt x="1024128" y="917702"/>
                    <a:pt x="917702" y="1024128"/>
                    <a:pt x="786384" y="1024128"/>
                  </a:cubicBezTo>
                  <a:lnTo>
                    <a:pt x="237744" y="1024128"/>
                  </a:lnTo>
                  <a:cubicBezTo>
                    <a:pt x="106426" y="1024128"/>
                    <a:pt x="0" y="917702"/>
                    <a:pt x="0" y="786384"/>
                  </a:cubicBezTo>
                  <a:close/>
                </a:path>
              </a:pathLst>
            </a:custGeom>
            <a:solidFill>
              <a:srgbClr val="EC4899"/>
            </a:solidFill>
          </p:spPr>
        </p:sp>
      </p:grpSp>
      <p:grpSp>
        <p:nvGrpSpPr>
          <p:cNvPr id="34" name="Group 34"/>
          <p:cNvGrpSpPr/>
          <p:nvPr/>
        </p:nvGrpSpPr>
        <p:grpSpPr>
          <a:xfrm>
            <a:off x="1412748" y="6967728"/>
            <a:ext cx="411480" cy="411480"/>
            <a:chOff x="0" y="0"/>
            <a:chExt cx="548640" cy="548640"/>
          </a:xfrm>
        </p:grpSpPr>
        <p:sp>
          <p:nvSpPr>
            <p:cNvPr id="35" name="Freeform 35" descr="preencoded.png"/>
            <p:cNvSpPr/>
            <p:nvPr/>
          </p:nvSpPr>
          <p:spPr>
            <a:xfrm>
              <a:off x="0" y="0"/>
              <a:ext cx="548640" cy="548640"/>
            </a:xfrm>
            <a:custGeom>
              <a:avLst/>
              <a:gdLst/>
              <a:ahLst/>
              <a:cxnLst/>
              <a:rect l="l" t="t" r="r" b="b"/>
              <a:pathLst>
                <a:path w="548640" h="548640">
                  <a:moveTo>
                    <a:pt x="0" y="0"/>
                  </a:moveTo>
                  <a:lnTo>
                    <a:pt x="548640" y="0"/>
                  </a:lnTo>
                  <a:lnTo>
                    <a:pt x="548640" y="548640"/>
                  </a:lnTo>
                  <a:lnTo>
                    <a:pt x="0" y="548640"/>
                  </a:lnTo>
                  <a:lnTo>
                    <a:pt x="0" y="0"/>
                  </a:lnTo>
                  <a:close/>
                </a:path>
              </a:pathLst>
            </a:custGeom>
            <a:blipFill>
              <a:blip r:embed="rId4"/>
              <a:stretch>
                <a:fillRect/>
              </a:stretch>
            </a:blipFill>
          </p:spPr>
        </p:sp>
      </p:grpSp>
      <p:grpSp>
        <p:nvGrpSpPr>
          <p:cNvPr id="36" name="Group 36"/>
          <p:cNvGrpSpPr/>
          <p:nvPr/>
        </p:nvGrpSpPr>
        <p:grpSpPr>
          <a:xfrm>
            <a:off x="2125980" y="6720840"/>
            <a:ext cx="1303020" cy="548640"/>
            <a:chOff x="0" y="0"/>
            <a:chExt cx="1737360" cy="731520"/>
          </a:xfrm>
        </p:grpSpPr>
        <p:sp>
          <p:nvSpPr>
            <p:cNvPr id="37" name="Freeform 37"/>
            <p:cNvSpPr/>
            <p:nvPr/>
          </p:nvSpPr>
          <p:spPr>
            <a:xfrm>
              <a:off x="0" y="0"/>
              <a:ext cx="1737360" cy="731520"/>
            </a:xfrm>
            <a:custGeom>
              <a:avLst/>
              <a:gdLst/>
              <a:ahLst/>
              <a:cxnLst/>
              <a:rect l="l" t="t" r="r" b="b"/>
              <a:pathLst>
                <a:path w="1737360" h="731520">
                  <a:moveTo>
                    <a:pt x="0" y="0"/>
                  </a:moveTo>
                  <a:lnTo>
                    <a:pt x="1737360" y="0"/>
                  </a:lnTo>
                  <a:lnTo>
                    <a:pt x="1737360" y="731520"/>
                  </a:lnTo>
                  <a:lnTo>
                    <a:pt x="0" y="731520"/>
                  </a:lnTo>
                  <a:close/>
                </a:path>
              </a:pathLst>
            </a:custGeom>
            <a:blipFill>
              <a:blip r:embed="rId3">
                <a:alphaModFix amt="0"/>
              </a:blip>
              <a:stretch>
                <a:fillRect l="-4022" r="-4022"/>
              </a:stretch>
            </a:blipFill>
          </p:spPr>
        </p:sp>
        <p:sp>
          <p:nvSpPr>
            <p:cNvPr id="38" name="TextBox 38"/>
            <p:cNvSpPr txBox="1"/>
            <p:nvPr/>
          </p:nvSpPr>
          <p:spPr>
            <a:xfrm>
              <a:off x="0" y="-19050"/>
              <a:ext cx="1737360" cy="750570"/>
            </a:xfrm>
            <a:prstGeom prst="rect">
              <a:avLst/>
            </a:prstGeom>
          </p:spPr>
          <p:txBody>
            <a:bodyPr lIns="0" tIns="0" rIns="0" bIns="0" rtlCol="0" anchor="ctr"/>
            <a:lstStyle/>
            <a:p>
              <a:pPr algn="l">
                <a:lnSpc>
                  <a:spcPts val="3600"/>
                </a:lnSpc>
              </a:pPr>
              <a:r>
                <a:rPr lang="en-US" sz="3000" b="1">
                  <a:solidFill>
                    <a:srgbClr val="FFFFFF"/>
                  </a:solidFill>
                  <a:latin typeface="Arial Bold"/>
                  <a:ea typeface="Arial Bold"/>
                  <a:cs typeface="Arial Bold"/>
                  <a:sym typeface="Arial Bold"/>
                </a:rPr>
                <a:t>37%</a:t>
              </a:r>
            </a:p>
          </p:txBody>
        </p:sp>
      </p:grpSp>
      <p:grpSp>
        <p:nvGrpSpPr>
          <p:cNvPr id="39" name="Group 39"/>
          <p:cNvGrpSpPr/>
          <p:nvPr/>
        </p:nvGrpSpPr>
        <p:grpSpPr>
          <a:xfrm>
            <a:off x="2125980" y="7242048"/>
            <a:ext cx="1303020" cy="384048"/>
            <a:chOff x="0" y="0"/>
            <a:chExt cx="1737360" cy="512064"/>
          </a:xfrm>
        </p:grpSpPr>
        <p:sp>
          <p:nvSpPr>
            <p:cNvPr id="40" name="Freeform 40"/>
            <p:cNvSpPr/>
            <p:nvPr/>
          </p:nvSpPr>
          <p:spPr>
            <a:xfrm>
              <a:off x="0" y="0"/>
              <a:ext cx="1737360" cy="512064"/>
            </a:xfrm>
            <a:custGeom>
              <a:avLst/>
              <a:gdLst/>
              <a:ahLst/>
              <a:cxnLst/>
              <a:rect l="l" t="t" r="r" b="b"/>
              <a:pathLst>
                <a:path w="1737360" h="512064">
                  <a:moveTo>
                    <a:pt x="0" y="0"/>
                  </a:moveTo>
                  <a:lnTo>
                    <a:pt x="1737360" y="0"/>
                  </a:lnTo>
                  <a:lnTo>
                    <a:pt x="1737360" y="512064"/>
                  </a:lnTo>
                  <a:lnTo>
                    <a:pt x="0" y="512064"/>
                  </a:lnTo>
                  <a:close/>
                </a:path>
              </a:pathLst>
            </a:custGeom>
            <a:blipFill>
              <a:blip r:embed="rId3">
                <a:alphaModFix amt="0"/>
              </a:blip>
              <a:stretch>
                <a:fillRect t="-16109" b="-16109"/>
              </a:stretch>
            </a:blipFill>
          </p:spPr>
        </p:sp>
        <p:sp>
          <p:nvSpPr>
            <p:cNvPr id="41" name="TextBox 41"/>
            <p:cNvSpPr txBox="1"/>
            <p:nvPr/>
          </p:nvSpPr>
          <p:spPr>
            <a:xfrm>
              <a:off x="0" y="-19050"/>
              <a:ext cx="1737360" cy="531114"/>
            </a:xfrm>
            <a:prstGeom prst="rect">
              <a:avLst/>
            </a:prstGeom>
          </p:spPr>
          <p:txBody>
            <a:bodyPr lIns="0" tIns="0" rIns="0" bIns="0" rtlCol="0" anchor="ctr"/>
            <a:lstStyle/>
            <a:p>
              <a:pPr algn="l">
                <a:lnSpc>
                  <a:spcPts val="1980"/>
                </a:lnSpc>
              </a:pPr>
              <a:r>
                <a:rPr lang="en-US" sz="1650">
                  <a:solidFill>
                    <a:srgbClr val="9FB3CF"/>
                  </a:solidFill>
                  <a:latin typeface="Arial"/>
                  <a:ea typeface="Arial"/>
                  <a:cs typeface="Arial"/>
                  <a:sym typeface="Arial"/>
                </a:rPr>
                <a:t>Fashion</a:t>
              </a:r>
            </a:p>
          </p:txBody>
        </p:sp>
      </p:grpSp>
      <p:grpSp>
        <p:nvGrpSpPr>
          <p:cNvPr id="42" name="Group 42"/>
          <p:cNvGrpSpPr/>
          <p:nvPr/>
        </p:nvGrpSpPr>
        <p:grpSpPr>
          <a:xfrm>
            <a:off x="3456432" y="6789420"/>
            <a:ext cx="768096" cy="768096"/>
            <a:chOff x="0" y="0"/>
            <a:chExt cx="1024128" cy="1024128"/>
          </a:xfrm>
        </p:grpSpPr>
        <p:sp>
          <p:nvSpPr>
            <p:cNvPr id="43" name="Freeform 43"/>
            <p:cNvSpPr/>
            <p:nvPr/>
          </p:nvSpPr>
          <p:spPr>
            <a:xfrm>
              <a:off x="0" y="0"/>
              <a:ext cx="1024128" cy="1024128"/>
            </a:xfrm>
            <a:custGeom>
              <a:avLst/>
              <a:gdLst/>
              <a:ahLst/>
              <a:cxnLst/>
              <a:rect l="l" t="t" r="r" b="b"/>
              <a:pathLst>
                <a:path w="1024128" h="1024128">
                  <a:moveTo>
                    <a:pt x="0" y="237744"/>
                  </a:moveTo>
                  <a:cubicBezTo>
                    <a:pt x="0" y="106426"/>
                    <a:pt x="106426" y="0"/>
                    <a:pt x="237744" y="0"/>
                  </a:cubicBezTo>
                  <a:lnTo>
                    <a:pt x="786384" y="0"/>
                  </a:lnTo>
                  <a:cubicBezTo>
                    <a:pt x="917702" y="0"/>
                    <a:pt x="1024128" y="106426"/>
                    <a:pt x="1024128" y="237744"/>
                  </a:cubicBezTo>
                  <a:lnTo>
                    <a:pt x="1024128" y="786384"/>
                  </a:lnTo>
                  <a:cubicBezTo>
                    <a:pt x="1024128" y="917702"/>
                    <a:pt x="917702" y="1024128"/>
                    <a:pt x="786384" y="1024128"/>
                  </a:cubicBezTo>
                  <a:lnTo>
                    <a:pt x="237744" y="1024128"/>
                  </a:lnTo>
                  <a:cubicBezTo>
                    <a:pt x="106426" y="1024128"/>
                    <a:pt x="0" y="917702"/>
                    <a:pt x="0" y="786384"/>
                  </a:cubicBezTo>
                  <a:close/>
                </a:path>
              </a:pathLst>
            </a:custGeom>
            <a:solidFill>
              <a:srgbClr val="A855F7"/>
            </a:solidFill>
          </p:spPr>
        </p:sp>
      </p:grpSp>
      <p:grpSp>
        <p:nvGrpSpPr>
          <p:cNvPr id="44" name="Group 44"/>
          <p:cNvGrpSpPr/>
          <p:nvPr/>
        </p:nvGrpSpPr>
        <p:grpSpPr>
          <a:xfrm>
            <a:off x="3634740" y="6967728"/>
            <a:ext cx="411480" cy="411480"/>
            <a:chOff x="0" y="0"/>
            <a:chExt cx="548640" cy="548640"/>
          </a:xfrm>
        </p:grpSpPr>
        <p:sp>
          <p:nvSpPr>
            <p:cNvPr id="45" name="Freeform 45" descr="preencoded.png"/>
            <p:cNvSpPr/>
            <p:nvPr/>
          </p:nvSpPr>
          <p:spPr>
            <a:xfrm>
              <a:off x="0" y="0"/>
              <a:ext cx="548640" cy="548640"/>
            </a:xfrm>
            <a:custGeom>
              <a:avLst/>
              <a:gdLst/>
              <a:ahLst/>
              <a:cxnLst/>
              <a:rect l="l" t="t" r="r" b="b"/>
              <a:pathLst>
                <a:path w="548640" h="548640">
                  <a:moveTo>
                    <a:pt x="0" y="0"/>
                  </a:moveTo>
                  <a:lnTo>
                    <a:pt x="548640" y="0"/>
                  </a:lnTo>
                  <a:lnTo>
                    <a:pt x="548640" y="548640"/>
                  </a:lnTo>
                  <a:lnTo>
                    <a:pt x="0" y="548640"/>
                  </a:lnTo>
                  <a:lnTo>
                    <a:pt x="0" y="0"/>
                  </a:lnTo>
                  <a:close/>
                </a:path>
              </a:pathLst>
            </a:custGeom>
            <a:blipFill>
              <a:blip r:embed="rId5"/>
              <a:stretch>
                <a:fillRect/>
              </a:stretch>
            </a:blipFill>
          </p:spPr>
        </p:sp>
      </p:grpSp>
      <p:grpSp>
        <p:nvGrpSpPr>
          <p:cNvPr id="46" name="Group 46"/>
          <p:cNvGrpSpPr/>
          <p:nvPr/>
        </p:nvGrpSpPr>
        <p:grpSpPr>
          <a:xfrm>
            <a:off x="4347972" y="6720840"/>
            <a:ext cx="1303020" cy="548640"/>
            <a:chOff x="0" y="0"/>
            <a:chExt cx="1737360" cy="731520"/>
          </a:xfrm>
        </p:grpSpPr>
        <p:sp>
          <p:nvSpPr>
            <p:cNvPr id="47" name="Freeform 47"/>
            <p:cNvSpPr/>
            <p:nvPr/>
          </p:nvSpPr>
          <p:spPr>
            <a:xfrm>
              <a:off x="0" y="0"/>
              <a:ext cx="1737360" cy="731520"/>
            </a:xfrm>
            <a:custGeom>
              <a:avLst/>
              <a:gdLst/>
              <a:ahLst/>
              <a:cxnLst/>
              <a:rect l="l" t="t" r="r" b="b"/>
              <a:pathLst>
                <a:path w="1737360" h="731520">
                  <a:moveTo>
                    <a:pt x="0" y="0"/>
                  </a:moveTo>
                  <a:lnTo>
                    <a:pt x="1737360" y="0"/>
                  </a:lnTo>
                  <a:lnTo>
                    <a:pt x="1737360" y="731520"/>
                  </a:lnTo>
                  <a:lnTo>
                    <a:pt x="0" y="731520"/>
                  </a:lnTo>
                  <a:close/>
                </a:path>
              </a:pathLst>
            </a:custGeom>
            <a:blipFill>
              <a:blip r:embed="rId3">
                <a:alphaModFix amt="0"/>
              </a:blip>
              <a:stretch>
                <a:fillRect l="-4022" r="-4022"/>
              </a:stretch>
            </a:blipFill>
          </p:spPr>
        </p:sp>
        <p:sp>
          <p:nvSpPr>
            <p:cNvPr id="48" name="TextBox 48"/>
            <p:cNvSpPr txBox="1"/>
            <p:nvPr/>
          </p:nvSpPr>
          <p:spPr>
            <a:xfrm>
              <a:off x="0" y="-19050"/>
              <a:ext cx="1737360" cy="750570"/>
            </a:xfrm>
            <a:prstGeom prst="rect">
              <a:avLst/>
            </a:prstGeom>
          </p:spPr>
          <p:txBody>
            <a:bodyPr lIns="0" tIns="0" rIns="0" bIns="0" rtlCol="0" anchor="ctr"/>
            <a:lstStyle/>
            <a:p>
              <a:pPr algn="l">
                <a:lnSpc>
                  <a:spcPts val="3600"/>
                </a:lnSpc>
              </a:pPr>
              <a:r>
                <a:rPr lang="en-US" sz="3000" b="1">
                  <a:solidFill>
                    <a:srgbClr val="FFFFFF"/>
                  </a:solidFill>
                  <a:latin typeface="Arial Bold"/>
                  <a:ea typeface="Arial Bold"/>
                  <a:cs typeface="Arial Bold"/>
                  <a:sym typeface="Arial Bold"/>
                </a:rPr>
                <a:t>20%</a:t>
              </a:r>
            </a:p>
          </p:txBody>
        </p:sp>
      </p:grpSp>
      <p:grpSp>
        <p:nvGrpSpPr>
          <p:cNvPr id="49" name="Group 49"/>
          <p:cNvGrpSpPr/>
          <p:nvPr/>
        </p:nvGrpSpPr>
        <p:grpSpPr>
          <a:xfrm>
            <a:off x="4347972" y="7242048"/>
            <a:ext cx="1303020" cy="384048"/>
            <a:chOff x="0" y="0"/>
            <a:chExt cx="1737360" cy="512064"/>
          </a:xfrm>
        </p:grpSpPr>
        <p:sp>
          <p:nvSpPr>
            <p:cNvPr id="50" name="Freeform 50"/>
            <p:cNvSpPr/>
            <p:nvPr/>
          </p:nvSpPr>
          <p:spPr>
            <a:xfrm>
              <a:off x="0" y="0"/>
              <a:ext cx="1737360" cy="512064"/>
            </a:xfrm>
            <a:custGeom>
              <a:avLst/>
              <a:gdLst/>
              <a:ahLst/>
              <a:cxnLst/>
              <a:rect l="l" t="t" r="r" b="b"/>
              <a:pathLst>
                <a:path w="1737360" h="512064">
                  <a:moveTo>
                    <a:pt x="0" y="0"/>
                  </a:moveTo>
                  <a:lnTo>
                    <a:pt x="1737360" y="0"/>
                  </a:lnTo>
                  <a:lnTo>
                    <a:pt x="1737360" y="512064"/>
                  </a:lnTo>
                  <a:lnTo>
                    <a:pt x="0" y="512064"/>
                  </a:lnTo>
                  <a:close/>
                </a:path>
              </a:pathLst>
            </a:custGeom>
            <a:blipFill>
              <a:blip r:embed="rId3">
                <a:alphaModFix amt="0"/>
              </a:blip>
              <a:stretch>
                <a:fillRect t="-16109" b="-16109"/>
              </a:stretch>
            </a:blipFill>
          </p:spPr>
        </p:sp>
        <p:sp>
          <p:nvSpPr>
            <p:cNvPr id="51" name="TextBox 51"/>
            <p:cNvSpPr txBox="1"/>
            <p:nvPr/>
          </p:nvSpPr>
          <p:spPr>
            <a:xfrm>
              <a:off x="0" y="-19050"/>
              <a:ext cx="1737360" cy="531114"/>
            </a:xfrm>
            <a:prstGeom prst="rect">
              <a:avLst/>
            </a:prstGeom>
          </p:spPr>
          <p:txBody>
            <a:bodyPr lIns="0" tIns="0" rIns="0" bIns="0" rtlCol="0" anchor="ctr"/>
            <a:lstStyle/>
            <a:p>
              <a:pPr algn="l">
                <a:lnSpc>
                  <a:spcPts val="1980"/>
                </a:lnSpc>
              </a:pPr>
              <a:r>
                <a:rPr lang="en-US" sz="1650">
                  <a:solidFill>
                    <a:srgbClr val="9FB3CF"/>
                  </a:solidFill>
                  <a:latin typeface="Arial"/>
                  <a:ea typeface="Arial"/>
                  <a:cs typeface="Arial"/>
                  <a:sym typeface="Arial"/>
                </a:rPr>
                <a:t>Beauty</a:t>
              </a:r>
            </a:p>
          </p:txBody>
        </p:sp>
      </p:grpSp>
      <p:grpSp>
        <p:nvGrpSpPr>
          <p:cNvPr id="52" name="Group 52"/>
          <p:cNvGrpSpPr/>
          <p:nvPr/>
        </p:nvGrpSpPr>
        <p:grpSpPr>
          <a:xfrm>
            <a:off x="5678424" y="6789420"/>
            <a:ext cx="768096" cy="768096"/>
            <a:chOff x="0" y="0"/>
            <a:chExt cx="1024128" cy="1024128"/>
          </a:xfrm>
        </p:grpSpPr>
        <p:sp>
          <p:nvSpPr>
            <p:cNvPr id="53" name="Freeform 53"/>
            <p:cNvSpPr/>
            <p:nvPr/>
          </p:nvSpPr>
          <p:spPr>
            <a:xfrm>
              <a:off x="0" y="0"/>
              <a:ext cx="1024128" cy="1024128"/>
            </a:xfrm>
            <a:custGeom>
              <a:avLst/>
              <a:gdLst/>
              <a:ahLst/>
              <a:cxnLst/>
              <a:rect l="l" t="t" r="r" b="b"/>
              <a:pathLst>
                <a:path w="1024128" h="1024128">
                  <a:moveTo>
                    <a:pt x="0" y="237744"/>
                  </a:moveTo>
                  <a:cubicBezTo>
                    <a:pt x="0" y="106426"/>
                    <a:pt x="106426" y="0"/>
                    <a:pt x="237744" y="0"/>
                  </a:cubicBezTo>
                  <a:lnTo>
                    <a:pt x="786384" y="0"/>
                  </a:lnTo>
                  <a:cubicBezTo>
                    <a:pt x="917702" y="0"/>
                    <a:pt x="1024128" y="106426"/>
                    <a:pt x="1024128" y="237744"/>
                  </a:cubicBezTo>
                  <a:lnTo>
                    <a:pt x="1024128" y="786384"/>
                  </a:lnTo>
                  <a:cubicBezTo>
                    <a:pt x="1024128" y="917702"/>
                    <a:pt x="917702" y="1024128"/>
                    <a:pt x="786384" y="1024128"/>
                  </a:cubicBezTo>
                  <a:lnTo>
                    <a:pt x="237744" y="1024128"/>
                  </a:lnTo>
                  <a:cubicBezTo>
                    <a:pt x="106426" y="1024128"/>
                    <a:pt x="0" y="917702"/>
                    <a:pt x="0" y="786384"/>
                  </a:cubicBezTo>
                  <a:close/>
                </a:path>
              </a:pathLst>
            </a:custGeom>
            <a:solidFill>
              <a:srgbClr val="0AA7A2"/>
            </a:solidFill>
          </p:spPr>
        </p:sp>
      </p:grpSp>
      <p:grpSp>
        <p:nvGrpSpPr>
          <p:cNvPr id="54" name="Group 54"/>
          <p:cNvGrpSpPr/>
          <p:nvPr/>
        </p:nvGrpSpPr>
        <p:grpSpPr>
          <a:xfrm>
            <a:off x="5856732" y="6967728"/>
            <a:ext cx="411480" cy="411480"/>
            <a:chOff x="0" y="0"/>
            <a:chExt cx="548640" cy="548640"/>
          </a:xfrm>
        </p:grpSpPr>
        <p:sp>
          <p:nvSpPr>
            <p:cNvPr id="55" name="Freeform 55" descr="preencoded.png"/>
            <p:cNvSpPr/>
            <p:nvPr/>
          </p:nvSpPr>
          <p:spPr>
            <a:xfrm>
              <a:off x="0" y="0"/>
              <a:ext cx="548640" cy="548640"/>
            </a:xfrm>
            <a:custGeom>
              <a:avLst/>
              <a:gdLst/>
              <a:ahLst/>
              <a:cxnLst/>
              <a:rect l="l" t="t" r="r" b="b"/>
              <a:pathLst>
                <a:path w="548640" h="548640">
                  <a:moveTo>
                    <a:pt x="0" y="0"/>
                  </a:moveTo>
                  <a:lnTo>
                    <a:pt x="548640" y="0"/>
                  </a:lnTo>
                  <a:lnTo>
                    <a:pt x="548640" y="548640"/>
                  </a:lnTo>
                  <a:lnTo>
                    <a:pt x="0" y="548640"/>
                  </a:lnTo>
                  <a:lnTo>
                    <a:pt x="0" y="0"/>
                  </a:lnTo>
                  <a:close/>
                </a:path>
              </a:pathLst>
            </a:custGeom>
            <a:blipFill>
              <a:blip r:embed="rId6"/>
              <a:stretch>
                <a:fillRect/>
              </a:stretch>
            </a:blipFill>
          </p:spPr>
        </p:sp>
      </p:grpSp>
      <p:grpSp>
        <p:nvGrpSpPr>
          <p:cNvPr id="56" name="Group 56"/>
          <p:cNvGrpSpPr/>
          <p:nvPr/>
        </p:nvGrpSpPr>
        <p:grpSpPr>
          <a:xfrm>
            <a:off x="6569964" y="6720840"/>
            <a:ext cx="1303020" cy="548640"/>
            <a:chOff x="0" y="0"/>
            <a:chExt cx="1737360" cy="731520"/>
          </a:xfrm>
        </p:grpSpPr>
        <p:sp>
          <p:nvSpPr>
            <p:cNvPr id="57" name="Freeform 57"/>
            <p:cNvSpPr/>
            <p:nvPr/>
          </p:nvSpPr>
          <p:spPr>
            <a:xfrm>
              <a:off x="0" y="0"/>
              <a:ext cx="1737360" cy="731520"/>
            </a:xfrm>
            <a:custGeom>
              <a:avLst/>
              <a:gdLst/>
              <a:ahLst/>
              <a:cxnLst/>
              <a:rect l="l" t="t" r="r" b="b"/>
              <a:pathLst>
                <a:path w="1737360" h="731520">
                  <a:moveTo>
                    <a:pt x="0" y="0"/>
                  </a:moveTo>
                  <a:lnTo>
                    <a:pt x="1737360" y="0"/>
                  </a:lnTo>
                  <a:lnTo>
                    <a:pt x="1737360" y="731520"/>
                  </a:lnTo>
                  <a:lnTo>
                    <a:pt x="0" y="731520"/>
                  </a:lnTo>
                  <a:close/>
                </a:path>
              </a:pathLst>
            </a:custGeom>
            <a:blipFill>
              <a:blip r:embed="rId3">
                <a:alphaModFix amt="0"/>
              </a:blip>
              <a:stretch>
                <a:fillRect l="-4022" r="-4022"/>
              </a:stretch>
            </a:blipFill>
          </p:spPr>
        </p:sp>
        <p:sp>
          <p:nvSpPr>
            <p:cNvPr id="58" name="TextBox 58"/>
            <p:cNvSpPr txBox="1"/>
            <p:nvPr/>
          </p:nvSpPr>
          <p:spPr>
            <a:xfrm>
              <a:off x="0" y="-19050"/>
              <a:ext cx="1737360" cy="750570"/>
            </a:xfrm>
            <a:prstGeom prst="rect">
              <a:avLst/>
            </a:prstGeom>
          </p:spPr>
          <p:txBody>
            <a:bodyPr lIns="0" tIns="0" rIns="0" bIns="0" rtlCol="0" anchor="ctr"/>
            <a:lstStyle/>
            <a:p>
              <a:pPr algn="l">
                <a:lnSpc>
                  <a:spcPts val="3600"/>
                </a:lnSpc>
              </a:pPr>
              <a:r>
                <a:rPr lang="en-US" sz="3000" b="1">
                  <a:solidFill>
                    <a:srgbClr val="FFFFFF"/>
                  </a:solidFill>
                  <a:latin typeface="Arial Bold"/>
                  <a:ea typeface="Arial Bold"/>
                  <a:cs typeface="Arial Bold"/>
                  <a:sym typeface="Arial Bold"/>
                </a:rPr>
                <a:t>47%</a:t>
              </a:r>
            </a:p>
          </p:txBody>
        </p:sp>
      </p:grpSp>
      <p:grpSp>
        <p:nvGrpSpPr>
          <p:cNvPr id="59" name="Group 59"/>
          <p:cNvGrpSpPr/>
          <p:nvPr/>
        </p:nvGrpSpPr>
        <p:grpSpPr>
          <a:xfrm>
            <a:off x="6569964" y="7242048"/>
            <a:ext cx="1303020" cy="384048"/>
            <a:chOff x="0" y="0"/>
            <a:chExt cx="1737360" cy="512064"/>
          </a:xfrm>
        </p:grpSpPr>
        <p:sp>
          <p:nvSpPr>
            <p:cNvPr id="60" name="Freeform 60"/>
            <p:cNvSpPr/>
            <p:nvPr/>
          </p:nvSpPr>
          <p:spPr>
            <a:xfrm>
              <a:off x="0" y="0"/>
              <a:ext cx="1737360" cy="512064"/>
            </a:xfrm>
            <a:custGeom>
              <a:avLst/>
              <a:gdLst/>
              <a:ahLst/>
              <a:cxnLst/>
              <a:rect l="l" t="t" r="r" b="b"/>
              <a:pathLst>
                <a:path w="1737360" h="512064">
                  <a:moveTo>
                    <a:pt x="0" y="0"/>
                  </a:moveTo>
                  <a:lnTo>
                    <a:pt x="1737360" y="0"/>
                  </a:lnTo>
                  <a:lnTo>
                    <a:pt x="1737360" y="512064"/>
                  </a:lnTo>
                  <a:lnTo>
                    <a:pt x="0" y="512064"/>
                  </a:lnTo>
                  <a:close/>
                </a:path>
              </a:pathLst>
            </a:custGeom>
            <a:blipFill>
              <a:blip r:embed="rId3">
                <a:alphaModFix amt="0"/>
              </a:blip>
              <a:stretch>
                <a:fillRect t="-16109" b="-16109"/>
              </a:stretch>
            </a:blipFill>
          </p:spPr>
        </p:sp>
        <p:sp>
          <p:nvSpPr>
            <p:cNvPr id="61" name="TextBox 61"/>
            <p:cNvSpPr txBox="1"/>
            <p:nvPr/>
          </p:nvSpPr>
          <p:spPr>
            <a:xfrm>
              <a:off x="0" y="-19050"/>
              <a:ext cx="1737360" cy="531114"/>
            </a:xfrm>
            <a:prstGeom prst="rect">
              <a:avLst/>
            </a:prstGeom>
          </p:spPr>
          <p:txBody>
            <a:bodyPr lIns="0" tIns="0" rIns="0" bIns="0" rtlCol="0" anchor="ctr"/>
            <a:lstStyle/>
            <a:p>
              <a:pPr algn="l">
                <a:lnSpc>
                  <a:spcPts val="1980"/>
                </a:lnSpc>
              </a:pPr>
              <a:r>
                <a:rPr lang="en-US" sz="1650">
                  <a:solidFill>
                    <a:srgbClr val="9FB3CF"/>
                  </a:solidFill>
                  <a:latin typeface="Arial"/>
                  <a:ea typeface="Arial"/>
                  <a:cs typeface="Arial"/>
                  <a:sym typeface="Arial"/>
                </a:rPr>
                <a:t>pay by QR</a:t>
              </a:r>
            </a:p>
          </p:txBody>
        </p:sp>
      </p:grpSp>
      <p:grpSp>
        <p:nvGrpSpPr>
          <p:cNvPr id="62" name="Group 62"/>
          <p:cNvGrpSpPr/>
          <p:nvPr/>
        </p:nvGrpSpPr>
        <p:grpSpPr>
          <a:xfrm>
            <a:off x="5678424" y="6172200"/>
            <a:ext cx="2194560" cy="411480"/>
            <a:chOff x="0" y="0"/>
            <a:chExt cx="2926080" cy="548640"/>
          </a:xfrm>
        </p:grpSpPr>
        <p:sp>
          <p:nvSpPr>
            <p:cNvPr id="63" name="Freeform 63"/>
            <p:cNvSpPr/>
            <p:nvPr/>
          </p:nvSpPr>
          <p:spPr>
            <a:xfrm>
              <a:off x="0" y="0"/>
              <a:ext cx="2926080" cy="548640"/>
            </a:xfrm>
            <a:custGeom>
              <a:avLst/>
              <a:gdLst/>
              <a:ahLst/>
              <a:cxnLst/>
              <a:rect l="l" t="t" r="r" b="b"/>
              <a:pathLst>
                <a:path w="2926080" h="548640">
                  <a:moveTo>
                    <a:pt x="0" y="0"/>
                  </a:moveTo>
                  <a:lnTo>
                    <a:pt x="2926080" y="0"/>
                  </a:lnTo>
                  <a:lnTo>
                    <a:pt x="2926080" y="548640"/>
                  </a:lnTo>
                  <a:lnTo>
                    <a:pt x="0" y="548640"/>
                  </a:lnTo>
                  <a:close/>
                </a:path>
              </a:pathLst>
            </a:custGeom>
            <a:blipFill>
              <a:blip r:embed="rId3">
                <a:alphaModFix amt="0"/>
              </a:blip>
              <a:stretch>
                <a:fillRect t="-53920" b="-53920"/>
              </a:stretch>
            </a:blipFill>
          </p:spPr>
        </p:sp>
        <p:sp>
          <p:nvSpPr>
            <p:cNvPr id="64" name="TextBox 64"/>
            <p:cNvSpPr txBox="1"/>
            <p:nvPr/>
          </p:nvSpPr>
          <p:spPr>
            <a:xfrm>
              <a:off x="0" y="-19050"/>
              <a:ext cx="2926080" cy="567690"/>
            </a:xfrm>
            <a:prstGeom prst="rect">
              <a:avLst/>
            </a:prstGeom>
          </p:spPr>
          <p:txBody>
            <a:bodyPr lIns="0" tIns="0" rIns="0" bIns="0" rtlCol="0" anchor="ctr"/>
            <a:lstStyle/>
            <a:p>
              <a:pPr algn="l">
                <a:lnSpc>
                  <a:spcPts val="1980"/>
                </a:lnSpc>
              </a:pPr>
              <a:r>
                <a:rPr lang="en-US" sz="1650" b="1" spc="299">
                  <a:solidFill>
                    <a:srgbClr val="A7F3D0"/>
                  </a:solidFill>
                  <a:latin typeface="Arial Bold"/>
                  <a:ea typeface="Arial Bold"/>
                  <a:cs typeface="Arial Bold"/>
                  <a:sym typeface="Arial Bold"/>
                </a:rPr>
                <a:t>HOW THEY PAY</a:t>
              </a:r>
            </a:p>
          </p:txBody>
        </p:sp>
      </p:grpSp>
      <p:grpSp>
        <p:nvGrpSpPr>
          <p:cNvPr id="65" name="Group 65"/>
          <p:cNvGrpSpPr/>
          <p:nvPr/>
        </p:nvGrpSpPr>
        <p:grpSpPr>
          <a:xfrm>
            <a:off x="1234440" y="7955280"/>
            <a:ext cx="6446520" cy="685800"/>
            <a:chOff x="0" y="0"/>
            <a:chExt cx="8595360" cy="914400"/>
          </a:xfrm>
        </p:grpSpPr>
        <p:sp>
          <p:nvSpPr>
            <p:cNvPr id="66" name="Freeform 66"/>
            <p:cNvSpPr/>
            <p:nvPr/>
          </p:nvSpPr>
          <p:spPr>
            <a:xfrm>
              <a:off x="0" y="0"/>
              <a:ext cx="8595360" cy="914400"/>
            </a:xfrm>
            <a:custGeom>
              <a:avLst/>
              <a:gdLst/>
              <a:ahLst/>
              <a:cxnLst/>
              <a:rect l="l" t="t" r="r" b="b"/>
              <a:pathLst>
                <a:path w="8595360" h="914400">
                  <a:moveTo>
                    <a:pt x="0" y="0"/>
                  </a:moveTo>
                  <a:lnTo>
                    <a:pt x="8595360" y="0"/>
                  </a:lnTo>
                  <a:lnTo>
                    <a:pt x="8595360" y="914400"/>
                  </a:lnTo>
                  <a:lnTo>
                    <a:pt x="0" y="914400"/>
                  </a:lnTo>
                  <a:close/>
                </a:path>
              </a:pathLst>
            </a:custGeom>
            <a:blipFill>
              <a:blip r:embed="rId3">
                <a:alphaModFix amt="0"/>
              </a:blip>
              <a:stretch>
                <a:fillRect t="-133159" b="-133159"/>
              </a:stretch>
            </a:blipFill>
          </p:spPr>
        </p:sp>
        <p:sp>
          <p:nvSpPr>
            <p:cNvPr id="67" name="TextBox 67"/>
            <p:cNvSpPr txBox="1"/>
            <p:nvPr/>
          </p:nvSpPr>
          <p:spPr>
            <a:xfrm>
              <a:off x="0" y="-19050"/>
              <a:ext cx="8595360" cy="933450"/>
            </a:xfrm>
            <a:prstGeom prst="rect">
              <a:avLst/>
            </a:prstGeom>
          </p:spPr>
          <p:txBody>
            <a:bodyPr lIns="0" tIns="0" rIns="0" bIns="0" rtlCol="0" anchor="ctr"/>
            <a:lstStyle/>
            <a:p>
              <a:pPr algn="l">
                <a:lnSpc>
                  <a:spcPts val="2340"/>
                </a:lnSpc>
              </a:pPr>
              <a:r>
                <a:rPr lang="en-US" sz="1950" b="1">
                  <a:solidFill>
                    <a:srgbClr val="FFFFFF"/>
                  </a:solidFill>
                  <a:latin typeface="Arial Bold"/>
                  <a:ea typeface="Arial Bold"/>
                  <a:cs typeface="Arial Bold"/>
                  <a:sym typeface="Arial Bold"/>
                </a:rPr>
                <a:t>Our first categories are the two biggest.</a:t>
              </a:r>
            </a:p>
          </p:txBody>
        </p:sp>
      </p:grpSp>
      <p:grpSp>
        <p:nvGrpSpPr>
          <p:cNvPr id="68" name="Group 68"/>
          <p:cNvGrpSpPr/>
          <p:nvPr/>
        </p:nvGrpSpPr>
        <p:grpSpPr>
          <a:xfrm>
            <a:off x="8622030" y="2518410"/>
            <a:ext cx="6347460" cy="6347460"/>
            <a:chOff x="0" y="0"/>
            <a:chExt cx="8463280" cy="8463280"/>
          </a:xfrm>
        </p:grpSpPr>
        <p:sp>
          <p:nvSpPr>
            <p:cNvPr id="69" name="Freeform 69"/>
            <p:cNvSpPr/>
            <p:nvPr/>
          </p:nvSpPr>
          <p:spPr>
            <a:xfrm>
              <a:off x="0" y="0"/>
              <a:ext cx="8463280" cy="8463280"/>
            </a:xfrm>
            <a:custGeom>
              <a:avLst/>
              <a:gdLst/>
              <a:ahLst/>
              <a:cxnLst/>
              <a:rect l="l" t="t" r="r" b="b"/>
              <a:pathLst>
                <a:path w="8463280" h="8463280">
                  <a:moveTo>
                    <a:pt x="0" y="4231640"/>
                  </a:moveTo>
                  <a:cubicBezTo>
                    <a:pt x="0" y="1894586"/>
                    <a:pt x="1894586" y="0"/>
                    <a:pt x="4231640" y="0"/>
                  </a:cubicBezTo>
                  <a:cubicBezTo>
                    <a:pt x="6568694" y="0"/>
                    <a:pt x="8463280" y="1894586"/>
                    <a:pt x="8463280" y="4231640"/>
                  </a:cubicBezTo>
                  <a:cubicBezTo>
                    <a:pt x="8463280" y="6568694"/>
                    <a:pt x="6568694" y="8463280"/>
                    <a:pt x="4231640" y="8463280"/>
                  </a:cubicBezTo>
                  <a:cubicBezTo>
                    <a:pt x="1894587" y="8463280"/>
                    <a:pt x="0" y="6568694"/>
                    <a:pt x="0" y="4231640"/>
                  </a:cubicBezTo>
                  <a:close/>
                </a:path>
              </a:pathLst>
            </a:custGeom>
            <a:solidFill>
              <a:srgbClr val="DBEAFE"/>
            </a:solidFill>
            <a:ln w="38100" cap="sq">
              <a:solidFill>
                <a:srgbClr val="FFFFFF"/>
              </a:solidFill>
              <a:prstDash val="solid"/>
              <a:miter/>
            </a:ln>
          </p:spPr>
        </p:sp>
      </p:grpSp>
      <p:grpSp>
        <p:nvGrpSpPr>
          <p:cNvPr id="70" name="Group 70"/>
          <p:cNvGrpSpPr/>
          <p:nvPr/>
        </p:nvGrpSpPr>
        <p:grpSpPr>
          <a:xfrm>
            <a:off x="9650730" y="4575810"/>
            <a:ext cx="4290060" cy="4290060"/>
            <a:chOff x="0" y="0"/>
            <a:chExt cx="5720080" cy="5720080"/>
          </a:xfrm>
        </p:grpSpPr>
        <p:sp>
          <p:nvSpPr>
            <p:cNvPr id="71" name="Freeform 71"/>
            <p:cNvSpPr/>
            <p:nvPr/>
          </p:nvSpPr>
          <p:spPr>
            <a:xfrm>
              <a:off x="0" y="0"/>
              <a:ext cx="5720080" cy="5720080"/>
            </a:xfrm>
            <a:custGeom>
              <a:avLst/>
              <a:gdLst/>
              <a:ahLst/>
              <a:cxnLst/>
              <a:rect l="l" t="t" r="r" b="b"/>
              <a:pathLst>
                <a:path w="5720080" h="5720080">
                  <a:moveTo>
                    <a:pt x="0" y="2860040"/>
                  </a:moveTo>
                  <a:cubicBezTo>
                    <a:pt x="0" y="1280541"/>
                    <a:pt x="1280541" y="0"/>
                    <a:pt x="2860040" y="0"/>
                  </a:cubicBezTo>
                  <a:cubicBezTo>
                    <a:pt x="4439539" y="0"/>
                    <a:pt x="5720080" y="1280541"/>
                    <a:pt x="5720080" y="2860040"/>
                  </a:cubicBezTo>
                  <a:cubicBezTo>
                    <a:pt x="5720080" y="4439539"/>
                    <a:pt x="4439539" y="5720080"/>
                    <a:pt x="2860040" y="5720080"/>
                  </a:cubicBezTo>
                  <a:cubicBezTo>
                    <a:pt x="1280541" y="5720080"/>
                    <a:pt x="0" y="4439539"/>
                    <a:pt x="0" y="2860040"/>
                  </a:cubicBezTo>
                  <a:close/>
                </a:path>
              </a:pathLst>
            </a:custGeom>
            <a:solidFill>
              <a:srgbClr val="CCFBF1"/>
            </a:solidFill>
            <a:ln w="38100" cap="sq">
              <a:solidFill>
                <a:srgbClr val="FFFFFF"/>
              </a:solidFill>
              <a:prstDash val="solid"/>
              <a:miter/>
            </a:ln>
          </p:spPr>
        </p:sp>
      </p:grpSp>
      <p:grpSp>
        <p:nvGrpSpPr>
          <p:cNvPr id="72" name="Group 72"/>
          <p:cNvGrpSpPr/>
          <p:nvPr/>
        </p:nvGrpSpPr>
        <p:grpSpPr>
          <a:xfrm>
            <a:off x="10713720" y="6701790"/>
            <a:ext cx="2164080" cy="2164080"/>
            <a:chOff x="0" y="0"/>
            <a:chExt cx="2885440" cy="2885440"/>
          </a:xfrm>
        </p:grpSpPr>
        <p:sp>
          <p:nvSpPr>
            <p:cNvPr id="73" name="Freeform 73"/>
            <p:cNvSpPr/>
            <p:nvPr/>
          </p:nvSpPr>
          <p:spPr>
            <a:xfrm>
              <a:off x="0" y="0"/>
              <a:ext cx="2885440" cy="2885440"/>
            </a:xfrm>
            <a:custGeom>
              <a:avLst/>
              <a:gdLst/>
              <a:ahLst/>
              <a:cxnLst/>
              <a:rect l="l" t="t" r="r" b="b"/>
              <a:pathLst>
                <a:path w="2885440" h="2885440">
                  <a:moveTo>
                    <a:pt x="0" y="1442720"/>
                  </a:moveTo>
                  <a:cubicBezTo>
                    <a:pt x="0" y="645922"/>
                    <a:pt x="645922" y="0"/>
                    <a:pt x="1442720" y="0"/>
                  </a:cubicBezTo>
                  <a:cubicBezTo>
                    <a:pt x="2239518" y="0"/>
                    <a:pt x="2885440" y="645922"/>
                    <a:pt x="2885440" y="1442720"/>
                  </a:cubicBezTo>
                  <a:cubicBezTo>
                    <a:pt x="2885440" y="2239518"/>
                    <a:pt x="2239518" y="2885440"/>
                    <a:pt x="1442720" y="2885440"/>
                  </a:cubicBezTo>
                  <a:cubicBezTo>
                    <a:pt x="645922" y="2885440"/>
                    <a:pt x="0" y="2239518"/>
                    <a:pt x="0" y="1442720"/>
                  </a:cubicBezTo>
                  <a:close/>
                </a:path>
              </a:pathLst>
            </a:custGeom>
            <a:solidFill>
              <a:srgbClr val="FFEDD5"/>
            </a:solidFill>
            <a:ln w="38100" cap="sq">
              <a:solidFill>
                <a:srgbClr val="FFFFFF"/>
              </a:solidFill>
              <a:prstDash val="solid"/>
              <a:miter/>
            </a:ln>
          </p:spPr>
        </p:sp>
      </p:grpSp>
      <p:grpSp>
        <p:nvGrpSpPr>
          <p:cNvPr id="74" name="Group 74"/>
          <p:cNvGrpSpPr/>
          <p:nvPr/>
        </p:nvGrpSpPr>
        <p:grpSpPr>
          <a:xfrm>
            <a:off x="10972800" y="3017520"/>
            <a:ext cx="1645920" cy="480060"/>
            <a:chOff x="0" y="0"/>
            <a:chExt cx="2194560" cy="640080"/>
          </a:xfrm>
        </p:grpSpPr>
        <p:sp>
          <p:nvSpPr>
            <p:cNvPr id="75" name="Freeform 75"/>
            <p:cNvSpPr/>
            <p:nvPr/>
          </p:nvSpPr>
          <p:spPr>
            <a:xfrm>
              <a:off x="0" y="0"/>
              <a:ext cx="2194560" cy="640080"/>
            </a:xfrm>
            <a:custGeom>
              <a:avLst/>
              <a:gdLst/>
              <a:ahLst/>
              <a:cxnLst/>
              <a:rect l="l" t="t" r="r" b="b"/>
              <a:pathLst>
                <a:path w="2194560" h="640080">
                  <a:moveTo>
                    <a:pt x="0" y="0"/>
                  </a:moveTo>
                  <a:lnTo>
                    <a:pt x="2194560" y="0"/>
                  </a:lnTo>
                  <a:lnTo>
                    <a:pt x="2194560" y="640080"/>
                  </a:lnTo>
                  <a:lnTo>
                    <a:pt x="0" y="640080"/>
                  </a:lnTo>
                  <a:close/>
                </a:path>
              </a:pathLst>
            </a:custGeom>
            <a:blipFill>
              <a:blip r:embed="rId3">
                <a:alphaModFix amt="0"/>
              </a:blip>
              <a:stretch>
                <a:fillRect t="-16805" b="-16805"/>
              </a:stretch>
            </a:blipFill>
          </p:spPr>
        </p:sp>
        <p:sp>
          <p:nvSpPr>
            <p:cNvPr id="76" name="TextBox 76"/>
            <p:cNvSpPr txBox="1"/>
            <p:nvPr/>
          </p:nvSpPr>
          <p:spPr>
            <a:xfrm>
              <a:off x="0" y="-9525"/>
              <a:ext cx="2194560" cy="649605"/>
            </a:xfrm>
            <a:prstGeom prst="rect">
              <a:avLst/>
            </a:prstGeom>
          </p:spPr>
          <p:txBody>
            <a:bodyPr lIns="0" tIns="0" rIns="0" bIns="0" rtlCol="0" anchor="ctr"/>
            <a:lstStyle/>
            <a:p>
              <a:pPr algn="ctr">
                <a:lnSpc>
                  <a:spcPts val="2520"/>
                </a:lnSpc>
              </a:pPr>
              <a:r>
                <a:rPr lang="en-US" sz="2100" b="1">
                  <a:solidFill>
                    <a:srgbClr val="2463E8"/>
                  </a:solidFill>
                  <a:latin typeface="Arial Bold"/>
                  <a:ea typeface="Arial Bold"/>
                  <a:cs typeface="Arial Bold"/>
                  <a:sym typeface="Arial Bold"/>
                </a:rPr>
                <a:t>TAM</a:t>
              </a:r>
            </a:p>
          </p:txBody>
        </p:sp>
      </p:grpSp>
      <p:grpSp>
        <p:nvGrpSpPr>
          <p:cNvPr id="77" name="Group 77"/>
          <p:cNvGrpSpPr/>
          <p:nvPr/>
        </p:nvGrpSpPr>
        <p:grpSpPr>
          <a:xfrm>
            <a:off x="10972800" y="5006340"/>
            <a:ext cx="1645920" cy="480060"/>
            <a:chOff x="0" y="0"/>
            <a:chExt cx="2194560" cy="640080"/>
          </a:xfrm>
        </p:grpSpPr>
        <p:sp>
          <p:nvSpPr>
            <p:cNvPr id="78" name="Freeform 78"/>
            <p:cNvSpPr/>
            <p:nvPr/>
          </p:nvSpPr>
          <p:spPr>
            <a:xfrm>
              <a:off x="0" y="0"/>
              <a:ext cx="2194560" cy="640080"/>
            </a:xfrm>
            <a:custGeom>
              <a:avLst/>
              <a:gdLst/>
              <a:ahLst/>
              <a:cxnLst/>
              <a:rect l="l" t="t" r="r" b="b"/>
              <a:pathLst>
                <a:path w="2194560" h="640080">
                  <a:moveTo>
                    <a:pt x="0" y="0"/>
                  </a:moveTo>
                  <a:lnTo>
                    <a:pt x="2194560" y="0"/>
                  </a:lnTo>
                  <a:lnTo>
                    <a:pt x="2194560" y="640080"/>
                  </a:lnTo>
                  <a:lnTo>
                    <a:pt x="0" y="640080"/>
                  </a:lnTo>
                  <a:close/>
                </a:path>
              </a:pathLst>
            </a:custGeom>
            <a:blipFill>
              <a:blip r:embed="rId3">
                <a:alphaModFix amt="0"/>
              </a:blip>
              <a:stretch>
                <a:fillRect t="-16805" b="-16805"/>
              </a:stretch>
            </a:blipFill>
          </p:spPr>
        </p:sp>
        <p:sp>
          <p:nvSpPr>
            <p:cNvPr id="79" name="TextBox 79"/>
            <p:cNvSpPr txBox="1"/>
            <p:nvPr/>
          </p:nvSpPr>
          <p:spPr>
            <a:xfrm>
              <a:off x="0" y="-9525"/>
              <a:ext cx="2194560" cy="649605"/>
            </a:xfrm>
            <a:prstGeom prst="rect">
              <a:avLst/>
            </a:prstGeom>
          </p:spPr>
          <p:txBody>
            <a:bodyPr lIns="0" tIns="0" rIns="0" bIns="0" rtlCol="0" anchor="ctr"/>
            <a:lstStyle/>
            <a:p>
              <a:pPr algn="ctr">
                <a:lnSpc>
                  <a:spcPts val="2520"/>
                </a:lnSpc>
              </a:pPr>
              <a:r>
                <a:rPr lang="en-US" sz="2100" b="1">
                  <a:solidFill>
                    <a:srgbClr val="0AA7A2"/>
                  </a:solidFill>
                  <a:latin typeface="Arial Bold"/>
                  <a:ea typeface="Arial Bold"/>
                  <a:cs typeface="Arial Bold"/>
                  <a:sym typeface="Arial Bold"/>
                </a:rPr>
                <a:t>SAM</a:t>
              </a:r>
            </a:p>
          </p:txBody>
        </p:sp>
      </p:grpSp>
      <p:grpSp>
        <p:nvGrpSpPr>
          <p:cNvPr id="80" name="Group 80"/>
          <p:cNvGrpSpPr/>
          <p:nvPr/>
        </p:nvGrpSpPr>
        <p:grpSpPr>
          <a:xfrm>
            <a:off x="10972800" y="7475220"/>
            <a:ext cx="1645920" cy="548640"/>
            <a:chOff x="0" y="0"/>
            <a:chExt cx="2194560" cy="731520"/>
          </a:xfrm>
        </p:grpSpPr>
        <p:sp>
          <p:nvSpPr>
            <p:cNvPr id="81" name="Freeform 81"/>
            <p:cNvSpPr/>
            <p:nvPr/>
          </p:nvSpPr>
          <p:spPr>
            <a:xfrm>
              <a:off x="0" y="0"/>
              <a:ext cx="2194560" cy="731520"/>
            </a:xfrm>
            <a:custGeom>
              <a:avLst/>
              <a:gdLst/>
              <a:ahLst/>
              <a:cxnLst/>
              <a:rect l="l" t="t" r="r" b="b"/>
              <a:pathLst>
                <a:path w="2194560" h="731520">
                  <a:moveTo>
                    <a:pt x="0" y="0"/>
                  </a:moveTo>
                  <a:lnTo>
                    <a:pt x="2194560" y="0"/>
                  </a:lnTo>
                  <a:lnTo>
                    <a:pt x="2194560" y="731520"/>
                  </a:lnTo>
                  <a:lnTo>
                    <a:pt x="0" y="731520"/>
                  </a:lnTo>
                  <a:close/>
                </a:path>
              </a:pathLst>
            </a:custGeom>
            <a:blipFill>
              <a:blip r:embed="rId3">
                <a:alphaModFix amt="0"/>
              </a:blip>
              <a:stretch>
                <a:fillRect t="-8455" b="-8455"/>
              </a:stretch>
            </a:blipFill>
          </p:spPr>
        </p:sp>
        <p:sp>
          <p:nvSpPr>
            <p:cNvPr id="82" name="TextBox 82"/>
            <p:cNvSpPr txBox="1"/>
            <p:nvPr/>
          </p:nvSpPr>
          <p:spPr>
            <a:xfrm>
              <a:off x="0" y="-9525"/>
              <a:ext cx="2194560" cy="741045"/>
            </a:xfrm>
            <a:prstGeom prst="rect">
              <a:avLst/>
            </a:prstGeom>
          </p:spPr>
          <p:txBody>
            <a:bodyPr lIns="0" tIns="0" rIns="0" bIns="0" rtlCol="0" anchor="ctr"/>
            <a:lstStyle/>
            <a:p>
              <a:pPr algn="ctr">
                <a:lnSpc>
                  <a:spcPts val="2520"/>
                </a:lnSpc>
              </a:pPr>
              <a:r>
                <a:rPr lang="en-US" sz="2100" b="1">
                  <a:solidFill>
                    <a:srgbClr val="F97316"/>
                  </a:solidFill>
                  <a:latin typeface="Arial Bold"/>
                  <a:ea typeface="Arial Bold"/>
                  <a:cs typeface="Arial Bold"/>
                  <a:sym typeface="Arial Bold"/>
                </a:rPr>
                <a:t>SOM</a:t>
              </a:r>
            </a:p>
          </p:txBody>
        </p:sp>
      </p:grpSp>
      <p:sp>
        <p:nvSpPr>
          <p:cNvPr id="83" name="AutoShape 83"/>
          <p:cNvSpPr/>
          <p:nvPr/>
        </p:nvSpPr>
        <p:spPr>
          <a:xfrm rot="100140">
            <a:off x="14052633" y="3213735"/>
            <a:ext cx="980884" cy="0"/>
          </a:xfrm>
          <a:prstGeom prst="line">
            <a:avLst/>
          </a:prstGeom>
          <a:ln w="19050" cap="rnd">
            <a:solidFill>
              <a:srgbClr val="2463E8"/>
            </a:solidFill>
            <a:prstDash val="solid"/>
            <a:headEnd type="none" w="sm" len="sm"/>
            <a:tailEnd type="none" w="sm" len="sm"/>
          </a:ln>
        </p:spPr>
      </p:sp>
      <p:grpSp>
        <p:nvGrpSpPr>
          <p:cNvPr id="84" name="Group 84"/>
          <p:cNvGrpSpPr/>
          <p:nvPr/>
        </p:nvGrpSpPr>
        <p:grpSpPr>
          <a:xfrm>
            <a:off x="15156180" y="2715768"/>
            <a:ext cx="3154680" cy="617220"/>
            <a:chOff x="0" y="0"/>
            <a:chExt cx="4206240" cy="822960"/>
          </a:xfrm>
        </p:grpSpPr>
        <p:sp>
          <p:nvSpPr>
            <p:cNvPr id="85" name="Freeform 85"/>
            <p:cNvSpPr/>
            <p:nvPr/>
          </p:nvSpPr>
          <p:spPr>
            <a:xfrm>
              <a:off x="0" y="0"/>
              <a:ext cx="4206240" cy="822960"/>
            </a:xfrm>
            <a:custGeom>
              <a:avLst/>
              <a:gdLst/>
              <a:ahLst/>
              <a:cxnLst/>
              <a:rect l="l" t="t" r="r" b="b"/>
              <a:pathLst>
                <a:path w="4206240" h="822960">
                  <a:moveTo>
                    <a:pt x="0" y="0"/>
                  </a:moveTo>
                  <a:lnTo>
                    <a:pt x="4206240" y="0"/>
                  </a:lnTo>
                  <a:lnTo>
                    <a:pt x="4206240" y="822960"/>
                  </a:lnTo>
                  <a:lnTo>
                    <a:pt x="0" y="822960"/>
                  </a:lnTo>
                  <a:close/>
                </a:path>
              </a:pathLst>
            </a:custGeom>
            <a:blipFill>
              <a:blip r:embed="rId3">
                <a:alphaModFix amt="0"/>
              </a:blip>
              <a:stretch>
                <a:fillRect t="-49590" b="-49590"/>
              </a:stretch>
            </a:blipFill>
          </p:spPr>
        </p:sp>
        <p:sp>
          <p:nvSpPr>
            <p:cNvPr id="86" name="TextBox 86"/>
            <p:cNvSpPr txBox="1"/>
            <p:nvPr/>
          </p:nvSpPr>
          <p:spPr>
            <a:xfrm>
              <a:off x="0" y="-28575"/>
              <a:ext cx="4206240" cy="851535"/>
            </a:xfrm>
            <a:prstGeom prst="rect">
              <a:avLst/>
            </a:prstGeom>
          </p:spPr>
          <p:txBody>
            <a:bodyPr lIns="0" tIns="0" rIns="0" bIns="0" rtlCol="0" anchor="ctr"/>
            <a:lstStyle/>
            <a:p>
              <a:pPr algn="l">
                <a:lnSpc>
                  <a:spcPts val="3960"/>
                </a:lnSpc>
              </a:pPr>
              <a:r>
                <a:rPr lang="en-US" sz="3300" b="1">
                  <a:solidFill>
                    <a:srgbClr val="15243A"/>
                  </a:solidFill>
                  <a:latin typeface="Arial Bold"/>
                  <a:ea typeface="Arial Bold"/>
                  <a:cs typeface="Arial Bold"/>
                  <a:sym typeface="Arial Bold"/>
                </a:rPr>
                <a:t>410,600</a:t>
              </a:r>
            </a:p>
          </p:txBody>
        </p:sp>
      </p:grpSp>
      <p:sp>
        <p:nvSpPr>
          <p:cNvPr id="87" name="TextBox 87"/>
          <p:cNvSpPr txBox="1"/>
          <p:nvPr/>
        </p:nvSpPr>
        <p:spPr>
          <a:xfrm>
            <a:off x="15156180" y="3282315"/>
            <a:ext cx="3154680" cy="626745"/>
          </a:xfrm>
          <a:prstGeom prst="rect">
            <a:avLst/>
          </a:prstGeom>
        </p:spPr>
        <p:txBody>
          <a:bodyPr lIns="0" tIns="0" rIns="0" bIns="0" rtlCol="0" anchor="t">
            <a:spAutoFit/>
          </a:bodyPr>
          <a:lstStyle/>
          <a:p>
            <a:pPr algn="l">
              <a:lnSpc>
                <a:spcPts val="1889"/>
              </a:lnSpc>
            </a:pPr>
            <a:r>
              <a:rPr lang="en-US" sz="1575">
                <a:solidFill>
                  <a:srgbClr val="52637A"/>
                </a:solidFill>
                <a:latin typeface="Arial"/>
                <a:ea typeface="Arial"/>
                <a:cs typeface="Arial"/>
                <a:sym typeface="Arial"/>
              </a:rPr>
              <a:t>retail shops in Cambodia</a:t>
            </a:r>
          </a:p>
        </p:txBody>
      </p:sp>
      <p:grpSp>
        <p:nvGrpSpPr>
          <p:cNvPr id="88" name="Group 88"/>
          <p:cNvGrpSpPr/>
          <p:nvPr/>
        </p:nvGrpSpPr>
        <p:grpSpPr>
          <a:xfrm>
            <a:off x="15156180" y="3867912"/>
            <a:ext cx="3154680" cy="411480"/>
            <a:chOff x="0" y="0"/>
            <a:chExt cx="4206240" cy="548640"/>
          </a:xfrm>
        </p:grpSpPr>
        <p:sp>
          <p:nvSpPr>
            <p:cNvPr id="89" name="Freeform 89"/>
            <p:cNvSpPr/>
            <p:nvPr/>
          </p:nvSpPr>
          <p:spPr>
            <a:xfrm>
              <a:off x="0" y="0"/>
              <a:ext cx="4206240" cy="548640"/>
            </a:xfrm>
            <a:custGeom>
              <a:avLst/>
              <a:gdLst/>
              <a:ahLst/>
              <a:cxnLst/>
              <a:rect l="l" t="t" r="r" b="b"/>
              <a:pathLst>
                <a:path w="4206240" h="548640">
                  <a:moveTo>
                    <a:pt x="0" y="0"/>
                  </a:moveTo>
                  <a:lnTo>
                    <a:pt x="4206240" y="0"/>
                  </a:lnTo>
                  <a:lnTo>
                    <a:pt x="4206240" y="548640"/>
                  </a:lnTo>
                  <a:lnTo>
                    <a:pt x="0" y="548640"/>
                  </a:lnTo>
                  <a:close/>
                </a:path>
              </a:pathLst>
            </a:custGeom>
            <a:blipFill>
              <a:blip r:embed="rId3">
                <a:alphaModFix amt="0"/>
              </a:blip>
              <a:stretch>
                <a:fillRect t="-99385" b="-99385"/>
              </a:stretch>
            </a:blipFill>
          </p:spPr>
        </p:sp>
        <p:sp>
          <p:nvSpPr>
            <p:cNvPr id="90" name="TextBox 90"/>
            <p:cNvSpPr txBox="1"/>
            <p:nvPr/>
          </p:nvSpPr>
          <p:spPr>
            <a:xfrm>
              <a:off x="0" y="-19050"/>
              <a:ext cx="4206240" cy="567690"/>
            </a:xfrm>
            <a:prstGeom prst="rect">
              <a:avLst/>
            </a:prstGeom>
          </p:spPr>
          <p:txBody>
            <a:bodyPr lIns="0" tIns="0" rIns="0" bIns="0" rtlCol="0" anchor="ctr"/>
            <a:lstStyle/>
            <a:p>
              <a:pPr algn="l">
                <a:lnSpc>
                  <a:spcPts val="2340"/>
                </a:lnSpc>
              </a:pPr>
              <a:r>
                <a:rPr lang="en-US" sz="1950" b="1">
                  <a:solidFill>
                    <a:srgbClr val="2463E8"/>
                  </a:solidFill>
                  <a:latin typeface="Arial Bold"/>
                  <a:ea typeface="Arial Bold"/>
                  <a:cs typeface="Arial Bold"/>
                  <a:sym typeface="Arial Bold"/>
                </a:rPr>
                <a:t>$22.4M / yr</a:t>
              </a:r>
            </a:p>
          </p:txBody>
        </p:sp>
      </p:grpSp>
      <p:sp>
        <p:nvSpPr>
          <p:cNvPr id="91" name="AutoShape 91"/>
          <p:cNvSpPr/>
          <p:nvPr/>
        </p:nvSpPr>
        <p:spPr>
          <a:xfrm rot="57060">
            <a:off x="13312054" y="5271135"/>
            <a:ext cx="1721368" cy="0"/>
          </a:xfrm>
          <a:prstGeom prst="line">
            <a:avLst/>
          </a:prstGeom>
          <a:ln w="19050" cap="rnd">
            <a:solidFill>
              <a:srgbClr val="0AA7A2"/>
            </a:solidFill>
            <a:prstDash val="solid"/>
            <a:headEnd type="none" w="sm" len="sm"/>
            <a:tailEnd type="none" w="sm" len="sm"/>
          </a:ln>
        </p:spPr>
      </p:sp>
      <p:grpSp>
        <p:nvGrpSpPr>
          <p:cNvPr id="92" name="Group 92"/>
          <p:cNvGrpSpPr/>
          <p:nvPr/>
        </p:nvGrpSpPr>
        <p:grpSpPr>
          <a:xfrm>
            <a:off x="15156180" y="4773168"/>
            <a:ext cx="3154680" cy="617220"/>
            <a:chOff x="0" y="0"/>
            <a:chExt cx="4206240" cy="822960"/>
          </a:xfrm>
        </p:grpSpPr>
        <p:sp>
          <p:nvSpPr>
            <p:cNvPr id="93" name="Freeform 93"/>
            <p:cNvSpPr/>
            <p:nvPr/>
          </p:nvSpPr>
          <p:spPr>
            <a:xfrm>
              <a:off x="0" y="0"/>
              <a:ext cx="4206240" cy="822960"/>
            </a:xfrm>
            <a:custGeom>
              <a:avLst/>
              <a:gdLst/>
              <a:ahLst/>
              <a:cxnLst/>
              <a:rect l="l" t="t" r="r" b="b"/>
              <a:pathLst>
                <a:path w="4206240" h="822960">
                  <a:moveTo>
                    <a:pt x="0" y="0"/>
                  </a:moveTo>
                  <a:lnTo>
                    <a:pt x="4206240" y="0"/>
                  </a:lnTo>
                  <a:lnTo>
                    <a:pt x="4206240" y="822960"/>
                  </a:lnTo>
                  <a:lnTo>
                    <a:pt x="0" y="822960"/>
                  </a:lnTo>
                  <a:close/>
                </a:path>
              </a:pathLst>
            </a:custGeom>
            <a:blipFill>
              <a:blip r:embed="rId3">
                <a:alphaModFix amt="0"/>
              </a:blip>
              <a:stretch>
                <a:fillRect t="-49590" b="-49590"/>
              </a:stretch>
            </a:blipFill>
          </p:spPr>
        </p:sp>
        <p:sp>
          <p:nvSpPr>
            <p:cNvPr id="94" name="TextBox 94"/>
            <p:cNvSpPr txBox="1"/>
            <p:nvPr/>
          </p:nvSpPr>
          <p:spPr>
            <a:xfrm>
              <a:off x="0" y="-28575"/>
              <a:ext cx="4206240" cy="851535"/>
            </a:xfrm>
            <a:prstGeom prst="rect">
              <a:avLst/>
            </a:prstGeom>
          </p:spPr>
          <p:txBody>
            <a:bodyPr lIns="0" tIns="0" rIns="0" bIns="0" rtlCol="0" anchor="ctr"/>
            <a:lstStyle/>
            <a:p>
              <a:pPr algn="l">
                <a:lnSpc>
                  <a:spcPts val="3960"/>
                </a:lnSpc>
              </a:pPr>
              <a:r>
                <a:rPr lang="en-US" sz="3300" b="1">
                  <a:solidFill>
                    <a:srgbClr val="15243A"/>
                  </a:solidFill>
                  <a:latin typeface="Arial Bold"/>
                  <a:ea typeface="Arial Bold"/>
                  <a:cs typeface="Arial Bold"/>
                  <a:sym typeface="Arial Bold"/>
                </a:rPr>
                <a:t>65,400</a:t>
              </a:r>
            </a:p>
          </p:txBody>
        </p:sp>
      </p:grpSp>
      <p:sp>
        <p:nvSpPr>
          <p:cNvPr id="95" name="TextBox 95"/>
          <p:cNvSpPr txBox="1"/>
          <p:nvPr/>
        </p:nvSpPr>
        <p:spPr>
          <a:xfrm>
            <a:off x="15156180" y="5339715"/>
            <a:ext cx="3154680" cy="626745"/>
          </a:xfrm>
          <a:prstGeom prst="rect">
            <a:avLst/>
          </a:prstGeom>
        </p:spPr>
        <p:txBody>
          <a:bodyPr lIns="0" tIns="0" rIns="0" bIns="0" rtlCol="0" anchor="t">
            <a:spAutoFit/>
          </a:bodyPr>
          <a:lstStyle/>
          <a:p>
            <a:pPr algn="l">
              <a:lnSpc>
                <a:spcPts val="1889"/>
              </a:lnSpc>
            </a:pPr>
            <a:r>
              <a:rPr lang="en-US" sz="1575">
                <a:solidFill>
                  <a:srgbClr val="52637A"/>
                </a:solidFill>
                <a:latin typeface="Arial"/>
                <a:ea typeface="Arial"/>
                <a:cs typeface="Arial"/>
                <a:sym typeface="Arial"/>
              </a:rPr>
              <a:t>specialized stores: fashion, beauty, electronics, home…</a:t>
            </a:r>
          </a:p>
        </p:txBody>
      </p:sp>
      <p:grpSp>
        <p:nvGrpSpPr>
          <p:cNvPr id="96" name="Group 96"/>
          <p:cNvGrpSpPr/>
          <p:nvPr/>
        </p:nvGrpSpPr>
        <p:grpSpPr>
          <a:xfrm>
            <a:off x="15156180" y="5925312"/>
            <a:ext cx="3154680" cy="411480"/>
            <a:chOff x="0" y="0"/>
            <a:chExt cx="4206240" cy="548640"/>
          </a:xfrm>
        </p:grpSpPr>
        <p:sp>
          <p:nvSpPr>
            <p:cNvPr id="97" name="Freeform 97"/>
            <p:cNvSpPr/>
            <p:nvPr/>
          </p:nvSpPr>
          <p:spPr>
            <a:xfrm>
              <a:off x="0" y="0"/>
              <a:ext cx="4206240" cy="548640"/>
            </a:xfrm>
            <a:custGeom>
              <a:avLst/>
              <a:gdLst/>
              <a:ahLst/>
              <a:cxnLst/>
              <a:rect l="l" t="t" r="r" b="b"/>
              <a:pathLst>
                <a:path w="4206240" h="548640">
                  <a:moveTo>
                    <a:pt x="0" y="0"/>
                  </a:moveTo>
                  <a:lnTo>
                    <a:pt x="4206240" y="0"/>
                  </a:lnTo>
                  <a:lnTo>
                    <a:pt x="4206240" y="548640"/>
                  </a:lnTo>
                  <a:lnTo>
                    <a:pt x="0" y="548640"/>
                  </a:lnTo>
                  <a:close/>
                </a:path>
              </a:pathLst>
            </a:custGeom>
            <a:blipFill>
              <a:blip r:embed="rId3">
                <a:alphaModFix amt="0"/>
              </a:blip>
              <a:stretch>
                <a:fillRect t="-99385" b="-99385"/>
              </a:stretch>
            </a:blipFill>
          </p:spPr>
        </p:sp>
        <p:sp>
          <p:nvSpPr>
            <p:cNvPr id="98" name="TextBox 98"/>
            <p:cNvSpPr txBox="1"/>
            <p:nvPr/>
          </p:nvSpPr>
          <p:spPr>
            <a:xfrm>
              <a:off x="0" y="-19050"/>
              <a:ext cx="4206240" cy="567690"/>
            </a:xfrm>
            <a:prstGeom prst="rect">
              <a:avLst/>
            </a:prstGeom>
          </p:spPr>
          <p:txBody>
            <a:bodyPr lIns="0" tIns="0" rIns="0" bIns="0" rtlCol="0" anchor="ctr"/>
            <a:lstStyle/>
            <a:p>
              <a:pPr algn="l">
                <a:lnSpc>
                  <a:spcPts val="2340"/>
                </a:lnSpc>
              </a:pPr>
              <a:r>
                <a:rPr lang="en-US" sz="1950" b="1">
                  <a:solidFill>
                    <a:srgbClr val="0AA7A2"/>
                  </a:solidFill>
                  <a:latin typeface="Arial Bold"/>
                  <a:ea typeface="Arial Bold"/>
                  <a:cs typeface="Arial Bold"/>
                  <a:sym typeface="Arial Bold"/>
                </a:rPr>
                <a:t>$3.6M / yr</a:t>
              </a:r>
            </a:p>
          </p:txBody>
        </p:sp>
      </p:grpSp>
      <p:sp>
        <p:nvSpPr>
          <p:cNvPr id="99" name="AutoShape 99"/>
          <p:cNvSpPr/>
          <p:nvPr/>
        </p:nvSpPr>
        <p:spPr>
          <a:xfrm rot="42840">
            <a:off x="12741507" y="7671435"/>
            <a:ext cx="2291896" cy="0"/>
          </a:xfrm>
          <a:prstGeom prst="line">
            <a:avLst/>
          </a:prstGeom>
          <a:ln w="19050" cap="rnd">
            <a:solidFill>
              <a:srgbClr val="F97316"/>
            </a:solidFill>
            <a:prstDash val="solid"/>
            <a:headEnd type="none" w="sm" len="sm"/>
            <a:tailEnd type="none" w="sm" len="sm"/>
          </a:ln>
        </p:spPr>
      </p:sp>
      <p:grpSp>
        <p:nvGrpSpPr>
          <p:cNvPr id="100" name="Group 100"/>
          <p:cNvGrpSpPr/>
          <p:nvPr/>
        </p:nvGrpSpPr>
        <p:grpSpPr>
          <a:xfrm>
            <a:off x="15156180" y="7173468"/>
            <a:ext cx="3154680" cy="617220"/>
            <a:chOff x="0" y="0"/>
            <a:chExt cx="4206240" cy="822960"/>
          </a:xfrm>
        </p:grpSpPr>
        <p:sp>
          <p:nvSpPr>
            <p:cNvPr id="101" name="Freeform 101"/>
            <p:cNvSpPr/>
            <p:nvPr/>
          </p:nvSpPr>
          <p:spPr>
            <a:xfrm>
              <a:off x="0" y="0"/>
              <a:ext cx="4206240" cy="822960"/>
            </a:xfrm>
            <a:custGeom>
              <a:avLst/>
              <a:gdLst/>
              <a:ahLst/>
              <a:cxnLst/>
              <a:rect l="l" t="t" r="r" b="b"/>
              <a:pathLst>
                <a:path w="4206240" h="822960">
                  <a:moveTo>
                    <a:pt x="0" y="0"/>
                  </a:moveTo>
                  <a:lnTo>
                    <a:pt x="4206240" y="0"/>
                  </a:lnTo>
                  <a:lnTo>
                    <a:pt x="4206240" y="822960"/>
                  </a:lnTo>
                  <a:lnTo>
                    <a:pt x="0" y="822960"/>
                  </a:lnTo>
                  <a:close/>
                </a:path>
              </a:pathLst>
            </a:custGeom>
            <a:blipFill>
              <a:blip r:embed="rId3">
                <a:alphaModFix amt="0"/>
              </a:blip>
              <a:stretch>
                <a:fillRect t="-49590" b="-49590"/>
              </a:stretch>
            </a:blipFill>
          </p:spPr>
        </p:sp>
        <p:sp>
          <p:nvSpPr>
            <p:cNvPr id="102" name="TextBox 102"/>
            <p:cNvSpPr txBox="1"/>
            <p:nvPr/>
          </p:nvSpPr>
          <p:spPr>
            <a:xfrm>
              <a:off x="0" y="-28575"/>
              <a:ext cx="4206240" cy="851535"/>
            </a:xfrm>
            <a:prstGeom prst="rect">
              <a:avLst/>
            </a:prstGeom>
          </p:spPr>
          <p:txBody>
            <a:bodyPr lIns="0" tIns="0" rIns="0" bIns="0" rtlCol="0" anchor="ctr"/>
            <a:lstStyle/>
            <a:p>
              <a:pPr algn="l">
                <a:lnSpc>
                  <a:spcPts val="3960"/>
                </a:lnSpc>
              </a:pPr>
              <a:r>
                <a:rPr lang="en-US" sz="3300" b="1">
                  <a:solidFill>
                    <a:srgbClr val="15243A"/>
                  </a:solidFill>
                  <a:latin typeface="Arial Bold"/>
                  <a:ea typeface="Arial Bold"/>
                  <a:cs typeface="Arial Bold"/>
                  <a:sym typeface="Arial Bold"/>
                </a:rPr>
                <a:t>≈1,130</a:t>
              </a:r>
            </a:p>
          </p:txBody>
        </p:sp>
      </p:grpSp>
      <p:sp>
        <p:nvSpPr>
          <p:cNvPr id="103" name="TextBox 103"/>
          <p:cNvSpPr txBox="1"/>
          <p:nvPr/>
        </p:nvSpPr>
        <p:spPr>
          <a:xfrm>
            <a:off x="15156180" y="7740015"/>
            <a:ext cx="3154680" cy="626745"/>
          </a:xfrm>
          <a:prstGeom prst="rect">
            <a:avLst/>
          </a:prstGeom>
        </p:spPr>
        <p:txBody>
          <a:bodyPr lIns="0" tIns="0" rIns="0" bIns="0" rtlCol="0" anchor="t">
            <a:spAutoFit/>
          </a:bodyPr>
          <a:lstStyle/>
          <a:p>
            <a:pPr algn="l">
              <a:lnSpc>
                <a:spcPts val="1889"/>
              </a:lnSpc>
            </a:pPr>
            <a:r>
              <a:rPr lang="en-US" sz="1575">
                <a:solidFill>
                  <a:srgbClr val="52637A"/>
                </a:solidFill>
                <a:latin typeface="Arial"/>
                <a:ea typeface="Arial"/>
                <a:cs typeface="Arial"/>
                <a:sym typeface="Arial"/>
              </a:rPr>
              <a:t>paying shops by Year 3</a:t>
            </a:r>
          </a:p>
        </p:txBody>
      </p:sp>
      <p:grpSp>
        <p:nvGrpSpPr>
          <p:cNvPr id="104" name="Group 104"/>
          <p:cNvGrpSpPr/>
          <p:nvPr/>
        </p:nvGrpSpPr>
        <p:grpSpPr>
          <a:xfrm>
            <a:off x="15156180" y="8325612"/>
            <a:ext cx="3154680" cy="411480"/>
            <a:chOff x="0" y="0"/>
            <a:chExt cx="4206240" cy="548640"/>
          </a:xfrm>
        </p:grpSpPr>
        <p:sp>
          <p:nvSpPr>
            <p:cNvPr id="105" name="Freeform 105"/>
            <p:cNvSpPr/>
            <p:nvPr/>
          </p:nvSpPr>
          <p:spPr>
            <a:xfrm>
              <a:off x="0" y="0"/>
              <a:ext cx="4206240" cy="548640"/>
            </a:xfrm>
            <a:custGeom>
              <a:avLst/>
              <a:gdLst/>
              <a:ahLst/>
              <a:cxnLst/>
              <a:rect l="l" t="t" r="r" b="b"/>
              <a:pathLst>
                <a:path w="4206240" h="548640">
                  <a:moveTo>
                    <a:pt x="0" y="0"/>
                  </a:moveTo>
                  <a:lnTo>
                    <a:pt x="4206240" y="0"/>
                  </a:lnTo>
                  <a:lnTo>
                    <a:pt x="4206240" y="548640"/>
                  </a:lnTo>
                  <a:lnTo>
                    <a:pt x="0" y="548640"/>
                  </a:lnTo>
                  <a:close/>
                </a:path>
              </a:pathLst>
            </a:custGeom>
            <a:blipFill>
              <a:blip r:embed="rId3">
                <a:alphaModFix amt="0"/>
              </a:blip>
              <a:stretch>
                <a:fillRect t="-99385" b="-99385"/>
              </a:stretch>
            </a:blipFill>
          </p:spPr>
        </p:sp>
        <p:sp>
          <p:nvSpPr>
            <p:cNvPr id="106" name="TextBox 106"/>
            <p:cNvSpPr txBox="1"/>
            <p:nvPr/>
          </p:nvSpPr>
          <p:spPr>
            <a:xfrm>
              <a:off x="0" y="-19050"/>
              <a:ext cx="4206240" cy="567690"/>
            </a:xfrm>
            <a:prstGeom prst="rect">
              <a:avLst/>
            </a:prstGeom>
          </p:spPr>
          <p:txBody>
            <a:bodyPr lIns="0" tIns="0" rIns="0" bIns="0" rtlCol="0" anchor="ctr"/>
            <a:lstStyle/>
            <a:p>
              <a:pPr algn="l">
                <a:lnSpc>
                  <a:spcPts val="2340"/>
                </a:lnSpc>
              </a:pPr>
              <a:r>
                <a:rPr lang="en-US" sz="1950" b="1">
                  <a:solidFill>
                    <a:srgbClr val="F97316"/>
                  </a:solidFill>
                  <a:latin typeface="Arial Bold"/>
                  <a:ea typeface="Arial Bold"/>
                  <a:cs typeface="Arial Bold"/>
                  <a:sym typeface="Arial Bold"/>
                </a:rPr>
                <a:t>$61.6K / yr</a:t>
              </a:r>
            </a:p>
          </p:txBody>
        </p:sp>
      </p:grpSp>
      <p:sp>
        <p:nvSpPr>
          <p:cNvPr id="107" name="TextBox 107"/>
          <p:cNvSpPr txBox="1"/>
          <p:nvPr/>
        </p:nvSpPr>
        <p:spPr>
          <a:xfrm>
            <a:off x="662940" y="9424035"/>
            <a:ext cx="16596360" cy="495300"/>
          </a:xfrm>
          <a:prstGeom prst="rect">
            <a:avLst/>
          </a:prstGeom>
        </p:spPr>
        <p:txBody>
          <a:bodyPr lIns="0" tIns="0" rIns="0" bIns="0" rtlCol="0" anchor="t">
            <a:spAutoFit/>
          </a:bodyPr>
          <a:lstStyle/>
          <a:p>
            <a:pPr algn="l">
              <a:lnSpc>
                <a:spcPts val="1949"/>
              </a:lnSpc>
            </a:pPr>
            <a:r>
              <a:rPr lang="en-US" sz="1624">
                <a:solidFill>
                  <a:srgbClr val="52637A"/>
                </a:solidFill>
                <a:latin typeface="Arial"/>
                <a:ea typeface="Arial"/>
                <a:cs typeface="Arial"/>
                <a:sym typeface="Arial"/>
              </a:rPr>
              <a:t>*2025 projected. Sources: Ministry of Commerce, iTrade Bulletin Mar 2025 (Profitence e-commerce report 2024); NIS Economic Census 2022. Value = shops × US$54.5/yr ($5 plan, 10% VAT removed); SOM from team model; Proposed 3% commission, to be tested with pilot merchants.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22960" y="480060"/>
            <a:ext cx="16637508" cy="987326"/>
            <a:chOff x="0" y="0"/>
            <a:chExt cx="22183344" cy="1316434"/>
          </a:xfrm>
        </p:grpSpPr>
        <p:sp>
          <p:nvSpPr>
            <p:cNvPr id="3" name="Freeform 3"/>
            <p:cNvSpPr/>
            <p:nvPr/>
          </p:nvSpPr>
          <p:spPr>
            <a:xfrm>
              <a:off x="0" y="0"/>
              <a:ext cx="22183344" cy="1316434"/>
            </a:xfrm>
            <a:custGeom>
              <a:avLst/>
              <a:gdLst/>
              <a:ahLst/>
              <a:cxnLst/>
              <a:rect l="l" t="t" r="r" b="b"/>
              <a:pathLst>
                <a:path w="22183344" h="1316434">
                  <a:moveTo>
                    <a:pt x="0" y="0"/>
                  </a:moveTo>
                  <a:lnTo>
                    <a:pt x="22183344" y="0"/>
                  </a:lnTo>
                  <a:lnTo>
                    <a:pt x="22183344" y="1316434"/>
                  </a:lnTo>
                  <a:lnTo>
                    <a:pt x="0" y="1316434"/>
                  </a:lnTo>
                  <a:close/>
                </a:path>
              </a:pathLst>
            </a:custGeom>
            <a:blipFill>
              <a:blip r:embed="rId3">
                <a:alphaModFix amt="0"/>
              </a:blip>
              <a:stretch>
                <a:fillRect t="-279721" b="-276966"/>
              </a:stretch>
            </a:blipFill>
          </p:spPr>
        </p:sp>
        <p:sp>
          <p:nvSpPr>
            <p:cNvPr id="4" name="TextBox 4"/>
            <p:cNvSpPr txBox="1"/>
            <p:nvPr/>
          </p:nvSpPr>
          <p:spPr>
            <a:xfrm>
              <a:off x="0" y="-19050"/>
              <a:ext cx="22183344" cy="1335484"/>
            </a:xfrm>
            <a:prstGeom prst="rect">
              <a:avLst/>
            </a:prstGeom>
          </p:spPr>
          <p:txBody>
            <a:bodyPr lIns="0" tIns="0" rIns="0" bIns="0" rtlCol="0" anchor="ctr"/>
            <a:lstStyle/>
            <a:p>
              <a:pPr algn="ctr">
                <a:lnSpc>
                  <a:spcPts val="5759"/>
                </a:lnSpc>
              </a:pPr>
              <a:r>
                <a:rPr lang="en-US" sz="4800" b="1">
                  <a:solidFill>
                    <a:srgbClr val="15243A"/>
                  </a:solidFill>
                  <a:latin typeface="Arial Bold"/>
                  <a:ea typeface="Arial Bold"/>
                  <a:cs typeface="Arial Bold"/>
                  <a:sym typeface="Arial Bold"/>
                </a:rPr>
                <a:t>Go-to-market: merchants first, buyers follow</a:t>
              </a:r>
            </a:p>
          </p:txBody>
        </p:sp>
      </p:grpSp>
      <p:grpSp>
        <p:nvGrpSpPr>
          <p:cNvPr id="5" name="Group 5"/>
          <p:cNvGrpSpPr/>
          <p:nvPr/>
        </p:nvGrpSpPr>
        <p:grpSpPr>
          <a:xfrm>
            <a:off x="664616" y="1842135"/>
            <a:ext cx="5162550" cy="5642610"/>
            <a:chOff x="0" y="0"/>
            <a:chExt cx="6883400" cy="7523480"/>
          </a:xfrm>
        </p:grpSpPr>
        <p:sp>
          <p:nvSpPr>
            <p:cNvPr id="6" name="Freeform 6"/>
            <p:cNvSpPr/>
            <p:nvPr/>
          </p:nvSpPr>
          <p:spPr>
            <a:xfrm>
              <a:off x="0" y="0"/>
              <a:ext cx="6883400" cy="7523480"/>
            </a:xfrm>
            <a:custGeom>
              <a:avLst/>
              <a:gdLst/>
              <a:ahLst/>
              <a:cxnLst/>
              <a:rect l="l" t="t" r="r" b="b"/>
              <a:pathLst>
                <a:path w="6883400" h="7523480">
                  <a:moveTo>
                    <a:pt x="0" y="367030"/>
                  </a:moveTo>
                  <a:cubicBezTo>
                    <a:pt x="0" y="164338"/>
                    <a:pt x="164338" y="0"/>
                    <a:pt x="367030" y="0"/>
                  </a:cubicBezTo>
                  <a:lnTo>
                    <a:pt x="6516370" y="0"/>
                  </a:lnTo>
                  <a:cubicBezTo>
                    <a:pt x="6719062" y="0"/>
                    <a:pt x="6883400" y="164338"/>
                    <a:pt x="6883400" y="367030"/>
                  </a:cubicBezTo>
                  <a:lnTo>
                    <a:pt x="6883400" y="7156450"/>
                  </a:lnTo>
                  <a:cubicBezTo>
                    <a:pt x="6883400" y="7359142"/>
                    <a:pt x="6719062" y="7523480"/>
                    <a:pt x="6516370" y="7523480"/>
                  </a:cubicBezTo>
                  <a:lnTo>
                    <a:pt x="367030" y="7523480"/>
                  </a:lnTo>
                  <a:cubicBezTo>
                    <a:pt x="164338" y="7523480"/>
                    <a:pt x="0" y="7359142"/>
                    <a:pt x="0" y="7156450"/>
                  </a:cubicBezTo>
                  <a:close/>
                </a:path>
              </a:pathLst>
            </a:custGeom>
            <a:solidFill>
              <a:srgbClr val="FFFFFF"/>
            </a:solidFill>
            <a:ln w="19050" cap="sq">
              <a:solidFill>
                <a:srgbClr val="E2E8F0"/>
              </a:solidFill>
              <a:prstDash val="solid"/>
              <a:miter/>
            </a:ln>
          </p:spPr>
        </p:sp>
      </p:grpSp>
      <p:grpSp>
        <p:nvGrpSpPr>
          <p:cNvPr id="7" name="Group 7"/>
          <p:cNvGrpSpPr/>
          <p:nvPr/>
        </p:nvGrpSpPr>
        <p:grpSpPr>
          <a:xfrm>
            <a:off x="1085621" y="2194560"/>
            <a:ext cx="1371600" cy="548640"/>
            <a:chOff x="0" y="0"/>
            <a:chExt cx="1828800" cy="731520"/>
          </a:xfrm>
        </p:grpSpPr>
        <p:sp>
          <p:nvSpPr>
            <p:cNvPr id="8" name="Freeform 8"/>
            <p:cNvSpPr/>
            <p:nvPr/>
          </p:nvSpPr>
          <p:spPr>
            <a:xfrm>
              <a:off x="0" y="0"/>
              <a:ext cx="1828800" cy="731520"/>
            </a:xfrm>
            <a:custGeom>
              <a:avLst/>
              <a:gdLst/>
              <a:ahLst/>
              <a:cxnLst/>
              <a:rect l="l" t="t" r="r" b="b"/>
              <a:pathLst>
                <a:path w="1828800" h="731520">
                  <a:moveTo>
                    <a:pt x="0" y="0"/>
                  </a:moveTo>
                  <a:lnTo>
                    <a:pt x="1828800" y="0"/>
                  </a:lnTo>
                  <a:lnTo>
                    <a:pt x="1828800" y="731520"/>
                  </a:lnTo>
                  <a:lnTo>
                    <a:pt x="0" y="731520"/>
                  </a:lnTo>
                  <a:close/>
                </a:path>
              </a:pathLst>
            </a:custGeom>
            <a:blipFill>
              <a:blip r:embed="rId3">
                <a:alphaModFix amt="0"/>
              </a:blip>
              <a:stretch>
                <a:fillRect l="-1321" r="-1321"/>
              </a:stretch>
            </a:blipFill>
          </p:spPr>
        </p:sp>
        <p:sp>
          <p:nvSpPr>
            <p:cNvPr id="9" name="TextBox 9"/>
            <p:cNvSpPr txBox="1"/>
            <p:nvPr/>
          </p:nvSpPr>
          <p:spPr>
            <a:xfrm>
              <a:off x="0" y="-9525"/>
              <a:ext cx="1828800" cy="741045"/>
            </a:xfrm>
            <a:prstGeom prst="rect">
              <a:avLst/>
            </a:prstGeom>
          </p:spPr>
          <p:txBody>
            <a:bodyPr lIns="0" tIns="0" rIns="0" bIns="0" rtlCol="0" anchor="ctr"/>
            <a:lstStyle/>
            <a:p>
              <a:pPr algn="l">
                <a:lnSpc>
                  <a:spcPts val="2520"/>
                </a:lnSpc>
              </a:pPr>
              <a:r>
                <a:rPr lang="en-US" sz="2100" b="1" spc="299">
                  <a:solidFill>
                    <a:srgbClr val="52637A"/>
                  </a:solidFill>
                  <a:latin typeface="Arial Bold"/>
                  <a:ea typeface="Arial Bold"/>
                  <a:cs typeface="Arial Bold"/>
                  <a:sym typeface="Arial Bold"/>
                </a:rPr>
                <a:t>01</a:t>
              </a:r>
            </a:p>
          </p:txBody>
        </p:sp>
      </p:grpSp>
      <p:grpSp>
        <p:nvGrpSpPr>
          <p:cNvPr id="10" name="Group 10"/>
          <p:cNvGrpSpPr/>
          <p:nvPr/>
        </p:nvGrpSpPr>
        <p:grpSpPr>
          <a:xfrm>
            <a:off x="2662961" y="2194560"/>
            <a:ext cx="2743200" cy="548640"/>
            <a:chOff x="0" y="0"/>
            <a:chExt cx="3657600" cy="731520"/>
          </a:xfrm>
        </p:grpSpPr>
        <p:sp>
          <p:nvSpPr>
            <p:cNvPr id="11" name="Freeform 11"/>
            <p:cNvSpPr/>
            <p:nvPr/>
          </p:nvSpPr>
          <p:spPr>
            <a:xfrm>
              <a:off x="0" y="0"/>
              <a:ext cx="3657600" cy="731520"/>
            </a:xfrm>
            <a:custGeom>
              <a:avLst/>
              <a:gdLst/>
              <a:ahLst/>
              <a:cxnLst/>
              <a:rect l="l" t="t" r="r" b="b"/>
              <a:pathLst>
                <a:path w="3657600" h="731520">
                  <a:moveTo>
                    <a:pt x="0" y="0"/>
                  </a:moveTo>
                  <a:lnTo>
                    <a:pt x="3657600" y="0"/>
                  </a:lnTo>
                  <a:lnTo>
                    <a:pt x="3657600" y="731520"/>
                  </a:lnTo>
                  <a:lnTo>
                    <a:pt x="0" y="731520"/>
                  </a:lnTo>
                  <a:close/>
                </a:path>
              </a:pathLst>
            </a:custGeom>
            <a:blipFill>
              <a:blip r:embed="rId3">
                <a:alphaModFix amt="0"/>
              </a:blip>
              <a:stretch>
                <a:fillRect t="-47425" b="-47425"/>
              </a:stretch>
            </a:blipFill>
          </p:spPr>
        </p:sp>
        <p:sp>
          <p:nvSpPr>
            <p:cNvPr id="12" name="TextBox 12"/>
            <p:cNvSpPr txBox="1"/>
            <p:nvPr/>
          </p:nvSpPr>
          <p:spPr>
            <a:xfrm>
              <a:off x="0" y="-19050"/>
              <a:ext cx="3657600" cy="750570"/>
            </a:xfrm>
            <a:prstGeom prst="rect">
              <a:avLst/>
            </a:prstGeom>
          </p:spPr>
          <p:txBody>
            <a:bodyPr lIns="0" tIns="0" rIns="0" bIns="0" rtlCol="0" anchor="ctr"/>
            <a:lstStyle/>
            <a:p>
              <a:pPr algn="r">
                <a:lnSpc>
                  <a:spcPts val="1980"/>
                </a:lnSpc>
              </a:pPr>
              <a:r>
                <a:rPr lang="en-US" sz="1650" b="1" spc="150">
                  <a:solidFill>
                    <a:srgbClr val="0AA7A2"/>
                  </a:solidFill>
                  <a:latin typeface="Arial Bold"/>
                  <a:ea typeface="Arial Bold"/>
                  <a:cs typeface="Arial Bold"/>
                  <a:sym typeface="Arial Bold"/>
                </a:rPr>
                <a:t>NOW · Q4 2026</a:t>
              </a:r>
            </a:p>
          </p:txBody>
        </p:sp>
      </p:grpSp>
      <p:grpSp>
        <p:nvGrpSpPr>
          <p:cNvPr id="13" name="Group 13"/>
          <p:cNvGrpSpPr/>
          <p:nvPr/>
        </p:nvGrpSpPr>
        <p:grpSpPr>
          <a:xfrm>
            <a:off x="948461" y="5417820"/>
            <a:ext cx="4594860" cy="685800"/>
            <a:chOff x="0" y="0"/>
            <a:chExt cx="6126480" cy="914400"/>
          </a:xfrm>
        </p:grpSpPr>
        <p:sp>
          <p:nvSpPr>
            <p:cNvPr id="14" name="Freeform 14"/>
            <p:cNvSpPr/>
            <p:nvPr/>
          </p:nvSpPr>
          <p:spPr>
            <a:xfrm>
              <a:off x="0" y="0"/>
              <a:ext cx="6126480" cy="914400"/>
            </a:xfrm>
            <a:custGeom>
              <a:avLst/>
              <a:gdLst/>
              <a:ahLst/>
              <a:cxnLst/>
              <a:rect l="l" t="t" r="r" b="b"/>
              <a:pathLst>
                <a:path w="6126480" h="914400">
                  <a:moveTo>
                    <a:pt x="0" y="0"/>
                  </a:moveTo>
                  <a:lnTo>
                    <a:pt x="6126480" y="0"/>
                  </a:lnTo>
                  <a:lnTo>
                    <a:pt x="6126480" y="914400"/>
                  </a:lnTo>
                  <a:lnTo>
                    <a:pt x="0" y="914400"/>
                  </a:lnTo>
                  <a:close/>
                </a:path>
              </a:pathLst>
            </a:custGeom>
            <a:blipFill>
              <a:blip r:embed="rId3">
                <a:alphaModFix amt="0"/>
              </a:blip>
              <a:stretch>
                <a:fillRect t="-80549" b="-80549"/>
              </a:stretch>
            </a:blipFill>
          </p:spPr>
        </p:sp>
        <p:sp>
          <p:nvSpPr>
            <p:cNvPr id="15" name="TextBox 15"/>
            <p:cNvSpPr txBox="1"/>
            <p:nvPr/>
          </p:nvSpPr>
          <p:spPr>
            <a:xfrm>
              <a:off x="0" y="-19050"/>
              <a:ext cx="6126480" cy="933450"/>
            </a:xfrm>
            <a:prstGeom prst="rect">
              <a:avLst/>
            </a:prstGeom>
          </p:spPr>
          <p:txBody>
            <a:bodyPr lIns="0" tIns="0" rIns="0" bIns="0" rtlCol="0" anchor="ctr"/>
            <a:lstStyle/>
            <a:p>
              <a:pPr algn="ctr">
                <a:lnSpc>
                  <a:spcPts val="3600"/>
                </a:lnSpc>
              </a:pPr>
              <a:r>
                <a:rPr lang="en-US" sz="3000" b="1">
                  <a:solidFill>
                    <a:srgbClr val="15243A"/>
                  </a:solidFill>
                  <a:latin typeface="Arial Bold"/>
                  <a:ea typeface="Arial Bold"/>
                  <a:cs typeface="Arial Bold"/>
                  <a:sym typeface="Arial Bold"/>
                </a:rPr>
                <a:t>We bring shops</a:t>
              </a:r>
            </a:p>
          </p:txBody>
        </p:sp>
      </p:grpSp>
      <p:grpSp>
        <p:nvGrpSpPr>
          <p:cNvPr id="16" name="Group 16"/>
          <p:cNvGrpSpPr/>
          <p:nvPr/>
        </p:nvGrpSpPr>
        <p:grpSpPr>
          <a:xfrm>
            <a:off x="1154201" y="6377940"/>
            <a:ext cx="4183380" cy="603504"/>
            <a:chOff x="0" y="0"/>
            <a:chExt cx="5577840" cy="804672"/>
          </a:xfrm>
        </p:grpSpPr>
        <p:sp>
          <p:nvSpPr>
            <p:cNvPr id="17" name="Freeform 17"/>
            <p:cNvSpPr/>
            <p:nvPr/>
          </p:nvSpPr>
          <p:spPr>
            <a:xfrm>
              <a:off x="0" y="0"/>
              <a:ext cx="5577840" cy="804672"/>
            </a:xfrm>
            <a:custGeom>
              <a:avLst/>
              <a:gdLst/>
              <a:ahLst/>
              <a:cxnLst/>
              <a:rect l="l" t="t" r="r" b="b"/>
              <a:pathLst>
                <a:path w="5577840" h="804672">
                  <a:moveTo>
                    <a:pt x="0" y="402336"/>
                  </a:moveTo>
                  <a:cubicBezTo>
                    <a:pt x="0" y="180086"/>
                    <a:pt x="180086" y="0"/>
                    <a:pt x="402336" y="0"/>
                  </a:cubicBezTo>
                  <a:lnTo>
                    <a:pt x="5175504" y="0"/>
                  </a:lnTo>
                  <a:cubicBezTo>
                    <a:pt x="5397754" y="0"/>
                    <a:pt x="5577840" y="180086"/>
                    <a:pt x="5577840" y="402336"/>
                  </a:cubicBezTo>
                  <a:cubicBezTo>
                    <a:pt x="5577840" y="624586"/>
                    <a:pt x="5397754" y="804672"/>
                    <a:pt x="5175504" y="804672"/>
                  </a:cubicBezTo>
                  <a:lnTo>
                    <a:pt x="402336" y="804672"/>
                  </a:lnTo>
                  <a:cubicBezTo>
                    <a:pt x="180086" y="804672"/>
                    <a:pt x="0" y="624586"/>
                    <a:pt x="0" y="402336"/>
                  </a:cubicBezTo>
                  <a:close/>
                </a:path>
              </a:pathLst>
            </a:custGeom>
            <a:solidFill>
              <a:srgbClr val="CCFBF1"/>
            </a:solidFill>
          </p:spPr>
        </p:sp>
        <p:sp>
          <p:nvSpPr>
            <p:cNvPr id="18" name="TextBox 18"/>
            <p:cNvSpPr txBox="1"/>
            <p:nvPr/>
          </p:nvSpPr>
          <p:spPr>
            <a:xfrm>
              <a:off x="0" y="-28575"/>
              <a:ext cx="5577840" cy="833247"/>
            </a:xfrm>
            <a:prstGeom prst="rect">
              <a:avLst/>
            </a:prstGeom>
          </p:spPr>
          <p:txBody>
            <a:bodyPr lIns="50800" tIns="50800" rIns="50800" bIns="50800" rtlCol="0" anchor="ctr"/>
            <a:lstStyle/>
            <a:p>
              <a:pPr algn="ctr">
                <a:lnSpc>
                  <a:spcPts val="2250"/>
                </a:lnSpc>
              </a:pPr>
              <a:r>
                <a:rPr lang="en-US" sz="1875" b="1">
                  <a:solidFill>
                    <a:srgbClr val="0F766E"/>
                  </a:solidFill>
                  <a:latin typeface="Arial Bold"/>
                  <a:ea typeface="Arial Bold"/>
                  <a:cs typeface="Arial Bold"/>
                  <a:sym typeface="Arial Bold"/>
                </a:rPr>
                <a:t>Goal: 10 pilot shops</a:t>
              </a:r>
            </a:p>
          </p:txBody>
        </p:sp>
      </p:grpSp>
      <p:grpSp>
        <p:nvGrpSpPr>
          <p:cNvPr id="19" name="Group 19"/>
          <p:cNvGrpSpPr/>
          <p:nvPr/>
        </p:nvGrpSpPr>
        <p:grpSpPr>
          <a:xfrm>
            <a:off x="5961659" y="4430268"/>
            <a:ext cx="466344" cy="466344"/>
            <a:chOff x="0" y="0"/>
            <a:chExt cx="621792" cy="621792"/>
          </a:xfrm>
        </p:grpSpPr>
        <p:sp>
          <p:nvSpPr>
            <p:cNvPr id="20" name="Freeform 20" descr="preencoded.png"/>
            <p:cNvSpPr/>
            <p:nvPr/>
          </p:nvSpPr>
          <p:spPr>
            <a:xfrm>
              <a:off x="0" y="0"/>
              <a:ext cx="621792" cy="621792"/>
            </a:xfrm>
            <a:custGeom>
              <a:avLst/>
              <a:gdLst/>
              <a:ahLst/>
              <a:cxnLst/>
              <a:rect l="l" t="t" r="r" b="b"/>
              <a:pathLst>
                <a:path w="621792" h="621792">
                  <a:moveTo>
                    <a:pt x="0" y="0"/>
                  </a:moveTo>
                  <a:lnTo>
                    <a:pt x="621792" y="0"/>
                  </a:lnTo>
                  <a:lnTo>
                    <a:pt x="621792" y="621792"/>
                  </a:lnTo>
                  <a:lnTo>
                    <a:pt x="0" y="621792"/>
                  </a:lnTo>
                  <a:lnTo>
                    <a:pt x="0" y="0"/>
                  </a:lnTo>
                  <a:close/>
                </a:path>
              </a:pathLst>
            </a:custGeom>
            <a:blipFill>
              <a:blip r:embed="rId4"/>
              <a:stretch>
                <a:fillRect/>
              </a:stretch>
            </a:blipFill>
          </p:spPr>
        </p:sp>
      </p:grpSp>
      <p:grpSp>
        <p:nvGrpSpPr>
          <p:cNvPr id="21" name="Group 21"/>
          <p:cNvGrpSpPr/>
          <p:nvPr/>
        </p:nvGrpSpPr>
        <p:grpSpPr>
          <a:xfrm>
            <a:off x="6562496" y="1842135"/>
            <a:ext cx="5162550" cy="5642610"/>
            <a:chOff x="0" y="0"/>
            <a:chExt cx="6883400" cy="7523480"/>
          </a:xfrm>
        </p:grpSpPr>
        <p:sp>
          <p:nvSpPr>
            <p:cNvPr id="22" name="Freeform 22"/>
            <p:cNvSpPr/>
            <p:nvPr/>
          </p:nvSpPr>
          <p:spPr>
            <a:xfrm>
              <a:off x="0" y="0"/>
              <a:ext cx="6883400" cy="7523480"/>
            </a:xfrm>
            <a:custGeom>
              <a:avLst/>
              <a:gdLst/>
              <a:ahLst/>
              <a:cxnLst/>
              <a:rect l="l" t="t" r="r" b="b"/>
              <a:pathLst>
                <a:path w="6883400" h="7523480">
                  <a:moveTo>
                    <a:pt x="0" y="367030"/>
                  </a:moveTo>
                  <a:cubicBezTo>
                    <a:pt x="0" y="164338"/>
                    <a:pt x="164338" y="0"/>
                    <a:pt x="367030" y="0"/>
                  </a:cubicBezTo>
                  <a:lnTo>
                    <a:pt x="6516370" y="0"/>
                  </a:lnTo>
                  <a:cubicBezTo>
                    <a:pt x="6719062" y="0"/>
                    <a:pt x="6883400" y="164338"/>
                    <a:pt x="6883400" y="367030"/>
                  </a:cubicBezTo>
                  <a:lnTo>
                    <a:pt x="6883400" y="7156450"/>
                  </a:lnTo>
                  <a:cubicBezTo>
                    <a:pt x="6883400" y="7359142"/>
                    <a:pt x="6719062" y="7523480"/>
                    <a:pt x="6516370" y="7523480"/>
                  </a:cubicBezTo>
                  <a:lnTo>
                    <a:pt x="367030" y="7523480"/>
                  </a:lnTo>
                  <a:cubicBezTo>
                    <a:pt x="164338" y="7523480"/>
                    <a:pt x="0" y="7359142"/>
                    <a:pt x="0" y="7156450"/>
                  </a:cubicBezTo>
                  <a:close/>
                </a:path>
              </a:pathLst>
            </a:custGeom>
            <a:solidFill>
              <a:srgbClr val="FFFFFF"/>
            </a:solidFill>
            <a:ln w="19050" cap="sq">
              <a:solidFill>
                <a:srgbClr val="E2E8F0"/>
              </a:solidFill>
              <a:prstDash val="solid"/>
              <a:miter/>
            </a:ln>
          </p:spPr>
        </p:sp>
      </p:grpSp>
      <p:grpSp>
        <p:nvGrpSpPr>
          <p:cNvPr id="23" name="Group 23"/>
          <p:cNvGrpSpPr/>
          <p:nvPr/>
        </p:nvGrpSpPr>
        <p:grpSpPr>
          <a:xfrm>
            <a:off x="6983501" y="2194560"/>
            <a:ext cx="1371600" cy="548640"/>
            <a:chOff x="0" y="0"/>
            <a:chExt cx="1828800" cy="731520"/>
          </a:xfrm>
        </p:grpSpPr>
        <p:sp>
          <p:nvSpPr>
            <p:cNvPr id="24" name="Freeform 24"/>
            <p:cNvSpPr/>
            <p:nvPr/>
          </p:nvSpPr>
          <p:spPr>
            <a:xfrm>
              <a:off x="0" y="0"/>
              <a:ext cx="1828800" cy="731520"/>
            </a:xfrm>
            <a:custGeom>
              <a:avLst/>
              <a:gdLst/>
              <a:ahLst/>
              <a:cxnLst/>
              <a:rect l="l" t="t" r="r" b="b"/>
              <a:pathLst>
                <a:path w="1828800" h="731520">
                  <a:moveTo>
                    <a:pt x="0" y="0"/>
                  </a:moveTo>
                  <a:lnTo>
                    <a:pt x="1828800" y="0"/>
                  </a:lnTo>
                  <a:lnTo>
                    <a:pt x="1828800" y="731520"/>
                  </a:lnTo>
                  <a:lnTo>
                    <a:pt x="0" y="731520"/>
                  </a:lnTo>
                  <a:close/>
                </a:path>
              </a:pathLst>
            </a:custGeom>
            <a:blipFill>
              <a:blip r:embed="rId3">
                <a:alphaModFix amt="0"/>
              </a:blip>
              <a:stretch>
                <a:fillRect l="-1321" r="-1321"/>
              </a:stretch>
            </a:blipFill>
          </p:spPr>
        </p:sp>
        <p:sp>
          <p:nvSpPr>
            <p:cNvPr id="25" name="TextBox 25"/>
            <p:cNvSpPr txBox="1"/>
            <p:nvPr/>
          </p:nvSpPr>
          <p:spPr>
            <a:xfrm>
              <a:off x="0" y="-9525"/>
              <a:ext cx="1828800" cy="741045"/>
            </a:xfrm>
            <a:prstGeom prst="rect">
              <a:avLst/>
            </a:prstGeom>
          </p:spPr>
          <p:txBody>
            <a:bodyPr lIns="0" tIns="0" rIns="0" bIns="0" rtlCol="0" anchor="ctr"/>
            <a:lstStyle/>
            <a:p>
              <a:pPr algn="l">
                <a:lnSpc>
                  <a:spcPts val="2520"/>
                </a:lnSpc>
              </a:pPr>
              <a:r>
                <a:rPr lang="en-US" sz="2100" b="1" spc="299">
                  <a:solidFill>
                    <a:srgbClr val="52637A"/>
                  </a:solidFill>
                  <a:latin typeface="Arial Bold"/>
                  <a:ea typeface="Arial Bold"/>
                  <a:cs typeface="Arial Bold"/>
                  <a:sym typeface="Arial Bold"/>
                </a:rPr>
                <a:t>02</a:t>
              </a:r>
            </a:p>
          </p:txBody>
        </p:sp>
      </p:grpSp>
      <p:grpSp>
        <p:nvGrpSpPr>
          <p:cNvPr id="26" name="Group 26"/>
          <p:cNvGrpSpPr/>
          <p:nvPr/>
        </p:nvGrpSpPr>
        <p:grpSpPr>
          <a:xfrm>
            <a:off x="8560841" y="2194560"/>
            <a:ext cx="2743200" cy="548640"/>
            <a:chOff x="0" y="0"/>
            <a:chExt cx="3657600" cy="731520"/>
          </a:xfrm>
        </p:grpSpPr>
        <p:sp>
          <p:nvSpPr>
            <p:cNvPr id="27" name="Freeform 27"/>
            <p:cNvSpPr/>
            <p:nvPr/>
          </p:nvSpPr>
          <p:spPr>
            <a:xfrm>
              <a:off x="0" y="0"/>
              <a:ext cx="3657600" cy="731520"/>
            </a:xfrm>
            <a:custGeom>
              <a:avLst/>
              <a:gdLst/>
              <a:ahLst/>
              <a:cxnLst/>
              <a:rect l="l" t="t" r="r" b="b"/>
              <a:pathLst>
                <a:path w="3657600" h="731520">
                  <a:moveTo>
                    <a:pt x="0" y="0"/>
                  </a:moveTo>
                  <a:lnTo>
                    <a:pt x="3657600" y="0"/>
                  </a:lnTo>
                  <a:lnTo>
                    <a:pt x="3657600" y="731520"/>
                  </a:lnTo>
                  <a:lnTo>
                    <a:pt x="0" y="731520"/>
                  </a:lnTo>
                  <a:close/>
                </a:path>
              </a:pathLst>
            </a:custGeom>
            <a:blipFill>
              <a:blip r:embed="rId3">
                <a:alphaModFix amt="0"/>
              </a:blip>
              <a:stretch>
                <a:fillRect t="-47425" b="-47425"/>
              </a:stretch>
            </a:blipFill>
          </p:spPr>
        </p:sp>
        <p:sp>
          <p:nvSpPr>
            <p:cNvPr id="28" name="TextBox 28"/>
            <p:cNvSpPr txBox="1"/>
            <p:nvPr/>
          </p:nvSpPr>
          <p:spPr>
            <a:xfrm>
              <a:off x="0" y="-19050"/>
              <a:ext cx="3657600" cy="750570"/>
            </a:xfrm>
            <a:prstGeom prst="rect">
              <a:avLst/>
            </a:prstGeom>
          </p:spPr>
          <p:txBody>
            <a:bodyPr lIns="0" tIns="0" rIns="0" bIns="0" rtlCol="0" anchor="ctr"/>
            <a:lstStyle/>
            <a:p>
              <a:pPr algn="r">
                <a:lnSpc>
                  <a:spcPts val="1980"/>
                </a:lnSpc>
              </a:pPr>
              <a:r>
                <a:rPr lang="en-US" sz="1650" b="1" spc="150">
                  <a:solidFill>
                    <a:srgbClr val="2463E8"/>
                  </a:solidFill>
                  <a:latin typeface="Arial Bold"/>
                  <a:ea typeface="Arial Bold"/>
                  <a:cs typeface="Arial Bold"/>
                  <a:sym typeface="Arial Bold"/>
                </a:rPr>
                <a:t>2027</a:t>
              </a:r>
            </a:p>
          </p:txBody>
        </p:sp>
      </p:grpSp>
      <p:grpSp>
        <p:nvGrpSpPr>
          <p:cNvPr id="29" name="Group 29"/>
          <p:cNvGrpSpPr/>
          <p:nvPr/>
        </p:nvGrpSpPr>
        <p:grpSpPr>
          <a:xfrm>
            <a:off x="6846341" y="5417820"/>
            <a:ext cx="4594860" cy="685800"/>
            <a:chOff x="0" y="0"/>
            <a:chExt cx="6126480" cy="914400"/>
          </a:xfrm>
        </p:grpSpPr>
        <p:sp>
          <p:nvSpPr>
            <p:cNvPr id="30" name="Freeform 30"/>
            <p:cNvSpPr/>
            <p:nvPr/>
          </p:nvSpPr>
          <p:spPr>
            <a:xfrm>
              <a:off x="0" y="0"/>
              <a:ext cx="6126480" cy="914400"/>
            </a:xfrm>
            <a:custGeom>
              <a:avLst/>
              <a:gdLst/>
              <a:ahLst/>
              <a:cxnLst/>
              <a:rect l="l" t="t" r="r" b="b"/>
              <a:pathLst>
                <a:path w="6126480" h="914400">
                  <a:moveTo>
                    <a:pt x="0" y="0"/>
                  </a:moveTo>
                  <a:lnTo>
                    <a:pt x="6126480" y="0"/>
                  </a:lnTo>
                  <a:lnTo>
                    <a:pt x="6126480" y="914400"/>
                  </a:lnTo>
                  <a:lnTo>
                    <a:pt x="0" y="914400"/>
                  </a:lnTo>
                  <a:close/>
                </a:path>
              </a:pathLst>
            </a:custGeom>
            <a:blipFill>
              <a:blip r:embed="rId3">
                <a:alphaModFix amt="0"/>
              </a:blip>
              <a:stretch>
                <a:fillRect t="-80549" b="-80549"/>
              </a:stretch>
            </a:blipFill>
          </p:spPr>
        </p:sp>
        <p:sp>
          <p:nvSpPr>
            <p:cNvPr id="31" name="TextBox 31"/>
            <p:cNvSpPr txBox="1"/>
            <p:nvPr/>
          </p:nvSpPr>
          <p:spPr>
            <a:xfrm>
              <a:off x="0" y="-19050"/>
              <a:ext cx="6126480" cy="933450"/>
            </a:xfrm>
            <a:prstGeom prst="rect">
              <a:avLst/>
            </a:prstGeom>
          </p:spPr>
          <p:txBody>
            <a:bodyPr lIns="0" tIns="0" rIns="0" bIns="0" rtlCol="0" anchor="ctr"/>
            <a:lstStyle/>
            <a:p>
              <a:pPr algn="ctr">
                <a:lnSpc>
                  <a:spcPts val="3600"/>
                </a:lnSpc>
              </a:pPr>
              <a:r>
                <a:rPr lang="en-US" sz="3000" b="1">
                  <a:solidFill>
                    <a:srgbClr val="15243A"/>
                  </a:solidFill>
                  <a:latin typeface="Arial Bold"/>
                  <a:ea typeface="Arial Bold"/>
                  <a:cs typeface="Arial Bold"/>
                  <a:sym typeface="Arial Bold"/>
                </a:rPr>
                <a:t>Shops bring customers</a:t>
              </a:r>
            </a:p>
          </p:txBody>
        </p:sp>
      </p:grpSp>
      <p:grpSp>
        <p:nvGrpSpPr>
          <p:cNvPr id="32" name="Group 32"/>
          <p:cNvGrpSpPr/>
          <p:nvPr/>
        </p:nvGrpSpPr>
        <p:grpSpPr>
          <a:xfrm>
            <a:off x="7052081" y="6377940"/>
            <a:ext cx="4183380" cy="603504"/>
            <a:chOff x="0" y="0"/>
            <a:chExt cx="5577840" cy="804672"/>
          </a:xfrm>
        </p:grpSpPr>
        <p:sp>
          <p:nvSpPr>
            <p:cNvPr id="33" name="Freeform 33"/>
            <p:cNvSpPr/>
            <p:nvPr/>
          </p:nvSpPr>
          <p:spPr>
            <a:xfrm>
              <a:off x="0" y="0"/>
              <a:ext cx="5577840" cy="804672"/>
            </a:xfrm>
            <a:custGeom>
              <a:avLst/>
              <a:gdLst/>
              <a:ahLst/>
              <a:cxnLst/>
              <a:rect l="l" t="t" r="r" b="b"/>
              <a:pathLst>
                <a:path w="5577840" h="804672">
                  <a:moveTo>
                    <a:pt x="0" y="402336"/>
                  </a:moveTo>
                  <a:cubicBezTo>
                    <a:pt x="0" y="180086"/>
                    <a:pt x="180086" y="0"/>
                    <a:pt x="402336" y="0"/>
                  </a:cubicBezTo>
                  <a:lnTo>
                    <a:pt x="5175504" y="0"/>
                  </a:lnTo>
                  <a:cubicBezTo>
                    <a:pt x="5397754" y="0"/>
                    <a:pt x="5577840" y="180086"/>
                    <a:pt x="5577840" y="402336"/>
                  </a:cubicBezTo>
                  <a:cubicBezTo>
                    <a:pt x="5577840" y="624586"/>
                    <a:pt x="5397754" y="804672"/>
                    <a:pt x="5175504" y="804672"/>
                  </a:cubicBezTo>
                  <a:lnTo>
                    <a:pt x="402336" y="804672"/>
                  </a:lnTo>
                  <a:cubicBezTo>
                    <a:pt x="180086" y="804672"/>
                    <a:pt x="0" y="624586"/>
                    <a:pt x="0" y="402336"/>
                  </a:cubicBezTo>
                  <a:close/>
                </a:path>
              </a:pathLst>
            </a:custGeom>
            <a:solidFill>
              <a:srgbClr val="DCFCE7"/>
            </a:solidFill>
          </p:spPr>
        </p:sp>
        <p:sp>
          <p:nvSpPr>
            <p:cNvPr id="34" name="TextBox 34"/>
            <p:cNvSpPr txBox="1"/>
            <p:nvPr/>
          </p:nvSpPr>
          <p:spPr>
            <a:xfrm>
              <a:off x="0" y="-28575"/>
              <a:ext cx="5577840" cy="833247"/>
            </a:xfrm>
            <a:prstGeom prst="rect">
              <a:avLst/>
            </a:prstGeom>
          </p:spPr>
          <p:txBody>
            <a:bodyPr lIns="50800" tIns="50800" rIns="50800" bIns="50800" rtlCol="0" anchor="ctr"/>
            <a:lstStyle/>
            <a:p>
              <a:pPr algn="ctr">
                <a:lnSpc>
                  <a:spcPts val="2250"/>
                </a:lnSpc>
              </a:pPr>
              <a:r>
                <a:rPr lang="en-US" sz="1875" b="1">
                  <a:solidFill>
                    <a:srgbClr val="16A34A"/>
                  </a:solidFill>
                  <a:latin typeface="Arial Bold"/>
                  <a:ea typeface="Arial Bold"/>
                  <a:cs typeface="Arial Bold"/>
                  <a:sym typeface="Arial Bold"/>
                </a:rPr>
                <a:t>0% on their own sales</a:t>
              </a:r>
            </a:p>
          </p:txBody>
        </p:sp>
      </p:grpSp>
      <p:grpSp>
        <p:nvGrpSpPr>
          <p:cNvPr id="35" name="Group 35"/>
          <p:cNvGrpSpPr/>
          <p:nvPr/>
        </p:nvGrpSpPr>
        <p:grpSpPr>
          <a:xfrm>
            <a:off x="11859539" y="4430268"/>
            <a:ext cx="466344" cy="466344"/>
            <a:chOff x="0" y="0"/>
            <a:chExt cx="621792" cy="621792"/>
          </a:xfrm>
        </p:grpSpPr>
        <p:sp>
          <p:nvSpPr>
            <p:cNvPr id="36" name="Freeform 36" descr="preencoded.png"/>
            <p:cNvSpPr/>
            <p:nvPr/>
          </p:nvSpPr>
          <p:spPr>
            <a:xfrm>
              <a:off x="0" y="0"/>
              <a:ext cx="621792" cy="621792"/>
            </a:xfrm>
            <a:custGeom>
              <a:avLst/>
              <a:gdLst/>
              <a:ahLst/>
              <a:cxnLst/>
              <a:rect l="l" t="t" r="r" b="b"/>
              <a:pathLst>
                <a:path w="621792" h="621792">
                  <a:moveTo>
                    <a:pt x="0" y="0"/>
                  </a:moveTo>
                  <a:lnTo>
                    <a:pt x="621792" y="0"/>
                  </a:lnTo>
                  <a:lnTo>
                    <a:pt x="621792" y="621792"/>
                  </a:lnTo>
                  <a:lnTo>
                    <a:pt x="0" y="621792"/>
                  </a:lnTo>
                  <a:lnTo>
                    <a:pt x="0" y="0"/>
                  </a:lnTo>
                  <a:close/>
                </a:path>
              </a:pathLst>
            </a:custGeom>
            <a:blipFill>
              <a:blip r:embed="rId4"/>
              <a:stretch>
                <a:fillRect/>
              </a:stretch>
            </a:blipFill>
          </p:spPr>
        </p:sp>
      </p:grpSp>
      <p:grpSp>
        <p:nvGrpSpPr>
          <p:cNvPr id="37" name="Group 37"/>
          <p:cNvGrpSpPr/>
          <p:nvPr/>
        </p:nvGrpSpPr>
        <p:grpSpPr>
          <a:xfrm>
            <a:off x="12460376" y="1842135"/>
            <a:ext cx="5162550" cy="5642610"/>
            <a:chOff x="0" y="0"/>
            <a:chExt cx="6883400" cy="7523480"/>
          </a:xfrm>
        </p:grpSpPr>
        <p:sp>
          <p:nvSpPr>
            <p:cNvPr id="38" name="Freeform 38"/>
            <p:cNvSpPr/>
            <p:nvPr/>
          </p:nvSpPr>
          <p:spPr>
            <a:xfrm>
              <a:off x="0" y="0"/>
              <a:ext cx="6883400" cy="7523480"/>
            </a:xfrm>
            <a:custGeom>
              <a:avLst/>
              <a:gdLst/>
              <a:ahLst/>
              <a:cxnLst/>
              <a:rect l="l" t="t" r="r" b="b"/>
              <a:pathLst>
                <a:path w="6883400" h="7523480">
                  <a:moveTo>
                    <a:pt x="0" y="367030"/>
                  </a:moveTo>
                  <a:cubicBezTo>
                    <a:pt x="0" y="164338"/>
                    <a:pt x="164338" y="0"/>
                    <a:pt x="367030" y="0"/>
                  </a:cubicBezTo>
                  <a:lnTo>
                    <a:pt x="6516370" y="0"/>
                  </a:lnTo>
                  <a:cubicBezTo>
                    <a:pt x="6719062" y="0"/>
                    <a:pt x="6883400" y="164338"/>
                    <a:pt x="6883400" y="367030"/>
                  </a:cubicBezTo>
                  <a:lnTo>
                    <a:pt x="6883400" y="7156450"/>
                  </a:lnTo>
                  <a:cubicBezTo>
                    <a:pt x="6883400" y="7359142"/>
                    <a:pt x="6719062" y="7523480"/>
                    <a:pt x="6516370" y="7523480"/>
                  </a:cubicBezTo>
                  <a:lnTo>
                    <a:pt x="367030" y="7523480"/>
                  </a:lnTo>
                  <a:cubicBezTo>
                    <a:pt x="164338" y="7523480"/>
                    <a:pt x="0" y="7359142"/>
                    <a:pt x="0" y="7156450"/>
                  </a:cubicBezTo>
                  <a:close/>
                </a:path>
              </a:pathLst>
            </a:custGeom>
            <a:solidFill>
              <a:srgbClr val="FFFFFF"/>
            </a:solidFill>
            <a:ln w="19050" cap="sq">
              <a:solidFill>
                <a:srgbClr val="E2E8F0"/>
              </a:solidFill>
              <a:prstDash val="solid"/>
              <a:miter/>
            </a:ln>
          </p:spPr>
        </p:sp>
      </p:grpSp>
      <p:grpSp>
        <p:nvGrpSpPr>
          <p:cNvPr id="39" name="Group 39"/>
          <p:cNvGrpSpPr/>
          <p:nvPr/>
        </p:nvGrpSpPr>
        <p:grpSpPr>
          <a:xfrm>
            <a:off x="12881381" y="2194560"/>
            <a:ext cx="1371600" cy="548640"/>
            <a:chOff x="0" y="0"/>
            <a:chExt cx="1828800" cy="731520"/>
          </a:xfrm>
        </p:grpSpPr>
        <p:sp>
          <p:nvSpPr>
            <p:cNvPr id="40" name="Freeform 40"/>
            <p:cNvSpPr/>
            <p:nvPr/>
          </p:nvSpPr>
          <p:spPr>
            <a:xfrm>
              <a:off x="0" y="0"/>
              <a:ext cx="1828800" cy="731520"/>
            </a:xfrm>
            <a:custGeom>
              <a:avLst/>
              <a:gdLst/>
              <a:ahLst/>
              <a:cxnLst/>
              <a:rect l="l" t="t" r="r" b="b"/>
              <a:pathLst>
                <a:path w="1828800" h="731520">
                  <a:moveTo>
                    <a:pt x="0" y="0"/>
                  </a:moveTo>
                  <a:lnTo>
                    <a:pt x="1828800" y="0"/>
                  </a:lnTo>
                  <a:lnTo>
                    <a:pt x="1828800" y="731520"/>
                  </a:lnTo>
                  <a:lnTo>
                    <a:pt x="0" y="731520"/>
                  </a:lnTo>
                  <a:close/>
                </a:path>
              </a:pathLst>
            </a:custGeom>
            <a:blipFill>
              <a:blip r:embed="rId3">
                <a:alphaModFix amt="0"/>
              </a:blip>
              <a:stretch>
                <a:fillRect l="-1321" r="-1321"/>
              </a:stretch>
            </a:blipFill>
          </p:spPr>
        </p:sp>
        <p:sp>
          <p:nvSpPr>
            <p:cNvPr id="41" name="TextBox 41"/>
            <p:cNvSpPr txBox="1"/>
            <p:nvPr/>
          </p:nvSpPr>
          <p:spPr>
            <a:xfrm>
              <a:off x="0" y="-9525"/>
              <a:ext cx="1828800" cy="741045"/>
            </a:xfrm>
            <a:prstGeom prst="rect">
              <a:avLst/>
            </a:prstGeom>
          </p:spPr>
          <p:txBody>
            <a:bodyPr lIns="0" tIns="0" rIns="0" bIns="0" rtlCol="0" anchor="ctr"/>
            <a:lstStyle/>
            <a:p>
              <a:pPr algn="l">
                <a:lnSpc>
                  <a:spcPts val="2520"/>
                </a:lnSpc>
              </a:pPr>
              <a:r>
                <a:rPr lang="en-US" sz="2100" b="1" spc="299">
                  <a:solidFill>
                    <a:srgbClr val="52637A"/>
                  </a:solidFill>
                  <a:latin typeface="Arial Bold"/>
                  <a:ea typeface="Arial Bold"/>
                  <a:cs typeface="Arial Bold"/>
                  <a:sym typeface="Arial Bold"/>
                </a:rPr>
                <a:t>03</a:t>
              </a:r>
            </a:p>
          </p:txBody>
        </p:sp>
      </p:grpSp>
      <p:grpSp>
        <p:nvGrpSpPr>
          <p:cNvPr id="42" name="Group 42"/>
          <p:cNvGrpSpPr/>
          <p:nvPr/>
        </p:nvGrpSpPr>
        <p:grpSpPr>
          <a:xfrm>
            <a:off x="14458721" y="2194560"/>
            <a:ext cx="2743200" cy="548640"/>
            <a:chOff x="0" y="0"/>
            <a:chExt cx="3657600" cy="731520"/>
          </a:xfrm>
        </p:grpSpPr>
        <p:sp>
          <p:nvSpPr>
            <p:cNvPr id="43" name="Freeform 43"/>
            <p:cNvSpPr/>
            <p:nvPr/>
          </p:nvSpPr>
          <p:spPr>
            <a:xfrm>
              <a:off x="0" y="0"/>
              <a:ext cx="3657600" cy="731520"/>
            </a:xfrm>
            <a:custGeom>
              <a:avLst/>
              <a:gdLst/>
              <a:ahLst/>
              <a:cxnLst/>
              <a:rect l="l" t="t" r="r" b="b"/>
              <a:pathLst>
                <a:path w="3657600" h="731520">
                  <a:moveTo>
                    <a:pt x="0" y="0"/>
                  </a:moveTo>
                  <a:lnTo>
                    <a:pt x="3657600" y="0"/>
                  </a:lnTo>
                  <a:lnTo>
                    <a:pt x="3657600" y="731520"/>
                  </a:lnTo>
                  <a:lnTo>
                    <a:pt x="0" y="731520"/>
                  </a:lnTo>
                  <a:close/>
                </a:path>
              </a:pathLst>
            </a:custGeom>
            <a:blipFill>
              <a:blip r:embed="rId3">
                <a:alphaModFix amt="0"/>
              </a:blip>
              <a:stretch>
                <a:fillRect t="-47425" b="-47425"/>
              </a:stretch>
            </a:blipFill>
          </p:spPr>
        </p:sp>
        <p:sp>
          <p:nvSpPr>
            <p:cNvPr id="44" name="TextBox 44"/>
            <p:cNvSpPr txBox="1"/>
            <p:nvPr/>
          </p:nvSpPr>
          <p:spPr>
            <a:xfrm>
              <a:off x="0" y="-19050"/>
              <a:ext cx="3657600" cy="750570"/>
            </a:xfrm>
            <a:prstGeom prst="rect">
              <a:avLst/>
            </a:prstGeom>
          </p:spPr>
          <p:txBody>
            <a:bodyPr lIns="0" tIns="0" rIns="0" bIns="0" rtlCol="0" anchor="ctr"/>
            <a:lstStyle/>
            <a:p>
              <a:pPr algn="r">
                <a:lnSpc>
                  <a:spcPts val="1980"/>
                </a:lnSpc>
              </a:pPr>
              <a:r>
                <a:rPr lang="en-US" sz="1650" b="1" spc="150">
                  <a:solidFill>
                    <a:srgbClr val="F97316"/>
                  </a:solidFill>
                  <a:latin typeface="Arial Bold"/>
                  <a:ea typeface="Arial Bold"/>
                  <a:cs typeface="Arial Bold"/>
                  <a:sym typeface="Arial Bold"/>
                </a:rPr>
                <a:t>2027+</a:t>
              </a:r>
            </a:p>
          </p:txBody>
        </p:sp>
      </p:grpSp>
      <p:grpSp>
        <p:nvGrpSpPr>
          <p:cNvPr id="45" name="Group 45"/>
          <p:cNvGrpSpPr/>
          <p:nvPr/>
        </p:nvGrpSpPr>
        <p:grpSpPr>
          <a:xfrm>
            <a:off x="12744221" y="5417820"/>
            <a:ext cx="4594860" cy="685800"/>
            <a:chOff x="0" y="0"/>
            <a:chExt cx="6126480" cy="914400"/>
          </a:xfrm>
        </p:grpSpPr>
        <p:sp>
          <p:nvSpPr>
            <p:cNvPr id="46" name="Freeform 46"/>
            <p:cNvSpPr/>
            <p:nvPr/>
          </p:nvSpPr>
          <p:spPr>
            <a:xfrm>
              <a:off x="0" y="0"/>
              <a:ext cx="6126480" cy="914400"/>
            </a:xfrm>
            <a:custGeom>
              <a:avLst/>
              <a:gdLst/>
              <a:ahLst/>
              <a:cxnLst/>
              <a:rect l="l" t="t" r="r" b="b"/>
              <a:pathLst>
                <a:path w="6126480" h="914400">
                  <a:moveTo>
                    <a:pt x="0" y="0"/>
                  </a:moveTo>
                  <a:lnTo>
                    <a:pt x="6126480" y="0"/>
                  </a:lnTo>
                  <a:lnTo>
                    <a:pt x="6126480" y="914400"/>
                  </a:lnTo>
                  <a:lnTo>
                    <a:pt x="0" y="914400"/>
                  </a:lnTo>
                  <a:close/>
                </a:path>
              </a:pathLst>
            </a:custGeom>
            <a:blipFill>
              <a:blip r:embed="rId3">
                <a:alphaModFix amt="0"/>
              </a:blip>
              <a:stretch>
                <a:fillRect t="-80549" b="-80549"/>
              </a:stretch>
            </a:blipFill>
          </p:spPr>
        </p:sp>
        <p:sp>
          <p:nvSpPr>
            <p:cNvPr id="47" name="TextBox 47"/>
            <p:cNvSpPr txBox="1"/>
            <p:nvPr/>
          </p:nvSpPr>
          <p:spPr>
            <a:xfrm>
              <a:off x="0" y="-19050"/>
              <a:ext cx="6126480" cy="933450"/>
            </a:xfrm>
            <a:prstGeom prst="rect">
              <a:avLst/>
            </a:prstGeom>
          </p:spPr>
          <p:txBody>
            <a:bodyPr lIns="0" tIns="0" rIns="0" bIns="0" rtlCol="0" anchor="ctr"/>
            <a:lstStyle/>
            <a:p>
              <a:pPr algn="ctr">
                <a:lnSpc>
                  <a:spcPts val="3600"/>
                </a:lnSpc>
              </a:pPr>
              <a:r>
                <a:rPr lang="en-US" sz="3000" b="1">
                  <a:solidFill>
                    <a:srgbClr val="15243A"/>
                  </a:solidFill>
                  <a:latin typeface="Arial Bold"/>
                  <a:ea typeface="Arial Bold"/>
                  <a:cs typeface="Arial Bold"/>
                  <a:sym typeface="Arial Bold"/>
                </a:rPr>
                <a:t>Buyers find more shops</a:t>
              </a:r>
            </a:p>
          </p:txBody>
        </p:sp>
      </p:grpSp>
      <p:grpSp>
        <p:nvGrpSpPr>
          <p:cNvPr id="48" name="Group 48"/>
          <p:cNvGrpSpPr/>
          <p:nvPr/>
        </p:nvGrpSpPr>
        <p:grpSpPr>
          <a:xfrm>
            <a:off x="12949961" y="6377940"/>
            <a:ext cx="4183380" cy="603504"/>
            <a:chOff x="0" y="0"/>
            <a:chExt cx="5577840" cy="804672"/>
          </a:xfrm>
        </p:grpSpPr>
        <p:sp>
          <p:nvSpPr>
            <p:cNvPr id="49" name="Freeform 49"/>
            <p:cNvSpPr/>
            <p:nvPr/>
          </p:nvSpPr>
          <p:spPr>
            <a:xfrm>
              <a:off x="0" y="0"/>
              <a:ext cx="5577840" cy="804672"/>
            </a:xfrm>
            <a:custGeom>
              <a:avLst/>
              <a:gdLst/>
              <a:ahLst/>
              <a:cxnLst/>
              <a:rect l="l" t="t" r="r" b="b"/>
              <a:pathLst>
                <a:path w="5577840" h="804672">
                  <a:moveTo>
                    <a:pt x="0" y="402336"/>
                  </a:moveTo>
                  <a:cubicBezTo>
                    <a:pt x="0" y="180086"/>
                    <a:pt x="180086" y="0"/>
                    <a:pt x="402336" y="0"/>
                  </a:cubicBezTo>
                  <a:lnTo>
                    <a:pt x="5175504" y="0"/>
                  </a:lnTo>
                  <a:cubicBezTo>
                    <a:pt x="5397754" y="0"/>
                    <a:pt x="5577840" y="180086"/>
                    <a:pt x="5577840" y="402336"/>
                  </a:cubicBezTo>
                  <a:cubicBezTo>
                    <a:pt x="5577840" y="624586"/>
                    <a:pt x="5397754" y="804672"/>
                    <a:pt x="5175504" y="804672"/>
                  </a:cubicBezTo>
                  <a:lnTo>
                    <a:pt x="402336" y="804672"/>
                  </a:lnTo>
                  <a:cubicBezTo>
                    <a:pt x="180086" y="804672"/>
                    <a:pt x="0" y="624586"/>
                    <a:pt x="0" y="402336"/>
                  </a:cubicBezTo>
                  <a:close/>
                </a:path>
              </a:pathLst>
            </a:custGeom>
            <a:solidFill>
              <a:srgbClr val="FFEDD5"/>
            </a:solidFill>
          </p:spPr>
        </p:sp>
        <p:sp>
          <p:nvSpPr>
            <p:cNvPr id="50" name="TextBox 50"/>
            <p:cNvSpPr txBox="1"/>
            <p:nvPr/>
          </p:nvSpPr>
          <p:spPr>
            <a:xfrm>
              <a:off x="0" y="-28575"/>
              <a:ext cx="5577840" cy="833247"/>
            </a:xfrm>
            <a:prstGeom prst="rect">
              <a:avLst/>
            </a:prstGeom>
          </p:spPr>
          <p:txBody>
            <a:bodyPr lIns="50800" tIns="50800" rIns="50800" bIns="50800" rtlCol="0" anchor="ctr"/>
            <a:lstStyle/>
            <a:p>
              <a:pPr algn="ctr">
                <a:lnSpc>
                  <a:spcPts val="2250"/>
                </a:lnSpc>
              </a:pPr>
              <a:r>
                <a:rPr lang="en-US" sz="1875" b="1">
                  <a:solidFill>
                    <a:srgbClr val="C2410C"/>
                  </a:solidFill>
                  <a:latin typeface="Arial Bold"/>
                  <a:ea typeface="Arial Bold"/>
                  <a:cs typeface="Arial Bold"/>
                  <a:sym typeface="Arial Bold"/>
                </a:rPr>
                <a:t>Commission on marketplace sales</a:t>
              </a:r>
            </a:p>
          </p:txBody>
        </p:sp>
      </p:grpSp>
      <p:grpSp>
        <p:nvGrpSpPr>
          <p:cNvPr id="51" name="Group 51"/>
          <p:cNvGrpSpPr/>
          <p:nvPr/>
        </p:nvGrpSpPr>
        <p:grpSpPr>
          <a:xfrm>
            <a:off x="1291361" y="2948940"/>
            <a:ext cx="685800" cy="685800"/>
            <a:chOff x="0" y="0"/>
            <a:chExt cx="914400" cy="914400"/>
          </a:xfrm>
        </p:grpSpPr>
        <p:sp>
          <p:nvSpPr>
            <p:cNvPr id="52" name="Freeform 52"/>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AA7A2"/>
            </a:solidFill>
          </p:spPr>
        </p:sp>
      </p:grpSp>
      <p:grpSp>
        <p:nvGrpSpPr>
          <p:cNvPr id="53" name="Group 53"/>
          <p:cNvGrpSpPr/>
          <p:nvPr/>
        </p:nvGrpSpPr>
        <p:grpSpPr>
          <a:xfrm>
            <a:off x="1462811" y="3120390"/>
            <a:ext cx="342900" cy="342900"/>
            <a:chOff x="0" y="0"/>
            <a:chExt cx="457200" cy="457200"/>
          </a:xfrm>
        </p:grpSpPr>
        <p:sp>
          <p:nvSpPr>
            <p:cNvPr id="54" name="Freeform 54" descr="preencoded.png"/>
            <p:cNvSpPr/>
            <p:nvPr/>
          </p:nvSpPr>
          <p:spPr>
            <a:xfrm>
              <a:off x="0" y="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blipFill>
              <a:blip r:embed="rId5"/>
              <a:stretch>
                <a:fillRect/>
              </a:stretch>
            </a:blipFill>
          </p:spPr>
        </p:sp>
      </p:grpSp>
      <p:grpSp>
        <p:nvGrpSpPr>
          <p:cNvPr id="55" name="Group 55"/>
          <p:cNvGrpSpPr/>
          <p:nvPr/>
        </p:nvGrpSpPr>
        <p:grpSpPr>
          <a:xfrm>
            <a:off x="879881" y="3675888"/>
            <a:ext cx="1508760" cy="356616"/>
            <a:chOff x="0" y="0"/>
            <a:chExt cx="2011680" cy="475488"/>
          </a:xfrm>
        </p:grpSpPr>
        <p:sp>
          <p:nvSpPr>
            <p:cNvPr id="56" name="Freeform 56"/>
            <p:cNvSpPr/>
            <p:nvPr/>
          </p:nvSpPr>
          <p:spPr>
            <a:xfrm>
              <a:off x="0" y="0"/>
              <a:ext cx="2011680" cy="475488"/>
            </a:xfrm>
            <a:custGeom>
              <a:avLst/>
              <a:gdLst/>
              <a:ahLst/>
              <a:cxnLst/>
              <a:rect l="l" t="t" r="r" b="b"/>
              <a:pathLst>
                <a:path w="2011680" h="475488">
                  <a:moveTo>
                    <a:pt x="0" y="0"/>
                  </a:moveTo>
                  <a:lnTo>
                    <a:pt x="2011680" y="0"/>
                  </a:lnTo>
                  <a:lnTo>
                    <a:pt x="2011680" y="475488"/>
                  </a:lnTo>
                  <a:lnTo>
                    <a:pt x="0" y="475488"/>
                  </a:lnTo>
                  <a:close/>
                </a:path>
              </a:pathLst>
            </a:custGeom>
            <a:blipFill>
              <a:blip r:embed="rId3">
                <a:alphaModFix amt="0"/>
              </a:blip>
              <a:stretch>
                <a:fillRect t="-32436" b="-32436"/>
              </a:stretch>
            </a:blipFill>
          </p:spPr>
        </p:sp>
        <p:sp>
          <p:nvSpPr>
            <p:cNvPr id="57" name="TextBox 57"/>
            <p:cNvSpPr txBox="1"/>
            <p:nvPr/>
          </p:nvSpPr>
          <p:spPr>
            <a:xfrm>
              <a:off x="0" y="-9525"/>
              <a:ext cx="2011680" cy="485013"/>
            </a:xfrm>
            <a:prstGeom prst="rect">
              <a:avLst/>
            </a:prstGeom>
          </p:spPr>
          <p:txBody>
            <a:bodyPr lIns="0" tIns="0" rIns="0" bIns="0" rtlCol="0" anchor="ctr"/>
            <a:lstStyle/>
            <a:p>
              <a:pPr algn="ctr">
                <a:lnSpc>
                  <a:spcPts val="1889"/>
                </a:lnSpc>
              </a:pPr>
              <a:r>
                <a:rPr lang="en-US" sz="1575" b="1">
                  <a:solidFill>
                    <a:srgbClr val="64748B"/>
                  </a:solidFill>
                  <a:latin typeface="Arial Bold"/>
                  <a:ea typeface="Arial Bold"/>
                  <a:cs typeface="Arial Bold"/>
                  <a:sym typeface="Arial Bold"/>
                </a:rPr>
                <a:t>Markets</a:t>
              </a:r>
            </a:p>
          </p:txBody>
        </p:sp>
      </p:grpSp>
      <p:sp>
        <p:nvSpPr>
          <p:cNvPr id="58" name="AutoShape 58"/>
          <p:cNvSpPr/>
          <p:nvPr/>
        </p:nvSpPr>
        <p:spPr>
          <a:xfrm rot="627780">
            <a:off x="1606106" y="4201287"/>
            <a:ext cx="1667942" cy="0"/>
          </a:xfrm>
          <a:prstGeom prst="line">
            <a:avLst/>
          </a:prstGeom>
          <a:ln w="19050" cap="rnd">
            <a:solidFill>
              <a:srgbClr val="E2E8F0"/>
            </a:solidFill>
            <a:prstDash val="solid"/>
            <a:headEnd type="none" w="sm" len="sm"/>
            <a:tailEnd type="none" w="sm" len="sm"/>
          </a:ln>
        </p:spPr>
      </p:sp>
      <p:grpSp>
        <p:nvGrpSpPr>
          <p:cNvPr id="59" name="Group 59"/>
          <p:cNvGrpSpPr/>
          <p:nvPr/>
        </p:nvGrpSpPr>
        <p:grpSpPr>
          <a:xfrm>
            <a:off x="2800121" y="2948940"/>
            <a:ext cx="685800" cy="685800"/>
            <a:chOff x="0" y="0"/>
            <a:chExt cx="914400" cy="914400"/>
          </a:xfrm>
        </p:grpSpPr>
        <p:sp>
          <p:nvSpPr>
            <p:cNvPr id="60" name="Freeform 60"/>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877F2"/>
            </a:solidFill>
          </p:spPr>
        </p:sp>
      </p:grpSp>
      <p:grpSp>
        <p:nvGrpSpPr>
          <p:cNvPr id="61" name="Group 61"/>
          <p:cNvGrpSpPr/>
          <p:nvPr/>
        </p:nvGrpSpPr>
        <p:grpSpPr>
          <a:xfrm>
            <a:off x="2800121" y="2983230"/>
            <a:ext cx="685800" cy="685800"/>
            <a:chOff x="0" y="0"/>
            <a:chExt cx="914400" cy="914400"/>
          </a:xfrm>
        </p:grpSpPr>
        <p:sp>
          <p:nvSpPr>
            <p:cNvPr id="62" name="Freeform 62"/>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blipFill>
              <a:blip r:embed="rId3">
                <a:alphaModFix amt="0"/>
              </a:blip>
              <a:stretch>
                <a:fillRect l="-78303" r="-78303"/>
              </a:stretch>
            </a:blipFill>
          </p:spPr>
        </p:sp>
        <p:sp>
          <p:nvSpPr>
            <p:cNvPr id="63" name="TextBox 63"/>
            <p:cNvSpPr txBox="1"/>
            <p:nvPr/>
          </p:nvSpPr>
          <p:spPr>
            <a:xfrm>
              <a:off x="0" y="-28575"/>
              <a:ext cx="914400" cy="942975"/>
            </a:xfrm>
            <a:prstGeom prst="rect">
              <a:avLst/>
            </a:prstGeom>
          </p:spPr>
          <p:txBody>
            <a:bodyPr lIns="0" tIns="0" rIns="0" bIns="0" rtlCol="0" anchor="ctr"/>
            <a:lstStyle/>
            <a:p>
              <a:pPr algn="ctr">
                <a:lnSpc>
                  <a:spcPts val="3960"/>
                </a:lnSpc>
              </a:pPr>
              <a:r>
                <a:rPr lang="en-US" sz="3300" b="1">
                  <a:solidFill>
                    <a:srgbClr val="FFFFFF"/>
                  </a:solidFill>
                  <a:latin typeface="Arial Bold"/>
                  <a:ea typeface="Arial Bold"/>
                  <a:cs typeface="Arial Bold"/>
                  <a:sym typeface="Arial Bold"/>
                </a:rPr>
                <a:t>f</a:t>
              </a:r>
            </a:p>
          </p:txBody>
        </p:sp>
      </p:grpSp>
      <p:grpSp>
        <p:nvGrpSpPr>
          <p:cNvPr id="64" name="Group 64"/>
          <p:cNvGrpSpPr/>
          <p:nvPr/>
        </p:nvGrpSpPr>
        <p:grpSpPr>
          <a:xfrm>
            <a:off x="2388641" y="3675888"/>
            <a:ext cx="1508760" cy="356616"/>
            <a:chOff x="0" y="0"/>
            <a:chExt cx="2011680" cy="475488"/>
          </a:xfrm>
        </p:grpSpPr>
        <p:sp>
          <p:nvSpPr>
            <p:cNvPr id="65" name="Freeform 65"/>
            <p:cNvSpPr/>
            <p:nvPr/>
          </p:nvSpPr>
          <p:spPr>
            <a:xfrm>
              <a:off x="0" y="0"/>
              <a:ext cx="2011680" cy="475488"/>
            </a:xfrm>
            <a:custGeom>
              <a:avLst/>
              <a:gdLst/>
              <a:ahLst/>
              <a:cxnLst/>
              <a:rect l="l" t="t" r="r" b="b"/>
              <a:pathLst>
                <a:path w="2011680" h="475488">
                  <a:moveTo>
                    <a:pt x="0" y="0"/>
                  </a:moveTo>
                  <a:lnTo>
                    <a:pt x="2011680" y="0"/>
                  </a:lnTo>
                  <a:lnTo>
                    <a:pt x="2011680" y="475488"/>
                  </a:lnTo>
                  <a:lnTo>
                    <a:pt x="0" y="475488"/>
                  </a:lnTo>
                  <a:close/>
                </a:path>
              </a:pathLst>
            </a:custGeom>
            <a:blipFill>
              <a:blip r:embed="rId3">
                <a:alphaModFix amt="0"/>
              </a:blip>
              <a:stretch>
                <a:fillRect t="-32436" b="-32436"/>
              </a:stretch>
            </a:blipFill>
          </p:spPr>
        </p:sp>
        <p:sp>
          <p:nvSpPr>
            <p:cNvPr id="66" name="TextBox 66"/>
            <p:cNvSpPr txBox="1"/>
            <p:nvPr/>
          </p:nvSpPr>
          <p:spPr>
            <a:xfrm>
              <a:off x="0" y="-9525"/>
              <a:ext cx="2011680" cy="485013"/>
            </a:xfrm>
            <a:prstGeom prst="rect">
              <a:avLst/>
            </a:prstGeom>
          </p:spPr>
          <p:txBody>
            <a:bodyPr lIns="0" tIns="0" rIns="0" bIns="0" rtlCol="0" anchor="ctr"/>
            <a:lstStyle/>
            <a:p>
              <a:pPr algn="ctr">
                <a:lnSpc>
                  <a:spcPts val="1889"/>
                </a:lnSpc>
              </a:pPr>
              <a:r>
                <a:rPr lang="en-US" sz="1575" b="1">
                  <a:solidFill>
                    <a:srgbClr val="64748B"/>
                  </a:solidFill>
                  <a:latin typeface="Arial Bold"/>
                  <a:ea typeface="Arial Bold"/>
                  <a:cs typeface="Arial Bold"/>
                  <a:sym typeface="Arial Bold"/>
                </a:rPr>
                <a:t>FB groups</a:t>
              </a:r>
            </a:p>
          </p:txBody>
        </p:sp>
      </p:grpSp>
      <p:sp>
        <p:nvSpPr>
          <p:cNvPr id="67" name="AutoShape 67"/>
          <p:cNvSpPr/>
          <p:nvPr/>
        </p:nvSpPr>
        <p:spPr>
          <a:xfrm rot="3992460">
            <a:off x="3029360" y="4201287"/>
            <a:ext cx="330184" cy="0"/>
          </a:xfrm>
          <a:prstGeom prst="line">
            <a:avLst/>
          </a:prstGeom>
          <a:ln w="19050" cap="rnd">
            <a:solidFill>
              <a:srgbClr val="E2E8F0"/>
            </a:solidFill>
            <a:prstDash val="solid"/>
            <a:headEnd type="none" w="sm" len="sm"/>
            <a:tailEnd type="none" w="sm" len="sm"/>
          </a:ln>
        </p:spPr>
      </p:sp>
      <p:grpSp>
        <p:nvGrpSpPr>
          <p:cNvPr id="68" name="Group 68"/>
          <p:cNvGrpSpPr/>
          <p:nvPr/>
        </p:nvGrpSpPr>
        <p:grpSpPr>
          <a:xfrm>
            <a:off x="4308881" y="2948940"/>
            <a:ext cx="685800" cy="685800"/>
            <a:chOff x="0" y="0"/>
            <a:chExt cx="914400" cy="914400"/>
          </a:xfrm>
        </p:grpSpPr>
        <p:sp>
          <p:nvSpPr>
            <p:cNvPr id="69" name="Freeform 69"/>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4F46E5"/>
            </a:solidFill>
          </p:spPr>
        </p:sp>
      </p:grpSp>
      <p:grpSp>
        <p:nvGrpSpPr>
          <p:cNvPr id="70" name="Group 70"/>
          <p:cNvGrpSpPr/>
          <p:nvPr/>
        </p:nvGrpSpPr>
        <p:grpSpPr>
          <a:xfrm>
            <a:off x="4480331" y="3120390"/>
            <a:ext cx="342900" cy="342900"/>
            <a:chOff x="0" y="0"/>
            <a:chExt cx="457200" cy="457200"/>
          </a:xfrm>
        </p:grpSpPr>
        <p:sp>
          <p:nvSpPr>
            <p:cNvPr id="71" name="Freeform 71" descr="preencoded.png"/>
            <p:cNvSpPr/>
            <p:nvPr/>
          </p:nvSpPr>
          <p:spPr>
            <a:xfrm>
              <a:off x="0" y="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blipFill>
              <a:blip r:embed="rId6"/>
              <a:stretch>
                <a:fillRect/>
              </a:stretch>
            </a:blipFill>
          </p:spPr>
        </p:sp>
      </p:grpSp>
      <p:grpSp>
        <p:nvGrpSpPr>
          <p:cNvPr id="72" name="Group 72"/>
          <p:cNvGrpSpPr/>
          <p:nvPr/>
        </p:nvGrpSpPr>
        <p:grpSpPr>
          <a:xfrm>
            <a:off x="3897401" y="3675888"/>
            <a:ext cx="1508760" cy="356616"/>
            <a:chOff x="0" y="0"/>
            <a:chExt cx="2011680" cy="475488"/>
          </a:xfrm>
        </p:grpSpPr>
        <p:sp>
          <p:nvSpPr>
            <p:cNvPr id="73" name="Freeform 73"/>
            <p:cNvSpPr/>
            <p:nvPr/>
          </p:nvSpPr>
          <p:spPr>
            <a:xfrm>
              <a:off x="0" y="0"/>
              <a:ext cx="2011680" cy="475488"/>
            </a:xfrm>
            <a:custGeom>
              <a:avLst/>
              <a:gdLst/>
              <a:ahLst/>
              <a:cxnLst/>
              <a:rect l="l" t="t" r="r" b="b"/>
              <a:pathLst>
                <a:path w="2011680" h="475488">
                  <a:moveTo>
                    <a:pt x="0" y="0"/>
                  </a:moveTo>
                  <a:lnTo>
                    <a:pt x="2011680" y="0"/>
                  </a:lnTo>
                  <a:lnTo>
                    <a:pt x="2011680" y="475488"/>
                  </a:lnTo>
                  <a:lnTo>
                    <a:pt x="0" y="475488"/>
                  </a:lnTo>
                  <a:close/>
                </a:path>
              </a:pathLst>
            </a:custGeom>
            <a:blipFill>
              <a:blip r:embed="rId3">
                <a:alphaModFix amt="0"/>
              </a:blip>
              <a:stretch>
                <a:fillRect t="-32436" b="-32436"/>
              </a:stretch>
            </a:blipFill>
          </p:spPr>
        </p:sp>
        <p:sp>
          <p:nvSpPr>
            <p:cNvPr id="74" name="TextBox 74"/>
            <p:cNvSpPr txBox="1"/>
            <p:nvPr/>
          </p:nvSpPr>
          <p:spPr>
            <a:xfrm>
              <a:off x="0" y="-9525"/>
              <a:ext cx="2011680" cy="485013"/>
            </a:xfrm>
            <a:prstGeom prst="rect">
              <a:avLst/>
            </a:prstGeom>
          </p:spPr>
          <p:txBody>
            <a:bodyPr lIns="0" tIns="0" rIns="0" bIns="0" rtlCol="0" anchor="ctr"/>
            <a:lstStyle/>
            <a:p>
              <a:pPr algn="ctr">
                <a:lnSpc>
                  <a:spcPts val="1889"/>
                </a:lnSpc>
              </a:pPr>
              <a:r>
                <a:rPr lang="en-US" sz="1575" b="1">
                  <a:solidFill>
                    <a:srgbClr val="64748B"/>
                  </a:solidFill>
                  <a:latin typeface="Arial Bold"/>
                  <a:ea typeface="Arial Bold"/>
                  <a:cs typeface="Arial Bold"/>
                  <a:sym typeface="Arial Bold"/>
                </a:rPr>
                <a:t>UniPreneur</a:t>
              </a:r>
            </a:p>
          </p:txBody>
        </p:sp>
      </p:grpSp>
      <p:sp>
        <p:nvSpPr>
          <p:cNvPr id="75" name="AutoShape 75"/>
          <p:cNvSpPr/>
          <p:nvPr/>
        </p:nvSpPr>
        <p:spPr>
          <a:xfrm rot="10084620">
            <a:off x="3215792" y="4201287"/>
            <a:ext cx="1466098" cy="0"/>
          </a:xfrm>
          <a:prstGeom prst="line">
            <a:avLst/>
          </a:prstGeom>
          <a:ln w="19050" cap="rnd">
            <a:solidFill>
              <a:srgbClr val="E2E8F0"/>
            </a:solidFill>
            <a:prstDash val="solid"/>
            <a:headEnd type="none" w="sm" len="sm"/>
            <a:tailEnd type="none" w="sm" len="sm"/>
          </a:ln>
        </p:spPr>
      </p:sp>
      <p:grpSp>
        <p:nvGrpSpPr>
          <p:cNvPr id="76" name="Group 76"/>
          <p:cNvGrpSpPr/>
          <p:nvPr/>
        </p:nvGrpSpPr>
        <p:grpSpPr>
          <a:xfrm>
            <a:off x="2752115" y="4361688"/>
            <a:ext cx="987552" cy="987552"/>
            <a:chOff x="0" y="0"/>
            <a:chExt cx="1316736" cy="1316736"/>
          </a:xfrm>
        </p:grpSpPr>
        <p:sp>
          <p:nvSpPr>
            <p:cNvPr id="77" name="Freeform 77"/>
            <p:cNvSpPr/>
            <p:nvPr/>
          </p:nvSpPr>
          <p:spPr>
            <a:xfrm>
              <a:off x="0" y="0"/>
              <a:ext cx="1316736" cy="1316736"/>
            </a:xfrm>
            <a:custGeom>
              <a:avLst/>
              <a:gdLst/>
              <a:ahLst/>
              <a:cxnLst/>
              <a:rect l="l" t="t" r="r" b="b"/>
              <a:pathLst>
                <a:path w="1316736" h="1316736">
                  <a:moveTo>
                    <a:pt x="0" y="289687"/>
                  </a:moveTo>
                  <a:cubicBezTo>
                    <a:pt x="0" y="129667"/>
                    <a:pt x="129667" y="0"/>
                    <a:pt x="289687" y="0"/>
                  </a:cubicBezTo>
                  <a:lnTo>
                    <a:pt x="1027049" y="0"/>
                  </a:lnTo>
                  <a:cubicBezTo>
                    <a:pt x="1187069" y="0"/>
                    <a:pt x="1316736" y="129667"/>
                    <a:pt x="1316736" y="289687"/>
                  </a:cubicBezTo>
                  <a:lnTo>
                    <a:pt x="1316736" y="1027049"/>
                  </a:lnTo>
                  <a:cubicBezTo>
                    <a:pt x="1316736" y="1187069"/>
                    <a:pt x="1187069" y="1316736"/>
                    <a:pt x="1027049" y="1316736"/>
                  </a:cubicBezTo>
                  <a:lnTo>
                    <a:pt x="289687" y="1316736"/>
                  </a:lnTo>
                  <a:cubicBezTo>
                    <a:pt x="129667" y="1316736"/>
                    <a:pt x="0" y="1187069"/>
                    <a:pt x="0" y="1027049"/>
                  </a:cubicBezTo>
                  <a:close/>
                </a:path>
              </a:pathLst>
            </a:custGeom>
            <a:solidFill>
              <a:srgbClr val="0AA7A2"/>
            </a:solidFill>
          </p:spPr>
        </p:sp>
      </p:grpSp>
      <p:grpSp>
        <p:nvGrpSpPr>
          <p:cNvPr id="78" name="Group 78"/>
          <p:cNvGrpSpPr/>
          <p:nvPr/>
        </p:nvGrpSpPr>
        <p:grpSpPr>
          <a:xfrm>
            <a:off x="2999003" y="4608576"/>
            <a:ext cx="493776" cy="493776"/>
            <a:chOff x="0" y="0"/>
            <a:chExt cx="658368" cy="658368"/>
          </a:xfrm>
        </p:grpSpPr>
        <p:sp>
          <p:nvSpPr>
            <p:cNvPr id="79" name="Freeform 79" descr="preencoded.png"/>
            <p:cNvSpPr/>
            <p:nvPr/>
          </p:nvSpPr>
          <p:spPr>
            <a:xfrm>
              <a:off x="0" y="0"/>
              <a:ext cx="658368" cy="658368"/>
            </a:xfrm>
            <a:custGeom>
              <a:avLst/>
              <a:gdLst/>
              <a:ahLst/>
              <a:cxnLst/>
              <a:rect l="l" t="t" r="r" b="b"/>
              <a:pathLst>
                <a:path w="658368" h="658368">
                  <a:moveTo>
                    <a:pt x="0" y="0"/>
                  </a:moveTo>
                  <a:lnTo>
                    <a:pt x="658368" y="0"/>
                  </a:lnTo>
                  <a:lnTo>
                    <a:pt x="658368" y="658368"/>
                  </a:lnTo>
                  <a:lnTo>
                    <a:pt x="0" y="658368"/>
                  </a:lnTo>
                  <a:lnTo>
                    <a:pt x="0" y="0"/>
                  </a:lnTo>
                  <a:close/>
                </a:path>
              </a:pathLst>
            </a:custGeom>
            <a:blipFill>
              <a:blip r:embed="rId7"/>
              <a:stretch>
                <a:fillRect/>
              </a:stretch>
            </a:blipFill>
          </p:spPr>
        </p:sp>
      </p:grpSp>
      <p:grpSp>
        <p:nvGrpSpPr>
          <p:cNvPr id="80" name="Group 80"/>
          <p:cNvGrpSpPr/>
          <p:nvPr/>
        </p:nvGrpSpPr>
        <p:grpSpPr>
          <a:xfrm>
            <a:off x="3473729" y="4109466"/>
            <a:ext cx="669036" cy="669036"/>
            <a:chOff x="0" y="0"/>
            <a:chExt cx="892048" cy="892048"/>
          </a:xfrm>
        </p:grpSpPr>
        <p:sp>
          <p:nvSpPr>
            <p:cNvPr id="81" name="Freeform 81"/>
            <p:cNvSpPr/>
            <p:nvPr/>
          </p:nvSpPr>
          <p:spPr>
            <a:xfrm>
              <a:off x="0" y="0"/>
              <a:ext cx="892048" cy="892048"/>
            </a:xfrm>
            <a:custGeom>
              <a:avLst/>
              <a:gdLst/>
              <a:ahLst/>
              <a:cxnLst/>
              <a:rect l="l" t="t" r="r" b="b"/>
              <a:pathLst>
                <a:path w="892048" h="892048">
                  <a:moveTo>
                    <a:pt x="0" y="446024"/>
                  </a:moveTo>
                  <a:cubicBezTo>
                    <a:pt x="0" y="199644"/>
                    <a:pt x="199644" y="0"/>
                    <a:pt x="446024" y="0"/>
                  </a:cubicBezTo>
                  <a:cubicBezTo>
                    <a:pt x="692404" y="0"/>
                    <a:pt x="892048" y="199644"/>
                    <a:pt x="892048" y="446024"/>
                  </a:cubicBezTo>
                  <a:cubicBezTo>
                    <a:pt x="892048" y="692404"/>
                    <a:pt x="692404" y="892048"/>
                    <a:pt x="446024" y="892048"/>
                  </a:cubicBezTo>
                  <a:cubicBezTo>
                    <a:pt x="199644" y="892048"/>
                    <a:pt x="0" y="692404"/>
                    <a:pt x="0" y="446024"/>
                  </a:cubicBezTo>
                  <a:close/>
                </a:path>
              </a:pathLst>
            </a:custGeom>
            <a:solidFill>
              <a:srgbClr val="FFFFFF"/>
            </a:solidFill>
            <a:ln w="38100" cap="sq">
              <a:solidFill>
                <a:srgbClr val="0AA7A2"/>
              </a:solidFill>
              <a:prstDash val="solid"/>
              <a:miter/>
            </a:ln>
          </p:spPr>
        </p:sp>
        <p:sp>
          <p:nvSpPr>
            <p:cNvPr id="82" name="TextBox 82"/>
            <p:cNvSpPr txBox="1"/>
            <p:nvPr/>
          </p:nvSpPr>
          <p:spPr>
            <a:xfrm>
              <a:off x="0" y="-19050"/>
              <a:ext cx="892048" cy="911098"/>
            </a:xfrm>
            <a:prstGeom prst="rect">
              <a:avLst/>
            </a:prstGeom>
          </p:spPr>
          <p:txBody>
            <a:bodyPr lIns="50800" tIns="50800" rIns="50800" bIns="50800" rtlCol="0" anchor="ctr"/>
            <a:lstStyle/>
            <a:p>
              <a:pPr algn="ctr">
                <a:lnSpc>
                  <a:spcPts val="2160"/>
                </a:lnSpc>
              </a:pPr>
              <a:r>
                <a:rPr lang="en-US" sz="1800" b="1">
                  <a:solidFill>
                    <a:srgbClr val="0AA7A2"/>
                  </a:solidFill>
                  <a:latin typeface="Arial Bold"/>
                  <a:ea typeface="Arial Bold"/>
                  <a:cs typeface="Arial Bold"/>
                  <a:sym typeface="Arial Bold"/>
                </a:rPr>
                <a:t>10</a:t>
              </a:r>
            </a:p>
          </p:txBody>
        </p:sp>
      </p:grpSp>
      <p:grpSp>
        <p:nvGrpSpPr>
          <p:cNvPr id="83" name="Group 83"/>
          <p:cNvGrpSpPr/>
          <p:nvPr/>
        </p:nvGrpSpPr>
        <p:grpSpPr>
          <a:xfrm>
            <a:off x="7052081" y="3497580"/>
            <a:ext cx="987552" cy="987552"/>
            <a:chOff x="0" y="0"/>
            <a:chExt cx="1316736" cy="1316736"/>
          </a:xfrm>
        </p:grpSpPr>
        <p:sp>
          <p:nvSpPr>
            <p:cNvPr id="84" name="Freeform 84"/>
            <p:cNvSpPr/>
            <p:nvPr/>
          </p:nvSpPr>
          <p:spPr>
            <a:xfrm>
              <a:off x="0" y="0"/>
              <a:ext cx="1316736" cy="1316736"/>
            </a:xfrm>
            <a:custGeom>
              <a:avLst/>
              <a:gdLst/>
              <a:ahLst/>
              <a:cxnLst/>
              <a:rect l="l" t="t" r="r" b="b"/>
              <a:pathLst>
                <a:path w="1316736" h="1316736">
                  <a:moveTo>
                    <a:pt x="0" y="289687"/>
                  </a:moveTo>
                  <a:cubicBezTo>
                    <a:pt x="0" y="129667"/>
                    <a:pt x="129667" y="0"/>
                    <a:pt x="289687" y="0"/>
                  </a:cubicBezTo>
                  <a:lnTo>
                    <a:pt x="1027049" y="0"/>
                  </a:lnTo>
                  <a:cubicBezTo>
                    <a:pt x="1187069" y="0"/>
                    <a:pt x="1316736" y="129667"/>
                    <a:pt x="1316736" y="289687"/>
                  </a:cubicBezTo>
                  <a:lnTo>
                    <a:pt x="1316736" y="1027049"/>
                  </a:lnTo>
                  <a:cubicBezTo>
                    <a:pt x="1316736" y="1187069"/>
                    <a:pt x="1187069" y="1316736"/>
                    <a:pt x="1027049" y="1316736"/>
                  </a:cubicBezTo>
                  <a:lnTo>
                    <a:pt x="289687" y="1316736"/>
                  </a:lnTo>
                  <a:cubicBezTo>
                    <a:pt x="129667" y="1316736"/>
                    <a:pt x="0" y="1187069"/>
                    <a:pt x="0" y="1027049"/>
                  </a:cubicBezTo>
                  <a:close/>
                </a:path>
              </a:pathLst>
            </a:custGeom>
            <a:solidFill>
              <a:srgbClr val="0AA7A2"/>
            </a:solidFill>
          </p:spPr>
        </p:sp>
      </p:grpSp>
      <p:grpSp>
        <p:nvGrpSpPr>
          <p:cNvPr id="85" name="Group 85"/>
          <p:cNvGrpSpPr/>
          <p:nvPr/>
        </p:nvGrpSpPr>
        <p:grpSpPr>
          <a:xfrm>
            <a:off x="7298969" y="3744468"/>
            <a:ext cx="493776" cy="493776"/>
            <a:chOff x="0" y="0"/>
            <a:chExt cx="658368" cy="658368"/>
          </a:xfrm>
        </p:grpSpPr>
        <p:sp>
          <p:nvSpPr>
            <p:cNvPr id="86" name="Freeform 86" descr="preencoded.png"/>
            <p:cNvSpPr/>
            <p:nvPr/>
          </p:nvSpPr>
          <p:spPr>
            <a:xfrm>
              <a:off x="0" y="0"/>
              <a:ext cx="658368" cy="658368"/>
            </a:xfrm>
            <a:custGeom>
              <a:avLst/>
              <a:gdLst/>
              <a:ahLst/>
              <a:cxnLst/>
              <a:rect l="l" t="t" r="r" b="b"/>
              <a:pathLst>
                <a:path w="658368" h="658368">
                  <a:moveTo>
                    <a:pt x="0" y="0"/>
                  </a:moveTo>
                  <a:lnTo>
                    <a:pt x="658368" y="0"/>
                  </a:lnTo>
                  <a:lnTo>
                    <a:pt x="658368" y="658368"/>
                  </a:lnTo>
                  <a:lnTo>
                    <a:pt x="0" y="658368"/>
                  </a:lnTo>
                  <a:lnTo>
                    <a:pt x="0" y="0"/>
                  </a:lnTo>
                  <a:close/>
                </a:path>
              </a:pathLst>
            </a:custGeom>
            <a:blipFill>
              <a:blip r:embed="rId7"/>
              <a:stretch>
                <a:fillRect/>
              </a:stretch>
            </a:blipFill>
          </p:spPr>
        </p:sp>
      </p:grpSp>
      <p:grpSp>
        <p:nvGrpSpPr>
          <p:cNvPr id="87" name="Group 87"/>
          <p:cNvGrpSpPr/>
          <p:nvPr/>
        </p:nvGrpSpPr>
        <p:grpSpPr>
          <a:xfrm>
            <a:off x="8108213" y="3799332"/>
            <a:ext cx="384048" cy="384048"/>
            <a:chOff x="0" y="0"/>
            <a:chExt cx="512064" cy="512064"/>
          </a:xfrm>
        </p:grpSpPr>
        <p:sp>
          <p:nvSpPr>
            <p:cNvPr id="88" name="Freeform 88" descr="preencoded.png"/>
            <p:cNvSpPr/>
            <p:nvPr/>
          </p:nvSpPr>
          <p:spPr>
            <a:xfrm>
              <a:off x="0" y="0"/>
              <a:ext cx="512064" cy="512064"/>
            </a:xfrm>
            <a:custGeom>
              <a:avLst/>
              <a:gdLst/>
              <a:ahLst/>
              <a:cxnLst/>
              <a:rect l="l" t="t" r="r" b="b"/>
              <a:pathLst>
                <a:path w="512064" h="512064">
                  <a:moveTo>
                    <a:pt x="0" y="0"/>
                  </a:moveTo>
                  <a:lnTo>
                    <a:pt x="512064" y="0"/>
                  </a:lnTo>
                  <a:lnTo>
                    <a:pt x="512064" y="512064"/>
                  </a:lnTo>
                  <a:lnTo>
                    <a:pt x="0" y="512064"/>
                  </a:lnTo>
                  <a:lnTo>
                    <a:pt x="0" y="0"/>
                  </a:lnTo>
                  <a:close/>
                </a:path>
              </a:pathLst>
            </a:custGeom>
            <a:blipFill>
              <a:blip r:embed="rId4"/>
              <a:stretch>
                <a:fillRect/>
              </a:stretch>
            </a:blipFill>
          </p:spPr>
        </p:sp>
      </p:grpSp>
      <p:grpSp>
        <p:nvGrpSpPr>
          <p:cNvPr id="89" name="Group 89"/>
          <p:cNvGrpSpPr/>
          <p:nvPr/>
        </p:nvGrpSpPr>
        <p:grpSpPr>
          <a:xfrm>
            <a:off x="8560841" y="3332988"/>
            <a:ext cx="603504" cy="603504"/>
            <a:chOff x="0" y="0"/>
            <a:chExt cx="804672" cy="804672"/>
          </a:xfrm>
        </p:grpSpPr>
        <p:sp>
          <p:nvSpPr>
            <p:cNvPr id="90" name="Freeform 90"/>
            <p:cNvSpPr/>
            <p:nvPr/>
          </p:nvSpPr>
          <p:spPr>
            <a:xfrm>
              <a:off x="0" y="0"/>
              <a:ext cx="804672" cy="804672"/>
            </a:xfrm>
            <a:custGeom>
              <a:avLst/>
              <a:gdLst/>
              <a:ahLst/>
              <a:cxnLst/>
              <a:rect l="l" t="t" r="r" b="b"/>
              <a:pathLst>
                <a:path w="804672" h="804672">
                  <a:moveTo>
                    <a:pt x="0" y="402336"/>
                  </a:moveTo>
                  <a:cubicBezTo>
                    <a:pt x="0" y="180086"/>
                    <a:pt x="180086" y="0"/>
                    <a:pt x="402336" y="0"/>
                  </a:cubicBezTo>
                  <a:cubicBezTo>
                    <a:pt x="624586" y="0"/>
                    <a:pt x="804672" y="180086"/>
                    <a:pt x="804672" y="402336"/>
                  </a:cubicBezTo>
                  <a:cubicBezTo>
                    <a:pt x="804672" y="624586"/>
                    <a:pt x="624586" y="804672"/>
                    <a:pt x="402336" y="804672"/>
                  </a:cubicBezTo>
                  <a:cubicBezTo>
                    <a:pt x="180086" y="804672"/>
                    <a:pt x="0" y="624586"/>
                    <a:pt x="0" y="402336"/>
                  </a:cubicBezTo>
                  <a:close/>
                </a:path>
              </a:pathLst>
            </a:custGeom>
            <a:solidFill>
              <a:srgbClr val="1877F2"/>
            </a:solidFill>
          </p:spPr>
        </p:sp>
      </p:grpSp>
      <p:grpSp>
        <p:nvGrpSpPr>
          <p:cNvPr id="91" name="Group 91"/>
          <p:cNvGrpSpPr/>
          <p:nvPr/>
        </p:nvGrpSpPr>
        <p:grpSpPr>
          <a:xfrm>
            <a:off x="8560841" y="3363163"/>
            <a:ext cx="603504" cy="603504"/>
            <a:chOff x="0" y="0"/>
            <a:chExt cx="804672" cy="804672"/>
          </a:xfrm>
        </p:grpSpPr>
        <p:sp>
          <p:nvSpPr>
            <p:cNvPr id="92" name="Freeform 92"/>
            <p:cNvSpPr/>
            <p:nvPr/>
          </p:nvSpPr>
          <p:spPr>
            <a:xfrm>
              <a:off x="0" y="0"/>
              <a:ext cx="804672" cy="804672"/>
            </a:xfrm>
            <a:custGeom>
              <a:avLst/>
              <a:gdLst/>
              <a:ahLst/>
              <a:cxnLst/>
              <a:rect l="l" t="t" r="r" b="b"/>
              <a:pathLst>
                <a:path w="804672" h="804672">
                  <a:moveTo>
                    <a:pt x="0" y="0"/>
                  </a:moveTo>
                  <a:lnTo>
                    <a:pt x="804672" y="0"/>
                  </a:lnTo>
                  <a:lnTo>
                    <a:pt x="804672" y="804672"/>
                  </a:lnTo>
                  <a:lnTo>
                    <a:pt x="0" y="804672"/>
                  </a:lnTo>
                  <a:close/>
                </a:path>
              </a:pathLst>
            </a:custGeom>
            <a:blipFill>
              <a:blip r:embed="rId3">
                <a:alphaModFix amt="0"/>
              </a:blip>
              <a:stretch>
                <a:fillRect l="-78303" r="-78303"/>
              </a:stretch>
            </a:blipFill>
          </p:spPr>
        </p:sp>
        <p:sp>
          <p:nvSpPr>
            <p:cNvPr id="93" name="TextBox 93"/>
            <p:cNvSpPr txBox="1"/>
            <p:nvPr/>
          </p:nvSpPr>
          <p:spPr>
            <a:xfrm>
              <a:off x="0" y="-19050"/>
              <a:ext cx="804672" cy="823722"/>
            </a:xfrm>
            <a:prstGeom prst="rect">
              <a:avLst/>
            </a:prstGeom>
          </p:spPr>
          <p:txBody>
            <a:bodyPr lIns="0" tIns="0" rIns="0" bIns="0" rtlCol="0" anchor="ctr"/>
            <a:lstStyle/>
            <a:p>
              <a:pPr algn="ctr">
                <a:lnSpc>
                  <a:spcPts val="3419"/>
                </a:lnSpc>
              </a:pPr>
              <a:r>
                <a:rPr lang="en-US" sz="2850" b="1">
                  <a:solidFill>
                    <a:srgbClr val="FFFFFF"/>
                  </a:solidFill>
                  <a:latin typeface="Arial Bold"/>
                  <a:ea typeface="Arial Bold"/>
                  <a:cs typeface="Arial Bold"/>
                  <a:sym typeface="Arial Bold"/>
                </a:rPr>
                <a:t>f</a:t>
              </a:r>
            </a:p>
          </p:txBody>
        </p:sp>
      </p:grpSp>
      <p:grpSp>
        <p:nvGrpSpPr>
          <p:cNvPr id="94" name="Group 94"/>
          <p:cNvGrpSpPr/>
          <p:nvPr/>
        </p:nvGrpSpPr>
        <p:grpSpPr>
          <a:xfrm>
            <a:off x="8560841" y="4046220"/>
            <a:ext cx="603504" cy="603504"/>
            <a:chOff x="0" y="0"/>
            <a:chExt cx="804672" cy="804672"/>
          </a:xfrm>
        </p:grpSpPr>
        <p:sp>
          <p:nvSpPr>
            <p:cNvPr id="95" name="Freeform 95"/>
            <p:cNvSpPr/>
            <p:nvPr/>
          </p:nvSpPr>
          <p:spPr>
            <a:xfrm>
              <a:off x="0" y="0"/>
              <a:ext cx="804672" cy="804672"/>
            </a:xfrm>
            <a:custGeom>
              <a:avLst/>
              <a:gdLst/>
              <a:ahLst/>
              <a:cxnLst/>
              <a:rect l="l" t="t" r="r" b="b"/>
              <a:pathLst>
                <a:path w="804672" h="804672">
                  <a:moveTo>
                    <a:pt x="0" y="402336"/>
                  </a:moveTo>
                  <a:cubicBezTo>
                    <a:pt x="0" y="180086"/>
                    <a:pt x="180086" y="0"/>
                    <a:pt x="402336" y="0"/>
                  </a:cubicBezTo>
                  <a:cubicBezTo>
                    <a:pt x="624586" y="0"/>
                    <a:pt x="804672" y="180086"/>
                    <a:pt x="804672" y="402336"/>
                  </a:cubicBezTo>
                  <a:cubicBezTo>
                    <a:pt x="804672" y="624586"/>
                    <a:pt x="624586" y="804672"/>
                    <a:pt x="402336" y="804672"/>
                  </a:cubicBezTo>
                  <a:cubicBezTo>
                    <a:pt x="180086" y="804672"/>
                    <a:pt x="0" y="624586"/>
                    <a:pt x="0" y="402336"/>
                  </a:cubicBezTo>
                  <a:close/>
                </a:path>
              </a:pathLst>
            </a:custGeom>
            <a:solidFill>
              <a:srgbClr val="27A7E7"/>
            </a:solidFill>
          </p:spPr>
        </p:sp>
      </p:grpSp>
      <p:grpSp>
        <p:nvGrpSpPr>
          <p:cNvPr id="96" name="Group 96"/>
          <p:cNvGrpSpPr/>
          <p:nvPr/>
        </p:nvGrpSpPr>
        <p:grpSpPr>
          <a:xfrm>
            <a:off x="8711717" y="4197096"/>
            <a:ext cx="301752" cy="301752"/>
            <a:chOff x="0" y="0"/>
            <a:chExt cx="402336" cy="402336"/>
          </a:xfrm>
        </p:grpSpPr>
        <p:sp>
          <p:nvSpPr>
            <p:cNvPr id="97" name="Freeform 97" descr="preencoded.png"/>
            <p:cNvSpPr/>
            <p:nvPr/>
          </p:nvSpPr>
          <p:spPr>
            <a:xfrm>
              <a:off x="0" y="0"/>
              <a:ext cx="402336" cy="402336"/>
            </a:xfrm>
            <a:custGeom>
              <a:avLst/>
              <a:gdLst/>
              <a:ahLst/>
              <a:cxnLst/>
              <a:rect l="l" t="t" r="r" b="b"/>
              <a:pathLst>
                <a:path w="402336" h="402336">
                  <a:moveTo>
                    <a:pt x="0" y="0"/>
                  </a:moveTo>
                  <a:lnTo>
                    <a:pt x="402336" y="0"/>
                  </a:lnTo>
                  <a:lnTo>
                    <a:pt x="402336" y="402336"/>
                  </a:lnTo>
                  <a:lnTo>
                    <a:pt x="0" y="402336"/>
                  </a:lnTo>
                  <a:lnTo>
                    <a:pt x="0" y="0"/>
                  </a:lnTo>
                  <a:close/>
                </a:path>
              </a:pathLst>
            </a:custGeom>
            <a:blipFill>
              <a:blip r:embed="rId8"/>
              <a:stretch>
                <a:fillRect/>
              </a:stretch>
            </a:blipFill>
          </p:spPr>
        </p:sp>
      </p:grpSp>
      <p:grpSp>
        <p:nvGrpSpPr>
          <p:cNvPr id="98" name="Group 98"/>
          <p:cNvGrpSpPr/>
          <p:nvPr/>
        </p:nvGrpSpPr>
        <p:grpSpPr>
          <a:xfrm>
            <a:off x="9274073" y="3799332"/>
            <a:ext cx="384048" cy="384048"/>
            <a:chOff x="0" y="0"/>
            <a:chExt cx="512064" cy="512064"/>
          </a:xfrm>
        </p:grpSpPr>
        <p:sp>
          <p:nvSpPr>
            <p:cNvPr id="99" name="Freeform 99" descr="preencoded.png"/>
            <p:cNvSpPr/>
            <p:nvPr/>
          </p:nvSpPr>
          <p:spPr>
            <a:xfrm>
              <a:off x="0" y="0"/>
              <a:ext cx="512064" cy="512064"/>
            </a:xfrm>
            <a:custGeom>
              <a:avLst/>
              <a:gdLst/>
              <a:ahLst/>
              <a:cxnLst/>
              <a:rect l="l" t="t" r="r" b="b"/>
              <a:pathLst>
                <a:path w="512064" h="512064">
                  <a:moveTo>
                    <a:pt x="0" y="0"/>
                  </a:moveTo>
                  <a:lnTo>
                    <a:pt x="512064" y="0"/>
                  </a:lnTo>
                  <a:lnTo>
                    <a:pt x="512064" y="512064"/>
                  </a:lnTo>
                  <a:lnTo>
                    <a:pt x="0" y="512064"/>
                  </a:lnTo>
                  <a:lnTo>
                    <a:pt x="0" y="0"/>
                  </a:lnTo>
                  <a:close/>
                </a:path>
              </a:pathLst>
            </a:custGeom>
            <a:blipFill>
              <a:blip r:embed="rId4"/>
              <a:stretch>
                <a:fillRect/>
              </a:stretch>
            </a:blipFill>
          </p:spPr>
        </p:sp>
      </p:grpSp>
      <p:grpSp>
        <p:nvGrpSpPr>
          <p:cNvPr id="100" name="Group 100"/>
          <p:cNvGrpSpPr/>
          <p:nvPr/>
        </p:nvGrpSpPr>
        <p:grpSpPr>
          <a:xfrm>
            <a:off x="9754133" y="3497580"/>
            <a:ext cx="987552" cy="987552"/>
            <a:chOff x="0" y="0"/>
            <a:chExt cx="1316736" cy="1316736"/>
          </a:xfrm>
        </p:grpSpPr>
        <p:sp>
          <p:nvSpPr>
            <p:cNvPr id="101" name="Freeform 101"/>
            <p:cNvSpPr/>
            <p:nvPr/>
          </p:nvSpPr>
          <p:spPr>
            <a:xfrm>
              <a:off x="0" y="0"/>
              <a:ext cx="1316736" cy="1316736"/>
            </a:xfrm>
            <a:custGeom>
              <a:avLst/>
              <a:gdLst/>
              <a:ahLst/>
              <a:cxnLst/>
              <a:rect l="l" t="t" r="r" b="b"/>
              <a:pathLst>
                <a:path w="1316736" h="1316736">
                  <a:moveTo>
                    <a:pt x="0" y="289687"/>
                  </a:moveTo>
                  <a:cubicBezTo>
                    <a:pt x="0" y="129667"/>
                    <a:pt x="129667" y="0"/>
                    <a:pt x="289687" y="0"/>
                  </a:cubicBezTo>
                  <a:lnTo>
                    <a:pt x="1027049" y="0"/>
                  </a:lnTo>
                  <a:cubicBezTo>
                    <a:pt x="1187069" y="0"/>
                    <a:pt x="1316736" y="129667"/>
                    <a:pt x="1316736" y="289687"/>
                  </a:cubicBezTo>
                  <a:lnTo>
                    <a:pt x="1316736" y="1027049"/>
                  </a:lnTo>
                  <a:cubicBezTo>
                    <a:pt x="1316736" y="1187069"/>
                    <a:pt x="1187069" y="1316736"/>
                    <a:pt x="1027049" y="1316736"/>
                  </a:cubicBezTo>
                  <a:lnTo>
                    <a:pt x="289687" y="1316736"/>
                  </a:lnTo>
                  <a:cubicBezTo>
                    <a:pt x="129667" y="1316736"/>
                    <a:pt x="0" y="1187069"/>
                    <a:pt x="0" y="1027049"/>
                  </a:cubicBezTo>
                  <a:close/>
                </a:path>
              </a:pathLst>
            </a:custGeom>
            <a:solidFill>
              <a:srgbClr val="2463E8"/>
            </a:solidFill>
          </p:spPr>
        </p:sp>
      </p:grpSp>
      <p:grpSp>
        <p:nvGrpSpPr>
          <p:cNvPr id="102" name="Group 102"/>
          <p:cNvGrpSpPr/>
          <p:nvPr/>
        </p:nvGrpSpPr>
        <p:grpSpPr>
          <a:xfrm>
            <a:off x="10001021" y="3744468"/>
            <a:ext cx="493776" cy="493776"/>
            <a:chOff x="0" y="0"/>
            <a:chExt cx="658368" cy="658368"/>
          </a:xfrm>
        </p:grpSpPr>
        <p:sp>
          <p:nvSpPr>
            <p:cNvPr id="103" name="Freeform 103" descr="preencoded.png"/>
            <p:cNvSpPr/>
            <p:nvPr/>
          </p:nvSpPr>
          <p:spPr>
            <a:xfrm>
              <a:off x="0" y="0"/>
              <a:ext cx="658368" cy="658368"/>
            </a:xfrm>
            <a:custGeom>
              <a:avLst/>
              <a:gdLst/>
              <a:ahLst/>
              <a:cxnLst/>
              <a:rect l="l" t="t" r="r" b="b"/>
              <a:pathLst>
                <a:path w="658368" h="658368">
                  <a:moveTo>
                    <a:pt x="0" y="0"/>
                  </a:moveTo>
                  <a:lnTo>
                    <a:pt x="658368" y="0"/>
                  </a:lnTo>
                  <a:lnTo>
                    <a:pt x="658368" y="658368"/>
                  </a:lnTo>
                  <a:lnTo>
                    <a:pt x="0" y="658368"/>
                  </a:lnTo>
                  <a:lnTo>
                    <a:pt x="0" y="0"/>
                  </a:lnTo>
                  <a:close/>
                </a:path>
              </a:pathLst>
            </a:custGeom>
            <a:blipFill>
              <a:blip r:embed="rId9"/>
              <a:stretch>
                <a:fillRect/>
              </a:stretch>
            </a:blipFill>
          </p:spPr>
        </p:sp>
      </p:grpSp>
      <p:grpSp>
        <p:nvGrpSpPr>
          <p:cNvPr id="104" name="Group 104"/>
          <p:cNvGrpSpPr/>
          <p:nvPr/>
        </p:nvGrpSpPr>
        <p:grpSpPr>
          <a:xfrm>
            <a:off x="8217941" y="4732020"/>
            <a:ext cx="1371600" cy="356616"/>
            <a:chOff x="0" y="0"/>
            <a:chExt cx="1828800" cy="475488"/>
          </a:xfrm>
        </p:grpSpPr>
        <p:sp>
          <p:nvSpPr>
            <p:cNvPr id="105" name="Freeform 105"/>
            <p:cNvSpPr/>
            <p:nvPr/>
          </p:nvSpPr>
          <p:spPr>
            <a:xfrm>
              <a:off x="0" y="0"/>
              <a:ext cx="1828800" cy="475488"/>
            </a:xfrm>
            <a:custGeom>
              <a:avLst/>
              <a:gdLst/>
              <a:ahLst/>
              <a:cxnLst/>
              <a:rect l="l" t="t" r="r" b="b"/>
              <a:pathLst>
                <a:path w="1828800" h="475488">
                  <a:moveTo>
                    <a:pt x="0" y="0"/>
                  </a:moveTo>
                  <a:lnTo>
                    <a:pt x="1828800" y="0"/>
                  </a:lnTo>
                  <a:lnTo>
                    <a:pt x="1828800" y="475488"/>
                  </a:lnTo>
                  <a:lnTo>
                    <a:pt x="0" y="475488"/>
                  </a:lnTo>
                  <a:close/>
                </a:path>
              </a:pathLst>
            </a:custGeom>
            <a:blipFill>
              <a:blip r:embed="rId3">
                <a:alphaModFix amt="0"/>
              </a:blip>
              <a:stretch>
                <a:fillRect t="-24942" b="-24942"/>
              </a:stretch>
            </a:blipFill>
          </p:spPr>
        </p:sp>
        <p:sp>
          <p:nvSpPr>
            <p:cNvPr id="106" name="TextBox 106"/>
            <p:cNvSpPr txBox="1"/>
            <p:nvPr/>
          </p:nvSpPr>
          <p:spPr>
            <a:xfrm>
              <a:off x="0" y="-9525"/>
              <a:ext cx="1828800" cy="485013"/>
            </a:xfrm>
            <a:prstGeom prst="rect">
              <a:avLst/>
            </a:prstGeom>
          </p:spPr>
          <p:txBody>
            <a:bodyPr lIns="0" tIns="0" rIns="0" bIns="0" rtlCol="0" anchor="ctr"/>
            <a:lstStyle/>
            <a:p>
              <a:pPr algn="ctr">
                <a:lnSpc>
                  <a:spcPts val="1889"/>
                </a:lnSpc>
              </a:pPr>
              <a:r>
                <a:rPr lang="en-US" sz="1575" b="1">
                  <a:solidFill>
                    <a:srgbClr val="64748B"/>
                  </a:solidFill>
                  <a:latin typeface="Arial Bold"/>
                  <a:ea typeface="Arial Bold"/>
                  <a:cs typeface="Arial Bold"/>
                  <a:sym typeface="Arial Bold"/>
                </a:rPr>
                <a:t>Store link</a:t>
              </a:r>
            </a:p>
          </p:txBody>
        </p:sp>
      </p:grpSp>
      <p:grpSp>
        <p:nvGrpSpPr>
          <p:cNvPr id="107" name="Group 107"/>
          <p:cNvGrpSpPr/>
          <p:nvPr/>
        </p:nvGrpSpPr>
        <p:grpSpPr>
          <a:xfrm>
            <a:off x="9479813" y="4732020"/>
            <a:ext cx="1536192" cy="356616"/>
            <a:chOff x="0" y="0"/>
            <a:chExt cx="2048256" cy="475488"/>
          </a:xfrm>
        </p:grpSpPr>
        <p:sp>
          <p:nvSpPr>
            <p:cNvPr id="108" name="Freeform 108"/>
            <p:cNvSpPr/>
            <p:nvPr/>
          </p:nvSpPr>
          <p:spPr>
            <a:xfrm>
              <a:off x="0" y="0"/>
              <a:ext cx="2048256" cy="475488"/>
            </a:xfrm>
            <a:custGeom>
              <a:avLst/>
              <a:gdLst/>
              <a:ahLst/>
              <a:cxnLst/>
              <a:rect l="l" t="t" r="r" b="b"/>
              <a:pathLst>
                <a:path w="2048256" h="475488">
                  <a:moveTo>
                    <a:pt x="0" y="0"/>
                  </a:moveTo>
                  <a:lnTo>
                    <a:pt x="2048256" y="0"/>
                  </a:lnTo>
                  <a:lnTo>
                    <a:pt x="2048256" y="475488"/>
                  </a:lnTo>
                  <a:lnTo>
                    <a:pt x="0" y="475488"/>
                  </a:lnTo>
                  <a:close/>
                </a:path>
              </a:pathLst>
            </a:custGeom>
            <a:blipFill>
              <a:blip r:embed="rId3">
                <a:alphaModFix amt="0"/>
              </a:blip>
              <a:stretch>
                <a:fillRect t="-33935" b="-33935"/>
              </a:stretch>
            </a:blipFill>
          </p:spPr>
        </p:sp>
        <p:sp>
          <p:nvSpPr>
            <p:cNvPr id="109" name="TextBox 109"/>
            <p:cNvSpPr txBox="1"/>
            <p:nvPr/>
          </p:nvSpPr>
          <p:spPr>
            <a:xfrm>
              <a:off x="0" y="-9525"/>
              <a:ext cx="2048256" cy="485013"/>
            </a:xfrm>
            <a:prstGeom prst="rect">
              <a:avLst/>
            </a:prstGeom>
          </p:spPr>
          <p:txBody>
            <a:bodyPr lIns="0" tIns="0" rIns="0" bIns="0" rtlCol="0" anchor="ctr"/>
            <a:lstStyle/>
            <a:p>
              <a:pPr algn="ctr">
                <a:lnSpc>
                  <a:spcPts val="1889"/>
                </a:lnSpc>
              </a:pPr>
              <a:r>
                <a:rPr lang="en-US" sz="1575" b="1">
                  <a:solidFill>
                    <a:srgbClr val="2463E8"/>
                  </a:solidFill>
                  <a:latin typeface="Arial Bold"/>
                  <a:ea typeface="Arial Bold"/>
                  <a:cs typeface="Arial Bold"/>
                  <a:sym typeface="Arial Bold"/>
                </a:rPr>
                <a:t>Customers</a:t>
              </a:r>
            </a:p>
          </p:txBody>
        </p:sp>
      </p:grpSp>
      <p:grpSp>
        <p:nvGrpSpPr>
          <p:cNvPr id="110" name="Group 110"/>
          <p:cNvGrpSpPr/>
          <p:nvPr/>
        </p:nvGrpSpPr>
        <p:grpSpPr>
          <a:xfrm>
            <a:off x="14493011" y="2880360"/>
            <a:ext cx="1097280" cy="1097280"/>
            <a:chOff x="0" y="0"/>
            <a:chExt cx="1463040" cy="1463040"/>
          </a:xfrm>
        </p:grpSpPr>
        <p:sp>
          <p:nvSpPr>
            <p:cNvPr id="111" name="Freeform 111"/>
            <p:cNvSpPr/>
            <p:nvPr/>
          </p:nvSpPr>
          <p:spPr>
            <a:xfrm>
              <a:off x="0" y="0"/>
              <a:ext cx="1463040" cy="1463040"/>
            </a:xfrm>
            <a:custGeom>
              <a:avLst/>
              <a:gdLst/>
              <a:ahLst/>
              <a:cxnLst/>
              <a:rect l="l" t="t" r="r" b="b"/>
              <a:pathLst>
                <a:path w="1463040" h="1463040">
                  <a:moveTo>
                    <a:pt x="0" y="321818"/>
                  </a:moveTo>
                  <a:cubicBezTo>
                    <a:pt x="0" y="144145"/>
                    <a:pt x="144145" y="0"/>
                    <a:pt x="321818" y="0"/>
                  </a:cubicBezTo>
                  <a:lnTo>
                    <a:pt x="1141222" y="0"/>
                  </a:lnTo>
                  <a:cubicBezTo>
                    <a:pt x="1319022" y="0"/>
                    <a:pt x="1463040" y="144145"/>
                    <a:pt x="1463040" y="321818"/>
                  </a:cubicBezTo>
                  <a:lnTo>
                    <a:pt x="1463040" y="1141222"/>
                  </a:lnTo>
                  <a:cubicBezTo>
                    <a:pt x="1463040" y="1319022"/>
                    <a:pt x="1318895" y="1463040"/>
                    <a:pt x="1141222" y="1463040"/>
                  </a:cubicBezTo>
                  <a:lnTo>
                    <a:pt x="321818" y="1463040"/>
                  </a:lnTo>
                  <a:cubicBezTo>
                    <a:pt x="144145" y="1463040"/>
                    <a:pt x="0" y="1318895"/>
                    <a:pt x="0" y="1141222"/>
                  </a:cubicBezTo>
                  <a:close/>
                </a:path>
              </a:pathLst>
            </a:custGeom>
            <a:solidFill>
              <a:srgbClr val="F97316"/>
            </a:solidFill>
          </p:spPr>
        </p:sp>
      </p:grpSp>
      <p:grpSp>
        <p:nvGrpSpPr>
          <p:cNvPr id="112" name="Group 112"/>
          <p:cNvGrpSpPr/>
          <p:nvPr/>
        </p:nvGrpSpPr>
        <p:grpSpPr>
          <a:xfrm>
            <a:off x="14767331" y="3154680"/>
            <a:ext cx="548640" cy="548640"/>
            <a:chOff x="0" y="0"/>
            <a:chExt cx="731520" cy="731520"/>
          </a:xfrm>
        </p:grpSpPr>
        <p:sp>
          <p:nvSpPr>
            <p:cNvPr id="113" name="Freeform 113" descr="preencoded.png"/>
            <p:cNvSpPr/>
            <p:nvPr/>
          </p:nvSpPr>
          <p:spPr>
            <a:xfrm>
              <a:off x="0" y="0"/>
              <a:ext cx="731520" cy="731520"/>
            </a:xfrm>
            <a:custGeom>
              <a:avLst/>
              <a:gdLst/>
              <a:ahLst/>
              <a:cxnLst/>
              <a:rect l="l" t="t" r="r" b="b"/>
              <a:pathLst>
                <a:path w="731520" h="731520">
                  <a:moveTo>
                    <a:pt x="0" y="0"/>
                  </a:moveTo>
                  <a:lnTo>
                    <a:pt x="731520" y="0"/>
                  </a:lnTo>
                  <a:lnTo>
                    <a:pt x="731520" y="731520"/>
                  </a:lnTo>
                  <a:lnTo>
                    <a:pt x="0" y="731520"/>
                  </a:lnTo>
                  <a:lnTo>
                    <a:pt x="0" y="0"/>
                  </a:lnTo>
                  <a:close/>
                </a:path>
              </a:pathLst>
            </a:custGeom>
            <a:blipFill>
              <a:blip r:embed="rId10"/>
              <a:stretch>
                <a:fillRect/>
              </a:stretch>
            </a:blipFill>
          </p:spPr>
        </p:sp>
      </p:grpSp>
      <p:sp>
        <p:nvSpPr>
          <p:cNvPr id="114" name="AutoShape 114"/>
          <p:cNvSpPr/>
          <p:nvPr/>
        </p:nvSpPr>
        <p:spPr>
          <a:xfrm rot="979140">
            <a:off x="13521347" y="4173855"/>
            <a:ext cx="1566139" cy="0"/>
          </a:xfrm>
          <a:prstGeom prst="line">
            <a:avLst/>
          </a:prstGeom>
          <a:ln w="19050" cap="rnd">
            <a:solidFill>
              <a:srgbClr val="FED7AA"/>
            </a:solidFill>
            <a:prstDash val="solid"/>
            <a:headEnd type="none" w="sm" len="sm"/>
            <a:tailEnd type="none" w="sm" len="sm"/>
          </a:ln>
        </p:spPr>
      </p:sp>
      <p:grpSp>
        <p:nvGrpSpPr>
          <p:cNvPr id="115" name="Group 115"/>
          <p:cNvGrpSpPr/>
          <p:nvPr/>
        </p:nvGrpSpPr>
        <p:grpSpPr>
          <a:xfrm>
            <a:off x="13224281" y="4389120"/>
            <a:ext cx="685800" cy="685800"/>
            <a:chOff x="0" y="0"/>
            <a:chExt cx="914400" cy="914400"/>
          </a:xfrm>
        </p:grpSpPr>
        <p:sp>
          <p:nvSpPr>
            <p:cNvPr id="116" name="Freeform 116"/>
            <p:cNvSpPr/>
            <p:nvPr/>
          </p:nvSpPr>
          <p:spPr>
            <a:xfrm>
              <a:off x="0" y="0"/>
              <a:ext cx="914400" cy="914400"/>
            </a:xfrm>
            <a:custGeom>
              <a:avLst/>
              <a:gdLst/>
              <a:ahLst/>
              <a:cxnLst/>
              <a:rect l="l" t="t" r="r" b="b"/>
              <a:pathLst>
                <a:path w="914400" h="914400">
                  <a:moveTo>
                    <a:pt x="0" y="201168"/>
                  </a:moveTo>
                  <a:cubicBezTo>
                    <a:pt x="0" y="90043"/>
                    <a:pt x="90043" y="0"/>
                    <a:pt x="201168" y="0"/>
                  </a:cubicBezTo>
                  <a:lnTo>
                    <a:pt x="713232" y="0"/>
                  </a:lnTo>
                  <a:cubicBezTo>
                    <a:pt x="824357" y="0"/>
                    <a:pt x="914400" y="90043"/>
                    <a:pt x="914400" y="201168"/>
                  </a:cubicBezTo>
                  <a:lnTo>
                    <a:pt x="914400" y="713232"/>
                  </a:lnTo>
                  <a:cubicBezTo>
                    <a:pt x="914400" y="824357"/>
                    <a:pt x="824357" y="914400"/>
                    <a:pt x="713232" y="914400"/>
                  </a:cubicBezTo>
                  <a:lnTo>
                    <a:pt x="201168" y="914400"/>
                  </a:lnTo>
                  <a:cubicBezTo>
                    <a:pt x="90043" y="914400"/>
                    <a:pt x="0" y="824357"/>
                    <a:pt x="0" y="713232"/>
                  </a:cubicBezTo>
                  <a:close/>
                </a:path>
              </a:pathLst>
            </a:custGeom>
            <a:solidFill>
              <a:srgbClr val="CBD5E1"/>
            </a:solidFill>
          </p:spPr>
        </p:sp>
      </p:grpSp>
      <p:grpSp>
        <p:nvGrpSpPr>
          <p:cNvPr id="117" name="Group 117"/>
          <p:cNvGrpSpPr/>
          <p:nvPr/>
        </p:nvGrpSpPr>
        <p:grpSpPr>
          <a:xfrm>
            <a:off x="13395731" y="4560570"/>
            <a:ext cx="342900" cy="342900"/>
            <a:chOff x="0" y="0"/>
            <a:chExt cx="457200" cy="457200"/>
          </a:xfrm>
        </p:grpSpPr>
        <p:sp>
          <p:nvSpPr>
            <p:cNvPr id="118" name="Freeform 118" descr="preencoded.png"/>
            <p:cNvSpPr/>
            <p:nvPr/>
          </p:nvSpPr>
          <p:spPr>
            <a:xfrm>
              <a:off x="0" y="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blipFill>
              <a:blip r:embed="rId7"/>
              <a:stretch>
                <a:fillRect/>
              </a:stretch>
            </a:blipFill>
          </p:spPr>
        </p:sp>
      </p:grpSp>
      <p:sp>
        <p:nvSpPr>
          <p:cNvPr id="119" name="AutoShape 119"/>
          <p:cNvSpPr/>
          <p:nvPr/>
        </p:nvSpPr>
        <p:spPr>
          <a:xfrm rot="2429160">
            <a:off x="14459302" y="4173855"/>
            <a:ext cx="677780" cy="0"/>
          </a:xfrm>
          <a:prstGeom prst="line">
            <a:avLst/>
          </a:prstGeom>
          <a:ln w="19050" cap="rnd">
            <a:solidFill>
              <a:srgbClr val="FED7AA"/>
            </a:solidFill>
            <a:prstDash val="solid"/>
            <a:headEnd type="none" w="sm" len="sm"/>
            <a:tailEnd type="none" w="sm" len="sm"/>
          </a:ln>
        </p:spPr>
      </p:sp>
      <p:grpSp>
        <p:nvGrpSpPr>
          <p:cNvPr id="120" name="Group 120"/>
          <p:cNvGrpSpPr/>
          <p:nvPr/>
        </p:nvGrpSpPr>
        <p:grpSpPr>
          <a:xfrm>
            <a:off x="14211833" y="4389120"/>
            <a:ext cx="685800" cy="685800"/>
            <a:chOff x="0" y="0"/>
            <a:chExt cx="914400" cy="914400"/>
          </a:xfrm>
        </p:grpSpPr>
        <p:sp>
          <p:nvSpPr>
            <p:cNvPr id="121" name="Freeform 121"/>
            <p:cNvSpPr/>
            <p:nvPr/>
          </p:nvSpPr>
          <p:spPr>
            <a:xfrm>
              <a:off x="0" y="0"/>
              <a:ext cx="914400" cy="914400"/>
            </a:xfrm>
            <a:custGeom>
              <a:avLst/>
              <a:gdLst/>
              <a:ahLst/>
              <a:cxnLst/>
              <a:rect l="l" t="t" r="r" b="b"/>
              <a:pathLst>
                <a:path w="914400" h="914400">
                  <a:moveTo>
                    <a:pt x="0" y="201168"/>
                  </a:moveTo>
                  <a:cubicBezTo>
                    <a:pt x="0" y="90043"/>
                    <a:pt x="90043" y="0"/>
                    <a:pt x="201168" y="0"/>
                  </a:cubicBezTo>
                  <a:lnTo>
                    <a:pt x="713232" y="0"/>
                  </a:lnTo>
                  <a:cubicBezTo>
                    <a:pt x="824357" y="0"/>
                    <a:pt x="914400" y="90043"/>
                    <a:pt x="914400" y="201168"/>
                  </a:cubicBezTo>
                  <a:lnTo>
                    <a:pt x="914400" y="713232"/>
                  </a:lnTo>
                  <a:cubicBezTo>
                    <a:pt x="914400" y="824357"/>
                    <a:pt x="824357" y="914400"/>
                    <a:pt x="713232" y="914400"/>
                  </a:cubicBezTo>
                  <a:lnTo>
                    <a:pt x="201168" y="914400"/>
                  </a:lnTo>
                  <a:cubicBezTo>
                    <a:pt x="90043" y="914400"/>
                    <a:pt x="0" y="824357"/>
                    <a:pt x="0" y="713232"/>
                  </a:cubicBezTo>
                  <a:close/>
                </a:path>
              </a:pathLst>
            </a:custGeom>
            <a:solidFill>
              <a:srgbClr val="0AA7A2"/>
            </a:solidFill>
          </p:spPr>
        </p:sp>
      </p:grpSp>
      <p:grpSp>
        <p:nvGrpSpPr>
          <p:cNvPr id="122" name="Group 122"/>
          <p:cNvGrpSpPr/>
          <p:nvPr/>
        </p:nvGrpSpPr>
        <p:grpSpPr>
          <a:xfrm>
            <a:off x="14383283" y="4560570"/>
            <a:ext cx="342900" cy="342900"/>
            <a:chOff x="0" y="0"/>
            <a:chExt cx="457200" cy="457200"/>
          </a:xfrm>
        </p:grpSpPr>
        <p:sp>
          <p:nvSpPr>
            <p:cNvPr id="123" name="Freeform 123" descr="preencoded.png"/>
            <p:cNvSpPr/>
            <p:nvPr/>
          </p:nvSpPr>
          <p:spPr>
            <a:xfrm>
              <a:off x="0" y="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blipFill>
              <a:blip r:embed="rId7"/>
              <a:stretch>
                <a:fillRect/>
              </a:stretch>
            </a:blipFill>
          </p:spPr>
        </p:sp>
      </p:grpSp>
      <p:sp>
        <p:nvSpPr>
          <p:cNvPr id="124" name="AutoShape 124"/>
          <p:cNvSpPr/>
          <p:nvPr/>
        </p:nvSpPr>
        <p:spPr>
          <a:xfrm rot="8415300">
            <a:off x="14947840" y="4173855"/>
            <a:ext cx="688267" cy="0"/>
          </a:xfrm>
          <a:prstGeom prst="line">
            <a:avLst/>
          </a:prstGeom>
          <a:ln w="19050" cap="rnd">
            <a:solidFill>
              <a:srgbClr val="FED7AA"/>
            </a:solidFill>
            <a:prstDash val="solid"/>
            <a:headEnd type="none" w="sm" len="sm"/>
            <a:tailEnd type="none" w="sm" len="sm"/>
          </a:ln>
        </p:spPr>
      </p:sp>
      <p:grpSp>
        <p:nvGrpSpPr>
          <p:cNvPr id="125" name="Group 125"/>
          <p:cNvGrpSpPr/>
          <p:nvPr/>
        </p:nvGrpSpPr>
        <p:grpSpPr>
          <a:xfrm>
            <a:off x="15199385" y="4389120"/>
            <a:ext cx="685800" cy="685800"/>
            <a:chOff x="0" y="0"/>
            <a:chExt cx="914400" cy="914400"/>
          </a:xfrm>
        </p:grpSpPr>
        <p:sp>
          <p:nvSpPr>
            <p:cNvPr id="126" name="Freeform 126"/>
            <p:cNvSpPr/>
            <p:nvPr/>
          </p:nvSpPr>
          <p:spPr>
            <a:xfrm>
              <a:off x="0" y="0"/>
              <a:ext cx="914400" cy="914400"/>
            </a:xfrm>
            <a:custGeom>
              <a:avLst/>
              <a:gdLst/>
              <a:ahLst/>
              <a:cxnLst/>
              <a:rect l="l" t="t" r="r" b="b"/>
              <a:pathLst>
                <a:path w="914400" h="914400">
                  <a:moveTo>
                    <a:pt x="0" y="201168"/>
                  </a:moveTo>
                  <a:cubicBezTo>
                    <a:pt x="0" y="90043"/>
                    <a:pt x="90043" y="0"/>
                    <a:pt x="201168" y="0"/>
                  </a:cubicBezTo>
                  <a:lnTo>
                    <a:pt x="713232" y="0"/>
                  </a:lnTo>
                  <a:cubicBezTo>
                    <a:pt x="824357" y="0"/>
                    <a:pt x="914400" y="90043"/>
                    <a:pt x="914400" y="201168"/>
                  </a:cubicBezTo>
                  <a:lnTo>
                    <a:pt x="914400" y="713232"/>
                  </a:lnTo>
                  <a:cubicBezTo>
                    <a:pt x="914400" y="824357"/>
                    <a:pt x="824357" y="914400"/>
                    <a:pt x="713232" y="914400"/>
                  </a:cubicBezTo>
                  <a:lnTo>
                    <a:pt x="201168" y="914400"/>
                  </a:lnTo>
                  <a:cubicBezTo>
                    <a:pt x="90043" y="914400"/>
                    <a:pt x="0" y="824357"/>
                    <a:pt x="0" y="713232"/>
                  </a:cubicBezTo>
                  <a:close/>
                </a:path>
              </a:pathLst>
            </a:custGeom>
            <a:solidFill>
              <a:srgbClr val="CBD5E1"/>
            </a:solidFill>
          </p:spPr>
        </p:sp>
      </p:grpSp>
      <p:grpSp>
        <p:nvGrpSpPr>
          <p:cNvPr id="127" name="Group 127"/>
          <p:cNvGrpSpPr/>
          <p:nvPr/>
        </p:nvGrpSpPr>
        <p:grpSpPr>
          <a:xfrm>
            <a:off x="15370835" y="4560570"/>
            <a:ext cx="342900" cy="342900"/>
            <a:chOff x="0" y="0"/>
            <a:chExt cx="457200" cy="457200"/>
          </a:xfrm>
        </p:grpSpPr>
        <p:sp>
          <p:nvSpPr>
            <p:cNvPr id="128" name="Freeform 128" descr="preencoded.png"/>
            <p:cNvSpPr/>
            <p:nvPr/>
          </p:nvSpPr>
          <p:spPr>
            <a:xfrm>
              <a:off x="0" y="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blipFill>
              <a:blip r:embed="rId7"/>
              <a:stretch>
                <a:fillRect/>
              </a:stretch>
            </a:blipFill>
          </p:spPr>
        </p:sp>
      </p:grpSp>
      <p:sp>
        <p:nvSpPr>
          <p:cNvPr id="129" name="AutoShape 129"/>
          <p:cNvSpPr/>
          <p:nvPr/>
        </p:nvSpPr>
        <p:spPr>
          <a:xfrm rot="9829260">
            <a:off x="14996093" y="4173855"/>
            <a:ext cx="1579312" cy="0"/>
          </a:xfrm>
          <a:prstGeom prst="line">
            <a:avLst/>
          </a:prstGeom>
          <a:ln w="19050" cap="rnd">
            <a:solidFill>
              <a:srgbClr val="FED7AA"/>
            </a:solidFill>
            <a:prstDash val="solid"/>
            <a:headEnd type="none" w="sm" len="sm"/>
            <a:tailEnd type="none" w="sm" len="sm"/>
          </a:ln>
        </p:spPr>
      </p:sp>
      <p:grpSp>
        <p:nvGrpSpPr>
          <p:cNvPr id="130" name="Group 130"/>
          <p:cNvGrpSpPr/>
          <p:nvPr/>
        </p:nvGrpSpPr>
        <p:grpSpPr>
          <a:xfrm>
            <a:off x="16186937" y="4389120"/>
            <a:ext cx="685800" cy="685800"/>
            <a:chOff x="0" y="0"/>
            <a:chExt cx="914400" cy="914400"/>
          </a:xfrm>
        </p:grpSpPr>
        <p:sp>
          <p:nvSpPr>
            <p:cNvPr id="131" name="Freeform 131"/>
            <p:cNvSpPr/>
            <p:nvPr/>
          </p:nvSpPr>
          <p:spPr>
            <a:xfrm>
              <a:off x="0" y="0"/>
              <a:ext cx="914400" cy="914400"/>
            </a:xfrm>
            <a:custGeom>
              <a:avLst/>
              <a:gdLst/>
              <a:ahLst/>
              <a:cxnLst/>
              <a:rect l="l" t="t" r="r" b="b"/>
              <a:pathLst>
                <a:path w="914400" h="914400">
                  <a:moveTo>
                    <a:pt x="0" y="201168"/>
                  </a:moveTo>
                  <a:cubicBezTo>
                    <a:pt x="0" y="90043"/>
                    <a:pt x="90043" y="0"/>
                    <a:pt x="201168" y="0"/>
                  </a:cubicBezTo>
                  <a:lnTo>
                    <a:pt x="713232" y="0"/>
                  </a:lnTo>
                  <a:cubicBezTo>
                    <a:pt x="824357" y="0"/>
                    <a:pt x="914400" y="90043"/>
                    <a:pt x="914400" y="201168"/>
                  </a:cubicBezTo>
                  <a:lnTo>
                    <a:pt x="914400" y="713232"/>
                  </a:lnTo>
                  <a:cubicBezTo>
                    <a:pt x="914400" y="824357"/>
                    <a:pt x="824357" y="914400"/>
                    <a:pt x="713232" y="914400"/>
                  </a:cubicBezTo>
                  <a:lnTo>
                    <a:pt x="201168" y="914400"/>
                  </a:lnTo>
                  <a:cubicBezTo>
                    <a:pt x="90043" y="914400"/>
                    <a:pt x="0" y="824357"/>
                    <a:pt x="0" y="713232"/>
                  </a:cubicBezTo>
                  <a:close/>
                </a:path>
              </a:pathLst>
            </a:custGeom>
            <a:solidFill>
              <a:srgbClr val="CBD5E1"/>
            </a:solidFill>
          </p:spPr>
        </p:sp>
      </p:grpSp>
      <p:grpSp>
        <p:nvGrpSpPr>
          <p:cNvPr id="132" name="Group 132"/>
          <p:cNvGrpSpPr/>
          <p:nvPr/>
        </p:nvGrpSpPr>
        <p:grpSpPr>
          <a:xfrm>
            <a:off x="16358387" y="4560570"/>
            <a:ext cx="342900" cy="342900"/>
            <a:chOff x="0" y="0"/>
            <a:chExt cx="457200" cy="457200"/>
          </a:xfrm>
        </p:grpSpPr>
        <p:sp>
          <p:nvSpPr>
            <p:cNvPr id="133" name="Freeform 133" descr="preencoded.png"/>
            <p:cNvSpPr/>
            <p:nvPr/>
          </p:nvSpPr>
          <p:spPr>
            <a:xfrm>
              <a:off x="0" y="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blipFill>
              <a:blip r:embed="rId7"/>
              <a:stretch>
                <a:fillRect/>
              </a:stretch>
            </a:blipFill>
          </p:spPr>
        </p:sp>
      </p:grpSp>
      <p:sp>
        <p:nvSpPr>
          <p:cNvPr id="134" name="AutoShape 134"/>
          <p:cNvSpPr/>
          <p:nvPr/>
        </p:nvSpPr>
        <p:spPr>
          <a:xfrm rot="5138640">
            <a:off x="14782505" y="7705725"/>
            <a:ext cx="519665" cy="0"/>
          </a:xfrm>
          <a:prstGeom prst="line">
            <a:avLst/>
          </a:prstGeom>
          <a:ln w="19050" cap="rnd">
            <a:solidFill>
              <a:srgbClr val="4F46E5"/>
            </a:solidFill>
            <a:prstDash val="solid"/>
            <a:headEnd type="none" w="sm" len="sm"/>
            <a:tailEnd type="none" w="sm" len="sm"/>
          </a:ln>
        </p:spPr>
      </p:sp>
      <p:sp>
        <p:nvSpPr>
          <p:cNvPr id="135" name="AutoShape 135"/>
          <p:cNvSpPr/>
          <p:nvPr/>
        </p:nvSpPr>
        <p:spPr>
          <a:xfrm rot="11460">
            <a:off x="3226813" y="7946441"/>
            <a:ext cx="11833927" cy="0"/>
          </a:xfrm>
          <a:prstGeom prst="line">
            <a:avLst/>
          </a:prstGeom>
          <a:ln w="19050" cap="rnd">
            <a:solidFill>
              <a:srgbClr val="4F46E5"/>
            </a:solidFill>
            <a:prstDash val="solid"/>
            <a:headEnd type="none" w="sm" len="sm"/>
            <a:tailEnd type="none" w="sm" len="sm"/>
          </a:ln>
        </p:spPr>
      </p:sp>
      <p:sp>
        <p:nvSpPr>
          <p:cNvPr id="136" name="AutoShape 136"/>
          <p:cNvSpPr/>
          <p:nvPr/>
        </p:nvSpPr>
        <p:spPr>
          <a:xfrm rot="-5116200">
            <a:off x="3007252" y="7726299"/>
            <a:ext cx="478641" cy="0"/>
          </a:xfrm>
          <a:prstGeom prst="line">
            <a:avLst/>
          </a:prstGeom>
          <a:ln w="19050" cap="rnd">
            <a:solidFill>
              <a:srgbClr val="4F46E5"/>
            </a:solidFill>
            <a:prstDash val="solid"/>
            <a:headEnd type="none" w="sm" len="sm"/>
            <a:tailEnd type="triangle" w="lg" len="med"/>
          </a:ln>
        </p:spPr>
      </p:sp>
      <p:grpSp>
        <p:nvGrpSpPr>
          <p:cNvPr id="137" name="Group 137"/>
          <p:cNvGrpSpPr/>
          <p:nvPr/>
        </p:nvGrpSpPr>
        <p:grpSpPr>
          <a:xfrm>
            <a:off x="6665366" y="7644003"/>
            <a:ext cx="4956810" cy="622554"/>
            <a:chOff x="0" y="0"/>
            <a:chExt cx="6609080" cy="830072"/>
          </a:xfrm>
        </p:grpSpPr>
        <p:sp>
          <p:nvSpPr>
            <p:cNvPr id="138" name="Freeform 138"/>
            <p:cNvSpPr/>
            <p:nvPr/>
          </p:nvSpPr>
          <p:spPr>
            <a:xfrm>
              <a:off x="0" y="0"/>
              <a:ext cx="6609080" cy="830072"/>
            </a:xfrm>
            <a:custGeom>
              <a:avLst/>
              <a:gdLst/>
              <a:ahLst/>
              <a:cxnLst/>
              <a:rect l="l" t="t" r="r" b="b"/>
              <a:pathLst>
                <a:path w="6609080" h="830072">
                  <a:moveTo>
                    <a:pt x="0" y="415036"/>
                  </a:moveTo>
                  <a:cubicBezTo>
                    <a:pt x="0" y="185801"/>
                    <a:pt x="185801" y="0"/>
                    <a:pt x="415036" y="0"/>
                  </a:cubicBezTo>
                  <a:lnTo>
                    <a:pt x="6194044" y="0"/>
                  </a:lnTo>
                  <a:cubicBezTo>
                    <a:pt x="6423279" y="0"/>
                    <a:pt x="6609080" y="185801"/>
                    <a:pt x="6609080" y="415036"/>
                  </a:cubicBezTo>
                  <a:cubicBezTo>
                    <a:pt x="6609080" y="644271"/>
                    <a:pt x="6423279" y="830072"/>
                    <a:pt x="6194044" y="830072"/>
                  </a:cubicBezTo>
                  <a:lnTo>
                    <a:pt x="415036" y="830072"/>
                  </a:lnTo>
                  <a:cubicBezTo>
                    <a:pt x="185801" y="830072"/>
                    <a:pt x="0" y="644271"/>
                    <a:pt x="0" y="415036"/>
                  </a:cubicBezTo>
                  <a:close/>
                </a:path>
              </a:pathLst>
            </a:custGeom>
            <a:solidFill>
              <a:srgbClr val="EEF2FF"/>
            </a:solidFill>
            <a:ln w="19050" cap="sq">
              <a:solidFill>
                <a:srgbClr val="4F46E5"/>
              </a:solidFill>
              <a:prstDash val="solid"/>
              <a:miter/>
            </a:ln>
          </p:spPr>
        </p:sp>
      </p:grpSp>
      <p:grpSp>
        <p:nvGrpSpPr>
          <p:cNvPr id="139" name="Group 139"/>
          <p:cNvGrpSpPr/>
          <p:nvPr/>
        </p:nvGrpSpPr>
        <p:grpSpPr>
          <a:xfrm>
            <a:off x="6949211" y="7790688"/>
            <a:ext cx="329184" cy="329184"/>
            <a:chOff x="0" y="0"/>
            <a:chExt cx="438912" cy="438912"/>
          </a:xfrm>
        </p:grpSpPr>
        <p:sp>
          <p:nvSpPr>
            <p:cNvPr id="140" name="Freeform 140" descr="preencoded.png"/>
            <p:cNvSpPr/>
            <p:nvPr/>
          </p:nvSpPr>
          <p:spPr>
            <a:xfrm>
              <a:off x="0" y="0"/>
              <a:ext cx="438912" cy="438912"/>
            </a:xfrm>
            <a:custGeom>
              <a:avLst/>
              <a:gdLst/>
              <a:ahLst/>
              <a:cxnLst/>
              <a:rect l="l" t="t" r="r" b="b"/>
              <a:pathLst>
                <a:path w="438912" h="438912">
                  <a:moveTo>
                    <a:pt x="0" y="0"/>
                  </a:moveTo>
                  <a:lnTo>
                    <a:pt x="438912" y="0"/>
                  </a:lnTo>
                  <a:lnTo>
                    <a:pt x="438912" y="438912"/>
                  </a:lnTo>
                  <a:lnTo>
                    <a:pt x="0" y="438912"/>
                  </a:lnTo>
                  <a:lnTo>
                    <a:pt x="0" y="0"/>
                  </a:lnTo>
                  <a:close/>
                </a:path>
              </a:pathLst>
            </a:custGeom>
            <a:blipFill>
              <a:blip r:embed="rId11"/>
              <a:stretch>
                <a:fillRect/>
              </a:stretch>
            </a:blipFill>
          </p:spPr>
        </p:sp>
      </p:grpSp>
      <p:grpSp>
        <p:nvGrpSpPr>
          <p:cNvPr id="141" name="Group 141"/>
          <p:cNvGrpSpPr/>
          <p:nvPr/>
        </p:nvGrpSpPr>
        <p:grpSpPr>
          <a:xfrm>
            <a:off x="7360691" y="7653528"/>
            <a:ext cx="4046220" cy="603504"/>
            <a:chOff x="0" y="0"/>
            <a:chExt cx="5394960" cy="804672"/>
          </a:xfrm>
        </p:grpSpPr>
        <p:sp>
          <p:nvSpPr>
            <p:cNvPr id="142" name="Freeform 142"/>
            <p:cNvSpPr/>
            <p:nvPr/>
          </p:nvSpPr>
          <p:spPr>
            <a:xfrm>
              <a:off x="0" y="0"/>
              <a:ext cx="5394960" cy="804672"/>
            </a:xfrm>
            <a:custGeom>
              <a:avLst/>
              <a:gdLst/>
              <a:ahLst/>
              <a:cxnLst/>
              <a:rect l="l" t="t" r="r" b="b"/>
              <a:pathLst>
                <a:path w="5394960" h="804672">
                  <a:moveTo>
                    <a:pt x="0" y="0"/>
                  </a:moveTo>
                  <a:lnTo>
                    <a:pt x="5394960" y="0"/>
                  </a:lnTo>
                  <a:lnTo>
                    <a:pt x="5394960" y="804672"/>
                  </a:lnTo>
                  <a:lnTo>
                    <a:pt x="0" y="804672"/>
                  </a:lnTo>
                  <a:close/>
                </a:path>
              </a:pathLst>
            </a:custGeom>
            <a:blipFill>
              <a:blip r:embed="rId3">
                <a:alphaModFix amt="0"/>
              </a:blip>
              <a:stretch>
                <a:fillRect t="-80638" b="-80638"/>
              </a:stretch>
            </a:blipFill>
          </p:spPr>
        </p:sp>
        <p:sp>
          <p:nvSpPr>
            <p:cNvPr id="143" name="TextBox 143"/>
            <p:cNvSpPr txBox="1"/>
            <p:nvPr/>
          </p:nvSpPr>
          <p:spPr>
            <a:xfrm>
              <a:off x="0" y="-28575"/>
              <a:ext cx="5394960" cy="833247"/>
            </a:xfrm>
            <a:prstGeom prst="rect">
              <a:avLst/>
            </a:prstGeom>
          </p:spPr>
          <p:txBody>
            <a:bodyPr lIns="0" tIns="0" rIns="0" bIns="0" rtlCol="0" anchor="ctr"/>
            <a:lstStyle/>
            <a:p>
              <a:pPr algn="ctr">
                <a:lnSpc>
                  <a:spcPts val="2250"/>
                </a:lnSpc>
              </a:pPr>
              <a:r>
                <a:rPr lang="en-US" sz="1875" b="1">
                  <a:solidFill>
                    <a:srgbClr val="4F46E5"/>
                  </a:solidFill>
                  <a:latin typeface="Arial Bold"/>
                  <a:ea typeface="Arial Bold"/>
                  <a:cs typeface="Arial Bold"/>
                  <a:sym typeface="Arial Bold"/>
                </a:rPr>
                <a:t>More buyers bring more shops</a:t>
              </a:r>
            </a:p>
          </p:txBody>
        </p:sp>
      </p:grpSp>
      <p:grpSp>
        <p:nvGrpSpPr>
          <p:cNvPr id="144" name="Group 144"/>
          <p:cNvGrpSpPr/>
          <p:nvPr/>
        </p:nvGrpSpPr>
        <p:grpSpPr>
          <a:xfrm>
            <a:off x="674141" y="8503920"/>
            <a:ext cx="16939260" cy="850392"/>
            <a:chOff x="0" y="0"/>
            <a:chExt cx="22585680" cy="1133856"/>
          </a:xfrm>
        </p:grpSpPr>
        <p:sp>
          <p:nvSpPr>
            <p:cNvPr id="145" name="Freeform 145"/>
            <p:cNvSpPr/>
            <p:nvPr/>
          </p:nvSpPr>
          <p:spPr>
            <a:xfrm>
              <a:off x="0" y="0"/>
              <a:ext cx="22585680" cy="1133856"/>
            </a:xfrm>
            <a:custGeom>
              <a:avLst/>
              <a:gdLst/>
              <a:ahLst/>
              <a:cxnLst/>
              <a:rect l="l" t="t" r="r" b="b"/>
              <a:pathLst>
                <a:path w="22585680" h="1133856">
                  <a:moveTo>
                    <a:pt x="0" y="292608"/>
                  </a:moveTo>
                  <a:cubicBezTo>
                    <a:pt x="0" y="131064"/>
                    <a:pt x="131064" y="0"/>
                    <a:pt x="292608" y="0"/>
                  </a:cubicBezTo>
                  <a:lnTo>
                    <a:pt x="22293072" y="0"/>
                  </a:lnTo>
                  <a:cubicBezTo>
                    <a:pt x="22454615" y="0"/>
                    <a:pt x="22585680" y="131064"/>
                    <a:pt x="22585680" y="292608"/>
                  </a:cubicBezTo>
                  <a:lnTo>
                    <a:pt x="22585680" y="841248"/>
                  </a:lnTo>
                  <a:cubicBezTo>
                    <a:pt x="22585680" y="1002792"/>
                    <a:pt x="22454615" y="1133856"/>
                    <a:pt x="22293072" y="1133856"/>
                  </a:cubicBezTo>
                  <a:lnTo>
                    <a:pt x="292608" y="1133856"/>
                  </a:lnTo>
                  <a:cubicBezTo>
                    <a:pt x="131064" y="1133856"/>
                    <a:pt x="0" y="1002792"/>
                    <a:pt x="0" y="841248"/>
                  </a:cubicBezTo>
                  <a:close/>
                </a:path>
              </a:pathLst>
            </a:custGeom>
            <a:solidFill>
              <a:srgbClr val="111D35"/>
            </a:solidFill>
          </p:spPr>
        </p:sp>
      </p:grpSp>
      <p:grpSp>
        <p:nvGrpSpPr>
          <p:cNvPr id="146" name="Group 146"/>
          <p:cNvGrpSpPr/>
          <p:nvPr/>
        </p:nvGrpSpPr>
        <p:grpSpPr>
          <a:xfrm>
            <a:off x="1085621" y="8503920"/>
            <a:ext cx="2606040" cy="850392"/>
            <a:chOff x="0" y="0"/>
            <a:chExt cx="3474720" cy="1133856"/>
          </a:xfrm>
        </p:grpSpPr>
        <p:sp>
          <p:nvSpPr>
            <p:cNvPr id="147" name="Freeform 147"/>
            <p:cNvSpPr/>
            <p:nvPr/>
          </p:nvSpPr>
          <p:spPr>
            <a:xfrm>
              <a:off x="0" y="0"/>
              <a:ext cx="3474720" cy="1133856"/>
            </a:xfrm>
            <a:custGeom>
              <a:avLst/>
              <a:gdLst/>
              <a:ahLst/>
              <a:cxnLst/>
              <a:rect l="l" t="t" r="r" b="b"/>
              <a:pathLst>
                <a:path w="3474720" h="1133856">
                  <a:moveTo>
                    <a:pt x="0" y="0"/>
                  </a:moveTo>
                  <a:lnTo>
                    <a:pt x="3474720" y="0"/>
                  </a:lnTo>
                  <a:lnTo>
                    <a:pt x="3474720" y="1133856"/>
                  </a:lnTo>
                  <a:lnTo>
                    <a:pt x="0" y="1133856"/>
                  </a:lnTo>
                  <a:close/>
                </a:path>
              </a:pathLst>
            </a:custGeom>
            <a:blipFill>
              <a:blip r:embed="rId3">
                <a:alphaModFix amt="0"/>
              </a:blip>
              <a:stretch>
                <a:fillRect t="-9712" b="-9712"/>
              </a:stretch>
            </a:blipFill>
          </p:spPr>
        </p:sp>
        <p:sp>
          <p:nvSpPr>
            <p:cNvPr id="148" name="TextBox 148"/>
            <p:cNvSpPr txBox="1"/>
            <p:nvPr/>
          </p:nvSpPr>
          <p:spPr>
            <a:xfrm>
              <a:off x="0" y="-19050"/>
              <a:ext cx="3474720" cy="1152906"/>
            </a:xfrm>
            <a:prstGeom prst="rect">
              <a:avLst/>
            </a:prstGeom>
          </p:spPr>
          <p:txBody>
            <a:bodyPr lIns="0" tIns="0" rIns="0" bIns="0" rtlCol="0" anchor="ctr"/>
            <a:lstStyle/>
            <a:p>
              <a:pPr algn="l">
                <a:lnSpc>
                  <a:spcPts val="1980"/>
                </a:lnSpc>
              </a:pPr>
              <a:r>
                <a:rPr lang="en-US" sz="1650" b="1" spc="150">
                  <a:solidFill>
                    <a:srgbClr val="A7F3D0"/>
                  </a:solidFill>
                  <a:latin typeface="Arial Bold"/>
                  <a:ea typeface="Arial Bold"/>
                  <a:cs typeface="Arial Bold"/>
                  <a:sym typeface="Arial Bold"/>
                </a:rPr>
                <a:t>PILOT PASSES IF</a:t>
              </a:r>
            </a:p>
          </p:txBody>
        </p:sp>
      </p:grpSp>
      <p:grpSp>
        <p:nvGrpSpPr>
          <p:cNvPr id="149" name="Group 149"/>
          <p:cNvGrpSpPr/>
          <p:nvPr/>
        </p:nvGrpSpPr>
        <p:grpSpPr>
          <a:xfrm>
            <a:off x="3828821" y="8750808"/>
            <a:ext cx="356616" cy="356616"/>
            <a:chOff x="0" y="0"/>
            <a:chExt cx="475488" cy="475488"/>
          </a:xfrm>
        </p:grpSpPr>
        <p:sp>
          <p:nvSpPr>
            <p:cNvPr id="150" name="Freeform 150" descr="preencoded.png"/>
            <p:cNvSpPr/>
            <p:nvPr/>
          </p:nvSpPr>
          <p:spPr>
            <a:xfrm>
              <a:off x="0" y="0"/>
              <a:ext cx="475488" cy="475488"/>
            </a:xfrm>
            <a:custGeom>
              <a:avLst/>
              <a:gdLst/>
              <a:ahLst/>
              <a:cxnLst/>
              <a:rect l="l" t="t" r="r" b="b"/>
              <a:pathLst>
                <a:path w="475488" h="475488">
                  <a:moveTo>
                    <a:pt x="0" y="0"/>
                  </a:moveTo>
                  <a:lnTo>
                    <a:pt x="475488" y="0"/>
                  </a:lnTo>
                  <a:lnTo>
                    <a:pt x="475488" y="475488"/>
                  </a:lnTo>
                  <a:lnTo>
                    <a:pt x="0" y="475488"/>
                  </a:lnTo>
                  <a:lnTo>
                    <a:pt x="0" y="0"/>
                  </a:lnTo>
                  <a:close/>
                </a:path>
              </a:pathLst>
            </a:custGeom>
            <a:blipFill>
              <a:blip r:embed="rId12"/>
              <a:stretch>
                <a:fillRect/>
              </a:stretch>
            </a:blipFill>
          </p:spPr>
        </p:sp>
      </p:grpSp>
      <p:grpSp>
        <p:nvGrpSpPr>
          <p:cNvPr id="151" name="Group 151"/>
          <p:cNvGrpSpPr/>
          <p:nvPr/>
        </p:nvGrpSpPr>
        <p:grpSpPr>
          <a:xfrm>
            <a:off x="4377461" y="8503920"/>
            <a:ext cx="3909060" cy="850392"/>
            <a:chOff x="0" y="0"/>
            <a:chExt cx="5212080" cy="1133856"/>
          </a:xfrm>
        </p:grpSpPr>
        <p:sp>
          <p:nvSpPr>
            <p:cNvPr id="152" name="Freeform 152"/>
            <p:cNvSpPr/>
            <p:nvPr/>
          </p:nvSpPr>
          <p:spPr>
            <a:xfrm>
              <a:off x="0" y="0"/>
              <a:ext cx="5212080" cy="1133856"/>
            </a:xfrm>
            <a:custGeom>
              <a:avLst/>
              <a:gdLst/>
              <a:ahLst/>
              <a:cxnLst/>
              <a:rect l="l" t="t" r="r" b="b"/>
              <a:pathLst>
                <a:path w="5212080" h="1133856">
                  <a:moveTo>
                    <a:pt x="0" y="0"/>
                  </a:moveTo>
                  <a:lnTo>
                    <a:pt x="5212080" y="0"/>
                  </a:lnTo>
                  <a:lnTo>
                    <a:pt x="5212080" y="1133856"/>
                  </a:lnTo>
                  <a:lnTo>
                    <a:pt x="0" y="1133856"/>
                  </a:lnTo>
                  <a:close/>
                </a:path>
              </a:pathLst>
            </a:custGeom>
            <a:blipFill>
              <a:blip r:embed="rId3">
                <a:alphaModFix amt="0"/>
              </a:blip>
              <a:stretch>
                <a:fillRect t="-39568" b="-39568"/>
              </a:stretch>
            </a:blipFill>
          </p:spPr>
        </p:sp>
        <p:sp>
          <p:nvSpPr>
            <p:cNvPr id="153" name="TextBox 153"/>
            <p:cNvSpPr txBox="1"/>
            <p:nvPr/>
          </p:nvSpPr>
          <p:spPr>
            <a:xfrm>
              <a:off x="0" y="-19050"/>
              <a:ext cx="5212080" cy="1152906"/>
            </a:xfrm>
            <a:prstGeom prst="rect">
              <a:avLst/>
            </a:prstGeom>
          </p:spPr>
          <p:txBody>
            <a:bodyPr lIns="0" tIns="0" rIns="0" bIns="0" rtlCol="0" anchor="ctr"/>
            <a:lstStyle/>
            <a:p>
              <a:pPr algn="l">
                <a:lnSpc>
                  <a:spcPts val="2160"/>
                </a:lnSpc>
              </a:pPr>
              <a:r>
                <a:rPr lang="en-US" sz="1800" b="1">
                  <a:solidFill>
                    <a:srgbClr val="FFFFFF"/>
                  </a:solidFill>
                  <a:latin typeface="Arial Bold"/>
                  <a:ea typeface="Arial Bold"/>
                  <a:cs typeface="Arial Bold"/>
                  <a:sym typeface="Arial Bold"/>
                </a:rPr>
                <a:t>7 of 10  </a:t>
              </a:r>
              <a:r>
                <a:rPr lang="en-US" sz="1800">
                  <a:solidFill>
                    <a:srgbClr val="9FB3CF"/>
                  </a:solidFill>
                  <a:latin typeface="Arial"/>
                  <a:ea typeface="Arial"/>
                  <a:cs typeface="Arial"/>
                  <a:sym typeface="Arial"/>
                </a:rPr>
                <a:t>shops stay active</a:t>
              </a:r>
            </a:p>
          </p:txBody>
        </p:sp>
      </p:grpSp>
      <p:grpSp>
        <p:nvGrpSpPr>
          <p:cNvPr id="154" name="Group 154"/>
          <p:cNvGrpSpPr/>
          <p:nvPr/>
        </p:nvGrpSpPr>
        <p:grpSpPr>
          <a:xfrm>
            <a:off x="8423681" y="8750808"/>
            <a:ext cx="356616" cy="356616"/>
            <a:chOff x="0" y="0"/>
            <a:chExt cx="475488" cy="475488"/>
          </a:xfrm>
        </p:grpSpPr>
        <p:sp>
          <p:nvSpPr>
            <p:cNvPr id="155" name="Freeform 155" descr="preencoded.png"/>
            <p:cNvSpPr/>
            <p:nvPr/>
          </p:nvSpPr>
          <p:spPr>
            <a:xfrm>
              <a:off x="0" y="0"/>
              <a:ext cx="475488" cy="475488"/>
            </a:xfrm>
            <a:custGeom>
              <a:avLst/>
              <a:gdLst/>
              <a:ahLst/>
              <a:cxnLst/>
              <a:rect l="l" t="t" r="r" b="b"/>
              <a:pathLst>
                <a:path w="475488" h="475488">
                  <a:moveTo>
                    <a:pt x="0" y="0"/>
                  </a:moveTo>
                  <a:lnTo>
                    <a:pt x="475488" y="0"/>
                  </a:lnTo>
                  <a:lnTo>
                    <a:pt x="475488" y="475488"/>
                  </a:lnTo>
                  <a:lnTo>
                    <a:pt x="0" y="475488"/>
                  </a:lnTo>
                  <a:lnTo>
                    <a:pt x="0" y="0"/>
                  </a:lnTo>
                  <a:close/>
                </a:path>
              </a:pathLst>
            </a:custGeom>
            <a:blipFill>
              <a:blip r:embed="rId13"/>
              <a:stretch>
                <a:fillRect/>
              </a:stretch>
            </a:blipFill>
          </p:spPr>
        </p:sp>
      </p:grpSp>
      <p:grpSp>
        <p:nvGrpSpPr>
          <p:cNvPr id="156" name="Group 156"/>
          <p:cNvGrpSpPr/>
          <p:nvPr/>
        </p:nvGrpSpPr>
        <p:grpSpPr>
          <a:xfrm>
            <a:off x="8972321" y="8503920"/>
            <a:ext cx="3909060" cy="850392"/>
            <a:chOff x="0" y="0"/>
            <a:chExt cx="5212080" cy="1133856"/>
          </a:xfrm>
        </p:grpSpPr>
        <p:sp>
          <p:nvSpPr>
            <p:cNvPr id="157" name="Freeform 157"/>
            <p:cNvSpPr/>
            <p:nvPr/>
          </p:nvSpPr>
          <p:spPr>
            <a:xfrm>
              <a:off x="0" y="0"/>
              <a:ext cx="5212080" cy="1133856"/>
            </a:xfrm>
            <a:custGeom>
              <a:avLst/>
              <a:gdLst/>
              <a:ahLst/>
              <a:cxnLst/>
              <a:rect l="l" t="t" r="r" b="b"/>
              <a:pathLst>
                <a:path w="5212080" h="1133856">
                  <a:moveTo>
                    <a:pt x="0" y="0"/>
                  </a:moveTo>
                  <a:lnTo>
                    <a:pt x="5212080" y="0"/>
                  </a:lnTo>
                  <a:lnTo>
                    <a:pt x="5212080" y="1133856"/>
                  </a:lnTo>
                  <a:lnTo>
                    <a:pt x="0" y="1133856"/>
                  </a:lnTo>
                  <a:close/>
                </a:path>
              </a:pathLst>
            </a:custGeom>
            <a:blipFill>
              <a:blip r:embed="rId3">
                <a:alphaModFix amt="0"/>
              </a:blip>
              <a:stretch>
                <a:fillRect t="-39568" b="-39568"/>
              </a:stretch>
            </a:blipFill>
          </p:spPr>
        </p:sp>
        <p:sp>
          <p:nvSpPr>
            <p:cNvPr id="158" name="TextBox 158"/>
            <p:cNvSpPr txBox="1"/>
            <p:nvPr/>
          </p:nvSpPr>
          <p:spPr>
            <a:xfrm>
              <a:off x="0" y="-19050"/>
              <a:ext cx="5212080" cy="1152906"/>
            </a:xfrm>
            <a:prstGeom prst="rect">
              <a:avLst/>
            </a:prstGeom>
          </p:spPr>
          <p:txBody>
            <a:bodyPr lIns="0" tIns="0" rIns="0" bIns="0" rtlCol="0" anchor="ctr"/>
            <a:lstStyle/>
            <a:p>
              <a:pPr algn="l">
                <a:lnSpc>
                  <a:spcPts val="2160"/>
                </a:lnSpc>
              </a:pPr>
              <a:r>
                <a:rPr lang="en-US" sz="1800" b="1">
                  <a:solidFill>
                    <a:srgbClr val="FFFFFF"/>
                  </a:solidFill>
                  <a:latin typeface="Arial Bold"/>
                  <a:ea typeface="Arial Bold"/>
                  <a:cs typeface="Arial Bold"/>
                  <a:sym typeface="Arial Bold"/>
                </a:rPr>
                <a:t>≥99%  </a:t>
              </a:r>
              <a:r>
                <a:rPr lang="en-US" sz="1800">
                  <a:solidFill>
                    <a:srgbClr val="9FB3CF"/>
                  </a:solidFill>
                  <a:latin typeface="Arial"/>
                  <a:ea typeface="Arial"/>
                  <a:cs typeface="Arial"/>
                  <a:sym typeface="Arial"/>
                </a:rPr>
                <a:t>stock accuracy</a:t>
              </a:r>
            </a:p>
          </p:txBody>
        </p:sp>
      </p:grpSp>
      <p:grpSp>
        <p:nvGrpSpPr>
          <p:cNvPr id="159" name="Group 159"/>
          <p:cNvGrpSpPr/>
          <p:nvPr/>
        </p:nvGrpSpPr>
        <p:grpSpPr>
          <a:xfrm>
            <a:off x="13018541" y="8750808"/>
            <a:ext cx="356616" cy="356616"/>
            <a:chOff x="0" y="0"/>
            <a:chExt cx="475488" cy="475488"/>
          </a:xfrm>
        </p:grpSpPr>
        <p:sp>
          <p:nvSpPr>
            <p:cNvPr id="160" name="Freeform 160" descr="preencoded.png"/>
            <p:cNvSpPr/>
            <p:nvPr/>
          </p:nvSpPr>
          <p:spPr>
            <a:xfrm>
              <a:off x="0" y="0"/>
              <a:ext cx="475488" cy="475488"/>
            </a:xfrm>
            <a:custGeom>
              <a:avLst/>
              <a:gdLst/>
              <a:ahLst/>
              <a:cxnLst/>
              <a:rect l="l" t="t" r="r" b="b"/>
              <a:pathLst>
                <a:path w="475488" h="475488">
                  <a:moveTo>
                    <a:pt x="0" y="0"/>
                  </a:moveTo>
                  <a:lnTo>
                    <a:pt x="475488" y="0"/>
                  </a:lnTo>
                  <a:lnTo>
                    <a:pt x="475488" y="475488"/>
                  </a:lnTo>
                  <a:lnTo>
                    <a:pt x="0" y="475488"/>
                  </a:lnTo>
                  <a:lnTo>
                    <a:pt x="0" y="0"/>
                  </a:lnTo>
                  <a:close/>
                </a:path>
              </a:pathLst>
            </a:custGeom>
            <a:blipFill>
              <a:blip r:embed="rId14"/>
              <a:stretch>
                <a:fillRect/>
              </a:stretch>
            </a:blipFill>
          </p:spPr>
        </p:sp>
      </p:grpSp>
      <p:grpSp>
        <p:nvGrpSpPr>
          <p:cNvPr id="161" name="Group 161"/>
          <p:cNvGrpSpPr/>
          <p:nvPr/>
        </p:nvGrpSpPr>
        <p:grpSpPr>
          <a:xfrm>
            <a:off x="13567181" y="8503920"/>
            <a:ext cx="3909060" cy="850392"/>
            <a:chOff x="0" y="0"/>
            <a:chExt cx="5212080" cy="1133856"/>
          </a:xfrm>
        </p:grpSpPr>
        <p:sp>
          <p:nvSpPr>
            <p:cNvPr id="162" name="Freeform 162"/>
            <p:cNvSpPr/>
            <p:nvPr/>
          </p:nvSpPr>
          <p:spPr>
            <a:xfrm>
              <a:off x="0" y="0"/>
              <a:ext cx="5212080" cy="1133856"/>
            </a:xfrm>
            <a:custGeom>
              <a:avLst/>
              <a:gdLst/>
              <a:ahLst/>
              <a:cxnLst/>
              <a:rect l="l" t="t" r="r" b="b"/>
              <a:pathLst>
                <a:path w="5212080" h="1133856">
                  <a:moveTo>
                    <a:pt x="0" y="0"/>
                  </a:moveTo>
                  <a:lnTo>
                    <a:pt x="5212080" y="0"/>
                  </a:lnTo>
                  <a:lnTo>
                    <a:pt x="5212080" y="1133856"/>
                  </a:lnTo>
                  <a:lnTo>
                    <a:pt x="0" y="1133856"/>
                  </a:lnTo>
                  <a:close/>
                </a:path>
              </a:pathLst>
            </a:custGeom>
            <a:blipFill>
              <a:blip r:embed="rId3">
                <a:alphaModFix amt="0"/>
              </a:blip>
              <a:stretch>
                <a:fillRect t="-39568" b="-39568"/>
              </a:stretch>
            </a:blipFill>
          </p:spPr>
        </p:sp>
        <p:sp>
          <p:nvSpPr>
            <p:cNvPr id="163" name="TextBox 163"/>
            <p:cNvSpPr txBox="1"/>
            <p:nvPr/>
          </p:nvSpPr>
          <p:spPr>
            <a:xfrm>
              <a:off x="0" y="-19050"/>
              <a:ext cx="5212080" cy="1152906"/>
            </a:xfrm>
            <a:prstGeom prst="rect">
              <a:avLst/>
            </a:prstGeom>
          </p:spPr>
          <p:txBody>
            <a:bodyPr lIns="0" tIns="0" rIns="0" bIns="0" rtlCol="0" anchor="ctr"/>
            <a:lstStyle/>
            <a:p>
              <a:pPr algn="l">
                <a:lnSpc>
                  <a:spcPts val="3240"/>
                </a:lnSpc>
              </a:pPr>
              <a:r>
                <a:rPr lang="en-US" sz="2700" b="1">
                  <a:solidFill>
                    <a:srgbClr val="FFFFFF"/>
                  </a:solidFill>
                  <a:latin typeface="Arial Bold"/>
                  <a:ea typeface="Arial Bold"/>
                  <a:cs typeface="Arial Bold"/>
                  <a:sym typeface="Arial Bold"/>
                </a:rPr>
                <a:t>6 of 10  </a:t>
              </a:r>
              <a:r>
                <a:rPr lang="en-US" sz="2700">
                  <a:solidFill>
                    <a:srgbClr val="9FB3CF"/>
                  </a:solidFill>
                  <a:latin typeface="Arial"/>
                  <a:ea typeface="Arial"/>
                  <a:cs typeface="Arial"/>
                  <a:sym typeface="Arial"/>
                </a:rPr>
                <a:t>will pay</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22960" y="480060"/>
            <a:ext cx="16637508" cy="960120"/>
            <a:chOff x="0" y="0"/>
            <a:chExt cx="22183344" cy="1280160"/>
          </a:xfrm>
        </p:grpSpPr>
        <p:sp>
          <p:nvSpPr>
            <p:cNvPr id="3" name="Freeform 3"/>
            <p:cNvSpPr/>
            <p:nvPr/>
          </p:nvSpPr>
          <p:spPr>
            <a:xfrm>
              <a:off x="0" y="0"/>
              <a:ext cx="22183344" cy="1280160"/>
            </a:xfrm>
            <a:custGeom>
              <a:avLst/>
              <a:gdLst/>
              <a:ahLst/>
              <a:cxnLst/>
              <a:rect l="l" t="t" r="r" b="b"/>
              <a:pathLst>
                <a:path w="22183344" h="1280160">
                  <a:moveTo>
                    <a:pt x="0" y="0"/>
                  </a:moveTo>
                  <a:lnTo>
                    <a:pt x="22183344" y="0"/>
                  </a:lnTo>
                  <a:lnTo>
                    <a:pt x="22183344" y="1280160"/>
                  </a:lnTo>
                  <a:lnTo>
                    <a:pt x="0" y="1280160"/>
                  </a:lnTo>
                  <a:close/>
                </a:path>
              </a:pathLst>
            </a:custGeom>
            <a:blipFill>
              <a:blip r:embed="rId3">
                <a:alphaModFix amt="0"/>
              </a:blip>
              <a:stretch>
                <a:fillRect t="-287647" b="-287647"/>
              </a:stretch>
            </a:blipFill>
          </p:spPr>
        </p:sp>
        <p:sp>
          <p:nvSpPr>
            <p:cNvPr id="4" name="TextBox 4"/>
            <p:cNvSpPr txBox="1"/>
            <p:nvPr/>
          </p:nvSpPr>
          <p:spPr>
            <a:xfrm>
              <a:off x="0" y="-19050"/>
              <a:ext cx="22183344" cy="1299210"/>
            </a:xfrm>
            <a:prstGeom prst="rect">
              <a:avLst/>
            </a:prstGeom>
          </p:spPr>
          <p:txBody>
            <a:bodyPr lIns="0" tIns="0" rIns="0" bIns="0" rtlCol="0" anchor="ctr"/>
            <a:lstStyle/>
            <a:p>
              <a:pPr algn="ctr">
                <a:lnSpc>
                  <a:spcPts val="5759"/>
                </a:lnSpc>
              </a:pPr>
              <a:r>
                <a:rPr lang="en-US" sz="4800" b="1">
                  <a:solidFill>
                    <a:srgbClr val="15243A"/>
                  </a:solidFill>
                  <a:latin typeface="Arial Bold"/>
                  <a:ea typeface="Arial Bold"/>
                  <a:cs typeface="Arial Bold"/>
                  <a:sym typeface="Arial Bold"/>
                </a:rPr>
                <a:t>Three-year projection</a:t>
              </a:r>
            </a:p>
          </p:txBody>
        </p:sp>
      </p:grpSp>
      <p:grpSp>
        <p:nvGrpSpPr>
          <p:cNvPr id="5" name="Group 5"/>
          <p:cNvGrpSpPr/>
          <p:nvPr/>
        </p:nvGrpSpPr>
        <p:grpSpPr>
          <a:xfrm>
            <a:off x="822960" y="1371600"/>
            <a:ext cx="16637508" cy="548640"/>
            <a:chOff x="0" y="0"/>
            <a:chExt cx="22183344" cy="731520"/>
          </a:xfrm>
        </p:grpSpPr>
        <p:sp>
          <p:nvSpPr>
            <p:cNvPr id="6" name="Freeform 6"/>
            <p:cNvSpPr/>
            <p:nvPr/>
          </p:nvSpPr>
          <p:spPr>
            <a:xfrm>
              <a:off x="0" y="0"/>
              <a:ext cx="22183344" cy="731520"/>
            </a:xfrm>
            <a:custGeom>
              <a:avLst/>
              <a:gdLst/>
              <a:ahLst/>
              <a:cxnLst/>
              <a:rect l="l" t="t" r="r" b="b"/>
              <a:pathLst>
                <a:path w="22183344" h="731520">
                  <a:moveTo>
                    <a:pt x="0" y="0"/>
                  </a:moveTo>
                  <a:lnTo>
                    <a:pt x="22183344" y="0"/>
                  </a:lnTo>
                  <a:lnTo>
                    <a:pt x="22183344" y="731520"/>
                  </a:lnTo>
                  <a:lnTo>
                    <a:pt x="0" y="731520"/>
                  </a:lnTo>
                  <a:close/>
                </a:path>
              </a:pathLst>
            </a:custGeom>
            <a:blipFill>
              <a:blip r:embed="rId3">
                <a:alphaModFix amt="0"/>
              </a:blip>
              <a:stretch>
                <a:fillRect t="-540883" b="-540883"/>
              </a:stretch>
            </a:blipFill>
          </p:spPr>
        </p:sp>
        <p:sp>
          <p:nvSpPr>
            <p:cNvPr id="7" name="TextBox 7"/>
            <p:cNvSpPr txBox="1"/>
            <p:nvPr/>
          </p:nvSpPr>
          <p:spPr>
            <a:xfrm>
              <a:off x="0" y="-19050"/>
              <a:ext cx="22183344" cy="750570"/>
            </a:xfrm>
            <a:prstGeom prst="rect">
              <a:avLst/>
            </a:prstGeom>
          </p:spPr>
          <p:txBody>
            <a:bodyPr lIns="0" tIns="0" rIns="0" bIns="0" rtlCol="0" anchor="ctr"/>
            <a:lstStyle/>
            <a:p>
              <a:pPr algn="ctr">
                <a:lnSpc>
                  <a:spcPts val="2700"/>
                </a:lnSpc>
              </a:pPr>
              <a:r>
                <a:rPr lang="en-US" sz="2250">
                  <a:solidFill>
                    <a:srgbClr val="52637A"/>
                  </a:solidFill>
                  <a:latin typeface="Arial"/>
                  <a:ea typeface="Arial"/>
                  <a:cs typeface="Arial"/>
                  <a:sym typeface="Arial"/>
                </a:rPr>
                <a:t>Bootstrapped: team unpaid in Year 1, then paid from profit · subscriptions only</a:t>
              </a:r>
            </a:p>
          </p:txBody>
        </p:sp>
      </p:grpSp>
      <p:grpSp>
        <p:nvGrpSpPr>
          <p:cNvPr id="8" name="Group 8"/>
          <p:cNvGrpSpPr/>
          <p:nvPr/>
        </p:nvGrpSpPr>
        <p:grpSpPr>
          <a:xfrm>
            <a:off x="744855" y="2185035"/>
            <a:ext cx="10374630" cy="6877050"/>
            <a:chOff x="0" y="0"/>
            <a:chExt cx="13832840" cy="9169400"/>
          </a:xfrm>
        </p:grpSpPr>
        <p:sp>
          <p:nvSpPr>
            <p:cNvPr id="9" name="Freeform 9"/>
            <p:cNvSpPr/>
            <p:nvPr/>
          </p:nvSpPr>
          <p:spPr>
            <a:xfrm>
              <a:off x="0" y="0"/>
              <a:ext cx="13832839" cy="9169400"/>
            </a:xfrm>
            <a:custGeom>
              <a:avLst/>
              <a:gdLst/>
              <a:ahLst/>
              <a:cxnLst/>
              <a:rect l="l" t="t" r="r" b="b"/>
              <a:pathLst>
                <a:path w="13832839" h="9169400">
                  <a:moveTo>
                    <a:pt x="0" y="366776"/>
                  </a:moveTo>
                  <a:cubicBezTo>
                    <a:pt x="0" y="164211"/>
                    <a:pt x="164211" y="0"/>
                    <a:pt x="366776" y="0"/>
                  </a:cubicBezTo>
                  <a:lnTo>
                    <a:pt x="13466063" y="0"/>
                  </a:lnTo>
                  <a:cubicBezTo>
                    <a:pt x="13668628" y="0"/>
                    <a:pt x="13832839" y="164211"/>
                    <a:pt x="13832839" y="366776"/>
                  </a:cubicBezTo>
                  <a:lnTo>
                    <a:pt x="13832839" y="8802624"/>
                  </a:lnTo>
                  <a:cubicBezTo>
                    <a:pt x="13832839" y="9005189"/>
                    <a:pt x="13668628" y="9169400"/>
                    <a:pt x="13466063" y="9169400"/>
                  </a:cubicBezTo>
                  <a:lnTo>
                    <a:pt x="366776" y="9169400"/>
                  </a:lnTo>
                  <a:cubicBezTo>
                    <a:pt x="164211" y="9169400"/>
                    <a:pt x="0" y="9005189"/>
                    <a:pt x="0" y="8802624"/>
                  </a:cubicBezTo>
                  <a:close/>
                </a:path>
              </a:pathLst>
            </a:custGeom>
            <a:solidFill>
              <a:srgbClr val="FFFFFF"/>
            </a:solidFill>
            <a:ln w="19050" cap="sq">
              <a:solidFill>
                <a:srgbClr val="E2E8F0"/>
              </a:solidFill>
              <a:prstDash val="solid"/>
              <a:miter/>
            </a:ln>
          </p:spPr>
        </p:sp>
      </p:grpSp>
      <p:pic>
        <p:nvPicPr>
          <p:cNvPr id="10" name="Picture 10"/>
          <p:cNvPicPr>
            <a:picLocks noChangeAspect="1"/>
          </p:cNvPicPr>
          <p:nvPr/>
        </p:nvPicPr>
        <p:blipFill>
          <a:blip r:embed="rId4"/>
          <a:stretch>
            <a:fillRect/>
          </a:stretch>
        </p:blipFill>
        <p:spPr>
          <a:xfrm>
            <a:off x="1444752" y="2413498"/>
            <a:ext cx="8961120" cy="6401836"/>
          </a:xfrm>
          <a:prstGeom prst="rect">
            <a:avLst/>
          </a:prstGeom>
        </p:spPr>
      </p:pic>
      <p:grpSp>
        <p:nvGrpSpPr>
          <p:cNvPr id="11" name="Group 11"/>
          <p:cNvGrpSpPr/>
          <p:nvPr/>
        </p:nvGrpSpPr>
        <p:grpSpPr>
          <a:xfrm>
            <a:off x="11521440" y="2194560"/>
            <a:ext cx="5966460" cy="1536192"/>
            <a:chOff x="0" y="0"/>
            <a:chExt cx="7955280" cy="2048256"/>
          </a:xfrm>
        </p:grpSpPr>
        <p:sp>
          <p:nvSpPr>
            <p:cNvPr id="12" name="Freeform 12"/>
            <p:cNvSpPr/>
            <p:nvPr/>
          </p:nvSpPr>
          <p:spPr>
            <a:xfrm>
              <a:off x="0" y="0"/>
              <a:ext cx="7955280" cy="2048256"/>
            </a:xfrm>
            <a:custGeom>
              <a:avLst/>
              <a:gdLst/>
              <a:ahLst/>
              <a:cxnLst/>
              <a:rect l="l" t="t" r="r" b="b"/>
              <a:pathLst>
                <a:path w="7955280" h="2048256">
                  <a:moveTo>
                    <a:pt x="0" y="292608"/>
                  </a:moveTo>
                  <a:cubicBezTo>
                    <a:pt x="0" y="131064"/>
                    <a:pt x="131064" y="0"/>
                    <a:pt x="292608" y="0"/>
                  </a:cubicBezTo>
                  <a:lnTo>
                    <a:pt x="7662672" y="0"/>
                  </a:lnTo>
                  <a:cubicBezTo>
                    <a:pt x="7824215" y="0"/>
                    <a:pt x="7955280" y="131064"/>
                    <a:pt x="7955280" y="292608"/>
                  </a:cubicBezTo>
                  <a:lnTo>
                    <a:pt x="7955280" y="1755648"/>
                  </a:lnTo>
                  <a:cubicBezTo>
                    <a:pt x="7955280" y="1917192"/>
                    <a:pt x="7824216" y="2048256"/>
                    <a:pt x="7662672" y="2048256"/>
                  </a:cubicBezTo>
                  <a:lnTo>
                    <a:pt x="292608" y="2048256"/>
                  </a:lnTo>
                  <a:cubicBezTo>
                    <a:pt x="131064" y="2048256"/>
                    <a:pt x="0" y="1917192"/>
                    <a:pt x="0" y="1755648"/>
                  </a:cubicBezTo>
                  <a:close/>
                </a:path>
              </a:pathLst>
            </a:custGeom>
            <a:solidFill>
              <a:srgbClr val="F1F5F9"/>
            </a:solidFill>
          </p:spPr>
        </p:sp>
      </p:grpSp>
      <p:grpSp>
        <p:nvGrpSpPr>
          <p:cNvPr id="13" name="Group 13"/>
          <p:cNvGrpSpPr/>
          <p:nvPr/>
        </p:nvGrpSpPr>
        <p:grpSpPr>
          <a:xfrm>
            <a:off x="11864340" y="2194560"/>
            <a:ext cx="2468880" cy="1536192"/>
            <a:chOff x="0" y="0"/>
            <a:chExt cx="3291840" cy="2048256"/>
          </a:xfrm>
        </p:grpSpPr>
        <p:sp>
          <p:nvSpPr>
            <p:cNvPr id="14" name="Freeform 14"/>
            <p:cNvSpPr/>
            <p:nvPr/>
          </p:nvSpPr>
          <p:spPr>
            <a:xfrm>
              <a:off x="0" y="0"/>
              <a:ext cx="3291840" cy="2048256"/>
            </a:xfrm>
            <a:custGeom>
              <a:avLst/>
              <a:gdLst/>
              <a:ahLst/>
              <a:cxnLst/>
              <a:rect l="l" t="t" r="r" b="b"/>
              <a:pathLst>
                <a:path w="3291840" h="2048256">
                  <a:moveTo>
                    <a:pt x="0" y="0"/>
                  </a:moveTo>
                  <a:lnTo>
                    <a:pt x="3291840" y="0"/>
                  </a:lnTo>
                  <a:lnTo>
                    <a:pt x="3291840" y="2048256"/>
                  </a:lnTo>
                  <a:lnTo>
                    <a:pt x="0" y="2048256"/>
                  </a:lnTo>
                  <a:close/>
                </a:path>
              </a:pathLst>
            </a:custGeom>
            <a:blipFill>
              <a:blip r:embed="rId3">
                <a:alphaModFix amt="0"/>
              </a:blip>
              <a:stretch>
                <a:fillRect l="-29833" r="-29833"/>
              </a:stretch>
            </a:blipFill>
          </p:spPr>
        </p:sp>
        <p:sp>
          <p:nvSpPr>
            <p:cNvPr id="15" name="TextBox 15"/>
            <p:cNvSpPr txBox="1"/>
            <p:nvPr/>
          </p:nvSpPr>
          <p:spPr>
            <a:xfrm>
              <a:off x="0" y="-19050"/>
              <a:ext cx="3291840" cy="2067306"/>
            </a:xfrm>
            <a:prstGeom prst="rect">
              <a:avLst/>
            </a:prstGeom>
          </p:spPr>
          <p:txBody>
            <a:bodyPr lIns="0" tIns="0" rIns="0" bIns="0" rtlCol="0" anchor="ctr"/>
            <a:lstStyle/>
            <a:p>
              <a:pPr algn="l">
                <a:lnSpc>
                  <a:spcPts val="4680"/>
                </a:lnSpc>
              </a:pPr>
              <a:r>
                <a:rPr lang="en-US" sz="3900" b="1">
                  <a:solidFill>
                    <a:srgbClr val="15243A"/>
                  </a:solidFill>
                  <a:latin typeface="Arial Bold"/>
                  <a:ea typeface="Arial Bold"/>
                  <a:cs typeface="Arial Bold"/>
                  <a:sym typeface="Arial Bold"/>
                </a:rPr>
                <a:t>$61.6K</a:t>
              </a:r>
            </a:p>
          </p:txBody>
        </p:sp>
      </p:grpSp>
      <p:grpSp>
        <p:nvGrpSpPr>
          <p:cNvPr id="16" name="Group 16"/>
          <p:cNvGrpSpPr/>
          <p:nvPr/>
        </p:nvGrpSpPr>
        <p:grpSpPr>
          <a:xfrm>
            <a:off x="14333220" y="2194560"/>
            <a:ext cx="3017520" cy="1536192"/>
            <a:chOff x="0" y="0"/>
            <a:chExt cx="4023360" cy="2048256"/>
          </a:xfrm>
        </p:grpSpPr>
        <p:sp>
          <p:nvSpPr>
            <p:cNvPr id="17" name="Freeform 17"/>
            <p:cNvSpPr/>
            <p:nvPr/>
          </p:nvSpPr>
          <p:spPr>
            <a:xfrm>
              <a:off x="0" y="0"/>
              <a:ext cx="4023360" cy="2048256"/>
            </a:xfrm>
            <a:custGeom>
              <a:avLst/>
              <a:gdLst/>
              <a:ahLst/>
              <a:cxnLst/>
              <a:rect l="l" t="t" r="r" b="b"/>
              <a:pathLst>
                <a:path w="4023360" h="2048256">
                  <a:moveTo>
                    <a:pt x="0" y="0"/>
                  </a:moveTo>
                  <a:lnTo>
                    <a:pt x="4023360" y="0"/>
                  </a:lnTo>
                  <a:lnTo>
                    <a:pt x="4023360" y="2048256"/>
                  </a:lnTo>
                  <a:lnTo>
                    <a:pt x="0" y="2048256"/>
                  </a:lnTo>
                  <a:close/>
                </a:path>
              </a:pathLst>
            </a:custGeom>
            <a:blipFill>
              <a:blip r:embed="rId3">
                <a:alphaModFix amt="0"/>
              </a:blip>
              <a:stretch>
                <a:fillRect l="-15318" r="-15318"/>
              </a:stretch>
            </a:blipFill>
          </p:spPr>
        </p:sp>
        <p:sp>
          <p:nvSpPr>
            <p:cNvPr id="18" name="TextBox 18"/>
            <p:cNvSpPr txBox="1"/>
            <p:nvPr/>
          </p:nvSpPr>
          <p:spPr>
            <a:xfrm>
              <a:off x="0" y="-19050"/>
              <a:ext cx="4023360" cy="2067306"/>
            </a:xfrm>
            <a:prstGeom prst="rect">
              <a:avLst/>
            </a:prstGeom>
          </p:spPr>
          <p:txBody>
            <a:bodyPr lIns="0" tIns="0" rIns="0" bIns="0" rtlCol="0" anchor="ctr"/>
            <a:lstStyle/>
            <a:p>
              <a:pPr algn="l">
                <a:lnSpc>
                  <a:spcPts val="2340"/>
                </a:lnSpc>
              </a:pPr>
              <a:r>
                <a:rPr lang="en-US" sz="1950">
                  <a:solidFill>
                    <a:srgbClr val="52637A"/>
                  </a:solidFill>
                  <a:latin typeface="Arial"/>
                  <a:ea typeface="Arial"/>
                  <a:cs typeface="Arial"/>
                  <a:sym typeface="Arial"/>
                </a:rPr>
                <a:t>Year 3 revenue after 10% VAT</a:t>
              </a:r>
            </a:p>
          </p:txBody>
        </p:sp>
      </p:grpSp>
      <p:grpSp>
        <p:nvGrpSpPr>
          <p:cNvPr id="19" name="Group 19"/>
          <p:cNvGrpSpPr/>
          <p:nvPr/>
        </p:nvGrpSpPr>
        <p:grpSpPr>
          <a:xfrm>
            <a:off x="11521440" y="3950208"/>
            <a:ext cx="5966460" cy="1536192"/>
            <a:chOff x="0" y="0"/>
            <a:chExt cx="7955280" cy="2048256"/>
          </a:xfrm>
        </p:grpSpPr>
        <p:sp>
          <p:nvSpPr>
            <p:cNvPr id="20" name="Freeform 20"/>
            <p:cNvSpPr/>
            <p:nvPr/>
          </p:nvSpPr>
          <p:spPr>
            <a:xfrm>
              <a:off x="0" y="0"/>
              <a:ext cx="7955280" cy="2048256"/>
            </a:xfrm>
            <a:custGeom>
              <a:avLst/>
              <a:gdLst/>
              <a:ahLst/>
              <a:cxnLst/>
              <a:rect l="l" t="t" r="r" b="b"/>
              <a:pathLst>
                <a:path w="7955280" h="2048256">
                  <a:moveTo>
                    <a:pt x="0" y="292608"/>
                  </a:moveTo>
                  <a:cubicBezTo>
                    <a:pt x="0" y="131064"/>
                    <a:pt x="131064" y="0"/>
                    <a:pt x="292608" y="0"/>
                  </a:cubicBezTo>
                  <a:lnTo>
                    <a:pt x="7662672" y="0"/>
                  </a:lnTo>
                  <a:cubicBezTo>
                    <a:pt x="7824215" y="0"/>
                    <a:pt x="7955280" y="131064"/>
                    <a:pt x="7955280" y="292608"/>
                  </a:cubicBezTo>
                  <a:lnTo>
                    <a:pt x="7955280" y="1755648"/>
                  </a:lnTo>
                  <a:cubicBezTo>
                    <a:pt x="7955280" y="1917192"/>
                    <a:pt x="7824216" y="2048256"/>
                    <a:pt x="7662672" y="2048256"/>
                  </a:cubicBezTo>
                  <a:lnTo>
                    <a:pt x="292608" y="2048256"/>
                  </a:lnTo>
                  <a:cubicBezTo>
                    <a:pt x="131064" y="2048256"/>
                    <a:pt x="0" y="1917192"/>
                    <a:pt x="0" y="1755648"/>
                  </a:cubicBezTo>
                  <a:close/>
                </a:path>
              </a:pathLst>
            </a:custGeom>
            <a:solidFill>
              <a:srgbClr val="111D35"/>
            </a:solidFill>
          </p:spPr>
        </p:sp>
      </p:grpSp>
      <p:grpSp>
        <p:nvGrpSpPr>
          <p:cNvPr id="21" name="Group 21"/>
          <p:cNvGrpSpPr/>
          <p:nvPr/>
        </p:nvGrpSpPr>
        <p:grpSpPr>
          <a:xfrm>
            <a:off x="11864340" y="3950208"/>
            <a:ext cx="2468880" cy="1536192"/>
            <a:chOff x="0" y="0"/>
            <a:chExt cx="3291840" cy="2048256"/>
          </a:xfrm>
        </p:grpSpPr>
        <p:sp>
          <p:nvSpPr>
            <p:cNvPr id="22" name="Freeform 22"/>
            <p:cNvSpPr/>
            <p:nvPr/>
          </p:nvSpPr>
          <p:spPr>
            <a:xfrm>
              <a:off x="0" y="0"/>
              <a:ext cx="3291840" cy="2048256"/>
            </a:xfrm>
            <a:custGeom>
              <a:avLst/>
              <a:gdLst/>
              <a:ahLst/>
              <a:cxnLst/>
              <a:rect l="l" t="t" r="r" b="b"/>
              <a:pathLst>
                <a:path w="3291840" h="2048256">
                  <a:moveTo>
                    <a:pt x="0" y="0"/>
                  </a:moveTo>
                  <a:lnTo>
                    <a:pt x="3291840" y="0"/>
                  </a:lnTo>
                  <a:lnTo>
                    <a:pt x="3291840" y="2048256"/>
                  </a:lnTo>
                  <a:lnTo>
                    <a:pt x="0" y="2048256"/>
                  </a:lnTo>
                  <a:close/>
                </a:path>
              </a:pathLst>
            </a:custGeom>
            <a:blipFill>
              <a:blip r:embed="rId3">
                <a:alphaModFix amt="0"/>
              </a:blip>
              <a:stretch>
                <a:fillRect l="-29833" r="-29833"/>
              </a:stretch>
            </a:blipFill>
          </p:spPr>
        </p:sp>
        <p:sp>
          <p:nvSpPr>
            <p:cNvPr id="23" name="TextBox 23"/>
            <p:cNvSpPr txBox="1"/>
            <p:nvPr/>
          </p:nvSpPr>
          <p:spPr>
            <a:xfrm>
              <a:off x="0" y="-19050"/>
              <a:ext cx="3291840" cy="2067306"/>
            </a:xfrm>
            <a:prstGeom prst="rect">
              <a:avLst/>
            </a:prstGeom>
          </p:spPr>
          <p:txBody>
            <a:bodyPr lIns="0" tIns="0" rIns="0" bIns="0" rtlCol="0" anchor="ctr"/>
            <a:lstStyle/>
            <a:p>
              <a:pPr algn="l">
                <a:lnSpc>
                  <a:spcPts val="4680"/>
                </a:lnSpc>
              </a:pPr>
              <a:r>
                <a:rPr lang="en-US" sz="3900" b="1">
                  <a:solidFill>
                    <a:srgbClr val="FFFFFF"/>
                  </a:solidFill>
                  <a:latin typeface="Arial Bold"/>
                  <a:ea typeface="Arial Bold"/>
                  <a:cs typeface="Arial Bold"/>
                  <a:sym typeface="Arial Bold"/>
                </a:rPr>
                <a:t>Year 1</a:t>
              </a:r>
            </a:p>
          </p:txBody>
        </p:sp>
      </p:grpSp>
      <p:grpSp>
        <p:nvGrpSpPr>
          <p:cNvPr id="24" name="Group 24"/>
          <p:cNvGrpSpPr/>
          <p:nvPr/>
        </p:nvGrpSpPr>
        <p:grpSpPr>
          <a:xfrm>
            <a:off x="14333220" y="3950208"/>
            <a:ext cx="3017520" cy="1536192"/>
            <a:chOff x="0" y="0"/>
            <a:chExt cx="4023360" cy="2048256"/>
          </a:xfrm>
        </p:grpSpPr>
        <p:sp>
          <p:nvSpPr>
            <p:cNvPr id="25" name="Freeform 25"/>
            <p:cNvSpPr/>
            <p:nvPr/>
          </p:nvSpPr>
          <p:spPr>
            <a:xfrm>
              <a:off x="0" y="0"/>
              <a:ext cx="4023360" cy="2048256"/>
            </a:xfrm>
            <a:custGeom>
              <a:avLst/>
              <a:gdLst/>
              <a:ahLst/>
              <a:cxnLst/>
              <a:rect l="l" t="t" r="r" b="b"/>
              <a:pathLst>
                <a:path w="4023360" h="2048256">
                  <a:moveTo>
                    <a:pt x="0" y="0"/>
                  </a:moveTo>
                  <a:lnTo>
                    <a:pt x="4023360" y="0"/>
                  </a:lnTo>
                  <a:lnTo>
                    <a:pt x="4023360" y="2048256"/>
                  </a:lnTo>
                  <a:lnTo>
                    <a:pt x="0" y="2048256"/>
                  </a:lnTo>
                  <a:close/>
                </a:path>
              </a:pathLst>
            </a:custGeom>
            <a:blipFill>
              <a:blip r:embed="rId3">
                <a:alphaModFix amt="0"/>
              </a:blip>
              <a:stretch>
                <a:fillRect l="-15318" r="-15318"/>
              </a:stretch>
            </a:blipFill>
          </p:spPr>
        </p:sp>
        <p:sp>
          <p:nvSpPr>
            <p:cNvPr id="26" name="TextBox 26"/>
            <p:cNvSpPr txBox="1"/>
            <p:nvPr/>
          </p:nvSpPr>
          <p:spPr>
            <a:xfrm>
              <a:off x="0" y="-19050"/>
              <a:ext cx="4023360" cy="2067306"/>
            </a:xfrm>
            <a:prstGeom prst="rect">
              <a:avLst/>
            </a:prstGeom>
          </p:spPr>
          <p:txBody>
            <a:bodyPr lIns="0" tIns="0" rIns="0" bIns="0" rtlCol="0" anchor="ctr"/>
            <a:lstStyle/>
            <a:p>
              <a:pPr algn="l">
                <a:lnSpc>
                  <a:spcPts val="2340"/>
                </a:lnSpc>
              </a:pPr>
              <a:r>
                <a:rPr lang="en-US" sz="1950">
                  <a:solidFill>
                    <a:srgbClr val="A7F3D0"/>
                  </a:solidFill>
                  <a:latin typeface="Arial"/>
                  <a:ea typeface="Arial"/>
                  <a:cs typeface="Arial"/>
                  <a:sym typeface="Arial"/>
                </a:rPr>
                <a:t>covers its own costs, team unpaid</a:t>
              </a:r>
            </a:p>
          </p:txBody>
        </p:sp>
      </p:grpSp>
      <p:grpSp>
        <p:nvGrpSpPr>
          <p:cNvPr id="27" name="Group 27"/>
          <p:cNvGrpSpPr/>
          <p:nvPr/>
        </p:nvGrpSpPr>
        <p:grpSpPr>
          <a:xfrm>
            <a:off x="11521440" y="5705856"/>
            <a:ext cx="5966460" cy="1536192"/>
            <a:chOff x="0" y="0"/>
            <a:chExt cx="7955280" cy="2048256"/>
          </a:xfrm>
        </p:grpSpPr>
        <p:sp>
          <p:nvSpPr>
            <p:cNvPr id="28" name="Freeform 28"/>
            <p:cNvSpPr/>
            <p:nvPr/>
          </p:nvSpPr>
          <p:spPr>
            <a:xfrm>
              <a:off x="0" y="0"/>
              <a:ext cx="7955280" cy="2048256"/>
            </a:xfrm>
            <a:custGeom>
              <a:avLst/>
              <a:gdLst/>
              <a:ahLst/>
              <a:cxnLst/>
              <a:rect l="l" t="t" r="r" b="b"/>
              <a:pathLst>
                <a:path w="7955280" h="2048256">
                  <a:moveTo>
                    <a:pt x="0" y="292608"/>
                  </a:moveTo>
                  <a:cubicBezTo>
                    <a:pt x="0" y="131064"/>
                    <a:pt x="131064" y="0"/>
                    <a:pt x="292608" y="0"/>
                  </a:cubicBezTo>
                  <a:lnTo>
                    <a:pt x="7662672" y="0"/>
                  </a:lnTo>
                  <a:cubicBezTo>
                    <a:pt x="7824215" y="0"/>
                    <a:pt x="7955280" y="131064"/>
                    <a:pt x="7955280" y="292608"/>
                  </a:cubicBezTo>
                  <a:lnTo>
                    <a:pt x="7955280" y="1755648"/>
                  </a:lnTo>
                  <a:cubicBezTo>
                    <a:pt x="7955280" y="1917192"/>
                    <a:pt x="7824216" y="2048256"/>
                    <a:pt x="7662672" y="2048256"/>
                  </a:cubicBezTo>
                  <a:lnTo>
                    <a:pt x="292608" y="2048256"/>
                  </a:lnTo>
                  <a:cubicBezTo>
                    <a:pt x="131064" y="2048256"/>
                    <a:pt x="0" y="1917192"/>
                    <a:pt x="0" y="1755648"/>
                  </a:cubicBezTo>
                  <a:close/>
                </a:path>
              </a:pathLst>
            </a:custGeom>
            <a:solidFill>
              <a:srgbClr val="DCFCE7"/>
            </a:solidFill>
          </p:spPr>
        </p:sp>
      </p:grpSp>
      <p:grpSp>
        <p:nvGrpSpPr>
          <p:cNvPr id="29" name="Group 29"/>
          <p:cNvGrpSpPr/>
          <p:nvPr/>
        </p:nvGrpSpPr>
        <p:grpSpPr>
          <a:xfrm>
            <a:off x="11864340" y="5705856"/>
            <a:ext cx="2468880" cy="1536192"/>
            <a:chOff x="0" y="0"/>
            <a:chExt cx="3291840" cy="2048256"/>
          </a:xfrm>
        </p:grpSpPr>
        <p:sp>
          <p:nvSpPr>
            <p:cNvPr id="30" name="Freeform 30"/>
            <p:cNvSpPr/>
            <p:nvPr/>
          </p:nvSpPr>
          <p:spPr>
            <a:xfrm>
              <a:off x="0" y="0"/>
              <a:ext cx="3291840" cy="2048256"/>
            </a:xfrm>
            <a:custGeom>
              <a:avLst/>
              <a:gdLst/>
              <a:ahLst/>
              <a:cxnLst/>
              <a:rect l="l" t="t" r="r" b="b"/>
              <a:pathLst>
                <a:path w="3291840" h="2048256">
                  <a:moveTo>
                    <a:pt x="0" y="0"/>
                  </a:moveTo>
                  <a:lnTo>
                    <a:pt x="3291840" y="0"/>
                  </a:lnTo>
                  <a:lnTo>
                    <a:pt x="3291840" y="2048256"/>
                  </a:lnTo>
                  <a:lnTo>
                    <a:pt x="0" y="2048256"/>
                  </a:lnTo>
                  <a:close/>
                </a:path>
              </a:pathLst>
            </a:custGeom>
            <a:blipFill>
              <a:blip r:embed="rId3">
                <a:alphaModFix amt="0"/>
              </a:blip>
              <a:stretch>
                <a:fillRect l="-29833" r="-29833"/>
              </a:stretch>
            </a:blipFill>
          </p:spPr>
        </p:sp>
        <p:sp>
          <p:nvSpPr>
            <p:cNvPr id="31" name="TextBox 31"/>
            <p:cNvSpPr txBox="1"/>
            <p:nvPr/>
          </p:nvSpPr>
          <p:spPr>
            <a:xfrm>
              <a:off x="0" y="-19050"/>
              <a:ext cx="3291840" cy="2067306"/>
            </a:xfrm>
            <a:prstGeom prst="rect">
              <a:avLst/>
            </a:prstGeom>
          </p:spPr>
          <p:txBody>
            <a:bodyPr lIns="0" tIns="0" rIns="0" bIns="0" rtlCol="0" anchor="ctr"/>
            <a:lstStyle/>
            <a:p>
              <a:pPr algn="l">
                <a:lnSpc>
                  <a:spcPts val="4680"/>
                </a:lnSpc>
              </a:pPr>
              <a:r>
                <a:rPr lang="en-US" sz="3900" b="1">
                  <a:solidFill>
                    <a:srgbClr val="16A34A"/>
                  </a:solidFill>
                  <a:latin typeface="Arial Bold"/>
                  <a:ea typeface="Arial Bold"/>
                  <a:cs typeface="Arial Bold"/>
                  <a:sym typeface="Arial Bold"/>
                </a:rPr>
                <a:t>~110</a:t>
              </a:r>
            </a:p>
          </p:txBody>
        </p:sp>
      </p:grpSp>
      <p:grpSp>
        <p:nvGrpSpPr>
          <p:cNvPr id="32" name="Group 32"/>
          <p:cNvGrpSpPr/>
          <p:nvPr/>
        </p:nvGrpSpPr>
        <p:grpSpPr>
          <a:xfrm>
            <a:off x="14333220" y="5705856"/>
            <a:ext cx="3017520" cy="1536192"/>
            <a:chOff x="0" y="0"/>
            <a:chExt cx="4023360" cy="2048256"/>
          </a:xfrm>
        </p:grpSpPr>
        <p:sp>
          <p:nvSpPr>
            <p:cNvPr id="33" name="Freeform 33"/>
            <p:cNvSpPr/>
            <p:nvPr/>
          </p:nvSpPr>
          <p:spPr>
            <a:xfrm>
              <a:off x="0" y="0"/>
              <a:ext cx="4023360" cy="2048256"/>
            </a:xfrm>
            <a:custGeom>
              <a:avLst/>
              <a:gdLst/>
              <a:ahLst/>
              <a:cxnLst/>
              <a:rect l="l" t="t" r="r" b="b"/>
              <a:pathLst>
                <a:path w="4023360" h="2048256">
                  <a:moveTo>
                    <a:pt x="0" y="0"/>
                  </a:moveTo>
                  <a:lnTo>
                    <a:pt x="4023360" y="0"/>
                  </a:lnTo>
                  <a:lnTo>
                    <a:pt x="4023360" y="2048256"/>
                  </a:lnTo>
                  <a:lnTo>
                    <a:pt x="0" y="2048256"/>
                  </a:lnTo>
                  <a:close/>
                </a:path>
              </a:pathLst>
            </a:custGeom>
            <a:blipFill>
              <a:blip r:embed="rId3">
                <a:alphaModFix amt="0"/>
              </a:blip>
              <a:stretch>
                <a:fillRect l="-15318" r="-15318"/>
              </a:stretch>
            </a:blipFill>
          </p:spPr>
        </p:sp>
        <p:sp>
          <p:nvSpPr>
            <p:cNvPr id="34" name="TextBox 34"/>
            <p:cNvSpPr txBox="1"/>
            <p:nvPr/>
          </p:nvSpPr>
          <p:spPr>
            <a:xfrm>
              <a:off x="0" y="-19050"/>
              <a:ext cx="4023360" cy="2067306"/>
            </a:xfrm>
            <a:prstGeom prst="rect">
              <a:avLst/>
            </a:prstGeom>
          </p:spPr>
          <p:txBody>
            <a:bodyPr lIns="0" tIns="0" rIns="0" bIns="0" rtlCol="0" anchor="ctr"/>
            <a:lstStyle/>
            <a:p>
              <a:pPr algn="l">
                <a:lnSpc>
                  <a:spcPts val="2340"/>
                </a:lnSpc>
              </a:pPr>
              <a:r>
                <a:rPr lang="en-US" sz="1950">
                  <a:solidFill>
                    <a:srgbClr val="52637A"/>
                  </a:solidFill>
                  <a:latin typeface="Arial"/>
                  <a:ea typeface="Arial"/>
                  <a:cs typeface="Arial"/>
                  <a:sym typeface="Arial"/>
                </a:rPr>
                <a:t>paying shops cover all running costs</a:t>
              </a:r>
            </a:p>
          </p:txBody>
        </p:sp>
      </p:grpSp>
      <p:grpSp>
        <p:nvGrpSpPr>
          <p:cNvPr id="35" name="Group 35"/>
          <p:cNvGrpSpPr/>
          <p:nvPr/>
        </p:nvGrpSpPr>
        <p:grpSpPr>
          <a:xfrm>
            <a:off x="11521440" y="7461504"/>
            <a:ext cx="5966460" cy="1536192"/>
            <a:chOff x="0" y="0"/>
            <a:chExt cx="7955280" cy="2048256"/>
          </a:xfrm>
        </p:grpSpPr>
        <p:sp>
          <p:nvSpPr>
            <p:cNvPr id="36" name="Freeform 36"/>
            <p:cNvSpPr/>
            <p:nvPr/>
          </p:nvSpPr>
          <p:spPr>
            <a:xfrm>
              <a:off x="0" y="0"/>
              <a:ext cx="7955280" cy="2048256"/>
            </a:xfrm>
            <a:custGeom>
              <a:avLst/>
              <a:gdLst/>
              <a:ahLst/>
              <a:cxnLst/>
              <a:rect l="l" t="t" r="r" b="b"/>
              <a:pathLst>
                <a:path w="7955280" h="2048256">
                  <a:moveTo>
                    <a:pt x="0" y="292608"/>
                  </a:moveTo>
                  <a:cubicBezTo>
                    <a:pt x="0" y="131064"/>
                    <a:pt x="131064" y="0"/>
                    <a:pt x="292608" y="0"/>
                  </a:cubicBezTo>
                  <a:lnTo>
                    <a:pt x="7662672" y="0"/>
                  </a:lnTo>
                  <a:cubicBezTo>
                    <a:pt x="7824215" y="0"/>
                    <a:pt x="7955280" y="131064"/>
                    <a:pt x="7955280" y="292608"/>
                  </a:cubicBezTo>
                  <a:lnTo>
                    <a:pt x="7955280" y="1755648"/>
                  </a:lnTo>
                  <a:cubicBezTo>
                    <a:pt x="7955280" y="1917192"/>
                    <a:pt x="7824216" y="2048256"/>
                    <a:pt x="7662672" y="2048256"/>
                  </a:cubicBezTo>
                  <a:lnTo>
                    <a:pt x="292608" y="2048256"/>
                  </a:lnTo>
                  <a:cubicBezTo>
                    <a:pt x="131064" y="2048256"/>
                    <a:pt x="0" y="1917192"/>
                    <a:pt x="0" y="1755648"/>
                  </a:cubicBezTo>
                  <a:close/>
                </a:path>
              </a:pathLst>
            </a:custGeom>
            <a:solidFill>
              <a:srgbClr val="F1F5F9"/>
            </a:solidFill>
          </p:spPr>
        </p:sp>
      </p:grpSp>
      <p:grpSp>
        <p:nvGrpSpPr>
          <p:cNvPr id="37" name="Group 37"/>
          <p:cNvGrpSpPr/>
          <p:nvPr/>
        </p:nvGrpSpPr>
        <p:grpSpPr>
          <a:xfrm>
            <a:off x="11864340" y="7461504"/>
            <a:ext cx="2468880" cy="1536192"/>
            <a:chOff x="0" y="0"/>
            <a:chExt cx="3291840" cy="2048256"/>
          </a:xfrm>
        </p:grpSpPr>
        <p:sp>
          <p:nvSpPr>
            <p:cNvPr id="38" name="Freeform 38"/>
            <p:cNvSpPr/>
            <p:nvPr/>
          </p:nvSpPr>
          <p:spPr>
            <a:xfrm>
              <a:off x="0" y="0"/>
              <a:ext cx="3291840" cy="2048256"/>
            </a:xfrm>
            <a:custGeom>
              <a:avLst/>
              <a:gdLst/>
              <a:ahLst/>
              <a:cxnLst/>
              <a:rect l="l" t="t" r="r" b="b"/>
              <a:pathLst>
                <a:path w="3291840" h="2048256">
                  <a:moveTo>
                    <a:pt x="0" y="0"/>
                  </a:moveTo>
                  <a:lnTo>
                    <a:pt x="3291840" y="0"/>
                  </a:lnTo>
                  <a:lnTo>
                    <a:pt x="3291840" y="2048256"/>
                  </a:lnTo>
                  <a:lnTo>
                    <a:pt x="0" y="2048256"/>
                  </a:lnTo>
                  <a:close/>
                </a:path>
              </a:pathLst>
            </a:custGeom>
            <a:blipFill>
              <a:blip r:embed="rId3">
                <a:alphaModFix amt="0"/>
              </a:blip>
              <a:stretch>
                <a:fillRect l="-29833" r="-29833"/>
              </a:stretch>
            </a:blipFill>
          </p:spPr>
        </p:sp>
        <p:sp>
          <p:nvSpPr>
            <p:cNvPr id="39" name="TextBox 39"/>
            <p:cNvSpPr txBox="1"/>
            <p:nvPr/>
          </p:nvSpPr>
          <p:spPr>
            <a:xfrm>
              <a:off x="0" y="-19050"/>
              <a:ext cx="3291840" cy="2067306"/>
            </a:xfrm>
            <a:prstGeom prst="rect">
              <a:avLst/>
            </a:prstGeom>
          </p:spPr>
          <p:txBody>
            <a:bodyPr lIns="0" tIns="0" rIns="0" bIns="0" rtlCol="0" anchor="ctr"/>
            <a:lstStyle/>
            <a:p>
              <a:pPr algn="l">
                <a:lnSpc>
                  <a:spcPts val="4680"/>
                </a:lnSpc>
              </a:pPr>
              <a:r>
                <a:rPr lang="en-US" sz="3900" b="1">
                  <a:solidFill>
                    <a:srgbClr val="15243A"/>
                  </a:solidFill>
                  <a:latin typeface="Arial Bold"/>
                  <a:ea typeface="Arial Bold"/>
                  <a:cs typeface="Arial Bold"/>
                  <a:sym typeface="Arial Bold"/>
                </a:rPr>
                <a:t>$1.1K</a:t>
              </a:r>
            </a:p>
          </p:txBody>
        </p:sp>
      </p:grpSp>
      <p:grpSp>
        <p:nvGrpSpPr>
          <p:cNvPr id="40" name="Group 40"/>
          <p:cNvGrpSpPr/>
          <p:nvPr/>
        </p:nvGrpSpPr>
        <p:grpSpPr>
          <a:xfrm>
            <a:off x="14333220" y="7461504"/>
            <a:ext cx="3017520" cy="1536192"/>
            <a:chOff x="0" y="0"/>
            <a:chExt cx="4023360" cy="2048256"/>
          </a:xfrm>
        </p:grpSpPr>
        <p:sp>
          <p:nvSpPr>
            <p:cNvPr id="41" name="Freeform 41"/>
            <p:cNvSpPr/>
            <p:nvPr/>
          </p:nvSpPr>
          <p:spPr>
            <a:xfrm>
              <a:off x="0" y="0"/>
              <a:ext cx="4023360" cy="2048256"/>
            </a:xfrm>
            <a:custGeom>
              <a:avLst/>
              <a:gdLst/>
              <a:ahLst/>
              <a:cxnLst/>
              <a:rect l="l" t="t" r="r" b="b"/>
              <a:pathLst>
                <a:path w="4023360" h="2048256">
                  <a:moveTo>
                    <a:pt x="0" y="0"/>
                  </a:moveTo>
                  <a:lnTo>
                    <a:pt x="4023360" y="0"/>
                  </a:lnTo>
                  <a:lnTo>
                    <a:pt x="4023360" y="2048256"/>
                  </a:lnTo>
                  <a:lnTo>
                    <a:pt x="0" y="2048256"/>
                  </a:lnTo>
                  <a:close/>
                </a:path>
              </a:pathLst>
            </a:custGeom>
            <a:blipFill>
              <a:blip r:embed="rId3">
                <a:alphaModFix amt="0"/>
              </a:blip>
              <a:stretch>
                <a:fillRect l="-15318" r="-15318"/>
              </a:stretch>
            </a:blipFill>
          </p:spPr>
        </p:sp>
        <p:sp>
          <p:nvSpPr>
            <p:cNvPr id="42" name="TextBox 42"/>
            <p:cNvSpPr txBox="1"/>
            <p:nvPr/>
          </p:nvSpPr>
          <p:spPr>
            <a:xfrm>
              <a:off x="0" y="-19050"/>
              <a:ext cx="4023360" cy="2067306"/>
            </a:xfrm>
            <a:prstGeom prst="rect">
              <a:avLst/>
            </a:prstGeom>
          </p:spPr>
          <p:txBody>
            <a:bodyPr lIns="0" tIns="0" rIns="0" bIns="0" rtlCol="0" anchor="ctr"/>
            <a:lstStyle/>
            <a:p>
              <a:pPr algn="l">
                <a:lnSpc>
                  <a:spcPts val="2340"/>
                </a:lnSpc>
              </a:pPr>
              <a:r>
                <a:rPr lang="en-US" sz="1950">
                  <a:solidFill>
                    <a:srgbClr val="52637A"/>
                  </a:solidFill>
                  <a:latin typeface="Arial"/>
                  <a:ea typeface="Arial"/>
                  <a:cs typeface="Arial"/>
                  <a:sym typeface="Arial"/>
                </a:rPr>
                <a:t>cash needed to start</a:t>
              </a:r>
            </a:p>
          </p:txBody>
        </p:sp>
      </p:grpSp>
      <p:sp>
        <p:nvSpPr>
          <p:cNvPr id="43" name="TextBox 43"/>
          <p:cNvSpPr txBox="1"/>
          <p:nvPr/>
        </p:nvSpPr>
        <p:spPr>
          <a:xfrm>
            <a:off x="822960" y="9376410"/>
            <a:ext cx="16596360" cy="636270"/>
          </a:xfrm>
          <a:prstGeom prst="rect">
            <a:avLst/>
          </a:prstGeom>
        </p:spPr>
        <p:txBody>
          <a:bodyPr lIns="0" tIns="0" rIns="0" bIns="0" rtlCol="0" anchor="t">
            <a:spAutoFit/>
          </a:bodyPr>
          <a:lstStyle/>
          <a:p>
            <a:pPr algn="l">
              <a:lnSpc>
                <a:spcPts val="1709"/>
              </a:lnSpc>
            </a:pPr>
            <a:r>
              <a:rPr lang="en-US" sz="1425">
                <a:solidFill>
                  <a:srgbClr val="52637A"/>
                </a:solidFill>
                <a:latin typeface="Arial"/>
                <a:ea typeface="Arial"/>
                <a:cs typeface="Arial"/>
                <a:sym typeface="Arial"/>
              </a:rPr>
              <a:t>Team pay per founder: $0 → ~$150 → ~$420 a month (half of profit, max $500). With 3% commission the team reaches $500 in Year 3 and $27.0K is kept. After 10% VAT and Cambodian taxes. All inputs to validate in the pilot.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
    <p:bg>
      <p:bgPr>
        <a:solidFill>
          <a:srgbClr val="F8FAFC"/>
        </a:solidFill>
        <a:effectLst/>
      </p:bgPr>
    </p:bg>
    <p:spTree>
      <p:nvGrpSpPr>
        <p:cNvPr id="1" name=""/>
        <p:cNvGrpSpPr/>
        <p:nvPr/>
      </p:nvGrpSpPr>
      <p:grpSpPr>
        <a:xfrm>
          <a:off x="0" y="0"/>
          <a:ext cx="0" cy="0"/>
          <a:chOff x="0" y="0"/>
          <a:chExt cx="0" cy="0"/>
        </a:xfrm>
      </p:grpSpPr>
      <p:sp>
        <p:nvSpPr>
          <p:cNvPr id="2" name="Text 0"/>
          <p:cNvSpPr txBox="1"/>
          <p:nvPr/>
        </p:nvSpPr>
        <p:spPr>
          <a:xfrm>
            <a:off x="822960" y="480060"/>
            <a:ext cx="16637508" cy="960120"/>
          </a:xfrm>
          <a:prstGeom prst="rect">
            <a:avLst/>
          </a:prstGeom>
          <a:noFill/>
          <a:ln/>
        </p:spPr>
        <p:txBody>
          <a:bodyPr wrap="square" lIns="0" tIns="0" rIns="0" bIns="0" rtlCol="0" anchor="ctr"/>
          <a:lstStyle/>
          <a:p>
            <a:pPr marL="0" indent="0" algn="ctr">
              <a:buNone/>
            </a:pPr>
            <a:r>
              <a:rPr lang="en-US" sz="4800" b="1" dirty="0">
                <a:solidFill>
                  <a:srgbClr val="15243A"/>
                </a:solidFill>
                <a:latin typeface="Arial" pitchFamily="34" charset="0"/>
                <a:ea typeface="Arial" pitchFamily="34" charset="-122"/>
                <a:cs typeface="Arial" pitchFamily="34" charset="-120"/>
              </a:rPr>
              <a:t>What merchants told us</a:t>
            </a:r>
            <a:endParaRPr lang="en-US" sz="4800" dirty="0"/>
          </a:p>
        </p:txBody>
      </p:sp>
      <p:sp>
        <p:nvSpPr>
          <p:cNvPr id="3" name="Text 1"/>
          <p:cNvSpPr txBox="1"/>
          <p:nvPr/>
        </p:nvSpPr>
        <p:spPr>
          <a:xfrm>
            <a:off x="5349240" y="1399032"/>
            <a:ext cx="7543800" cy="466344"/>
          </a:xfrm>
          <a:prstGeom prst="roundRect">
            <a:avLst>
              <a:gd name="adj" fmla="val 50000"/>
            </a:avLst>
          </a:prstGeom>
          <a:solidFill>
            <a:srgbClr val="FEF3C7"/>
          </a:solidFill>
          <a:ln w="19050">
            <a:solidFill>
              <a:srgbClr val="F59E0B"/>
            </a:solidFill>
          </a:ln>
        </p:spPr>
        <p:txBody>
          <a:bodyPr wrap="square" lIns="0" tIns="0" rIns="0" bIns="0" rtlCol="0" anchor="ctr"/>
          <a:lstStyle/>
          <a:p>
            <a:pPr marL="0" indent="0" algn="ctr">
              <a:buNone/>
            </a:pPr>
            <a:r>
              <a:rPr lang="en-US" sz="1650" b="1" dirty="0">
                <a:solidFill>
                  <a:srgbClr val="B45309"/>
                </a:solidFill>
                <a:latin typeface="Arial" pitchFamily="34" charset="0"/>
                <a:ea typeface="Arial" pitchFamily="34" charset="-122"/>
                <a:cs typeface="Arial" pitchFamily="34" charset="-120"/>
              </a:rPr>
              <a:t>MOCK QUOTES — replace with real feedback before presenting</a:t>
            </a:r>
            <a:endParaRPr lang="en-US" sz="1650" dirty="0"/>
          </a:p>
        </p:txBody>
      </p:sp>
      <p:sp>
        <p:nvSpPr>
          <p:cNvPr id="4" name="Shape 2"/>
          <p:cNvSpPr/>
          <p:nvPr/>
        </p:nvSpPr>
        <p:spPr>
          <a:xfrm>
            <a:off x="777012" y="2468880"/>
            <a:ext cx="5349240" cy="2948940"/>
          </a:xfrm>
          <a:prstGeom prst="roundRect">
            <a:avLst>
              <a:gd name="adj" fmla="val 8372"/>
            </a:avLst>
          </a:prstGeom>
          <a:solidFill>
            <a:srgbClr val="FFFFFF"/>
          </a:solidFill>
          <a:ln w="19050">
            <a:solidFill>
              <a:srgbClr val="E2E8F0"/>
            </a:solidFill>
            <a:prstDash val="solid"/>
          </a:ln>
          <a:effectLst>
            <a:outerShdw blurRad="152400" dist="57150" dir="5400000" algn="bl" rotWithShape="0">
              <a:srgbClr val="1A2A4A">
                <a:alpha val="12000"/>
              </a:srgbClr>
            </a:outerShdw>
          </a:effectLst>
        </p:spPr>
      </p:sp>
      <p:sp>
        <p:nvSpPr>
          <p:cNvPr id="5" name="Shape 3"/>
          <p:cNvSpPr/>
          <p:nvPr/>
        </p:nvSpPr>
        <p:spPr>
          <a:xfrm>
            <a:off x="1119912" y="2811780"/>
            <a:ext cx="1097280" cy="1097280"/>
          </a:xfrm>
          <a:prstGeom prst="ellipse">
            <a:avLst/>
          </a:prstGeom>
          <a:solidFill>
            <a:srgbClr val="F1F5F9"/>
          </a:solidFill>
          <a:ln w="19050">
            <a:solidFill>
              <a:srgbClr val="E2E8F0"/>
            </a:solidFill>
            <a:prstDash val="solid"/>
          </a:ln>
        </p:spPr>
      </p:sp>
      <p:pic>
        <p:nvPicPr>
          <p:cNvPr id="6" name="Image 0" descr="Eolra"/>
          <p:cNvPicPr>
            <a:picLocks noChangeAspect="1"/>
          </p:cNvPicPr>
          <p:nvPr/>
        </p:nvPicPr>
        <p:blipFill>
          <a:blip r:embed="rId3"/>
          <a:stretch>
            <a:fillRect/>
          </a:stretch>
        </p:blipFill>
        <p:spPr>
          <a:xfrm>
            <a:off x="1174776" y="2866644"/>
            <a:ext cx="987552" cy="987552"/>
          </a:xfrm>
          <a:prstGeom prst="ellipse">
            <a:avLst/>
          </a:prstGeom>
        </p:spPr>
      </p:pic>
      <p:sp>
        <p:nvSpPr>
          <p:cNvPr id="7" name="Text 4"/>
          <p:cNvSpPr txBox="1"/>
          <p:nvPr/>
        </p:nvSpPr>
        <p:spPr>
          <a:xfrm>
            <a:off x="2422932" y="2880360"/>
            <a:ext cx="3429000" cy="480060"/>
          </a:xfrm>
          <a:prstGeom prst="rect">
            <a:avLst/>
          </a:prstGeom>
          <a:noFill/>
          <a:ln/>
        </p:spPr>
        <p:txBody>
          <a:bodyPr wrap="square" lIns="0" tIns="0" rIns="0" bIns="0" rtlCol="0" anchor="ctr"/>
          <a:lstStyle/>
          <a:p>
            <a:pPr marL="0" indent="0" algn="l">
              <a:buNone/>
            </a:pPr>
            <a:r>
              <a:rPr lang="en-US" sz="2250" b="1" dirty="0">
                <a:solidFill>
                  <a:srgbClr val="15243A"/>
                </a:solidFill>
                <a:latin typeface="Arial" pitchFamily="34" charset="0"/>
                <a:ea typeface="Arial" pitchFamily="34" charset="-122"/>
                <a:cs typeface="Arial" pitchFamily="34" charset="-120"/>
              </a:rPr>
              <a:t>Eolra</a:t>
            </a:r>
            <a:endParaRPr lang="en-US" sz="2250" dirty="0"/>
          </a:p>
        </p:txBody>
      </p:sp>
      <p:sp>
        <p:nvSpPr>
          <p:cNvPr id="8" name="Text 5"/>
          <p:cNvSpPr txBox="1"/>
          <p:nvPr/>
        </p:nvSpPr>
        <p:spPr>
          <a:xfrm>
            <a:off x="2422932" y="3360420"/>
            <a:ext cx="3429000" cy="411480"/>
          </a:xfrm>
          <a:prstGeom prst="rect">
            <a:avLst/>
          </a:prstGeom>
          <a:noFill/>
          <a:ln/>
        </p:spPr>
        <p:txBody>
          <a:bodyPr wrap="square" lIns="0" tIns="0" rIns="0" bIns="0" rtlCol="0" anchor="ctr"/>
          <a:lstStyle/>
          <a:p>
            <a:pPr marL="0" indent="0" algn="l">
              <a:buNone/>
            </a:pPr>
            <a:r>
              <a:rPr lang="en-US" sz="1725" dirty="0">
                <a:solidFill>
                  <a:srgbClr val="52637A"/>
                </a:solidFill>
                <a:latin typeface="Arial" pitchFamily="34" charset="0"/>
                <a:ea typeface="Arial" pitchFamily="34" charset="-122"/>
                <a:cs typeface="Arial" pitchFamily="34" charset="-120"/>
              </a:rPr>
              <a:t>Perfume store</a:t>
            </a:r>
            <a:endParaRPr lang="en-US" sz="1725" dirty="0"/>
          </a:p>
        </p:txBody>
      </p:sp>
      <p:sp>
        <p:nvSpPr>
          <p:cNvPr id="9" name="Text 6"/>
          <p:cNvSpPr txBox="1"/>
          <p:nvPr/>
        </p:nvSpPr>
        <p:spPr>
          <a:xfrm>
            <a:off x="4548912" y="2633472"/>
            <a:ext cx="1303020" cy="329184"/>
          </a:xfrm>
          <a:prstGeom prst="roundRect">
            <a:avLst>
              <a:gd name="adj" fmla="val 50000"/>
            </a:avLst>
          </a:prstGeom>
          <a:solidFill>
            <a:srgbClr val="CCFBF1"/>
          </a:solidFill>
          <a:ln/>
        </p:spPr>
        <p:txBody>
          <a:bodyPr wrap="square" lIns="0" tIns="0" rIns="0" bIns="0" rtlCol="0" anchor="ctr"/>
          <a:lstStyle/>
          <a:p>
            <a:pPr marL="0" indent="0" algn="ctr">
              <a:buNone/>
            </a:pPr>
            <a:r>
              <a:rPr lang="en-US" sz="1275" b="1" kern="0" spc="100" dirty="0">
                <a:solidFill>
                  <a:srgbClr val="0AA7A2"/>
                </a:solidFill>
                <a:latin typeface="Arial" pitchFamily="34" charset="0"/>
                <a:ea typeface="Arial" pitchFamily="34" charset="-122"/>
                <a:cs typeface="Arial" pitchFamily="34" charset="-120"/>
              </a:rPr>
              <a:t>MERCHANT</a:t>
            </a:r>
            <a:endParaRPr lang="en-US" sz="1275" dirty="0"/>
          </a:p>
        </p:txBody>
      </p:sp>
      <p:sp>
        <p:nvSpPr>
          <p:cNvPr id="10" name="Text 7"/>
          <p:cNvSpPr txBox="1"/>
          <p:nvPr/>
        </p:nvSpPr>
        <p:spPr>
          <a:xfrm>
            <a:off x="1119912" y="4114800"/>
            <a:ext cx="4663440" cy="1508760"/>
          </a:xfrm>
          <a:prstGeom prst="rect">
            <a:avLst/>
          </a:prstGeom>
          <a:noFill/>
          <a:ln/>
        </p:spPr>
        <p:txBody>
          <a:bodyPr wrap="square" lIns="0" tIns="0" rIns="0" bIns="0" rtlCol="0" anchor="t"/>
          <a:lstStyle/>
          <a:p>
            <a:pPr marL="0" indent="0" algn="l">
              <a:buNone/>
            </a:pPr>
            <a:r>
              <a:rPr lang="en-US" sz="1950" i="1" dirty="0">
                <a:solidFill>
                  <a:srgbClr val="15243A"/>
                </a:solidFill>
                <a:latin typeface="Arial" pitchFamily="34" charset="0"/>
                <a:ea typeface="Arial" pitchFamily="34" charset="-122"/>
                <a:cs typeface="Arial" pitchFamily="34" charset="-120"/>
              </a:rPr>
              <a:t>“I sell on Facebook and in my shop. Keeping stock the same in both is my biggest headache.”</a:t>
            </a:r>
            <a:endParaRPr lang="en-US" sz="1950" dirty="0"/>
          </a:p>
        </p:txBody>
      </p:sp>
      <p:sp>
        <p:nvSpPr>
          <p:cNvPr id="11" name="Shape 8"/>
          <p:cNvSpPr/>
          <p:nvPr/>
        </p:nvSpPr>
        <p:spPr>
          <a:xfrm>
            <a:off x="6469152" y="2468880"/>
            <a:ext cx="5349240" cy="2948940"/>
          </a:xfrm>
          <a:prstGeom prst="roundRect">
            <a:avLst>
              <a:gd name="adj" fmla="val 8372"/>
            </a:avLst>
          </a:prstGeom>
          <a:solidFill>
            <a:srgbClr val="FFFFFF"/>
          </a:solidFill>
          <a:ln w="19050">
            <a:solidFill>
              <a:srgbClr val="E2E8F0"/>
            </a:solidFill>
            <a:prstDash val="solid"/>
          </a:ln>
          <a:effectLst>
            <a:outerShdw blurRad="152400" dist="57150" dir="5400000" algn="bl" rotWithShape="0">
              <a:srgbClr val="1A2A4A">
                <a:alpha val="12000"/>
              </a:srgbClr>
            </a:outerShdw>
          </a:effectLst>
        </p:spPr>
      </p:sp>
      <p:sp>
        <p:nvSpPr>
          <p:cNvPr id="12" name="Shape 9"/>
          <p:cNvSpPr/>
          <p:nvPr/>
        </p:nvSpPr>
        <p:spPr>
          <a:xfrm>
            <a:off x="6812052" y="2811780"/>
            <a:ext cx="1097280" cy="1097280"/>
          </a:xfrm>
          <a:prstGeom prst="ellipse">
            <a:avLst/>
          </a:prstGeom>
          <a:solidFill>
            <a:srgbClr val="F1F5F9"/>
          </a:solidFill>
          <a:ln w="19050">
            <a:solidFill>
              <a:srgbClr val="E2E8F0"/>
            </a:solidFill>
            <a:prstDash val="solid"/>
          </a:ln>
        </p:spPr>
      </p:sp>
      <p:pic>
        <p:nvPicPr>
          <p:cNvPr id="13" name="Image 1" descr="Kour Manith"/>
          <p:cNvPicPr>
            <a:picLocks noChangeAspect="1"/>
          </p:cNvPicPr>
          <p:nvPr/>
        </p:nvPicPr>
        <p:blipFill>
          <a:blip r:embed="rId4"/>
          <a:stretch>
            <a:fillRect/>
          </a:stretch>
        </p:blipFill>
        <p:spPr>
          <a:xfrm>
            <a:off x="6866916" y="2866644"/>
            <a:ext cx="987552" cy="987552"/>
          </a:xfrm>
          <a:prstGeom prst="ellipse">
            <a:avLst/>
          </a:prstGeom>
        </p:spPr>
      </p:pic>
      <p:sp>
        <p:nvSpPr>
          <p:cNvPr id="14" name="Text 10"/>
          <p:cNvSpPr txBox="1"/>
          <p:nvPr/>
        </p:nvSpPr>
        <p:spPr>
          <a:xfrm>
            <a:off x="8115072" y="2880360"/>
            <a:ext cx="3429000" cy="480060"/>
          </a:xfrm>
          <a:prstGeom prst="rect">
            <a:avLst/>
          </a:prstGeom>
          <a:noFill/>
          <a:ln/>
        </p:spPr>
        <p:txBody>
          <a:bodyPr wrap="square" lIns="0" tIns="0" rIns="0" bIns="0" rtlCol="0" anchor="ctr"/>
          <a:lstStyle/>
          <a:p>
            <a:pPr marL="0" indent="0" algn="l">
              <a:buNone/>
            </a:pPr>
            <a:r>
              <a:rPr lang="en-US" sz="2250" b="1" dirty="0">
                <a:solidFill>
                  <a:srgbClr val="15243A"/>
                </a:solidFill>
                <a:latin typeface="Arial" pitchFamily="34" charset="0"/>
                <a:ea typeface="Arial" pitchFamily="34" charset="-122"/>
                <a:cs typeface="Arial" pitchFamily="34" charset="-120"/>
              </a:rPr>
              <a:t>Kour Manith</a:t>
            </a:r>
            <a:endParaRPr lang="en-US" sz="2250" dirty="0"/>
          </a:p>
        </p:txBody>
      </p:sp>
      <p:sp>
        <p:nvSpPr>
          <p:cNvPr id="15" name="Text 11"/>
          <p:cNvSpPr txBox="1"/>
          <p:nvPr/>
        </p:nvSpPr>
        <p:spPr>
          <a:xfrm>
            <a:off x="8115072" y="3360420"/>
            <a:ext cx="3429000" cy="411480"/>
          </a:xfrm>
          <a:prstGeom prst="rect">
            <a:avLst/>
          </a:prstGeom>
          <a:noFill/>
          <a:ln/>
        </p:spPr>
        <p:txBody>
          <a:bodyPr wrap="square" lIns="0" tIns="0" rIns="0" bIns="0" rtlCol="0" anchor="ctr"/>
          <a:lstStyle/>
          <a:p>
            <a:pPr marL="0" indent="0" algn="l">
              <a:buNone/>
            </a:pPr>
            <a:r>
              <a:rPr lang="en-US" sz="1725" dirty="0">
                <a:solidFill>
                  <a:srgbClr val="52637A"/>
                </a:solidFill>
                <a:latin typeface="Arial" pitchFamily="34" charset="0"/>
                <a:ea typeface="Arial" pitchFamily="34" charset="-122"/>
                <a:cs typeface="Arial" pitchFamily="34" charset="-120"/>
              </a:rPr>
              <a:t>Coffee shop &amp; restaurant</a:t>
            </a:r>
            <a:endParaRPr lang="en-US" sz="1725" dirty="0"/>
          </a:p>
        </p:txBody>
      </p:sp>
      <p:sp>
        <p:nvSpPr>
          <p:cNvPr id="16" name="Text 12"/>
          <p:cNvSpPr txBox="1"/>
          <p:nvPr/>
        </p:nvSpPr>
        <p:spPr>
          <a:xfrm>
            <a:off x="10241052" y="2633472"/>
            <a:ext cx="1303020" cy="329184"/>
          </a:xfrm>
          <a:prstGeom prst="roundRect">
            <a:avLst>
              <a:gd name="adj" fmla="val 50000"/>
            </a:avLst>
          </a:prstGeom>
          <a:solidFill>
            <a:srgbClr val="CCFBF1"/>
          </a:solidFill>
          <a:ln/>
        </p:spPr>
        <p:txBody>
          <a:bodyPr wrap="square" lIns="0" tIns="0" rIns="0" bIns="0" rtlCol="0" anchor="ctr"/>
          <a:lstStyle/>
          <a:p>
            <a:pPr marL="0" indent="0" algn="ctr">
              <a:buNone/>
            </a:pPr>
            <a:r>
              <a:rPr lang="en-US" sz="1275" b="1" kern="0" spc="100" dirty="0">
                <a:solidFill>
                  <a:srgbClr val="0AA7A2"/>
                </a:solidFill>
                <a:latin typeface="Arial" pitchFamily="34" charset="0"/>
                <a:ea typeface="Arial" pitchFamily="34" charset="-122"/>
                <a:cs typeface="Arial" pitchFamily="34" charset="-120"/>
              </a:rPr>
              <a:t>MERCHANT</a:t>
            </a:r>
            <a:endParaRPr lang="en-US" sz="1275" dirty="0"/>
          </a:p>
        </p:txBody>
      </p:sp>
      <p:sp>
        <p:nvSpPr>
          <p:cNvPr id="17" name="Text 13"/>
          <p:cNvSpPr txBox="1"/>
          <p:nvPr/>
        </p:nvSpPr>
        <p:spPr>
          <a:xfrm>
            <a:off x="6812052" y="4114800"/>
            <a:ext cx="4663440" cy="1508760"/>
          </a:xfrm>
          <a:prstGeom prst="rect">
            <a:avLst/>
          </a:prstGeom>
          <a:noFill/>
          <a:ln/>
        </p:spPr>
        <p:txBody>
          <a:bodyPr wrap="square" lIns="0" tIns="0" rIns="0" bIns="0" rtlCol="0" anchor="t"/>
          <a:lstStyle/>
          <a:p>
            <a:pPr marL="0" indent="0" algn="l">
              <a:buNone/>
            </a:pPr>
            <a:r>
              <a:rPr lang="en-US" sz="1950" i="1" dirty="0">
                <a:solidFill>
                  <a:srgbClr val="15243A"/>
                </a:solidFill>
                <a:latin typeface="Arial" pitchFamily="34" charset="0"/>
                <a:ea typeface="Arial" pitchFamily="34" charset="-122"/>
                <a:cs typeface="Arial" pitchFamily="34" charset="-120"/>
              </a:rPr>
              <a:t>“A POS that also puts my menu online would save me hours every week.”</a:t>
            </a:r>
            <a:endParaRPr lang="en-US" sz="1950" dirty="0"/>
          </a:p>
        </p:txBody>
      </p:sp>
      <p:sp>
        <p:nvSpPr>
          <p:cNvPr id="18" name="Shape 14"/>
          <p:cNvSpPr/>
          <p:nvPr/>
        </p:nvSpPr>
        <p:spPr>
          <a:xfrm>
            <a:off x="12161292" y="2468880"/>
            <a:ext cx="5349240" cy="2948940"/>
          </a:xfrm>
          <a:prstGeom prst="roundRect">
            <a:avLst>
              <a:gd name="adj" fmla="val 8372"/>
            </a:avLst>
          </a:prstGeom>
          <a:solidFill>
            <a:srgbClr val="FFFFFF"/>
          </a:solidFill>
          <a:ln w="19050">
            <a:solidFill>
              <a:srgbClr val="E2E8F0"/>
            </a:solidFill>
            <a:prstDash val="solid"/>
          </a:ln>
          <a:effectLst>
            <a:outerShdw blurRad="152400" dist="57150" dir="5400000" algn="bl" rotWithShape="0">
              <a:srgbClr val="1A2A4A">
                <a:alpha val="12000"/>
              </a:srgbClr>
            </a:outerShdw>
          </a:effectLst>
        </p:spPr>
      </p:sp>
      <p:sp>
        <p:nvSpPr>
          <p:cNvPr id="19" name="Shape 15"/>
          <p:cNvSpPr/>
          <p:nvPr/>
        </p:nvSpPr>
        <p:spPr>
          <a:xfrm>
            <a:off x="12504192" y="2811780"/>
            <a:ext cx="1097280" cy="1097280"/>
          </a:xfrm>
          <a:prstGeom prst="ellipse">
            <a:avLst/>
          </a:prstGeom>
          <a:solidFill>
            <a:srgbClr val="F1F5F9"/>
          </a:solidFill>
          <a:ln w="19050">
            <a:solidFill>
              <a:srgbClr val="E2E8F0"/>
            </a:solidFill>
            <a:prstDash val="solid"/>
          </a:ln>
        </p:spPr>
      </p:sp>
      <p:pic>
        <p:nvPicPr>
          <p:cNvPr id="20" name="Image 2" descr="Apsara Fairy"/>
          <p:cNvPicPr>
            <a:picLocks noChangeAspect="1"/>
          </p:cNvPicPr>
          <p:nvPr/>
        </p:nvPicPr>
        <p:blipFill>
          <a:blip r:embed="rId5"/>
          <a:stretch>
            <a:fillRect/>
          </a:stretch>
        </p:blipFill>
        <p:spPr>
          <a:xfrm>
            <a:off x="12559056" y="2866644"/>
            <a:ext cx="987552" cy="987552"/>
          </a:xfrm>
          <a:prstGeom prst="ellipse">
            <a:avLst/>
          </a:prstGeom>
        </p:spPr>
      </p:pic>
      <p:sp>
        <p:nvSpPr>
          <p:cNvPr id="21" name="Text 16"/>
          <p:cNvSpPr txBox="1"/>
          <p:nvPr/>
        </p:nvSpPr>
        <p:spPr>
          <a:xfrm>
            <a:off x="13807212" y="2880360"/>
            <a:ext cx="3429000" cy="480060"/>
          </a:xfrm>
          <a:prstGeom prst="rect">
            <a:avLst/>
          </a:prstGeom>
          <a:noFill/>
          <a:ln/>
        </p:spPr>
        <p:txBody>
          <a:bodyPr wrap="square" lIns="0" tIns="0" rIns="0" bIns="0" rtlCol="0" anchor="ctr"/>
          <a:lstStyle/>
          <a:p>
            <a:pPr marL="0" indent="0" algn="l">
              <a:buNone/>
            </a:pPr>
            <a:r>
              <a:rPr lang="en-US" sz="2250" b="1" dirty="0">
                <a:solidFill>
                  <a:srgbClr val="15243A"/>
                </a:solidFill>
                <a:latin typeface="Arial" pitchFamily="34" charset="0"/>
                <a:ea typeface="Arial" pitchFamily="34" charset="-122"/>
                <a:cs typeface="Arial" pitchFamily="34" charset="-120"/>
              </a:rPr>
              <a:t>Apsara Fairy</a:t>
            </a:r>
            <a:endParaRPr lang="en-US" sz="2250" dirty="0"/>
          </a:p>
        </p:txBody>
      </p:sp>
      <p:sp>
        <p:nvSpPr>
          <p:cNvPr id="22" name="Text 17"/>
          <p:cNvSpPr txBox="1"/>
          <p:nvPr/>
        </p:nvSpPr>
        <p:spPr>
          <a:xfrm>
            <a:off x="13807212" y="3360420"/>
            <a:ext cx="3429000" cy="411480"/>
          </a:xfrm>
          <a:prstGeom prst="rect">
            <a:avLst/>
          </a:prstGeom>
          <a:noFill/>
          <a:ln/>
        </p:spPr>
        <p:txBody>
          <a:bodyPr wrap="square" lIns="0" tIns="0" rIns="0" bIns="0" rtlCol="0" anchor="ctr"/>
          <a:lstStyle/>
          <a:p>
            <a:pPr marL="0" indent="0" algn="l">
              <a:buNone/>
            </a:pPr>
            <a:r>
              <a:rPr lang="en-US" sz="1725" dirty="0">
                <a:solidFill>
                  <a:srgbClr val="52637A"/>
                </a:solidFill>
                <a:latin typeface="Arial" pitchFamily="34" charset="0"/>
                <a:ea typeface="Arial" pitchFamily="34" charset="-122"/>
                <a:cs typeface="Arial" pitchFamily="34" charset="-120"/>
              </a:rPr>
              <a:t>Restaurant &amp; coffee</a:t>
            </a:r>
            <a:endParaRPr lang="en-US" sz="1725" dirty="0"/>
          </a:p>
        </p:txBody>
      </p:sp>
      <p:sp>
        <p:nvSpPr>
          <p:cNvPr id="23" name="Text 18"/>
          <p:cNvSpPr txBox="1"/>
          <p:nvPr/>
        </p:nvSpPr>
        <p:spPr>
          <a:xfrm>
            <a:off x="15933192" y="2633472"/>
            <a:ext cx="1303020" cy="329184"/>
          </a:xfrm>
          <a:prstGeom prst="roundRect">
            <a:avLst>
              <a:gd name="adj" fmla="val 50000"/>
            </a:avLst>
          </a:prstGeom>
          <a:solidFill>
            <a:srgbClr val="CCFBF1"/>
          </a:solidFill>
          <a:ln/>
        </p:spPr>
        <p:txBody>
          <a:bodyPr wrap="square" lIns="0" tIns="0" rIns="0" bIns="0" rtlCol="0" anchor="ctr"/>
          <a:lstStyle/>
          <a:p>
            <a:pPr marL="0" indent="0" algn="ctr">
              <a:buNone/>
            </a:pPr>
            <a:r>
              <a:rPr lang="en-US" sz="1275" b="1" kern="0" spc="100" dirty="0">
                <a:solidFill>
                  <a:srgbClr val="0AA7A2"/>
                </a:solidFill>
                <a:latin typeface="Arial" pitchFamily="34" charset="0"/>
                <a:ea typeface="Arial" pitchFamily="34" charset="-122"/>
                <a:cs typeface="Arial" pitchFamily="34" charset="-120"/>
              </a:rPr>
              <a:t>MERCHANT</a:t>
            </a:r>
            <a:endParaRPr lang="en-US" sz="1275" dirty="0"/>
          </a:p>
        </p:txBody>
      </p:sp>
      <p:sp>
        <p:nvSpPr>
          <p:cNvPr id="24" name="Text 19"/>
          <p:cNvSpPr txBox="1"/>
          <p:nvPr/>
        </p:nvSpPr>
        <p:spPr>
          <a:xfrm>
            <a:off x="12504192" y="4114800"/>
            <a:ext cx="4663440" cy="1508760"/>
          </a:xfrm>
          <a:prstGeom prst="rect">
            <a:avLst/>
          </a:prstGeom>
          <a:noFill/>
          <a:ln/>
        </p:spPr>
        <p:txBody>
          <a:bodyPr wrap="square" lIns="0" tIns="0" rIns="0" bIns="0" rtlCol="0" anchor="t"/>
          <a:lstStyle/>
          <a:p>
            <a:pPr marL="0" indent="0" algn="l">
              <a:buNone/>
            </a:pPr>
            <a:r>
              <a:rPr lang="en-US" sz="1950" i="1" dirty="0">
                <a:solidFill>
                  <a:srgbClr val="15243A"/>
                </a:solidFill>
                <a:latin typeface="Arial" pitchFamily="34" charset="0"/>
                <a:ea typeface="Arial" pitchFamily="34" charset="-122"/>
                <a:cs typeface="Arial" pitchFamily="34" charset="-120"/>
              </a:rPr>
              <a:t>“If it is free to start, I would try the marketplace this month.”</a:t>
            </a:r>
            <a:endParaRPr lang="en-US" sz="1950" dirty="0"/>
          </a:p>
        </p:txBody>
      </p:sp>
      <p:sp>
        <p:nvSpPr>
          <p:cNvPr id="25" name="Shape 20"/>
          <p:cNvSpPr/>
          <p:nvPr/>
        </p:nvSpPr>
        <p:spPr>
          <a:xfrm>
            <a:off x="3623082" y="5829300"/>
            <a:ext cx="5349240" cy="2948940"/>
          </a:xfrm>
          <a:prstGeom prst="roundRect">
            <a:avLst>
              <a:gd name="adj" fmla="val 8372"/>
            </a:avLst>
          </a:prstGeom>
          <a:solidFill>
            <a:srgbClr val="FFFFFF"/>
          </a:solidFill>
          <a:ln w="19050">
            <a:solidFill>
              <a:srgbClr val="E2E8F0"/>
            </a:solidFill>
            <a:prstDash val="solid"/>
          </a:ln>
          <a:effectLst>
            <a:outerShdw blurRad="152400" dist="57150" dir="5400000" algn="bl" rotWithShape="0">
              <a:srgbClr val="1A2A4A">
                <a:alpha val="12000"/>
              </a:srgbClr>
            </a:outerShdw>
          </a:effectLst>
        </p:spPr>
      </p:sp>
      <p:sp>
        <p:nvSpPr>
          <p:cNvPr id="26" name="Shape 21"/>
          <p:cNvSpPr/>
          <p:nvPr/>
        </p:nvSpPr>
        <p:spPr>
          <a:xfrm>
            <a:off x="3965982" y="6172200"/>
            <a:ext cx="1097280" cy="1097280"/>
          </a:xfrm>
          <a:prstGeom prst="ellipse">
            <a:avLst/>
          </a:prstGeom>
          <a:solidFill>
            <a:srgbClr val="F1F5F9"/>
          </a:solidFill>
          <a:ln w="19050">
            <a:solidFill>
              <a:srgbClr val="E2E8F0"/>
            </a:solidFill>
            <a:prstDash val="solid"/>
          </a:ln>
        </p:spPr>
      </p:sp>
      <p:pic>
        <p:nvPicPr>
          <p:cNvPr id="27" name="Image 3" descr="Hyper-Tech Store"/>
          <p:cNvPicPr>
            <a:picLocks noChangeAspect="1"/>
          </p:cNvPicPr>
          <p:nvPr/>
        </p:nvPicPr>
        <p:blipFill>
          <a:blip r:embed="rId6"/>
          <a:stretch>
            <a:fillRect/>
          </a:stretch>
        </p:blipFill>
        <p:spPr>
          <a:xfrm>
            <a:off x="4020846" y="6227064"/>
            <a:ext cx="987552" cy="987552"/>
          </a:xfrm>
          <a:prstGeom prst="ellipse">
            <a:avLst/>
          </a:prstGeom>
        </p:spPr>
      </p:pic>
      <p:sp>
        <p:nvSpPr>
          <p:cNvPr id="28" name="Text 22"/>
          <p:cNvSpPr txBox="1"/>
          <p:nvPr/>
        </p:nvSpPr>
        <p:spPr>
          <a:xfrm>
            <a:off x="5269002" y="6240780"/>
            <a:ext cx="3429000" cy="480060"/>
          </a:xfrm>
          <a:prstGeom prst="rect">
            <a:avLst/>
          </a:prstGeom>
          <a:noFill/>
          <a:ln/>
        </p:spPr>
        <p:txBody>
          <a:bodyPr wrap="square" lIns="0" tIns="0" rIns="0" bIns="0" rtlCol="0" anchor="ctr"/>
          <a:lstStyle/>
          <a:p>
            <a:pPr marL="0" indent="0" algn="l">
              <a:buNone/>
            </a:pPr>
            <a:r>
              <a:rPr lang="en-US" sz="2250" b="1" dirty="0">
                <a:solidFill>
                  <a:srgbClr val="15243A"/>
                </a:solidFill>
                <a:latin typeface="Arial" pitchFamily="34" charset="0"/>
                <a:ea typeface="Arial" pitchFamily="34" charset="-122"/>
                <a:cs typeface="Arial" pitchFamily="34" charset="-120"/>
              </a:rPr>
              <a:t>Hyper-Tech Store</a:t>
            </a:r>
            <a:endParaRPr lang="en-US" sz="2250" dirty="0"/>
          </a:p>
        </p:txBody>
      </p:sp>
      <p:sp>
        <p:nvSpPr>
          <p:cNvPr id="29" name="Text 23"/>
          <p:cNvSpPr txBox="1"/>
          <p:nvPr/>
        </p:nvSpPr>
        <p:spPr>
          <a:xfrm>
            <a:off x="5269002" y="6720840"/>
            <a:ext cx="3429000" cy="411480"/>
          </a:xfrm>
          <a:prstGeom prst="rect">
            <a:avLst/>
          </a:prstGeom>
          <a:noFill/>
          <a:ln/>
        </p:spPr>
        <p:txBody>
          <a:bodyPr wrap="square" lIns="0" tIns="0" rIns="0" bIns="0" rtlCol="0" anchor="ctr"/>
          <a:lstStyle/>
          <a:p>
            <a:pPr marL="0" indent="0" algn="l">
              <a:buNone/>
            </a:pPr>
            <a:r>
              <a:rPr lang="en-US" sz="1725" dirty="0">
                <a:solidFill>
                  <a:srgbClr val="52637A"/>
                </a:solidFill>
                <a:latin typeface="Arial" pitchFamily="34" charset="0"/>
                <a:ea typeface="Arial" pitchFamily="34" charset="-122"/>
                <a:cs typeface="Arial" pitchFamily="34" charset="-120"/>
              </a:rPr>
              <a:t>Electronics store</a:t>
            </a:r>
            <a:endParaRPr lang="en-US" sz="1725" dirty="0"/>
          </a:p>
        </p:txBody>
      </p:sp>
      <p:sp>
        <p:nvSpPr>
          <p:cNvPr id="30" name="Text 24"/>
          <p:cNvSpPr txBox="1"/>
          <p:nvPr/>
        </p:nvSpPr>
        <p:spPr>
          <a:xfrm>
            <a:off x="7394982" y="5993892"/>
            <a:ext cx="1303020" cy="329184"/>
          </a:xfrm>
          <a:prstGeom prst="roundRect">
            <a:avLst>
              <a:gd name="adj" fmla="val 50000"/>
            </a:avLst>
          </a:prstGeom>
          <a:solidFill>
            <a:srgbClr val="CCFBF1"/>
          </a:solidFill>
          <a:ln/>
        </p:spPr>
        <p:txBody>
          <a:bodyPr wrap="square" lIns="0" tIns="0" rIns="0" bIns="0" rtlCol="0" anchor="ctr"/>
          <a:lstStyle/>
          <a:p>
            <a:pPr marL="0" indent="0" algn="ctr">
              <a:buNone/>
            </a:pPr>
            <a:r>
              <a:rPr lang="en-US" sz="1275" b="1" kern="0" spc="100" dirty="0">
                <a:solidFill>
                  <a:srgbClr val="0AA7A2"/>
                </a:solidFill>
                <a:latin typeface="Arial" pitchFamily="34" charset="0"/>
                <a:ea typeface="Arial" pitchFamily="34" charset="-122"/>
                <a:cs typeface="Arial" pitchFamily="34" charset="-120"/>
              </a:rPr>
              <a:t>MERCHANT</a:t>
            </a:r>
            <a:endParaRPr lang="en-US" sz="1275" dirty="0"/>
          </a:p>
        </p:txBody>
      </p:sp>
      <p:sp>
        <p:nvSpPr>
          <p:cNvPr id="31" name="Text 25"/>
          <p:cNvSpPr txBox="1"/>
          <p:nvPr/>
        </p:nvSpPr>
        <p:spPr>
          <a:xfrm>
            <a:off x="3965982" y="7475220"/>
            <a:ext cx="4663440" cy="1508760"/>
          </a:xfrm>
          <a:prstGeom prst="rect">
            <a:avLst/>
          </a:prstGeom>
          <a:noFill/>
          <a:ln/>
        </p:spPr>
        <p:txBody>
          <a:bodyPr wrap="square" lIns="0" tIns="0" rIns="0" bIns="0" rtlCol="0" anchor="t"/>
          <a:lstStyle/>
          <a:p>
            <a:pPr marL="0" indent="0" algn="l">
              <a:buNone/>
            </a:pPr>
            <a:r>
              <a:rPr lang="en-US" sz="1950" i="1" dirty="0">
                <a:solidFill>
                  <a:srgbClr val="15243A"/>
                </a:solidFill>
                <a:latin typeface="Arial" pitchFamily="34" charset="0"/>
                <a:ea typeface="Arial" pitchFamily="34" charset="-122"/>
                <a:cs typeface="Arial" pitchFamily="34" charset="-120"/>
              </a:rPr>
              <a:t>“Customers ask on Telegram if items are in stock. I have to check by hand.”</a:t>
            </a:r>
            <a:endParaRPr lang="en-US" sz="1950" dirty="0"/>
          </a:p>
        </p:txBody>
      </p:sp>
      <p:sp>
        <p:nvSpPr>
          <p:cNvPr id="32" name="Shape 26"/>
          <p:cNvSpPr/>
          <p:nvPr/>
        </p:nvSpPr>
        <p:spPr>
          <a:xfrm>
            <a:off x="9315222" y="5829300"/>
            <a:ext cx="5349240" cy="2948940"/>
          </a:xfrm>
          <a:prstGeom prst="roundRect">
            <a:avLst>
              <a:gd name="adj" fmla="val 8372"/>
            </a:avLst>
          </a:prstGeom>
          <a:solidFill>
            <a:srgbClr val="FFFFFF"/>
          </a:solidFill>
          <a:ln w="19050">
            <a:solidFill>
              <a:srgbClr val="E2E8F0"/>
            </a:solidFill>
            <a:prstDash val="solid"/>
          </a:ln>
          <a:effectLst>
            <a:outerShdw blurRad="152400" dist="57150" dir="5400000" algn="bl" rotWithShape="0">
              <a:srgbClr val="1A2A4A">
                <a:alpha val="12000"/>
              </a:srgbClr>
            </a:outerShdw>
          </a:effectLst>
        </p:spPr>
      </p:sp>
      <p:sp>
        <p:nvSpPr>
          <p:cNvPr id="33" name="Shape 27"/>
          <p:cNvSpPr/>
          <p:nvPr/>
        </p:nvSpPr>
        <p:spPr>
          <a:xfrm>
            <a:off x="9658122" y="6172200"/>
            <a:ext cx="1097280" cy="1097280"/>
          </a:xfrm>
          <a:prstGeom prst="ellipse">
            <a:avLst/>
          </a:prstGeom>
          <a:solidFill>
            <a:srgbClr val="F1F5F9"/>
          </a:solidFill>
          <a:ln w="19050">
            <a:solidFill>
              <a:srgbClr val="E2E8F0"/>
            </a:solidFill>
            <a:prstDash val="solid"/>
          </a:ln>
        </p:spPr>
      </p:sp>
      <p:pic>
        <p:nvPicPr>
          <p:cNvPr id="34" name="Image 4" descr="Dr. Po Sovinda"/>
          <p:cNvPicPr>
            <a:picLocks noChangeAspect="1"/>
          </p:cNvPicPr>
          <p:nvPr/>
        </p:nvPicPr>
        <p:blipFill>
          <a:blip r:embed="rId7"/>
          <a:stretch>
            <a:fillRect/>
          </a:stretch>
        </p:blipFill>
        <p:spPr>
          <a:xfrm>
            <a:off x="9712986" y="6227064"/>
            <a:ext cx="987552" cy="987552"/>
          </a:xfrm>
          <a:prstGeom prst="ellipse">
            <a:avLst/>
          </a:prstGeom>
        </p:spPr>
      </p:pic>
      <p:sp>
        <p:nvSpPr>
          <p:cNvPr id="35" name="Text 28"/>
          <p:cNvSpPr txBox="1"/>
          <p:nvPr/>
        </p:nvSpPr>
        <p:spPr>
          <a:xfrm>
            <a:off x="10961142" y="6240780"/>
            <a:ext cx="3429000" cy="480060"/>
          </a:xfrm>
          <a:prstGeom prst="rect">
            <a:avLst/>
          </a:prstGeom>
          <a:noFill/>
          <a:ln/>
        </p:spPr>
        <p:txBody>
          <a:bodyPr wrap="square" lIns="0" tIns="0" rIns="0" bIns="0" rtlCol="0" anchor="ctr"/>
          <a:lstStyle/>
          <a:p>
            <a:pPr marL="0" indent="0" algn="l">
              <a:buNone/>
            </a:pPr>
            <a:r>
              <a:rPr lang="en-US" sz="2250" b="1" dirty="0">
                <a:solidFill>
                  <a:srgbClr val="15243A"/>
                </a:solidFill>
                <a:latin typeface="Arial" pitchFamily="34" charset="0"/>
                <a:ea typeface="Arial" pitchFamily="34" charset="-122"/>
                <a:cs typeface="Arial" pitchFamily="34" charset="-120"/>
              </a:rPr>
              <a:t>Dr. Po Sovinda</a:t>
            </a:r>
            <a:endParaRPr lang="en-US" sz="2250" dirty="0"/>
          </a:p>
        </p:txBody>
      </p:sp>
      <p:sp>
        <p:nvSpPr>
          <p:cNvPr id="36" name="Text 29"/>
          <p:cNvSpPr txBox="1"/>
          <p:nvPr/>
        </p:nvSpPr>
        <p:spPr>
          <a:xfrm>
            <a:off x="10961142" y="6720840"/>
            <a:ext cx="3429000" cy="411480"/>
          </a:xfrm>
          <a:prstGeom prst="rect">
            <a:avLst/>
          </a:prstGeom>
          <a:noFill/>
          <a:ln/>
        </p:spPr>
        <p:txBody>
          <a:bodyPr wrap="square" lIns="0" tIns="0" rIns="0" bIns="0" rtlCol="0" anchor="ctr"/>
          <a:lstStyle/>
          <a:p>
            <a:pPr marL="0" indent="0" algn="l">
              <a:buNone/>
            </a:pPr>
            <a:r>
              <a:rPr lang="en-US" sz="1725" dirty="0">
                <a:solidFill>
                  <a:srgbClr val="52637A"/>
                </a:solidFill>
                <a:latin typeface="Arial" pitchFamily="34" charset="0"/>
                <a:ea typeface="Arial" pitchFamily="34" charset="-122"/>
                <a:cs typeface="Arial" pitchFamily="34" charset="-120"/>
              </a:rPr>
              <a:t>Senior Lecturer, Strategy</a:t>
            </a:r>
            <a:endParaRPr lang="en-US" sz="1725" dirty="0"/>
          </a:p>
        </p:txBody>
      </p:sp>
      <p:sp>
        <p:nvSpPr>
          <p:cNvPr id="37" name="Text 30"/>
          <p:cNvSpPr txBox="1"/>
          <p:nvPr/>
        </p:nvSpPr>
        <p:spPr>
          <a:xfrm>
            <a:off x="13087122" y="5993892"/>
            <a:ext cx="1303020" cy="329184"/>
          </a:xfrm>
          <a:prstGeom prst="roundRect">
            <a:avLst>
              <a:gd name="adj" fmla="val 50000"/>
            </a:avLst>
          </a:prstGeom>
          <a:solidFill>
            <a:srgbClr val="EDE9FE"/>
          </a:solidFill>
          <a:ln/>
        </p:spPr>
        <p:txBody>
          <a:bodyPr wrap="square" lIns="0" tIns="0" rIns="0" bIns="0" rtlCol="0" anchor="ctr"/>
          <a:lstStyle/>
          <a:p>
            <a:pPr marL="0" indent="0" algn="ctr">
              <a:buNone/>
            </a:pPr>
            <a:r>
              <a:rPr lang="en-US" sz="1275" b="1" kern="0" spc="100" dirty="0">
                <a:solidFill>
                  <a:srgbClr val="6D28D9"/>
                </a:solidFill>
                <a:latin typeface="Arial" pitchFamily="34" charset="0"/>
                <a:ea typeface="Arial" pitchFamily="34" charset="-122"/>
                <a:cs typeface="Arial" pitchFamily="34" charset="-120"/>
              </a:rPr>
              <a:t>ADVISOR</a:t>
            </a:r>
            <a:endParaRPr lang="en-US" sz="1275" dirty="0"/>
          </a:p>
        </p:txBody>
      </p:sp>
      <p:sp>
        <p:nvSpPr>
          <p:cNvPr id="38" name="Text 31"/>
          <p:cNvSpPr txBox="1"/>
          <p:nvPr/>
        </p:nvSpPr>
        <p:spPr>
          <a:xfrm>
            <a:off x="9658122" y="7475220"/>
            <a:ext cx="4663440" cy="1508760"/>
          </a:xfrm>
          <a:prstGeom prst="rect">
            <a:avLst/>
          </a:prstGeom>
          <a:noFill/>
          <a:ln/>
        </p:spPr>
        <p:txBody>
          <a:bodyPr wrap="square" lIns="0" tIns="0" rIns="0" bIns="0" rtlCol="0" anchor="t"/>
          <a:lstStyle/>
          <a:p>
            <a:pPr marL="0" indent="0" algn="l">
              <a:buNone/>
            </a:pPr>
            <a:r>
              <a:rPr lang="en-US" sz="1950" i="1" dirty="0">
                <a:solidFill>
                  <a:srgbClr val="15243A"/>
                </a:solidFill>
                <a:latin typeface="Arial" pitchFamily="34" charset="0"/>
                <a:ea typeface="Arial" pitchFamily="34" charset="-122"/>
                <a:cs typeface="Arial" pitchFamily="34" charset="-120"/>
              </a:rPr>
              <a:t>“Prove it with a small pilot first. Measure stock accuracy and repeat use.”</a:t>
            </a:r>
            <a:endParaRPr lang="en-US" sz="1950" dirty="0"/>
          </a:p>
        </p:txBody>
      </p:sp>
      <p:sp>
        <p:nvSpPr>
          <p:cNvPr id="39" name="Text 32"/>
          <p:cNvSpPr txBox="1"/>
          <p:nvPr/>
        </p:nvSpPr>
        <p:spPr>
          <a:xfrm>
            <a:off x="822960" y="9532620"/>
            <a:ext cx="16596360" cy="411480"/>
          </a:xfrm>
          <a:prstGeom prst="rect">
            <a:avLst/>
          </a:prstGeom>
          <a:noFill/>
          <a:ln/>
        </p:spPr>
        <p:txBody>
          <a:bodyPr wrap="square" lIns="0" tIns="0" rIns="0" bIns="0" rtlCol="0" anchor="ctr"/>
          <a:lstStyle/>
          <a:p>
            <a:pPr marL="0" indent="0" algn="l">
              <a:buNone/>
            </a:pPr>
            <a:r>
              <a:rPr lang="en-US" sz="1500" dirty="0">
                <a:solidFill>
                  <a:srgbClr val="B45309"/>
                </a:solidFill>
                <a:latin typeface="Arial" pitchFamily="34" charset="0"/>
                <a:ea typeface="Arial" pitchFamily="34" charset="-122"/>
                <a:cs typeface="Arial" pitchFamily="34" charset="-120"/>
              </a:rPr>
              <a:t>Mock quotes for layout only. Replace with each validator’s real words and confirm permission to show names and logos.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11D35"/>
        </a:solidFill>
        <a:effectLst/>
      </p:bgPr>
    </p:bg>
    <p:spTree>
      <p:nvGrpSpPr>
        <p:cNvPr id="1" name=""/>
        <p:cNvGrpSpPr/>
        <p:nvPr/>
      </p:nvGrpSpPr>
      <p:grpSpPr>
        <a:xfrm>
          <a:off x="0" y="0"/>
          <a:ext cx="0" cy="0"/>
          <a:chOff x="0" y="0"/>
          <a:chExt cx="0" cy="0"/>
        </a:xfrm>
      </p:grpSpPr>
      <p:grpSp>
        <p:nvGrpSpPr>
          <p:cNvPr id="2" name="Group 2"/>
          <p:cNvGrpSpPr/>
          <p:nvPr/>
        </p:nvGrpSpPr>
        <p:grpSpPr>
          <a:xfrm>
            <a:off x="822960" y="480060"/>
            <a:ext cx="16637508" cy="960120"/>
            <a:chOff x="0" y="0"/>
            <a:chExt cx="22183344" cy="1280160"/>
          </a:xfrm>
        </p:grpSpPr>
        <p:sp>
          <p:nvSpPr>
            <p:cNvPr id="3" name="Freeform 3"/>
            <p:cNvSpPr/>
            <p:nvPr/>
          </p:nvSpPr>
          <p:spPr>
            <a:xfrm>
              <a:off x="0" y="0"/>
              <a:ext cx="22183344" cy="1280160"/>
            </a:xfrm>
            <a:custGeom>
              <a:avLst/>
              <a:gdLst/>
              <a:ahLst/>
              <a:cxnLst/>
              <a:rect l="l" t="t" r="r" b="b"/>
              <a:pathLst>
                <a:path w="22183344" h="1280160">
                  <a:moveTo>
                    <a:pt x="0" y="0"/>
                  </a:moveTo>
                  <a:lnTo>
                    <a:pt x="22183344" y="0"/>
                  </a:lnTo>
                  <a:lnTo>
                    <a:pt x="22183344" y="1280160"/>
                  </a:lnTo>
                  <a:lnTo>
                    <a:pt x="0" y="1280160"/>
                  </a:lnTo>
                  <a:close/>
                </a:path>
              </a:pathLst>
            </a:custGeom>
            <a:blipFill>
              <a:blip r:embed="rId3">
                <a:alphaModFix amt="0"/>
              </a:blip>
              <a:stretch>
                <a:fillRect t="-287647" b="-287647"/>
              </a:stretch>
            </a:blipFill>
          </p:spPr>
        </p:sp>
        <p:sp>
          <p:nvSpPr>
            <p:cNvPr id="4" name="TextBox 4"/>
            <p:cNvSpPr txBox="1"/>
            <p:nvPr/>
          </p:nvSpPr>
          <p:spPr>
            <a:xfrm>
              <a:off x="0" y="-19050"/>
              <a:ext cx="22183344" cy="1299210"/>
            </a:xfrm>
            <a:prstGeom prst="rect">
              <a:avLst/>
            </a:prstGeom>
          </p:spPr>
          <p:txBody>
            <a:bodyPr lIns="0" tIns="0" rIns="0" bIns="0" rtlCol="0" anchor="ctr"/>
            <a:lstStyle/>
            <a:p>
              <a:pPr algn="ctr">
                <a:lnSpc>
                  <a:spcPts val="5759"/>
                </a:lnSpc>
              </a:pPr>
              <a:r>
                <a:rPr lang="en-US" sz="4800" b="1">
                  <a:solidFill>
                    <a:srgbClr val="FFFFFF"/>
                  </a:solidFill>
                  <a:latin typeface="Arial Bold"/>
                  <a:ea typeface="Arial Bold"/>
                  <a:cs typeface="Arial Bold"/>
                  <a:sym typeface="Arial Bold"/>
                </a:rPr>
                <a:t>The team behind Rentify</a:t>
              </a:r>
            </a:p>
          </p:txBody>
        </p:sp>
      </p:grpSp>
      <p:grpSp>
        <p:nvGrpSpPr>
          <p:cNvPr id="5" name="Group 5"/>
          <p:cNvGrpSpPr/>
          <p:nvPr/>
        </p:nvGrpSpPr>
        <p:grpSpPr>
          <a:xfrm>
            <a:off x="818159" y="1783080"/>
            <a:ext cx="3154680" cy="4046220"/>
            <a:chOff x="0" y="0"/>
            <a:chExt cx="4206240" cy="5394960"/>
          </a:xfrm>
        </p:grpSpPr>
        <p:sp>
          <p:nvSpPr>
            <p:cNvPr id="6" name="Freeform 6"/>
            <p:cNvSpPr/>
            <p:nvPr/>
          </p:nvSpPr>
          <p:spPr>
            <a:xfrm>
              <a:off x="0" y="0"/>
              <a:ext cx="4206240" cy="5394960"/>
            </a:xfrm>
            <a:custGeom>
              <a:avLst/>
              <a:gdLst/>
              <a:ahLst/>
              <a:cxnLst/>
              <a:rect l="l" t="t" r="r" b="b"/>
              <a:pathLst>
                <a:path w="4206240" h="5394960">
                  <a:moveTo>
                    <a:pt x="0" y="329184"/>
                  </a:moveTo>
                  <a:cubicBezTo>
                    <a:pt x="0" y="147320"/>
                    <a:pt x="147320" y="0"/>
                    <a:pt x="329184" y="0"/>
                  </a:cubicBezTo>
                  <a:lnTo>
                    <a:pt x="3877056" y="0"/>
                  </a:lnTo>
                  <a:cubicBezTo>
                    <a:pt x="4058920" y="0"/>
                    <a:pt x="4206240" y="147320"/>
                    <a:pt x="4206240" y="329184"/>
                  </a:cubicBezTo>
                  <a:lnTo>
                    <a:pt x="4206240" y="5065776"/>
                  </a:lnTo>
                  <a:cubicBezTo>
                    <a:pt x="4206240" y="5247640"/>
                    <a:pt x="4058920" y="5394960"/>
                    <a:pt x="3877056" y="5394960"/>
                  </a:cubicBezTo>
                  <a:lnTo>
                    <a:pt x="329184" y="5394960"/>
                  </a:lnTo>
                  <a:cubicBezTo>
                    <a:pt x="147320" y="5394960"/>
                    <a:pt x="0" y="5247640"/>
                    <a:pt x="0" y="5065776"/>
                  </a:cubicBezTo>
                  <a:close/>
                </a:path>
              </a:pathLst>
            </a:custGeom>
            <a:solidFill>
              <a:srgbClr val="1A2A4A"/>
            </a:solidFill>
          </p:spPr>
        </p:sp>
      </p:grpSp>
      <p:grpSp>
        <p:nvGrpSpPr>
          <p:cNvPr id="7" name="Group 7"/>
          <p:cNvGrpSpPr/>
          <p:nvPr/>
        </p:nvGrpSpPr>
        <p:grpSpPr>
          <a:xfrm>
            <a:off x="1407947" y="2084832"/>
            <a:ext cx="1975104" cy="1975104"/>
            <a:chOff x="0" y="0"/>
            <a:chExt cx="2633472" cy="2633472"/>
          </a:xfrm>
        </p:grpSpPr>
        <p:sp>
          <p:nvSpPr>
            <p:cNvPr id="8" name="Freeform 8"/>
            <p:cNvSpPr/>
            <p:nvPr/>
          </p:nvSpPr>
          <p:spPr>
            <a:xfrm>
              <a:off x="0" y="0"/>
              <a:ext cx="2633472" cy="2633472"/>
            </a:xfrm>
            <a:custGeom>
              <a:avLst/>
              <a:gdLst/>
              <a:ahLst/>
              <a:cxnLst/>
              <a:rect l="l" t="t" r="r" b="b"/>
              <a:pathLst>
                <a:path w="2633472" h="2633472">
                  <a:moveTo>
                    <a:pt x="0" y="1316736"/>
                  </a:moveTo>
                  <a:cubicBezTo>
                    <a:pt x="0" y="589534"/>
                    <a:pt x="589534" y="0"/>
                    <a:pt x="1316736" y="0"/>
                  </a:cubicBezTo>
                  <a:cubicBezTo>
                    <a:pt x="2043938" y="0"/>
                    <a:pt x="2633472" y="589534"/>
                    <a:pt x="2633472" y="1316736"/>
                  </a:cubicBezTo>
                  <a:cubicBezTo>
                    <a:pt x="2633472" y="2043938"/>
                    <a:pt x="2043938" y="2633472"/>
                    <a:pt x="1316736" y="2633472"/>
                  </a:cubicBezTo>
                  <a:cubicBezTo>
                    <a:pt x="589534" y="2633472"/>
                    <a:pt x="0" y="2043938"/>
                    <a:pt x="0" y="1316736"/>
                  </a:cubicBezTo>
                  <a:close/>
                </a:path>
              </a:pathLst>
            </a:custGeom>
            <a:solidFill>
              <a:srgbClr val="24365A"/>
            </a:solidFill>
          </p:spPr>
        </p:sp>
      </p:grpSp>
      <p:grpSp>
        <p:nvGrpSpPr>
          <p:cNvPr id="9" name="Group 9"/>
          <p:cNvGrpSpPr/>
          <p:nvPr/>
        </p:nvGrpSpPr>
        <p:grpSpPr>
          <a:xfrm>
            <a:off x="1449095" y="2125980"/>
            <a:ext cx="1892808" cy="1892808"/>
            <a:chOff x="0" y="0"/>
            <a:chExt cx="2523744" cy="2523744"/>
          </a:xfrm>
        </p:grpSpPr>
        <p:sp>
          <p:nvSpPr>
            <p:cNvPr id="10" name="Freeform 10" descr="Long Mengchheng"/>
            <p:cNvSpPr/>
            <p:nvPr/>
          </p:nvSpPr>
          <p:spPr>
            <a:xfrm>
              <a:off x="0" y="0"/>
              <a:ext cx="2523744" cy="2523744"/>
            </a:xfrm>
            <a:custGeom>
              <a:avLst/>
              <a:gdLst/>
              <a:ahLst/>
              <a:cxnLst/>
              <a:rect l="l" t="t" r="r" b="b"/>
              <a:pathLst>
                <a:path w="2523744" h="2523744">
                  <a:moveTo>
                    <a:pt x="0" y="0"/>
                  </a:moveTo>
                  <a:lnTo>
                    <a:pt x="2523744" y="0"/>
                  </a:lnTo>
                  <a:lnTo>
                    <a:pt x="2523744" y="2523744"/>
                  </a:lnTo>
                  <a:lnTo>
                    <a:pt x="0" y="2523744"/>
                  </a:lnTo>
                  <a:lnTo>
                    <a:pt x="0" y="0"/>
                  </a:lnTo>
                  <a:close/>
                </a:path>
              </a:pathLst>
            </a:custGeom>
            <a:blipFill>
              <a:blip r:embed="rId4"/>
              <a:stretch>
                <a:fillRect/>
              </a:stretch>
            </a:blipFill>
          </p:spPr>
        </p:sp>
      </p:grpSp>
      <p:grpSp>
        <p:nvGrpSpPr>
          <p:cNvPr id="11" name="Group 11"/>
          <p:cNvGrpSpPr/>
          <p:nvPr/>
        </p:nvGrpSpPr>
        <p:grpSpPr>
          <a:xfrm>
            <a:off x="955319" y="4251960"/>
            <a:ext cx="2880360" cy="480060"/>
            <a:chOff x="0" y="0"/>
            <a:chExt cx="3840480" cy="640080"/>
          </a:xfrm>
        </p:grpSpPr>
        <p:sp>
          <p:nvSpPr>
            <p:cNvPr id="12" name="Freeform 12"/>
            <p:cNvSpPr/>
            <p:nvPr/>
          </p:nvSpPr>
          <p:spPr>
            <a:xfrm>
              <a:off x="0" y="0"/>
              <a:ext cx="3840480" cy="640080"/>
            </a:xfrm>
            <a:custGeom>
              <a:avLst/>
              <a:gdLst/>
              <a:ahLst/>
              <a:cxnLst/>
              <a:rect l="l" t="t" r="r" b="b"/>
              <a:pathLst>
                <a:path w="3840480" h="640080">
                  <a:moveTo>
                    <a:pt x="0" y="0"/>
                  </a:moveTo>
                  <a:lnTo>
                    <a:pt x="3840480" y="0"/>
                  </a:lnTo>
                  <a:lnTo>
                    <a:pt x="3840480" y="640080"/>
                  </a:lnTo>
                  <a:lnTo>
                    <a:pt x="0" y="640080"/>
                  </a:lnTo>
                  <a:close/>
                </a:path>
              </a:pathLst>
            </a:custGeom>
            <a:blipFill>
              <a:blip r:embed="rId3">
                <a:alphaModFix amt="0"/>
              </a:blip>
              <a:stretch>
                <a:fillRect t="-66910" b="-66910"/>
              </a:stretch>
            </a:blipFill>
          </p:spPr>
        </p:sp>
        <p:sp>
          <p:nvSpPr>
            <p:cNvPr id="13" name="TextBox 13"/>
            <p:cNvSpPr txBox="1"/>
            <p:nvPr/>
          </p:nvSpPr>
          <p:spPr>
            <a:xfrm>
              <a:off x="0" y="-9525"/>
              <a:ext cx="3840480" cy="649605"/>
            </a:xfrm>
            <a:prstGeom prst="rect">
              <a:avLst/>
            </a:prstGeom>
          </p:spPr>
          <p:txBody>
            <a:bodyPr lIns="0" tIns="0" rIns="0" bIns="0" rtlCol="0" anchor="ctr"/>
            <a:lstStyle/>
            <a:p>
              <a:pPr algn="ctr">
                <a:lnSpc>
                  <a:spcPts val="2520"/>
                </a:lnSpc>
              </a:pPr>
              <a:r>
                <a:rPr lang="en-US" sz="2100" b="1">
                  <a:solidFill>
                    <a:srgbClr val="FFFFFF"/>
                  </a:solidFill>
                  <a:latin typeface="Arial Bold"/>
                  <a:ea typeface="Arial Bold"/>
                  <a:cs typeface="Arial Bold"/>
                  <a:sym typeface="Arial Bold"/>
                </a:rPr>
                <a:t>Long Mengchheng</a:t>
              </a:r>
            </a:p>
          </p:txBody>
        </p:sp>
      </p:grpSp>
      <p:grpSp>
        <p:nvGrpSpPr>
          <p:cNvPr id="14" name="Group 14"/>
          <p:cNvGrpSpPr/>
          <p:nvPr/>
        </p:nvGrpSpPr>
        <p:grpSpPr>
          <a:xfrm>
            <a:off x="1298219" y="4759452"/>
            <a:ext cx="2194560" cy="438912"/>
            <a:chOff x="0" y="0"/>
            <a:chExt cx="2926080" cy="585216"/>
          </a:xfrm>
        </p:grpSpPr>
        <p:sp>
          <p:nvSpPr>
            <p:cNvPr id="15" name="Freeform 15"/>
            <p:cNvSpPr/>
            <p:nvPr/>
          </p:nvSpPr>
          <p:spPr>
            <a:xfrm>
              <a:off x="0" y="0"/>
              <a:ext cx="2926080" cy="585216"/>
            </a:xfrm>
            <a:custGeom>
              <a:avLst/>
              <a:gdLst/>
              <a:ahLst/>
              <a:cxnLst/>
              <a:rect l="l" t="t" r="r" b="b"/>
              <a:pathLst>
                <a:path w="2926080" h="585216">
                  <a:moveTo>
                    <a:pt x="0" y="292608"/>
                  </a:moveTo>
                  <a:cubicBezTo>
                    <a:pt x="0" y="131064"/>
                    <a:pt x="131064" y="0"/>
                    <a:pt x="292608" y="0"/>
                  </a:cubicBezTo>
                  <a:lnTo>
                    <a:pt x="2633472" y="0"/>
                  </a:lnTo>
                  <a:cubicBezTo>
                    <a:pt x="2795016" y="0"/>
                    <a:pt x="2926080" y="131064"/>
                    <a:pt x="2926080" y="292608"/>
                  </a:cubicBezTo>
                  <a:cubicBezTo>
                    <a:pt x="2926080" y="454152"/>
                    <a:pt x="2795016" y="585216"/>
                    <a:pt x="2633472" y="585216"/>
                  </a:cubicBezTo>
                  <a:lnTo>
                    <a:pt x="292608" y="585216"/>
                  </a:lnTo>
                  <a:cubicBezTo>
                    <a:pt x="131064" y="585216"/>
                    <a:pt x="0" y="454152"/>
                    <a:pt x="0" y="292608"/>
                  </a:cubicBezTo>
                  <a:close/>
                </a:path>
              </a:pathLst>
            </a:custGeom>
            <a:solidFill>
              <a:srgbClr val="17404A"/>
            </a:solidFill>
          </p:spPr>
        </p:sp>
        <p:sp>
          <p:nvSpPr>
            <p:cNvPr id="16" name="TextBox 16"/>
            <p:cNvSpPr txBox="1"/>
            <p:nvPr/>
          </p:nvSpPr>
          <p:spPr>
            <a:xfrm>
              <a:off x="0" y="-19050"/>
              <a:ext cx="2926080" cy="604266"/>
            </a:xfrm>
            <a:prstGeom prst="rect">
              <a:avLst/>
            </a:prstGeom>
          </p:spPr>
          <p:txBody>
            <a:bodyPr lIns="50800" tIns="50800" rIns="50800" bIns="50800" rtlCol="0" anchor="ctr"/>
            <a:lstStyle/>
            <a:p>
              <a:pPr algn="ctr">
                <a:lnSpc>
                  <a:spcPts val="2070"/>
                </a:lnSpc>
              </a:pPr>
              <a:r>
                <a:rPr lang="en-US" sz="1725" b="1">
                  <a:solidFill>
                    <a:srgbClr val="A7F3D0"/>
                  </a:solidFill>
                  <a:latin typeface="Arial Bold"/>
                  <a:ea typeface="Arial Bold"/>
                  <a:cs typeface="Arial Bold"/>
                  <a:sym typeface="Arial Bold"/>
                </a:rPr>
                <a:t>Team Lead</a:t>
              </a:r>
            </a:p>
          </p:txBody>
        </p:sp>
      </p:grpSp>
      <p:grpSp>
        <p:nvGrpSpPr>
          <p:cNvPr id="17" name="Group 17"/>
          <p:cNvGrpSpPr/>
          <p:nvPr/>
        </p:nvGrpSpPr>
        <p:grpSpPr>
          <a:xfrm>
            <a:off x="955319" y="5280660"/>
            <a:ext cx="2880360" cy="384048"/>
            <a:chOff x="0" y="0"/>
            <a:chExt cx="3840480" cy="512064"/>
          </a:xfrm>
        </p:grpSpPr>
        <p:sp>
          <p:nvSpPr>
            <p:cNvPr id="18" name="Freeform 18"/>
            <p:cNvSpPr/>
            <p:nvPr/>
          </p:nvSpPr>
          <p:spPr>
            <a:xfrm>
              <a:off x="0" y="0"/>
              <a:ext cx="3840480" cy="512064"/>
            </a:xfrm>
            <a:custGeom>
              <a:avLst/>
              <a:gdLst/>
              <a:ahLst/>
              <a:cxnLst/>
              <a:rect l="l" t="t" r="r" b="b"/>
              <a:pathLst>
                <a:path w="3840480" h="512064">
                  <a:moveTo>
                    <a:pt x="0" y="0"/>
                  </a:moveTo>
                  <a:lnTo>
                    <a:pt x="3840480" y="0"/>
                  </a:lnTo>
                  <a:lnTo>
                    <a:pt x="3840480" y="512064"/>
                  </a:lnTo>
                  <a:lnTo>
                    <a:pt x="0" y="512064"/>
                  </a:lnTo>
                  <a:close/>
                </a:path>
              </a:pathLst>
            </a:custGeom>
            <a:blipFill>
              <a:blip r:embed="rId3">
                <a:alphaModFix amt="0"/>
              </a:blip>
              <a:stretch>
                <a:fillRect t="-96137" b="-96137"/>
              </a:stretch>
            </a:blipFill>
          </p:spPr>
        </p:sp>
        <p:sp>
          <p:nvSpPr>
            <p:cNvPr id="19" name="TextBox 19"/>
            <p:cNvSpPr txBox="1"/>
            <p:nvPr/>
          </p:nvSpPr>
          <p:spPr>
            <a:xfrm>
              <a:off x="0" y="-19050"/>
              <a:ext cx="3840480" cy="531114"/>
            </a:xfrm>
            <a:prstGeom prst="rect">
              <a:avLst/>
            </a:prstGeom>
          </p:spPr>
          <p:txBody>
            <a:bodyPr lIns="0" tIns="0" rIns="0" bIns="0" rtlCol="0" anchor="ctr"/>
            <a:lstStyle/>
            <a:p>
              <a:pPr algn="ctr">
                <a:lnSpc>
                  <a:spcPts val="1980"/>
                </a:lnSpc>
              </a:pPr>
              <a:r>
                <a:rPr lang="en-US" sz="1650">
                  <a:solidFill>
                    <a:srgbClr val="9FB3CF"/>
                  </a:solidFill>
                  <a:latin typeface="Arial"/>
                  <a:ea typeface="Arial"/>
                  <a:cs typeface="Arial"/>
                  <a:sym typeface="Arial"/>
                </a:rPr>
                <a:t>Builds and runs the team</a:t>
              </a:r>
            </a:p>
          </p:txBody>
        </p:sp>
      </p:grpSp>
      <p:grpSp>
        <p:nvGrpSpPr>
          <p:cNvPr id="20" name="Group 20"/>
          <p:cNvGrpSpPr/>
          <p:nvPr/>
        </p:nvGrpSpPr>
        <p:grpSpPr>
          <a:xfrm>
            <a:off x="4192295" y="1783080"/>
            <a:ext cx="3154680" cy="4046220"/>
            <a:chOff x="0" y="0"/>
            <a:chExt cx="4206240" cy="5394960"/>
          </a:xfrm>
        </p:grpSpPr>
        <p:sp>
          <p:nvSpPr>
            <p:cNvPr id="21" name="Freeform 21"/>
            <p:cNvSpPr/>
            <p:nvPr/>
          </p:nvSpPr>
          <p:spPr>
            <a:xfrm>
              <a:off x="0" y="0"/>
              <a:ext cx="4206240" cy="5394960"/>
            </a:xfrm>
            <a:custGeom>
              <a:avLst/>
              <a:gdLst/>
              <a:ahLst/>
              <a:cxnLst/>
              <a:rect l="l" t="t" r="r" b="b"/>
              <a:pathLst>
                <a:path w="4206240" h="5394960">
                  <a:moveTo>
                    <a:pt x="0" y="329184"/>
                  </a:moveTo>
                  <a:cubicBezTo>
                    <a:pt x="0" y="147320"/>
                    <a:pt x="147320" y="0"/>
                    <a:pt x="329184" y="0"/>
                  </a:cubicBezTo>
                  <a:lnTo>
                    <a:pt x="3877056" y="0"/>
                  </a:lnTo>
                  <a:cubicBezTo>
                    <a:pt x="4058920" y="0"/>
                    <a:pt x="4206240" y="147320"/>
                    <a:pt x="4206240" y="329184"/>
                  </a:cubicBezTo>
                  <a:lnTo>
                    <a:pt x="4206240" y="5065776"/>
                  </a:lnTo>
                  <a:cubicBezTo>
                    <a:pt x="4206240" y="5247640"/>
                    <a:pt x="4058920" y="5394960"/>
                    <a:pt x="3877056" y="5394960"/>
                  </a:cubicBezTo>
                  <a:lnTo>
                    <a:pt x="329184" y="5394960"/>
                  </a:lnTo>
                  <a:cubicBezTo>
                    <a:pt x="147320" y="5394960"/>
                    <a:pt x="0" y="5247640"/>
                    <a:pt x="0" y="5065776"/>
                  </a:cubicBezTo>
                  <a:close/>
                </a:path>
              </a:pathLst>
            </a:custGeom>
            <a:solidFill>
              <a:srgbClr val="1A2A4A"/>
            </a:solidFill>
          </p:spPr>
        </p:sp>
      </p:grpSp>
      <p:grpSp>
        <p:nvGrpSpPr>
          <p:cNvPr id="22" name="Group 22"/>
          <p:cNvGrpSpPr/>
          <p:nvPr/>
        </p:nvGrpSpPr>
        <p:grpSpPr>
          <a:xfrm>
            <a:off x="4782083" y="2084832"/>
            <a:ext cx="1975104" cy="1975104"/>
            <a:chOff x="0" y="0"/>
            <a:chExt cx="2633472" cy="2633472"/>
          </a:xfrm>
        </p:grpSpPr>
        <p:sp>
          <p:nvSpPr>
            <p:cNvPr id="23" name="Freeform 23"/>
            <p:cNvSpPr/>
            <p:nvPr/>
          </p:nvSpPr>
          <p:spPr>
            <a:xfrm>
              <a:off x="0" y="0"/>
              <a:ext cx="2633472" cy="2633472"/>
            </a:xfrm>
            <a:custGeom>
              <a:avLst/>
              <a:gdLst/>
              <a:ahLst/>
              <a:cxnLst/>
              <a:rect l="l" t="t" r="r" b="b"/>
              <a:pathLst>
                <a:path w="2633472" h="2633472">
                  <a:moveTo>
                    <a:pt x="0" y="1316736"/>
                  </a:moveTo>
                  <a:cubicBezTo>
                    <a:pt x="0" y="589534"/>
                    <a:pt x="589534" y="0"/>
                    <a:pt x="1316736" y="0"/>
                  </a:cubicBezTo>
                  <a:cubicBezTo>
                    <a:pt x="2043938" y="0"/>
                    <a:pt x="2633472" y="589534"/>
                    <a:pt x="2633472" y="1316736"/>
                  </a:cubicBezTo>
                  <a:cubicBezTo>
                    <a:pt x="2633472" y="2043938"/>
                    <a:pt x="2043938" y="2633472"/>
                    <a:pt x="1316736" y="2633472"/>
                  </a:cubicBezTo>
                  <a:cubicBezTo>
                    <a:pt x="589534" y="2633472"/>
                    <a:pt x="0" y="2043938"/>
                    <a:pt x="0" y="1316736"/>
                  </a:cubicBezTo>
                  <a:close/>
                </a:path>
              </a:pathLst>
            </a:custGeom>
            <a:solidFill>
              <a:srgbClr val="24365A"/>
            </a:solidFill>
          </p:spPr>
        </p:sp>
      </p:grpSp>
      <p:grpSp>
        <p:nvGrpSpPr>
          <p:cNvPr id="24" name="Group 24"/>
          <p:cNvGrpSpPr/>
          <p:nvPr/>
        </p:nvGrpSpPr>
        <p:grpSpPr>
          <a:xfrm>
            <a:off x="4823231" y="2125980"/>
            <a:ext cx="1892808" cy="1892808"/>
            <a:chOff x="0" y="0"/>
            <a:chExt cx="2523744" cy="2523744"/>
          </a:xfrm>
        </p:grpSpPr>
        <p:sp>
          <p:nvSpPr>
            <p:cNvPr id="25" name="Freeform 25" descr="Hong Thanbrathna"/>
            <p:cNvSpPr/>
            <p:nvPr/>
          </p:nvSpPr>
          <p:spPr>
            <a:xfrm>
              <a:off x="0" y="0"/>
              <a:ext cx="2523744" cy="2523744"/>
            </a:xfrm>
            <a:custGeom>
              <a:avLst/>
              <a:gdLst/>
              <a:ahLst/>
              <a:cxnLst/>
              <a:rect l="l" t="t" r="r" b="b"/>
              <a:pathLst>
                <a:path w="2523744" h="2523744">
                  <a:moveTo>
                    <a:pt x="0" y="0"/>
                  </a:moveTo>
                  <a:lnTo>
                    <a:pt x="2523744" y="0"/>
                  </a:lnTo>
                  <a:lnTo>
                    <a:pt x="2523744" y="2523744"/>
                  </a:lnTo>
                  <a:lnTo>
                    <a:pt x="0" y="2523744"/>
                  </a:lnTo>
                  <a:lnTo>
                    <a:pt x="0" y="0"/>
                  </a:lnTo>
                  <a:close/>
                </a:path>
              </a:pathLst>
            </a:custGeom>
            <a:blipFill>
              <a:blip r:embed="rId5"/>
              <a:stretch>
                <a:fillRect/>
              </a:stretch>
            </a:blipFill>
          </p:spPr>
        </p:sp>
      </p:grpSp>
      <p:grpSp>
        <p:nvGrpSpPr>
          <p:cNvPr id="26" name="Group 26"/>
          <p:cNvGrpSpPr/>
          <p:nvPr/>
        </p:nvGrpSpPr>
        <p:grpSpPr>
          <a:xfrm>
            <a:off x="4329455" y="4251960"/>
            <a:ext cx="2880360" cy="480060"/>
            <a:chOff x="0" y="0"/>
            <a:chExt cx="3840480" cy="640080"/>
          </a:xfrm>
        </p:grpSpPr>
        <p:sp>
          <p:nvSpPr>
            <p:cNvPr id="27" name="Freeform 27"/>
            <p:cNvSpPr/>
            <p:nvPr/>
          </p:nvSpPr>
          <p:spPr>
            <a:xfrm>
              <a:off x="0" y="0"/>
              <a:ext cx="3840480" cy="640080"/>
            </a:xfrm>
            <a:custGeom>
              <a:avLst/>
              <a:gdLst/>
              <a:ahLst/>
              <a:cxnLst/>
              <a:rect l="l" t="t" r="r" b="b"/>
              <a:pathLst>
                <a:path w="3840480" h="640080">
                  <a:moveTo>
                    <a:pt x="0" y="0"/>
                  </a:moveTo>
                  <a:lnTo>
                    <a:pt x="3840480" y="0"/>
                  </a:lnTo>
                  <a:lnTo>
                    <a:pt x="3840480" y="640080"/>
                  </a:lnTo>
                  <a:lnTo>
                    <a:pt x="0" y="640080"/>
                  </a:lnTo>
                  <a:close/>
                </a:path>
              </a:pathLst>
            </a:custGeom>
            <a:blipFill>
              <a:blip r:embed="rId3">
                <a:alphaModFix amt="0"/>
              </a:blip>
              <a:stretch>
                <a:fillRect t="-66910" b="-66910"/>
              </a:stretch>
            </a:blipFill>
          </p:spPr>
        </p:sp>
        <p:sp>
          <p:nvSpPr>
            <p:cNvPr id="28" name="TextBox 28"/>
            <p:cNvSpPr txBox="1"/>
            <p:nvPr/>
          </p:nvSpPr>
          <p:spPr>
            <a:xfrm>
              <a:off x="0" y="-9525"/>
              <a:ext cx="3840480" cy="649605"/>
            </a:xfrm>
            <a:prstGeom prst="rect">
              <a:avLst/>
            </a:prstGeom>
          </p:spPr>
          <p:txBody>
            <a:bodyPr lIns="0" tIns="0" rIns="0" bIns="0" rtlCol="0" anchor="ctr"/>
            <a:lstStyle/>
            <a:p>
              <a:pPr algn="ctr">
                <a:lnSpc>
                  <a:spcPts val="2520"/>
                </a:lnSpc>
              </a:pPr>
              <a:r>
                <a:rPr lang="en-US" sz="2100" b="1">
                  <a:solidFill>
                    <a:srgbClr val="FFFFFF"/>
                  </a:solidFill>
                  <a:latin typeface="Arial Bold"/>
                  <a:ea typeface="Arial Bold"/>
                  <a:cs typeface="Arial Bold"/>
                  <a:sym typeface="Arial Bold"/>
                </a:rPr>
                <a:t>Hong Thanbrathna</a:t>
              </a:r>
            </a:p>
          </p:txBody>
        </p:sp>
      </p:grpSp>
      <p:grpSp>
        <p:nvGrpSpPr>
          <p:cNvPr id="29" name="Group 29"/>
          <p:cNvGrpSpPr/>
          <p:nvPr/>
        </p:nvGrpSpPr>
        <p:grpSpPr>
          <a:xfrm>
            <a:off x="4672355" y="4759452"/>
            <a:ext cx="2194560" cy="438912"/>
            <a:chOff x="0" y="0"/>
            <a:chExt cx="2926080" cy="585216"/>
          </a:xfrm>
        </p:grpSpPr>
        <p:sp>
          <p:nvSpPr>
            <p:cNvPr id="30" name="Freeform 30"/>
            <p:cNvSpPr/>
            <p:nvPr/>
          </p:nvSpPr>
          <p:spPr>
            <a:xfrm>
              <a:off x="0" y="0"/>
              <a:ext cx="2926080" cy="585216"/>
            </a:xfrm>
            <a:custGeom>
              <a:avLst/>
              <a:gdLst/>
              <a:ahLst/>
              <a:cxnLst/>
              <a:rect l="l" t="t" r="r" b="b"/>
              <a:pathLst>
                <a:path w="2926080" h="585216">
                  <a:moveTo>
                    <a:pt x="0" y="292608"/>
                  </a:moveTo>
                  <a:cubicBezTo>
                    <a:pt x="0" y="131064"/>
                    <a:pt x="131064" y="0"/>
                    <a:pt x="292608" y="0"/>
                  </a:cubicBezTo>
                  <a:lnTo>
                    <a:pt x="2633472" y="0"/>
                  </a:lnTo>
                  <a:cubicBezTo>
                    <a:pt x="2795016" y="0"/>
                    <a:pt x="2926080" y="131064"/>
                    <a:pt x="2926080" y="292608"/>
                  </a:cubicBezTo>
                  <a:cubicBezTo>
                    <a:pt x="2926080" y="454152"/>
                    <a:pt x="2795016" y="585216"/>
                    <a:pt x="2633472" y="585216"/>
                  </a:cubicBezTo>
                  <a:lnTo>
                    <a:pt x="292608" y="585216"/>
                  </a:lnTo>
                  <a:cubicBezTo>
                    <a:pt x="131064" y="585216"/>
                    <a:pt x="0" y="454152"/>
                    <a:pt x="0" y="292608"/>
                  </a:cubicBezTo>
                  <a:close/>
                </a:path>
              </a:pathLst>
            </a:custGeom>
            <a:solidFill>
              <a:srgbClr val="17404A"/>
            </a:solidFill>
          </p:spPr>
        </p:sp>
        <p:sp>
          <p:nvSpPr>
            <p:cNvPr id="31" name="TextBox 31"/>
            <p:cNvSpPr txBox="1"/>
            <p:nvPr/>
          </p:nvSpPr>
          <p:spPr>
            <a:xfrm>
              <a:off x="0" y="-19050"/>
              <a:ext cx="2926080" cy="604266"/>
            </a:xfrm>
            <a:prstGeom prst="rect">
              <a:avLst/>
            </a:prstGeom>
          </p:spPr>
          <p:txBody>
            <a:bodyPr lIns="50800" tIns="50800" rIns="50800" bIns="50800" rtlCol="0" anchor="ctr"/>
            <a:lstStyle/>
            <a:p>
              <a:pPr algn="ctr">
                <a:lnSpc>
                  <a:spcPts val="2070"/>
                </a:lnSpc>
              </a:pPr>
              <a:r>
                <a:rPr lang="en-US" sz="1725" b="1">
                  <a:solidFill>
                    <a:srgbClr val="A7F3D0"/>
                  </a:solidFill>
                  <a:latin typeface="Arial Bold"/>
                  <a:ea typeface="Arial Bold"/>
                  <a:cs typeface="Arial Bold"/>
                  <a:sym typeface="Arial Bold"/>
                </a:rPr>
                <a:t>Idea Founder</a:t>
              </a:r>
            </a:p>
          </p:txBody>
        </p:sp>
      </p:grpSp>
      <p:grpSp>
        <p:nvGrpSpPr>
          <p:cNvPr id="32" name="Group 32"/>
          <p:cNvGrpSpPr/>
          <p:nvPr/>
        </p:nvGrpSpPr>
        <p:grpSpPr>
          <a:xfrm>
            <a:off x="4329455" y="5280660"/>
            <a:ext cx="2880360" cy="384048"/>
            <a:chOff x="0" y="0"/>
            <a:chExt cx="3840480" cy="512064"/>
          </a:xfrm>
        </p:grpSpPr>
        <p:sp>
          <p:nvSpPr>
            <p:cNvPr id="33" name="Freeform 33"/>
            <p:cNvSpPr/>
            <p:nvPr/>
          </p:nvSpPr>
          <p:spPr>
            <a:xfrm>
              <a:off x="0" y="0"/>
              <a:ext cx="3840480" cy="512064"/>
            </a:xfrm>
            <a:custGeom>
              <a:avLst/>
              <a:gdLst/>
              <a:ahLst/>
              <a:cxnLst/>
              <a:rect l="l" t="t" r="r" b="b"/>
              <a:pathLst>
                <a:path w="3840480" h="512064">
                  <a:moveTo>
                    <a:pt x="0" y="0"/>
                  </a:moveTo>
                  <a:lnTo>
                    <a:pt x="3840480" y="0"/>
                  </a:lnTo>
                  <a:lnTo>
                    <a:pt x="3840480" y="512064"/>
                  </a:lnTo>
                  <a:lnTo>
                    <a:pt x="0" y="512064"/>
                  </a:lnTo>
                  <a:close/>
                </a:path>
              </a:pathLst>
            </a:custGeom>
            <a:blipFill>
              <a:blip r:embed="rId3">
                <a:alphaModFix amt="0"/>
              </a:blip>
              <a:stretch>
                <a:fillRect t="-96137" b="-96137"/>
              </a:stretch>
            </a:blipFill>
          </p:spPr>
        </p:sp>
        <p:sp>
          <p:nvSpPr>
            <p:cNvPr id="34" name="TextBox 34"/>
            <p:cNvSpPr txBox="1"/>
            <p:nvPr/>
          </p:nvSpPr>
          <p:spPr>
            <a:xfrm>
              <a:off x="0" y="-19050"/>
              <a:ext cx="3840480" cy="531114"/>
            </a:xfrm>
            <a:prstGeom prst="rect">
              <a:avLst/>
            </a:prstGeom>
          </p:spPr>
          <p:txBody>
            <a:bodyPr lIns="0" tIns="0" rIns="0" bIns="0" rtlCol="0" anchor="ctr"/>
            <a:lstStyle/>
            <a:p>
              <a:pPr algn="ctr">
                <a:lnSpc>
                  <a:spcPts val="1980"/>
                </a:lnSpc>
              </a:pPr>
              <a:r>
                <a:rPr lang="en-US" sz="1650">
                  <a:solidFill>
                    <a:srgbClr val="9FB3CF"/>
                  </a:solidFill>
                  <a:latin typeface="Arial"/>
                  <a:ea typeface="Arial"/>
                  <a:cs typeface="Arial"/>
                  <a:sym typeface="Arial"/>
                </a:rPr>
                <a:t>Builds the platform</a:t>
              </a:r>
            </a:p>
          </p:txBody>
        </p:sp>
      </p:grpSp>
      <p:grpSp>
        <p:nvGrpSpPr>
          <p:cNvPr id="35" name="Group 35"/>
          <p:cNvGrpSpPr/>
          <p:nvPr/>
        </p:nvGrpSpPr>
        <p:grpSpPr>
          <a:xfrm>
            <a:off x="7566431" y="1783080"/>
            <a:ext cx="3154680" cy="4046220"/>
            <a:chOff x="0" y="0"/>
            <a:chExt cx="4206240" cy="5394960"/>
          </a:xfrm>
        </p:grpSpPr>
        <p:sp>
          <p:nvSpPr>
            <p:cNvPr id="36" name="Freeform 36"/>
            <p:cNvSpPr/>
            <p:nvPr/>
          </p:nvSpPr>
          <p:spPr>
            <a:xfrm>
              <a:off x="0" y="0"/>
              <a:ext cx="4206240" cy="5394960"/>
            </a:xfrm>
            <a:custGeom>
              <a:avLst/>
              <a:gdLst/>
              <a:ahLst/>
              <a:cxnLst/>
              <a:rect l="l" t="t" r="r" b="b"/>
              <a:pathLst>
                <a:path w="4206240" h="5394960">
                  <a:moveTo>
                    <a:pt x="0" y="329184"/>
                  </a:moveTo>
                  <a:cubicBezTo>
                    <a:pt x="0" y="147320"/>
                    <a:pt x="147320" y="0"/>
                    <a:pt x="329184" y="0"/>
                  </a:cubicBezTo>
                  <a:lnTo>
                    <a:pt x="3877056" y="0"/>
                  </a:lnTo>
                  <a:cubicBezTo>
                    <a:pt x="4058920" y="0"/>
                    <a:pt x="4206240" y="147320"/>
                    <a:pt x="4206240" y="329184"/>
                  </a:cubicBezTo>
                  <a:lnTo>
                    <a:pt x="4206240" y="5065776"/>
                  </a:lnTo>
                  <a:cubicBezTo>
                    <a:pt x="4206240" y="5247640"/>
                    <a:pt x="4058920" y="5394960"/>
                    <a:pt x="3877056" y="5394960"/>
                  </a:cubicBezTo>
                  <a:lnTo>
                    <a:pt x="329184" y="5394960"/>
                  </a:lnTo>
                  <a:cubicBezTo>
                    <a:pt x="147320" y="5394960"/>
                    <a:pt x="0" y="5247640"/>
                    <a:pt x="0" y="5065776"/>
                  </a:cubicBezTo>
                  <a:close/>
                </a:path>
              </a:pathLst>
            </a:custGeom>
            <a:solidFill>
              <a:srgbClr val="1A2A4A"/>
            </a:solidFill>
          </p:spPr>
        </p:sp>
      </p:grpSp>
      <p:grpSp>
        <p:nvGrpSpPr>
          <p:cNvPr id="37" name="Group 37"/>
          <p:cNvGrpSpPr/>
          <p:nvPr/>
        </p:nvGrpSpPr>
        <p:grpSpPr>
          <a:xfrm>
            <a:off x="8156219" y="2084832"/>
            <a:ext cx="1975104" cy="1975104"/>
            <a:chOff x="0" y="0"/>
            <a:chExt cx="2633472" cy="2633472"/>
          </a:xfrm>
        </p:grpSpPr>
        <p:sp>
          <p:nvSpPr>
            <p:cNvPr id="38" name="Freeform 38"/>
            <p:cNvSpPr/>
            <p:nvPr/>
          </p:nvSpPr>
          <p:spPr>
            <a:xfrm>
              <a:off x="0" y="0"/>
              <a:ext cx="2633472" cy="2633472"/>
            </a:xfrm>
            <a:custGeom>
              <a:avLst/>
              <a:gdLst/>
              <a:ahLst/>
              <a:cxnLst/>
              <a:rect l="l" t="t" r="r" b="b"/>
              <a:pathLst>
                <a:path w="2633472" h="2633472">
                  <a:moveTo>
                    <a:pt x="0" y="1316736"/>
                  </a:moveTo>
                  <a:cubicBezTo>
                    <a:pt x="0" y="589534"/>
                    <a:pt x="589534" y="0"/>
                    <a:pt x="1316736" y="0"/>
                  </a:cubicBezTo>
                  <a:cubicBezTo>
                    <a:pt x="2043938" y="0"/>
                    <a:pt x="2633472" y="589534"/>
                    <a:pt x="2633472" y="1316736"/>
                  </a:cubicBezTo>
                  <a:cubicBezTo>
                    <a:pt x="2633472" y="2043938"/>
                    <a:pt x="2043938" y="2633472"/>
                    <a:pt x="1316736" y="2633472"/>
                  </a:cubicBezTo>
                  <a:cubicBezTo>
                    <a:pt x="589534" y="2633472"/>
                    <a:pt x="0" y="2043938"/>
                    <a:pt x="0" y="1316736"/>
                  </a:cubicBezTo>
                  <a:close/>
                </a:path>
              </a:pathLst>
            </a:custGeom>
            <a:solidFill>
              <a:srgbClr val="24365A"/>
            </a:solidFill>
          </p:spPr>
        </p:sp>
      </p:grpSp>
      <p:grpSp>
        <p:nvGrpSpPr>
          <p:cNvPr id="39" name="Group 39"/>
          <p:cNvGrpSpPr/>
          <p:nvPr/>
        </p:nvGrpSpPr>
        <p:grpSpPr>
          <a:xfrm>
            <a:off x="8197367" y="2125980"/>
            <a:ext cx="1892808" cy="1892808"/>
            <a:chOff x="0" y="0"/>
            <a:chExt cx="2523744" cy="2523744"/>
          </a:xfrm>
        </p:grpSpPr>
        <p:sp>
          <p:nvSpPr>
            <p:cNvPr id="40" name="Freeform 40" descr="Khemrak Pasey"/>
            <p:cNvSpPr/>
            <p:nvPr/>
          </p:nvSpPr>
          <p:spPr>
            <a:xfrm>
              <a:off x="0" y="0"/>
              <a:ext cx="2523744" cy="2523744"/>
            </a:xfrm>
            <a:custGeom>
              <a:avLst/>
              <a:gdLst/>
              <a:ahLst/>
              <a:cxnLst/>
              <a:rect l="l" t="t" r="r" b="b"/>
              <a:pathLst>
                <a:path w="2523744" h="2523744">
                  <a:moveTo>
                    <a:pt x="0" y="0"/>
                  </a:moveTo>
                  <a:lnTo>
                    <a:pt x="2523744" y="0"/>
                  </a:lnTo>
                  <a:lnTo>
                    <a:pt x="2523744" y="2523744"/>
                  </a:lnTo>
                  <a:lnTo>
                    <a:pt x="0" y="2523744"/>
                  </a:lnTo>
                  <a:lnTo>
                    <a:pt x="0" y="0"/>
                  </a:lnTo>
                  <a:close/>
                </a:path>
              </a:pathLst>
            </a:custGeom>
            <a:blipFill>
              <a:blip r:embed="rId6"/>
              <a:stretch>
                <a:fillRect/>
              </a:stretch>
            </a:blipFill>
          </p:spPr>
        </p:sp>
      </p:grpSp>
      <p:grpSp>
        <p:nvGrpSpPr>
          <p:cNvPr id="41" name="Group 41"/>
          <p:cNvGrpSpPr/>
          <p:nvPr/>
        </p:nvGrpSpPr>
        <p:grpSpPr>
          <a:xfrm>
            <a:off x="7703591" y="4251960"/>
            <a:ext cx="2880360" cy="480060"/>
            <a:chOff x="0" y="0"/>
            <a:chExt cx="3840480" cy="640080"/>
          </a:xfrm>
        </p:grpSpPr>
        <p:sp>
          <p:nvSpPr>
            <p:cNvPr id="42" name="Freeform 42"/>
            <p:cNvSpPr/>
            <p:nvPr/>
          </p:nvSpPr>
          <p:spPr>
            <a:xfrm>
              <a:off x="0" y="0"/>
              <a:ext cx="3840480" cy="640080"/>
            </a:xfrm>
            <a:custGeom>
              <a:avLst/>
              <a:gdLst/>
              <a:ahLst/>
              <a:cxnLst/>
              <a:rect l="l" t="t" r="r" b="b"/>
              <a:pathLst>
                <a:path w="3840480" h="640080">
                  <a:moveTo>
                    <a:pt x="0" y="0"/>
                  </a:moveTo>
                  <a:lnTo>
                    <a:pt x="3840480" y="0"/>
                  </a:lnTo>
                  <a:lnTo>
                    <a:pt x="3840480" y="640080"/>
                  </a:lnTo>
                  <a:lnTo>
                    <a:pt x="0" y="640080"/>
                  </a:lnTo>
                  <a:close/>
                </a:path>
              </a:pathLst>
            </a:custGeom>
            <a:blipFill>
              <a:blip r:embed="rId3">
                <a:alphaModFix amt="0"/>
              </a:blip>
              <a:stretch>
                <a:fillRect t="-66910" b="-66910"/>
              </a:stretch>
            </a:blipFill>
          </p:spPr>
        </p:sp>
        <p:sp>
          <p:nvSpPr>
            <p:cNvPr id="43" name="TextBox 43"/>
            <p:cNvSpPr txBox="1"/>
            <p:nvPr/>
          </p:nvSpPr>
          <p:spPr>
            <a:xfrm>
              <a:off x="0" y="-9525"/>
              <a:ext cx="3840480" cy="649605"/>
            </a:xfrm>
            <a:prstGeom prst="rect">
              <a:avLst/>
            </a:prstGeom>
          </p:spPr>
          <p:txBody>
            <a:bodyPr lIns="0" tIns="0" rIns="0" bIns="0" rtlCol="0" anchor="ctr"/>
            <a:lstStyle/>
            <a:p>
              <a:pPr algn="ctr">
                <a:lnSpc>
                  <a:spcPts val="2520"/>
                </a:lnSpc>
              </a:pPr>
              <a:r>
                <a:rPr lang="en-US" sz="2100" b="1">
                  <a:solidFill>
                    <a:srgbClr val="FFFFFF"/>
                  </a:solidFill>
                  <a:latin typeface="Arial Bold"/>
                  <a:ea typeface="Arial Bold"/>
                  <a:cs typeface="Arial Bold"/>
                  <a:sym typeface="Arial Bold"/>
                </a:rPr>
                <a:t>Khemrak Pasey</a:t>
              </a:r>
            </a:p>
          </p:txBody>
        </p:sp>
      </p:grpSp>
      <p:grpSp>
        <p:nvGrpSpPr>
          <p:cNvPr id="44" name="Group 44"/>
          <p:cNvGrpSpPr/>
          <p:nvPr/>
        </p:nvGrpSpPr>
        <p:grpSpPr>
          <a:xfrm>
            <a:off x="8046491" y="4759452"/>
            <a:ext cx="2194560" cy="438912"/>
            <a:chOff x="0" y="0"/>
            <a:chExt cx="2926080" cy="585216"/>
          </a:xfrm>
        </p:grpSpPr>
        <p:sp>
          <p:nvSpPr>
            <p:cNvPr id="45" name="Freeform 45"/>
            <p:cNvSpPr/>
            <p:nvPr/>
          </p:nvSpPr>
          <p:spPr>
            <a:xfrm>
              <a:off x="0" y="0"/>
              <a:ext cx="2926080" cy="585216"/>
            </a:xfrm>
            <a:custGeom>
              <a:avLst/>
              <a:gdLst/>
              <a:ahLst/>
              <a:cxnLst/>
              <a:rect l="l" t="t" r="r" b="b"/>
              <a:pathLst>
                <a:path w="2926080" h="585216">
                  <a:moveTo>
                    <a:pt x="0" y="292608"/>
                  </a:moveTo>
                  <a:cubicBezTo>
                    <a:pt x="0" y="131064"/>
                    <a:pt x="131064" y="0"/>
                    <a:pt x="292608" y="0"/>
                  </a:cubicBezTo>
                  <a:lnTo>
                    <a:pt x="2633472" y="0"/>
                  </a:lnTo>
                  <a:cubicBezTo>
                    <a:pt x="2795016" y="0"/>
                    <a:pt x="2926080" y="131064"/>
                    <a:pt x="2926080" y="292608"/>
                  </a:cubicBezTo>
                  <a:cubicBezTo>
                    <a:pt x="2926080" y="454152"/>
                    <a:pt x="2795016" y="585216"/>
                    <a:pt x="2633472" y="585216"/>
                  </a:cubicBezTo>
                  <a:lnTo>
                    <a:pt x="292608" y="585216"/>
                  </a:lnTo>
                  <a:cubicBezTo>
                    <a:pt x="131064" y="585216"/>
                    <a:pt x="0" y="454152"/>
                    <a:pt x="0" y="292608"/>
                  </a:cubicBezTo>
                  <a:close/>
                </a:path>
              </a:pathLst>
            </a:custGeom>
            <a:solidFill>
              <a:srgbClr val="17404A"/>
            </a:solidFill>
          </p:spPr>
        </p:sp>
        <p:sp>
          <p:nvSpPr>
            <p:cNvPr id="46" name="TextBox 46"/>
            <p:cNvSpPr txBox="1"/>
            <p:nvPr/>
          </p:nvSpPr>
          <p:spPr>
            <a:xfrm>
              <a:off x="0" y="-19050"/>
              <a:ext cx="2926080" cy="604266"/>
            </a:xfrm>
            <a:prstGeom prst="rect">
              <a:avLst/>
            </a:prstGeom>
          </p:spPr>
          <p:txBody>
            <a:bodyPr lIns="50800" tIns="50800" rIns="50800" bIns="50800" rtlCol="0" anchor="ctr"/>
            <a:lstStyle/>
            <a:p>
              <a:pPr algn="ctr">
                <a:lnSpc>
                  <a:spcPts val="2070"/>
                </a:lnSpc>
              </a:pPr>
              <a:r>
                <a:rPr lang="en-US" sz="1725" b="1">
                  <a:solidFill>
                    <a:srgbClr val="A7F3D0"/>
                  </a:solidFill>
                  <a:latin typeface="Arial Bold"/>
                  <a:ea typeface="Arial Bold"/>
                  <a:cs typeface="Arial Bold"/>
                  <a:sym typeface="Arial Bold"/>
                </a:rPr>
                <a:t>Business Lead</a:t>
              </a:r>
            </a:p>
          </p:txBody>
        </p:sp>
      </p:grpSp>
      <p:grpSp>
        <p:nvGrpSpPr>
          <p:cNvPr id="47" name="Group 47"/>
          <p:cNvGrpSpPr/>
          <p:nvPr/>
        </p:nvGrpSpPr>
        <p:grpSpPr>
          <a:xfrm>
            <a:off x="7703591" y="5280660"/>
            <a:ext cx="2880360" cy="384048"/>
            <a:chOff x="0" y="0"/>
            <a:chExt cx="3840480" cy="512064"/>
          </a:xfrm>
        </p:grpSpPr>
        <p:sp>
          <p:nvSpPr>
            <p:cNvPr id="48" name="Freeform 48"/>
            <p:cNvSpPr/>
            <p:nvPr/>
          </p:nvSpPr>
          <p:spPr>
            <a:xfrm>
              <a:off x="0" y="0"/>
              <a:ext cx="3840480" cy="512064"/>
            </a:xfrm>
            <a:custGeom>
              <a:avLst/>
              <a:gdLst/>
              <a:ahLst/>
              <a:cxnLst/>
              <a:rect l="l" t="t" r="r" b="b"/>
              <a:pathLst>
                <a:path w="3840480" h="512064">
                  <a:moveTo>
                    <a:pt x="0" y="0"/>
                  </a:moveTo>
                  <a:lnTo>
                    <a:pt x="3840480" y="0"/>
                  </a:lnTo>
                  <a:lnTo>
                    <a:pt x="3840480" y="512064"/>
                  </a:lnTo>
                  <a:lnTo>
                    <a:pt x="0" y="512064"/>
                  </a:lnTo>
                  <a:close/>
                </a:path>
              </a:pathLst>
            </a:custGeom>
            <a:blipFill>
              <a:blip r:embed="rId3">
                <a:alphaModFix amt="0"/>
              </a:blip>
              <a:stretch>
                <a:fillRect t="-96137" b="-96137"/>
              </a:stretch>
            </a:blipFill>
          </p:spPr>
        </p:sp>
        <p:sp>
          <p:nvSpPr>
            <p:cNvPr id="49" name="TextBox 49"/>
            <p:cNvSpPr txBox="1"/>
            <p:nvPr/>
          </p:nvSpPr>
          <p:spPr>
            <a:xfrm>
              <a:off x="0" y="-19050"/>
              <a:ext cx="3840480" cy="531114"/>
            </a:xfrm>
            <a:prstGeom prst="rect">
              <a:avLst/>
            </a:prstGeom>
          </p:spPr>
          <p:txBody>
            <a:bodyPr lIns="0" tIns="0" rIns="0" bIns="0" rtlCol="0" anchor="ctr"/>
            <a:lstStyle/>
            <a:p>
              <a:pPr algn="ctr">
                <a:lnSpc>
                  <a:spcPts val="1980"/>
                </a:lnSpc>
              </a:pPr>
              <a:r>
                <a:rPr lang="en-US" sz="1650">
                  <a:solidFill>
                    <a:srgbClr val="9FB3CF"/>
                  </a:solidFill>
                  <a:latin typeface="Arial"/>
                  <a:ea typeface="Arial"/>
                  <a:cs typeface="Arial"/>
                  <a:sym typeface="Arial"/>
                </a:rPr>
                <a:t>Outreach and strategy</a:t>
              </a:r>
            </a:p>
          </p:txBody>
        </p:sp>
      </p:grpSp>
      <p:grpSp>
        <p:nvGrpSpPr>
          <p:cNvPr id="50" name="Group 50"/>
          <p:cNvGrpSpPr/>
          <p:nvPr/>
        </p:nvGrpSpPr>
        <p:grpSpPr>
          <a:xfrm>
            <a:off x="10940567" y="1783080"/>
            <a:ext cx="3154680" cy="4046220"/>
            <a:chOff x="0" y="0"/>
            <a:chExt cx="4206240" cy="5394960"/>
          </a:xfrm>
        </p:grpSpPr>
        <p:sp>
          <p:nvSpPr>
            <p:cNvPr id="51" name="Freeform 51"/>
            <p:cNvSpPr/>
            <p:nvPr/>
          </p:nvSpPr>
          <p:spPr>
            <a:xfrm>
              <a:off x="0" y="0"/>
              <a:ext cx="4206240" cy="5394960"/>
            </a:xfrm>
            <a:custGeom>
              <a:avLst/>
              <a:gdLst/>
              <a:ahLst/>
              <a:cxnLst/>
              <a:rect l="l" t="t" r="r" b="b"/>
              <a:pathLst>
                <a:path w="4206240" h="5394960">
                  <a:moveTo>
                    <a:pt x="0" y="329184"/>
                  </a:moveTo>
                  <a:cubicBezTo>
                    <a:pt x="0" y="147320"/>
                    <a:pt x="147320" y="0"/>
                    <a:pt x="329184" y="0"/>
                  </a:cubicBezTo>
                  <a:lnTo>
                    <a:pt x="3877056" y="0"/>
                  </a:lnTo>
                  <a:cubicBezTo>
                    <a:pt x="4058920" y="0"/>
                    <a:pt x="4206240" y="147320"/>
                    <a:pt x="4206240" y="329184"/>
                  </a:cubicBezTo>
                  <a:lnTo>
                    <a:pt x="4206240" y="5065776"/>
                  </a:lnTo>
                  <a:cubicBezTo>
                    <a:pt x="4206240" y="5247640"/>
                    <a:pt x="4058920" y="5394960"/>
                    <a:pt x="3877056" y="5394960"/>
                  </a:cubicBezTo>
                  <a:lnTo>
                    <a:pt x="329184" y="5394960"/>
                  </a:lnTo>
                  <a:cubicBezTo>
                    <a:pt x="147320" y="5394960"/>
                    <a:pt x="0" y="5247640"/>
                    <a:pt x="0" y="5065776"/>
                  </a:cubicBezTo>
                  <a:close/>
                </a:path>
              </a:pathLst>
            </a:custGeom>
            <a:solidFill>
              <a:srgbClr val="1A2A4A"/>
            </a:solidFill>
          </p:spPr>
        </p:sp>
      </p:grpSp>
      <p:grpSp>
        <p:nvGrpSpPr>
          <p:cNvPr id="52" name="Group 52"/>
          <p:cNvGrpSpPr/>
          <p:nvPr/>
        </p:nvGrpSpPr>
        <p:grpSpPr>
          <a:xfrm>
            <a:off x="11530355" y="2084832"/>
            <a:ext cx="1975104" cy="1975104"/>
            <a:chOff x="0" y="0"/>
            <a:chExt cx="2633472" cy="2633472"/>
          </a:xfrm>
        </p:grpSpPr>
        <p:sp>
          <p:nvSpPr>
            <p:cNvPr id="53" name="Freeform 53"/>
            <p:cNvSpPr/>
            <p:nvPr/>
          </p:nvSpPr>
          <p:spPr>
            <a:xfrm>
              <a:off x="0" y="0"/>
              <a:ext cx="2633472" cy="2633472"/>
            </a:xfrm>
            <a:custGeom>
              <a:avLst/>
              <a:gdLst/>
              <a:ahLst/>
              <a:cxnLst/>
              <a:rect l="l" t="t" r="r" b="b"/>
              <a:pathLst>
                <a:path w="2633472" h="2633472">
                  <a:moveTo>
                    <a:pt x="0" y="1316736"/>
                  </a:moveTo>
                  <a:cubicBezTo>
                    <a:pt x="0" y="589534"/>
                    <a:pt x="589534" y="0"/>
                    <a:pt x="1316736" y="0"/>
                  </a:cubicBezTo>
                  <a:cubicBezTo>
                    <a:pt x="2043938" y="0"/>
                    <a:pt x="2633472" y="589534"/>
                    <a:pt x="2633472" y="1316736"/>
                  </a:cubicBezTo>
                  <a:cubicBezTo>
                    <a:pt x="2633472" y="2043938"/>
                    <a:pt x="2043938" y="2633472"/>
                    <a:pt x="1316736" y="2633472"/>
                  </a:cubicBezTo>
                  <a:cubicBezTo>
                    <a:pt x="589534" y="2633472"/>
                    <a:pt x="0" y="2043938"/>
                    <a:pt x="0" y="1316736"/>
                  </a:cubicBezTo>
                  <a:close/>
                </a:path>
              </a:pathLst>
            </a:custGeom>
            <a:solidFill>
              <a:srgbClr val="24365A"/>
            </a:solidFill>
          </p:spPr>
        </p:sp>
      </p:grpSp>
      <p:grpSp>
        <p:nvGrpSpPr>
          <p:cNvPr id="54" name="Group 54"/>
          <p:cNvGrpSpPr/>
          <p:nvPr/>
        </p:nvGrpSpPr>
        <p:grpSpPr>
          <a:xfrm>
            <a:off x="11571503" y="2125980"/>
            <a:ext cx="1892808" cy="1892808"/>
            <a:chOff x="0" y="0"/>
            <a:chExt cx="2523744" cy="2523744"/>
          </a:xfrm>
        </p:grpSpPr>
        <p:sp>
          <p:nvSpPr>
            <p:cNvPr id="55" name="Freeform 55" descr="Mom Sothireak"/>
            <p:cNvSpPr/>
            <p:nvPr/>
          </p:nvSpPr>
          <p:spPr>
            <a:xfrm>
              <a:off x="0" y="0"/>
              <a:ext cx="2523744" cy="2523744"/>
            </a:xfrm>
            <a:custGeom>
              <a:avLst/>
              <a:gdLst/>
              <a:ahLst/>
              <a:cxnLst/>
              <a:rect l="l" t="t" r="r" b="b"/>
              <a:pathLst>
                <a:path w="2523744" h="2523744">
                  <a:moveTo>
                    <a:pt x="0" y="0"/>
                  </a:moveTo>
                  <a:lnTo>
                    <a:pt x="2523744" y="0"/>
                  </a:lnTo>
                  <a:lnTo>
                    <a:pt x="2523744" y="2523744"/>
                  </a:lnTo>
                  <a:lnTo>
                    <a:pt x="0" y="2523744"/>
                  </a:lnTo>
                  <a:lnTo>
                    <a:pt x="0" y="0"/>
                  </a:lnTo>
                  <a:close/>
                </a:path>
              </a:pathLst>
            </a:custGeom>
            <a:blipFill>
              <a:blip r:embed="rId7"/>
              <a:stretch>
                <a:fillRect/>
              </a:stretch>
            </a:blipFill>
          </p:spPr>
        </p:sp>
      </p:grpSp>
      <p:grpSp>
        <p:nvGrpSpPr>
          <p:cNvPr id="56" name="Group 56"/>
          <p:cNvGrpSpPr/>
          <p:nvPr/>
        </p:nvGrpSpPr>
        <p:grpSpPr>
          <a:xfrm>
            <a:off x="11077727" y="4251960"/>
            <a:ext cx="2880360" cy="480060"/>
            <a:chOff x="0" y="0"/>
            <a:chExt cx="3840480" cy="640080"/>
          </a:xfrm>
        </p:grpSpPr>
        <p:sp>
          <p:nvSpPr>
            <p:cNvPr id="57" name="Freeform 57"/>
            <p:cNvSpPr/>
            <p:nvPr/>
          </p:nvSpPr>
          <p:spPr>
            <a:xfrm>
              <a:off x="0" y="0"/>
              <a:ext cx="3840480" cy="640080"/>
            </a:xfrm>
            <a:custGeom>
              <a:avLst/>
              <a:gdLst/>
              <a:ahLst/>
              <a:cxnLst/>
              <a:rect l="l" t="t" r="r" b="b"/>
              <a:pathLst>
                <a:path w="3840480" h="640080">
                  <a:moveTo>
                    <a:pt x="0" y="0"/>
                  </a:moveTo>
                  <a:lnTo>
                    <a:pt x="3840480" y="0"/>
                  </a:lnTo>
                  <a:lnTo>
                    <a:pt x="3840480" y="640080"/>
                  </a:lnTo>
                  <a:lnTo>
                    <a:pt x="0" y="640080"/>
                  </a:lnTo>
                  <a:close/>
                </a:path>
              </a:pathLst>
            </a:custGeom>
            <a:blipFill>
              <a:blip r:embed="rId3">
                <a:alphaModFix amt="0"/>
              </a:blip>
              <a:stretch>
                <a:fillRect t="-66910" b="-66910"/>
              </a:stretch>
            </a:blipFill>
          </p:spPr>
        </p:sp>
        <p:sp>
          <p:nvSpPr>
            <p:cNvPr id="58" name="TextBox 58"/>
            <p:cNvSpPr txBox="1"/>
            <p:nvPr/>
          </p:nvSpPr>
          <p:spPr>
            <a:xfrm>
              <a:off x="0" y="-9525"/>
              <a:ext cx="3840480" cy="649605"/>
            </a:xfrm>
            <a:prstGeom prst="rect">
              <a:avLst/>
            </a:prstGeom>
          </p:spPr>
          <p:txBody>
            <a:bodyPr lIns="0" tIns="0" rIns="0" bIns="0" rtlCol="0" anchor="ctr"/>
            <a:lstStyle/>
            <a:p>
              <a:pPr algn="ctr">
                <a:lnSpc>
                  <a:spcPts val="2520"/>
                </a:lnSpc>
              </a:pPr>
              <a:r>
                <a:rPr lang="en-US" sz="2100" b="1">
                  <a:solidFill>
                    <a:srgbClr val="FFFFFF"/>
                  </a:solidFill>
                  <a:latin typeface="Arial Bold"/>
                  <a:ea typeface="Arial Bold"/>
                  <a:cs typeface="Arial Bold"/>
                  <a:sym typeface="Arial Bold"/>
                </a:rPr>
                <a:t>Mom Sothireak</a:t>
              </a:r>
            </a:p>
          </p:txBody>
        </p:sp>
      </p:grpSp>
      <p:grpSp>
        <p:nvGrpSpPr>
          <p:cNvPr id="59" name="Group 59"/>
          <p:cNvGrpSpPr/>
          <p:nvPr/>
        </p:nvGrpSpPr>
        <p:grpSpPr>
          <a:xfrm>
            <a:off x="11420627" y="4759452"/>
            <a:ext cx="2194560" cy="438912"/>
            <a:chOff x="0" y="0"/>
            <a:chExt cx="2926080" cy="585216"/>
          </a:xfrm>
        </p:grpSpPr>
        <p:sp>
          <p:nvSpPr>
            <p:cNvPr id="60" name="Freeform 60"/>
            <p:cNvSpPr/>
            <p:nvPr/>
          </p:nvSpPr>
          <p:spPr>
            <a:xfrm>
              <a:off x="0" y="0"/>
              <a:ext cx="2926080" cy="585216"/>
            </a:xfrm>
            <a:custGeom>
              <a:avLst/>
              <a:gdLst/>
              <a:ahLst/>
              <a:cxnLst/>
              <a:rect l="l" t="t" r="r" b="b"/>
              <a:pathLst>
                <a:path w="2926080" h="585216">
                  <a:moveTo>
                    <a:pt x="0" y="292608"/>
                  </a:moveTo>
                  <a:cubicBezTo>
                    <a:pt x="0" y="131064"/>
                    <a:pt x="131064" y="0"/>
                    <a:pt x="292608" y="0"/>
                  </a:cubicBezTo>
                  <a:lnTo>
                    <a:pt x="2633472" y="0"/>
                  </a:lnTo>
                  <a:cubicBezTo>
                    <a:pt x="2795016" y="0"/>
                    <a:pt x="2926080" y="131064"/>
                    <a:pt x="2926080" y="292608"/>
                  </a:cubicBezTo>
                  <a:cubicBezTo>
                    <a:pt x="2926080" y="454152"/>
                    <a:pt x="2795016" y="585216"/>
                    <a:pt x="2633472" y="585216"/>
                  </a:cubicBezTo>
                  <a:lnTo>
                    <a:pt x="292608" y="585216"/>
                  </a:lnTo>
                  <a:cubicBezTo>
                    <a:pt x="131064" y="585216"/>
                    <a:pt x="0" y="454152"/>
                    <a:pt x="0" y="292608"/>
                  </a:cubicBezTo>
                  <a:close/>
                </a:path>
              </a:pathLst>
            </a:custGeom>
            <a:solidFill>
              <a:srgbClr val="17404A"/>
            </a:solidFill>
          </p:spPr>
        </p:sp>
        <p:sp>
          <p:nvSpPr>
            <p:cNvPr id="61" name="TextBox 61"/>
            <p:cNvSpPr txBox="1"/>
            <p:nvPr/>
          </p:nvSpPr>
          <p:spPr>
            <a:xfrm>
              <a:off x="0" y="-19050"/>
              <a:ext cx="2926080" cy="604266"/>
            </a:xfrm>
            <a:prstGeom prst="rect">
              <a:avLst/>
            </a:prstGeom>
          </p:spPr>
          <p:txBody>
            <a:bodyPr lIns="50800" tIns="50800" rIns="50800" bIns="50800" rtlCol="0" anchor="ctr"/>
            <a:lstStyle/>
            <a:p>
              <a:pPr algn="ctr">
                <a:lnSpc>
                  <a:spcPts val="2070"/>
                </a:lnSpc>
              </a:pPr>
              <a:r>
                <a:rPr lang="en-US" sz="1725" b="1">
                  <a:solidFill>
                    <a:srgbClr val="A7F3D0"/>
                  </a:solidFill>
                  <a:latin typeface="Arial Bold"/>
                  <a:ea typeface="Arial Bold"/>
                  <a:cs typeface="Arial Bold"/>
                  <a:sym typeface="Arial Bold"/>
                </a:rPr>
                <a:t>Pitch Lead</a:t>
              </a:r>
            </a:p>
          </p:txBody>
        </p:sp>
      </p:grpSp>
      <p:grpSp>
        <p:nvGrpSpPr>
          <p:cNvPr id="62" name="Group 62"/>
          <p:cNvGrpSpPr/>
          <p:nvPr/>
        </p:nvGrpSpPr>
        <p:grpSpPr>
          <a:xfrm>
            <a:off x="11077727" y="5280660"/>
            <a:ext cx="2880360" cy="384048"/>
            <a:chOff x="0" y="0"/>
            <a:chExt cx="3840480" cy="512064"/>
          </a:xfrm>
        </p:grpSpPr>
        <p:sp>
          <p:nvSpPr>
            <p:cNvPr id="63" name="Freeform 63"/>
            <p:cNvSpPr/>
            <p:nvPr/>
          </p:nvSpPr>
          <p:spPr>
            <a:xfrm>
              <a:off x="0" y="0"/>
              <a:ext cx="3840480" cy="512064"/>
            </a:xfrm>
            <a:custGeom>
              <a:avLst/>
              <a:gdLst/>
              <a:ahLst/>
              <a:cxnLst/>
              <a:rect l="l" t="t" r="r" b="b"/>
              <a:pathLst>
                <a:path w="3840480" h="512064">
                  <a:moveTo>
                    <a:pt x="0" y="0"/>
                  </a:moveTo>
                  <a:lnTo>
                    <a:pt x="3840480" y="0"/>
                  </a:lnTo>
                  <a:lnTo>
                    <a:pt x="3840480" y="512064"/>
                  </a:lnTo>
                  <a:lnTo>
                    <a:pt x="0" y="512064"/>
                  </a:lnTo>
                  <a:close/>
                </a:path>
              </a:pathLst>
            </a:custGeom>
            <a:blipFill>
              <a:blip r:embed="rId3">
                <a:alphaModFix amt="0"/>
              </a:blip>
              <a:stretch>
                <a:fillRect t="-96137" b="-96137"/>
              </a:stretch>
            </a:blipFill>
          </p:spPr>
        </p:sp>
        <p:sp>
          <p:nvSpPr>
            <p:cNvPr id="64" name="TextBox 64"/>
            <p:cNvSpPr txBox="1"/>
            <p:nvPr/>
          </p:nvSpPr>
          <p:spPr>
            <a:xfrm>
              <a:off x="0" y="-19050"/>
              <a:ext cx="3840480" cy="531114"/>
            </a:xfrm>
            <a:prstGeom prst="rect">
              <a:avLst/>
            </a:prstGeom>
          </p:spPr>
          <p:txBody>
            <a:bodyPr lIns="0" tIns="0" rIns="0" bIns="0" rtlCol="0" anchor="ctr"/>
            <a:lstStyle/>
            <a:p>
              <a:pPr algn="ctr">
                <a:lnSpc>
                  <a:spcPts val="1980"/>
                </a:lnSpc>
              </a:pPr>
              <a:r>
                <a:rPr lang="en-US" sz="1650">
                  <a:solidFill>
                    <a:srgbClr val="9FB3CF"/>
                  </a:solidFill>
                  <a:latin typeface="Arial"/>
                  <a:ea typeface="Arial"/>
                  <a:cs typeface="Arial"/>
                  <a:sym typeface="Arial"/>
                </a:rPr>
                <a:t>Presents our brand story</a:t>
              </a:r>
            </a:p>
          </p:txBody>
        </p:sp>
      </p:grpSp>
      <p:grpSp>
        <p:nvGrpSpPr>
          <p:cNvPr id="65" name="Group 65"/>
          <p:cNvGrpSpPr/>
          <p:nvPr/>
        </p:nvGrpSpPr>
        <p:grpSpPr>
          <a:xfrm>
            <a:off x="14314703" y="1783080"/>
            <a:ext cx="3154680" cy="4046220"/>
            <a:chOff x="0" y="0"/>
            <a:chExt cx="4206240" cy="5394960"/>
          </a:xfrm>
        </p:grpSpPr>
        <p:sp>
          <p:nvSpPr>
            <p:cNvPr id="66" name="Freeform 66"/>
            <p:cNvSpPr/>
            <p:nvPr/>
          </p:nvSpPr>
          <p:spPr>
            <a:xfrm>
              <a:off x="0" y="0"/>
              <a:ext cx="4206240" cy="5394960"/>
            </a:xfrm>
            <a:custGeom>
              <a:avLst/>
              <a:gdLst/>
              <a:ahLst/>
              <a:cxnLst/>
              <a:rect l="l" t="t" r="r" b="b"/>
              <a:pathLst>
                <a:path w="4206240" h="5394960">
                  <a:moveTo>
                    <a:pt x="0" y="329184"/>
                  </a:moveTo>
                  <a:cubicBezTo>
                    <a:pt x="0" y="147320"/>
                    <a:pt x="147320" y="0"/>
                    <a:pt x="329184" y="0"/>
                  </a:cubicBezTo>
                  <a:lnTo>
                    <a:pt x="3877056" y="0"/>
                  </a:lnTo>
                  <a:cubicBezTo>
                    <a:pt x="4058920" y="0"/>
                    <a:pt x="4206240" y="147320"/>
                    <a:pt x="4206240" y="329184"/>
                  </a:cubicBezTo>
                  <a:lnTo>
                    <a:pt x="4206240" y="5065776"/>
                  </a:lnTo>
                  <a:cubicBezTo>
                    <a:pt x="4206240" y="5247640"/>
                    <a:pt x="4058920" y="5394960"/>
                    <a:pt x="3877056" y="5394960"/>
                  </a:cubicBezTo>
                  <a:lnTo>
                    <a:pt x="329184" y="5394960"/>
                  </a:lnTo>
                  <a:cubicBezTo>
                    <a:pt x="147320" y="5394960"/>
                    <a:pt x="0" y="5247640"/>
                    <a:pt x="0" y="5065776"/>
                  </a:cubicBezTo>
                  <a:close/>
                </a:path>
              </a:pathLst>
            </a:custGeom>
            <a:solidFill>
              <a:srgbClr val="1A2A4A"/>
            </a:solidFill>
          </p:spPr>
        </p:sp>
      </p:grpSp>
      <p:grpSp>
        <p:nvGrpSpPr>
          <p:cNvPr id="67" name="Group 67"/>
          <p:cNvGrpSpPr/>
          <p:nvPr/>
        </p:nvGrpSpPr>
        <p:grpSpPr>
          <a:xfrm>
            <a:off x="14904491" y="2084832"/>
            <a:ext cx="1975104" cy="1975104"/>
            <a:chOff x="0" y="0"/>
            <a:chExt cx="2633472" cy="2633472"/>
          </a:xfrm>
        </p:grpSpPr>
        <p:sp>
          <p:nvSpPr>
            <p:cNvPr id="68" name="Freeform 68"/>
            <p:cNvSpPr/>
            <p:nvPr/>
          </p:nvSpPr>
          <p:spPr>
            <a:xfrm>
              <a:off x="0" y="0"/>
              <a:ext cx="2633472" cy="2633472"/>
            </a:xfrm>
            <a:custGeom>
              <a:avLst/>
              <a:gdLst/>
              <a:ahLst/>
              <a:cxnLst/>
              <a:rect l="l" t="t" r="r" b="b"/>
              <a:pathLst>
                <a:path w="2633472" h="2633472">
                  <a:moveTo>
                    <a:pt x="0" y="1316736"/>
                  </a:moveTo>
                  <a:cubicBezTo>
                    <a:pt x="0" y="589534"/>
                    <a:pt x="589534" y="0"/>
                    <a:pt x="1316736" y="0"/>
                  </a:cubicBezTo>
                  <a:cubicBezTo>
                    <a:pt x="2043938" y="0"/>
                    <a:pt x="2633472" y="589534"/>
                    <a:pt x="2633472" y="1316736"/>
                  </a:cubicBezTo>
                  <a:cubicBezTo>
                    <a:pt x="2633472" y="2043938"/>
                    <a:pt x="2043938" y="2633472"/>
                    <a:pt x="1316736" y="2633472"/>
                  </a:cubicBezTo>
                  <a:cubicBezTo>
                    <a:pt x="589534" y="2633472"/>
                    <a:pt x="0" y="2043938"/>
                    <a:pt x="0" y="1316736"/>
                  </a:cubicBezTo>
                  <a:close/>
                </a:path>
              </a:pathLst>
            </a:custGeom>
            <a:solidFill>
              <a:srgbClr val="24365A"/>
            </a:solidFill>
          </p:spPr>
        </p:sp>
      </p:grpSp>
      <p:grpSp>
        <p:nvGrpSpPr>
          <p:cNvPr id="69" name="Group 69"/>
          <p:cNvGrpSpPr/>
          <p:nvPr/>
        </p:nvGrpSpPr>
        <p:grpSpPr>
          <a:xfrm>
            <a:off x="14945639" y="2125980"/>
            <a:ext cx="1892808" cy="1892808"/>
            <a:chOff x="0" y="0"/>
            <a:chExt cx="2523744" cy="2523744"/>
          </a:xfrm>
        </p:grpSpPr>
        <p:sp>
          <p:nvSpPr>
            <p:cNvPr id="70" name="Freeform 70" descr="Vy Seoul"/>
            <p:cNvSpPr/>
            <p:nvPr/>
          </p:nvSpPr>
          <p:spPr>
            <a:xfrm>
              <a:off x="0" y="0"/>
              <a:ext cx="2523744" cy="2523744"/>
            </a:xfrm>
            <a:custGeom>
              <a:avLst/>
              <a:gdLst/>
              <a:ahLst/>
              <a:cxnLst/>
              <a:rect l="l" t="t" r="r" b="b"/>
              <a:pathLst>
                <a:path w="2523744" h="2523744">
                  <a:moveTo>
                    <a:pt x="0" y="0"/>
                  </a:moveTo>
                  <a:lnTo>
                    <a:pt x="2523744" y="0"/>
                  </a:lnTo>
                  <a:lnTo>
                    <a:pt x="2523744" y="2523744"/>
                  </a:lnTo>
                  <a:lnTo>
                    <a:pt x="0" y="2523744"/>
                  </a:lnTo>
                  <a:lnTo>
                    <a:pt x="0" y="0"/>
                  </a:lnTo>
                  <a:close/>
                </a:path>
              </a:pathLst>
            </a:custGeom>
            <a:blipFill>
              <a:blip r:embed="rId8"/>
              <a:stretch>
                <a:fillRect/>
              </a:stretch>
            </a:blipFill>
          </p:spPr>
        </p:sp>
      </p:grpSp>
      <p:grpSp>
        <p:nvGrpSpPr>
          <p:cNvPr id="71" name="Group 71"/>
          <p:cNvGrpSpPr/>
          <p:nvPr/>
        </p:nvGrpSpPr>
        <p:grpSpPr>
          <a:xfrm>
            <a:off x="14451863" y="4251960"/>
            <a:ext cx="2880360" cy="480060"/>
            <a:chOff x="0" y="0"/>
            <a:chExt cx="3840480" cy="640080"/>
          </a:xfrm>
        </p:grpSpPr>
        <p:sp>
          <p:nvSpPr>
            <p:cNvPr id="72" name="Freeform 72"/>
            <p:cNvSpPr/>
            <p:nvPr/>
          </p:nvSpPr>
          <p:spPr>
            <a:xfrm>
              <a:off x="0" y="0"/>
              <a:ext cx="3840480" cy="640080"/>
            </a:xfrm>
            <a:custGeom>
              <a:avLst/>
              <a:gdLst/>
              <a:ahLst/>
              <a:cxnLst/>
              <a:rect l="l" t="t" r="r" b="b"/>
              <a:pathLst>
                <a:path w="3840480" h="640080">
                  <a:moveTo>
                    <a:pt x="0" y="0"/>
                  </a:moveTo>
                  <a:lnTo>
                    <a:pt x="3840480" y="0"/>
                  </a:lnTo>
                  <a:lnTo>
                    <a:pt x="3840480" y="640080"/>
                  </a:lnTo>
                  <a:lnTo>
                    <a:pt x="0" y="640080"/>
                  </a:lnTo>
                  <a:close/>
                </a:path>
              </a:pathLst>
            </a:custGeom>
            <a:blipFill>
              <a:blip r:embed="rId3">
                <a:alphaModFix amt="0"/>
              </a:blip>
              <a:stretch>
                <a:fillRect t="-66910" b="-66910"/>
              </a:stretch>
            </a:blipFill>
          </p:spPr>
        </p:sp>
        <p:sp>
          <p:nvSpPr>
            <p:cNvPr id="73" name="TextBox 73"/>
            <p:cNvSpPr txBox="1"/>
            <p:nvPr/>
          </p:nvSpPr>
          <p:spPr>
            <a:xfrm>
              <a:off x="0" y="-9525"/>
              <a:ext cx="3840480" cy="649605"/>
            </a:xfrm>
            <a:prstGeom prst="rect">
              <a:avLst/>
            </a:prstGeom>
          </p:spPr>
          <p:txBody>
            <a:bodyPr lIns="0" tIns="0" rIns="0" bIns="0" rtlCol="0" anchor="ctr"/>
            <a:lstStyle/>
            <a:p>
              <a:pPr algn="ctr">
                <a:lnSpc>
                  <a:spcPts val="2520"/>
                </a:lnSpc>
              </a:pPr>
              <a:r>
                <a:rPr lang="en-US" sz="2100" b="1">
                  <a:solidFill>
                    <a:srgbClr val="FFFFFF"/>
                  </a:solidFill>
                  <a:latin typeface="Arial Bold"/>
                  <a:ea typeface="Arial Bold"/>
                  <a:cs typeface="Arial Bold"/>
                  <a:sym typeface="Arial Bold"/>
                </a:rPr>
                <a:t>Vy Seoul</a:t>
              </a:r>
            </a:p>
          </p:txBody>
        </p:sp>
      </p:grpSp>
      <p:grpSp>
        <p:nvGrpSpPr>
          <p:cNvPr id="74" name="Group 74"/>
          <p:cNvGrpSpPr/>
          <p:nvPr/>
        </p:nvGrpSpPr>
        <p:grpSpPr>
          <a:xfrm>
            <a:off x="14794763" y="4759452"/>
            <a:ext cx="2194560" cy="438912"/>
            <a:chOff x="0" y="0"/>
            <a:chExt cx="2926080" cy="585216"/>
          </a:xfrm>
        </p:grpSpPr>
        <p:sp>
          <p:nvSpPr>
            <p:cNvPr id="75" name="Freeform 75"/>
            <p:cNvSpPr/>
            <p:nvPr/>
          </p:nvSpPr>
          <p:spPr>
            <a:xfrm>
              <a:off x="0" y="0"/>
              <a:ext cx="2926080" cy="585216"/>
            </a:xfrm>
            <a:custGeom>
              <a:avLst/>
              <a:gdLst/>
              <a:ahLst/>
              <a:cxnLst/>
              <a:rect l="l" t="t" r="r" b="b"/>
              <a:pathLst>
                <a:path w="2926080" h="585216">
                  <a:moveTo>
                    <a:pt x="0" y="292608"/>
                  </a:moveTo>
                  <a:cubicBezTo>
                    <a:pt x="0" y="131064"/>
                    <a:pt x="131064" y="0"/>
                    <a:pt x="292608" y="0"/>
                  </a:cubicBezTo>
                  <a:lnTo>
                    <a:pt x="2633472" y="0"/>
                  </a:lnTo>
                  <a:cubicBezTo>
                    <a:pt x="2795016" y="0"/>
                    <a:pt x="2926080" y="131064"/>
                    <a:pt x="2926080" y="292608"/>
                  </a:cubicBezTo>
                  <a:cubicBezTo>
                    <a:pt x="2926080" y="454152"/>
                    <a:pt x="2795016" y="585216"/>
                    <a:pt x="2633472" y="585216"/>
                  </a:cubicBezTo>
                  <a:lnTo>
                    <a:pt x="292608" y="585216"/>
                  </a:lnTo>
                  <a:cubicBezTo>
                    <a:pt x="131064" y="585216"/>
                    <a:pt x="0" y="454152"/>
                    <a:pt x="0" y="292608"/>
                  </a:cubicBezTo>
                  <a:close/>
                </a:path>
              </a:pathLst>
            </a:custGeom>
            <a:solidFill>
              <a:srgbClr val="17404A"/>
            </a:solidFill>
          </p:spPr>
        </p:sp>
        <p:sp>
          <p:nvSpPr>
            <p:cNvPr id="76" name="TextBox 76"/>
            <p:cNvSpPr txBox="1"/>
            <p:nvPr/>
          </p:nvSpPr>
          <p:spPr>
            <a:xfrm>
              <a:off x="0" y="-19050"/>
              <a:ext cx="2926080" cy="604266"/>
            </a:xfrm>
            <a:prstGeom prst="rect">
              <a:avLst/>
            </a:prstGeom>
          </p:spPr>
          <p:txBody>
            <a:bodyPr lIns="50800" tIns="50800" rIns="50800" bIns="50800" rtlCol="0" anchor="ctr"/>
            <a:lstStyle/>
            <a:p>
              <a:pPr algn="ctr">
                <a:lnSpc>
                  <a:spcPts val="2070"/>
                </a:lnSpc>
              </a:pPr>
              <a:r>
                <a:rPr lang="en-US" sz="1725" b="1">
                  <a:solidFill>
                    <a:srgbClr val="A7F3D0"/>
                  </a:solidFill>
                  <a:latin typeface="Arial Bold"/>
                  <a:ea typeface="Arial Bold"/>
                  <a:cs typeface="Arial Bold"/>
                  <a:sym typeface="Arial Bold"/>
                </a:rPr>
                <a:t>Developer</a:t>
              </a:r>
            </a:p>
          </p:txBody>
        </p:sp>
      </p:grpSp>
      <p:grpSp>
        <p:nvGrpSpPr>
          <p:cNvPr id="77" name="Group 77"/>
          <p:cNvGrpSpPr/>
          <p:nvPr/>
        </p:nvGrpSpPr>
        <p:grpSpPr>
          <a:xfrm>
            <a:off x="14451863" y="5280660"/>
            <a:ext cx="2880360" cy="384048"/>
            <a:chOff x="0" y="0"/>
            <a:chExt cx="3840480" cy="512064"/>
          </a:xfrm>
        </p:grpSpPr>
        <p:sp>
          <p:nvSpPr>
            <p:cNvPr id="78" name="Freeform 78"/>
            <p:cNvSpPr/>
            <p:nvPr/>
          </p:nvSpPr>
          <p:spPr>
            <a:xfrm>
              <a:off x="0" y="0"/>
              <a:ext cx="3840480" cy="512064"/>
            </a:xfrm>
            <a:custGeom>
              <a:avLst/>
              <a:gdLst/>
              <a:ahLst/>
              <a:cxnLst/>
              <a:rect l="l" t="t" r="r" b="b"/>
              <a:pathLst>
                <a:path w="3840480" h="512064">
                  <a:moveTo>
                    <a:pt x="0" y="0"/>
                  </a:moveTo>
                  <a:lnTo>
                    <a:pt x="3840480" y="0"/>
                  </a:lnTo>
                  <a:lnTo>
                    <a:pt x="3840480" y="512064"/>
                  </a:lnTo>
                  <a:lnTo>
                    <a:pt x="0" y="512064"/>
                  </a:lnTo>
                  <a:close/>
                </a:path>
              </a:pathLst>
            </a:custGeom>
            <a:blipFill>
              <a:blip r:embed="rId3">
                <a:alphaModFix amt="0"/>
              </a:blip>
              <a:stretch>
                <a:fillRect t="-96137" b="-96137"/>
              </a:stretch>
            </a:blipFill>
          </p:spPr>
        </p:sp>
        <p:sp>
          <p:nvSpPr>
            <p:cNvPr id="79" name="TextBox 79"/>
            <p:cNvSpPr txBox="1"/>
            <p:nvPr/>
          </p:nvSpPr>
          <p:spPr>
            <a:xfrm>
              <a:off x="0" y="-19050"/>
              <a:ext cx="3840480" cy="531114"/>
            </a:xfrm>
            <a:prstGeom prst="rect">
              <a:avLst/>
            </a:prstGeom>
          </p:spPr>
          <p:txBody>
            <a:bodyPr lIns="0" tIns="0" rIns="0" bIns="0" rtlCol="0" anchor="ctr"/>
            <a:lstStyle/>
            <a:p>
              <a:pPr algn="ctr">
                <a:lnSpc>
                  <a:spcPts val="1980"/>
                </a:lnSpc>
              </a:pPr>
              <a:r>
                <a:rPr lang="en-US" sz="1650">
                  <a:solidFill>
                    <a:srgbClr val="9FB3CF"/>
                  </a:solidFill>
                  <a:latin typeface="Arial"/>
                  <a:ea typeface="Arial"/>
                  <a:cs typeface="Arial"/>
                  <a:sym typeface="Arial"/>
                </a:rPr>
                <a:t>Designs the UX/UI</a:t>
              </a:r>
            </a:p>
          </p:txBody>
        </p:sp>
      </p:grpSp>
      <p:grpSp>
        <p:nvGrpSpPr>
          <p:cNvPr id="80" name="Group 80"/>
          <p:cNvGrpSpPr/>
          <p:nvPr/>
        </p:nvGrpSpPr>
        <p:grpSpPr>
          <a:xfrm>
            <a:off x="7950479" y="6652260"/>
            <a:ext cx="630936" cy="630936"/>
            <a:chOff x="0" y="0"/>
            <a:chExt cx="841248" cy="841248"/>
          </a:xfrm>
        </p:grpSpPr>
        <p:sp>
          <p:nvSpPr>
            <p:cNvPr id="81" name="Freeform 81"/>
            <p:cNvSpPr/>
            <p:nvPr/>
          </p:nvSpPr>
          <p:spPr>
            <a:xfrm>
              <a:off x="0" y="0"/>
              <a:ext cx="841248" cy="841248"/>
            </a:xfrm>
            <a:custGeom>
              <a:avLst/>
              <a:gdLst/>
              <a:ahLst/>
              <a:cxnLst/>
              <a:rect l="l" t="t" r="r" b="b"/>
              <a:pathLst>
                <a:path w="841248" h="841248">
                  <a:moveTo>
                    <a:pt x="0" y="185039"/>
                  </a:moveTo>
                  <a:cubicBezTo>
                    <a:pt x="0" y="82804"/>
                    <a:pt x="82804" y="0"/>
                    <a:pt x="185039" y="0"/>
                  </a:cubicBezTo>
                  <a:lnTo>
                    <a:pt x="656209" y="0"/>
                  </a:lnTo>
                  <a:cubicBezTo>
                    <a:pt x="758444" y="0"/>
                    <a:pt x="841248" y="82804"/>
                    <a:pt x="841248" y="185039"/>
                  </a:cubicBezTo>
                  <a:lnTo>
                    <a:pt x="841248" y="656209"/>
                  </a:lnTo>
                  <a:cubicBezTo>
                    <a:pt x="841248" y="758444"/>
                    <a:pt x="758444" y="841248"/>
                    <a:pt x="656209" y="841248"/>
                  </a:cubicBezTo>
                  <a:lnTo>
                    <a:pt x="185039" y="841248"/>
                  </a:lnTo>
                  <a:cubicBezTo>
                    <a:pt x="82804" y="841248"/>
                    <a:pt x="0" y="758444"/>
                    <a:pt x="0" y="656209"/>
                  </a:cubicBezTo>
                  <a:close/>
                </a:path>
              </a:pathLst>
            </a:custGeom>
            <a:solidFill>
              <a:srgbClr val="F97316"/>
            </a:solidFill>
          </p:spPr>
        </p:sp>
      </p:grpSp>
      <p:grpSp>
        <p:nvGrpSpPr>
          <p:cNvPr id="82" name="Group 82"/>
          <p:cNvGrpSpPr/>
          <p:nvPr/>
        </p:nvGrpSpPr>
        <p:grpSpPr>
          <a:xfrm>
            <a:off x="8101908" y="6803688"/>
            <a:ext cx="328089" cy="328089"/>
            <a:chOff x="0" y="0"/>
            <a:chExt cx="437452" cy="437452"/>
          </a:xfrm>
        </p:grpSpPr>
        <p:sp>
          <p:nvSpPr>
            <p:cNvPr id="83" name="Freeform 83" descr="preencoded.png"/>
            <p:cNvSpPr/>
            <p:nvPr/>
          </p:nvSpPr>
          <p:spPr>
            <a:xfrm>
              <a:off x="0" y="0"/>
              <a:ext cx="437388" cy="437388"/>
            </a:xfrm>
            <a:custGeom>
              <a:avLst/>
              <a:gdLst/>
              <a:ahLst/>
              <a:cxnLst/>
              <a:rect l="l" t="t" r="r" b="b"/>
              <a:pathLst>
                <a:path w="437388" h="437388">
                  <a:moveTo>
                    <a:pt x="0" y="0"/>
                  </a:moveTo>
                  <a:lnTo>
                    <a:pt x="437388" y="0"/>
                  </a:lnTo>
                  <a:lnTo>
                    <a:pt x="437388" y="437388"/>
                  </a:lnTo>
                  <a:lnTo>
                    <a:pt x="0" y="437388"/>
                  </a:lnTo>
                  <a:lnTo>
                    <a:pt x="0" y="0"/>
                  </a:lnTo>
                  <a:close/>
                </a:path>
              </a:pathLst>
            </a:custGeom>
            <a:blipFill>
              <a:blip r:embed="rId9"/>
              <a:stretch>
                <a:fillRect r="-14" b="-14"/>
              </a:stretch>
            </a:blipFill>
          </p:spPr>
        </p:sp>
      </p:grpSp>
      <p:grpSp>
        <p:nvGrpSpPr>
          <p:cNvPr id="84" name="Group 84"/>
          <p:cNvGrpSpPr/>
          <p:nvPr/>
        </p:nvGrpSpPr>
        <p:grpSpPr>
          <a:xfrm>
            <a:off x="8828303" y="6652260"/>
            <a:ext cx="630936" cy="630936"/>
            <a:chOff x="0" y="0"/>
            <a:chExt cx="841248" cy="841248"/>
          </a:xfrm>
        </p:grpSpPr>
        <p:sp>
          <p:nvSpPr>
            <p:cNvPr id="85" name="Freeform 85"/>
            <p:cNvSpPr/>
            <p:nvPr/>
          </p:nvSpPr>
          <p:spPr>
            <a:xfrm>
              <a:off x="0" y="0"/>
              <a:ext cx="841248" cy="841248"/>
            </a:xfrm>
            <a:custGeom>
              <a:avLst/>
              <a:gdLst/>
              <a:ahLst/>
              <a:cxnLst/>
              <a:rect l="l" t="t" r="r" b="b"/>
              <a:pathLst>
                <a:path w="841248" h="841248">
                  <a:moveTo>
                    <a:pt x="0" y="185039"/>
                  </a:moveTo>
                  <a:cubicBezTo>
                    <a:pt x="0" y="82804"/>
                    <a:pt x="82804" y="0"/>
                    <a:pt x="185039" y="0"/>
                  </a:cubicBezTo>
                  <a:lnTo>
                    <a:pt x="656209" y="0"/>
                  </a:lnTo>
                  <a:cubicBezTo>
                    <a:pt x="758444" y="0"/>
                    <a:pt x="841248" y="82804"/>
                    <a:pt x="841248" y="185039"/>
                  </a:cubicBezTo>
                  <a:lnTo>
                    <a:pt x="841248" y="656209"/>
                  </a:lnTo>
                  <a:cubicBezTo>
                    <a:pt x="841248" y="758444"/>
                    <a:pt x="758444" y="841248"/>
                    <a:pt x="656209" y="841248"/>
                  </a:cubicBezTo>
                  <a:lnTo>
                    <a:pt x="185039" y="841248"/>
                  </a:lnTo>
                  <a:cubicBezTo>
                    <a:pt x="82804" y="841248"/>
                    <a:pt x="0" y="758444"/>
                    <a:pt x="0" y="656209"/>
                  </a:cubicBezTo>
                  <a:close/>
                </a:path>
              </a:pathLst>
            </a:custGeom>
            <a:solidFill>
              <a:srgbClr val="2463E8"/>
            </a:solidFill>
          </p:spPr>
        </p:sp>
      </p:grpSp>
      <p:grpSp>
        <p:nvGrpSpPr>
          <p:cNvPr id="86" name="Group 86"/>
          <p:cNvGrpSpPr/>
          <p:nvPr/>
        </p:nvGrpSpPr>
        <p:grpSpPr>
          <a:xfrm>
            <a:off x="8979732" y="6803688"/>
            <a:ext cx="328089" cy="328089"/>
            <a:chOff x="0" y="0"/>
            <a:chExt cx="437452" cy="437452"/>
          </a:xfrm>
        </p:grpSpPr>
        <p:sp>
          <p:nvSpPr>
            <p:cNvPr id="87" name="Freeform 87" descr="preencoded.png"/>
            <p:cNvSpPr/>
            <p:nvPr/>
          </p:nvSpPr>
          <p:spPr>
            <a:xfrm>
              <a:off x="0" y="0"/>
              <a:ext cx="437388" cy="437388"/>
            </a:xfrm>
            <a:custGeom>
              <a:avLst/>
              <a:gdLst/>
              <a:ahLst/>
              <a:cxnLst/>
              <a:rect l="l" t="t" r="r" b="b"/>
              <a:pathLst>
                <a:path w="437388" h="437388">
                  <a:moveTo>
                    <a:pt x="0" y="0"/>
                  </a:moveTo>
                  <a:lnTo>
                    <a:pt x="437388" y="0"/>
                  </a:lnTo>
                  <a:lnTo>
                    <a:pt x="437388" y="437388"/>
                  </a:lnTo>
                  <a:lnTo>
                    <a:pt x="0" y="437388"/>
                  </a:lnTo>
                  <a:lnTo>
                    <a:pt x="0" y="0"/>
                  </a:lnTo>
                  <a:close/>
                </a:path>
              </a:pathLst>
            </a:custGeom>
            <a:blipFill>
              <a:blip r:embed="rId10"/>
              <a:stretch>
                <a:fillRect r="-14" b="-14"/>
              </a:stretch>
            </a:blipFill>
          </p:spPr>
        </p:sp>
      </p:grpSp>
      <p:grpSp>
        <p:nvGrpSpPr>
          <p:cNvPr id="88" name="Group 88"/>
          <p:cNvGrpSpPr/>
          <p:nvPr/>
        </p:nvGrpSpPr>
        <p:grpSpPr>
          <a:xfrm>
            <a:off x="9706127" y="6652260"/>
            <a:ext cx="630936" cy="630936"/>
            <a:chOff x="0" y="0"/>
            <a:chExt cx="841248" cy="841248"/>
          </a:xfrm>
        </p:grpSpPr>
        <p:sp>
          <p:nvSpPr>
            <p:cNvPr id="89" name="Freeform 89"/>
            <p:cNvSpPr/>
            <p:nvPr/>
          </p:nvSpPr>
          <p:spPr>
            <a:xfrm>
              <a:off x="0" y="0"/>
              <a:ext cx="841248" cy="841248"/>
            </a:xfrm>
            <a:custGeom>
              <a:avLst/>
              <a:gdLst/>
              <a:ahLst/>
              <a:cxnLst/>
              <a:rect l="l" t="t" r="r" b="b"/>
              <a:pathLst>
                <a:path w="841248" h="841248">
                  <a:moveTo>
                    <a:pt x="0" y="185039"/>
                  </a:moveTo>
                  <a:cubicBezTo>
                    <a:pt x="0" y="82804"/>
                    <a:pt x="82804" y="0"/>
                    <a:pt x="185039" y="0"/>
                  </a:cubicBezTo>
                  <a:lnTo>
                    <a:pt x="656209" y="0"/>
                  </a:lnTo>
                  <a:cubicBezTo>
                    <a:pt x="758444" y="0"/>
                    <a:pt x="841248" y="82804"/>
                    <a:pt x="841248" y="185039"/>
                  </a:cubicBezTo>
                  <a:lnTo>
                    <a:pt x="841248" y="656209"/>
                  </a:lnTo>
                  <a:cubicBezTo>
                    <a:pt x="841248" y="758444"/>
                    <a:pt x="758444" y="841248"/>
                    <a:pt x="656209" y="841248"/>
                  </a:cubicBezTo>
                  <a:lnTo>
                    <a:pt x="185039" y="841248"/>
                  </a:lnTo>
                  <a:cubicBezTo>
                    <a:pt x="82804" y="841248"/>
                    <a:pt x="0" y="758444"/>
                    <a:pt x="0" y="656209"/>
                  </a:cubicBezTo>
                  <a:close/>
                </a:path>
              </a:pathLst>
            </a:custGeom>
            <a:solidFill>
              <a:srgbClr val="0AA7A2"/>
            </a:solidFill>
          </p:spPr>
        </p:sp>
      </p:grpSp>
      <p:grpSp>
        <p:nvGrpSpPr>
          <p:cNvPr id="90" name="Group 90"/>
          <p:cNvGrpSpPr/>
          <p:nvPr/>
        </p:nvGrpSpPr>
        <p:grpSpPr>
          <a:xfrm>
            <a:off x="9857556" y="6803688"/>
            <a:ext cx="328089" cy="328089"/>
            <a:chOff x="0" y="0"/>
            <a:chExt cx="437452" cy="437452"/>
          </a:xfrm>
        </p:grpSpPr>
        <p:sp>
          <p:nvSpPr>
            <p:cNvPr id="91" name="Freeform 91" descr="preencoded.png"/>
            <p:cNvSpPr/>
            <p:nvPr/>
          </p:nvSpPr>
          <p:spPr>
            <a:xfrm>
              <a:off x="0" y="0"/>
              <a:ext cx="437388" cy="437388"/>
            </a:xfrm>
            <a:custGeom>
              <a:avLst/>
              <a:gdLst/>
              <a:ahLst/>
              <a:cxnLst/>
              <a:rect l="l" t="t" r="r" b="b"/>
              <a:pathLst>
                <a:path w="437388" h="437388">
                  <a:moveTo>
                    <a:pt x="0" y="0"/>
                  </a:moveTo>
                  <a:lnTo>
                    <a:pt x="437388" y="0"/>
                  </a:lnTo>
                  <a:lnTo>
                    <a:pt x="437388" y="437388"/>
                  </a:lnTo>
                  <a:lnTo>
                    <a:pt x="0" y="437388"/>
                  </a:lnTo>
                  <a:lnTo>
                    <a:pt x="0" y="0"/>
                  </a:lnTo>
                  <a:close/>
                </a:path>
              </a:pathLst>
            </a:custGeom>
            <a:blipFill>
              <a:blip r:embed="rId11"/>
              <a:stretch>
                <a:fillRect r="-14" b="-14"/>
              </a:stretch>
            </a:blipFill>
          </p:spPr>
        </p:sp>
      </p:grpSp>
      <p:grpSp>
        <p:nvGrpSpPr>
          <p:cNvPr id="92" name="Group 92"/>
          <p:cNvGrpSpPr/>
          <p:nvPr/>
        </p:nvGrpSpPr>
        <p:grpSpPr>
          <a:xfrm>
            <a:off x="0" y="7543800"/>
            <a:ext cx="18287543" cy="1028700"/>
            <a:chOff x="0" y="0"/>
            <a:chExt cx="24383390" cy="1371600"/>
          </a:xfrm>
        </p:grpSpPr>
        <p:sp>
          <p:nvSpPr>
            <p:cNvPr id="93" name="Freeform 93"/>
            <p:cNvSpPr/>
            <p:nvPr/>
          </p:nvSpPr>
          <p:spPr>
            <a:xfrm>
              <a:off x="0" y="0"/>
              <a:ext cx="24383391" cy="1371600"/>
            </a:xfrm>
            <a:custGeom>
              <a:avLst/>
              <a:gdLst/>
              <a:ahLst/>
              <a:cxnLst/>
              <a:rect l="l" t="t" r="r" b="b"/>
              <a:pathLst>
                <a:path w="24383391" h="1371600">
                  <a:moveTo>
                    <a:pt x="0" y="0"/>
                  </a:moveTo>
                  <a:lnTo>
                    <a:pt x="24383391" y="0"/>
                  </a:lnTo>
                  <a:lnTo>
                    <a:pt x="24383391" y="1371600"/>
                  </a:lnTo>
                  <a:lnTo>
                    <a:pt x="0" y="1371600"/>
                  </a:lnTo>
                  <a:close/>
                </a:path>
              </a:pathLst>
            </a:custGeom>
            <a:blipFill>
              <a:blip r:embed="rId3">
                <a:alphaModFix amt="0"/>
              </a:blip>
              <a:stretch>
                <a:fillRect t="-296392" b="-296392"/>
              </a:stretch>
            </a:blipFill>
          </p:spPr>
        </p:sp>
        <p:sp>
          <p:nvSpPr>
            <p:cNvPr id="94" name="TextBox 94"/>
            <p:cNvSpPr txBox="1"/>
            <p:nvPr/>
          </p:nvSpPr>
          <p:spPr>
            <a:xfrm>
              <a:off x="0" y="-28575"/>
              <a:ext cx="24383390" cy="1400175"/>
            </a:xfrm>
            <a:prstGeom prst="rect">
              <a:avLst/>
            </a:prstGeom>
          </p:spPr>
          <p:txBody>
            <a:bodyPr lIns="0" tIns="0" rIns="0" bIns="0" rtlCol="0" anchor="ctr"/>
            <a:lstStyle/>
            <a:p>
              <a:pPr algn="ctr">
                <a:lnSpc>
                  <a:spcPts val="6480"/>
                </a:lnSpc>
              </a:pPr>
              <a:r>
                <a:rPr lang="en-US" sz="5400" b="1">
                  <a:solidFill>
                    <a:srgbClr val="FFFFFF"/>
                  </a:solidFill>
                  <a:latin typeface="Arial Bold"/>
                  <a:ea typeface="Arial Bold"/>
                  <a:cs typeface="Arial Bold"/>
                  <a:sym typeface="Arial Bold"/>
                </a:rPr>
                <a:t>Sell everywhere. Manage once.</a:t>
              </a:r>
            </a:p>
          </p:txBody>
        </p:sp>
      </p:grpSp>
      <p:grpSp>
        <p:nvGrpSpPr>
          <p:cNvPr id="95" name="Group 95"/>
          <p:cNvGrpSpPr/>
          <p:nvPr/>
        </p:nvGrpSpPr>
        <p:grpSpPr>
          <a:xfrm>
            <a:off x="822960" y="9532620"/>
            <a:ext cx="5486400" cy="411480"/>
            <a:chOff x="0" y="0"/>
            <a:chExt cx="7315200" cy="548640"/>
          </a:xfrm>
        </p:grpSpPr>
        <p:sp>
          <p:nvSpPr>
            <p:cNvPr id="96" name="Freeform 96"/>
            <p:cNvSpPr/>
            <p:nvPr/>
          </p:nvSpPr>
          <p:spPr>
            <a:xfrm>
              <a:off x="0" y="0"/>
              <a:ext cx="7315200" cy="548640"/>
            </a:xfrm>
            <a:custGeom>
              <a:avLst/>
              <a:gdLst/>
              <a:ahLst/>
              <a:cxnLst/>
              <a:rect l="l" t="t" r="r" b="b"/>
              <a:pathLst>
                <a:path w="7315200" h="548640">
                  <a:moveTo>
                    <a:pt x="0" y="0"/>
                  </a:moveTo>
                  <a:lnTo>
                    <a:pt x="7315200" y="0"/>
                  </a:lnTo>
                  <a:lnTo>
                    <a:pt x="7315200" y="548640"/>
                  </a:lnTo>
                  <a:lnTo>
                    <a:pt x="0" y="548640"/>
                  </a:lnTo>
                  <a:close/>
                </a:path>
              </a:pathLst>
            </a:custGeom>
            <a:blipFill>
              <a:blip r:embed="rId3">
                <a:alphaModFix amt="0"/>
              </a:blip>
              <a:stretch>
                <a:fillRect t="-209800" b="-209800"/>
              </a:stretch>
            </a:blipFill>
          </p:spPr>
        </p:sp>
        <p:sp>
          <p:nvSpPr>
            <p:cNvPr id="97" name="TextBox 97"/>
            <p:cNvSpPr txBox="1"/>
            <p:nvPr/>
          </p:nvSpPr>
          <p:spPr>
            <a:xfrm>
              <a:off x="0" y="-19050"/>
              <a:ext cx="7315200" cy="567690"/>
            </a:xfrm>
            <a:prstGeom prst="rect">
              <a:avLst/>
            </a:prstGeom>
          </p:spPr>
          <p:txBody>
            <a:bodyPr lIns="0" tIns="0" rIns="0" bIns="0" rtlCol="0" anchor="ctr"/>
            <a:lstStyle/>
            <a:p>
              <a:pPr algn="l">
                <a:lnSpc>
                  <a:spcPts val="1980"/>
                </a:lnSpc>
              </a:pPr>
              <a:r>
                <a:rPr lang="en-US" sz="1650">
                  <a:solidFill>
                    <a:srgbClr val="9FB3CF"/>
                  </a:solidFill>
                  <a:latin typeface="Arial"/>
                  <a:ea typeface="Arial"/>
                  <a:cs typeface="Arial"/>
                  <a:sym typeface="Arial"/>
                </a:rPr>
                <a:t>Thank you.</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11D35"/>
        </a:solidFill>
        <a:effectLst/>
      </p:bgPr>
    </p:bg>
    <p:spTree>
      <p:nvGrpSpPr>
        <p:cNvPr id="1" name=""/>
        <p:cNvGrpSpPr/>
        <p:nvPr/>
      </p:nvGrpSpPr>
      <p:grpSpPr>
        <a:xfrm>
          <a:off x="0" y="0"/>
          <a:ext cx="0" cy="0"/>
          <a:chOff x="0" y="0"/>
          <a:chExt cx="0" cy="0"/>
        </a:xfrm>
      </p:grpSpPr>
      <p:sp>
        <p:nvSpPr>
          <p:cNvPr id="2" name="TextBox 2"/>
          <p:cNvSpPr txBox="1"/>
          <p:nvPr/>
        </p:nvSpPr>
        <p:spPr>
          <a:xfrm>
            <a:off x="822960" y="3674745"/>
            <a:ext cx="16459200" cy="1400175"/>
          </a:xfrm>
          <a:prstGeom prst="rect">
            <a:avLst/>
          </a:prstGeom>
        </p:spPr>
        <p:txBody>
          <a:bodyPr lIns="0" tIns="0" rIns="0" bIns="0" rtlCol="0" anchor="t">
            <a:spAutoFit/>
          </a:bodyPr>
          <a:lstStyle/>
          <a:p>
            <a:pPr algn="l">
              <a:lnSpc>
                <a:spcPts val="8640"/>
              </a:lnSpc>
            </a:pPr>
            <a:r>
              <a:rPr lang="en-US" sz="7200" b="1">
                <a:solidFill>
                  <a:srgbClr val="FFFFFF"/>
                </a:solidFill>
                <a:latin typeface="Arial Bold"/>
                <a:ea typeface="Arial Bold"/>
                <a:cs typeface="Arial Bold"/>
                <a:sym typeface="Arial Bold"/>
              </a:rPr>
              <a:t>Appendix</a:t>
            </a:r>
          </a:p>
        </p:txBody>
      </p:sp>
      <p:sp>
        <p:nvSpPr>
          <p:cNvPr id="3" name="TextBox 3"/>
          <p:cNvSpPr txBox="1"/>
          <p:nvPr/>
        </p:nvSpPr>
        <p:spPr>
          <a:xfrm>
            <a:off x="822960" y="5133975"/>
            <a:ext cx="16459200" cy="695325"/>
          </a:xfrm>
          <a:prstGeom prst="rect">
            <a:avLst/>
          </a:prstGeom>
        </p:spPr>
        <p:txBody>
          <a:bodyPr lIns="0" tIns="0" rIns="0" bIns="0" rtlCol="0" anchor="t">
            <a:spAutoFit/>
          </a:bodyPr>
          <a:lstStyle/>
          <a:p>
            <a:pPr algn="l">
              <a:lnSpc>
                <a:spcPts val="2879"/>
              </a:lnSpc>
            </a:pPr>
            <a:r>
              <a:rPr lang="en-US" sz="2400">
                <a:solidFill>
                  <a:srgbClr val="D6F4F0"/>
                </a:solidFill>
                <a:latin typeface="Arial"/>
                <a:ea typeface="Arial"/>
                <a:cs typeface="Arial"/>
                <a:sym typeface="Arial"/>
              </a:rPr>
              <a:t>Competitors · Market math · Financial detail · Business model canvas · Delivery partners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22960" y="588645"/>
            <a:ext cx="16596360" cy="800100"/>
          </a:xfrm>
          <a:prstGeom prst="rect">
            <a:avLst/>
          </a:prstGeom>
        </p:spPr>
        <p:txBody>
          <a:bodyPr lIns="0" tIns="0" rIns="0" bIns="0" rtlCol="0" anchor="t">
            <a:spAutoFit/>
          </a:bodyPr>
          <a:lstStyle/>
          <a:p>
            <a:pPr algn="l">
              <a:lnSpc>
                <a:spcPts val="6120"/>
              </a:lnSpc>
            </a:pPr>
            <a:r>
              <a:rPr lang="en-US" sz="5100" b="1">
                <a:solidFill>
                  <a:srgbClr val="15243A"/>
                </a:solidFill>
                <a:latin typeface="Arial Bold"/>
                <a:ea typeface="Arial Bold"/>
                <a:cs typeface="Arial Bold"/>
                <a:sym typeface="Arial Bold"/>
              </a:rPr>
              <a:t>Competitor evidence</a:t>
            </a:r>
          </a:p>
        </p:txBody>
      </p:sp>
      <p:graphicFrame>
        <p:nvGraphicFramePr>
          <p:cNvPr id="3" name="Table 3"/>
          <p:cNvGraphicFramePr>
            <a:graphicFrameLocks noGrp="1"/>
          </p:cNvGraphicFramePr>
          <p:nvPr/>
        </p:nvGraphicFramePr>
        <p:xfrm>
          <a:off x="822960" y="2057400"/>
          <a:ext cx="16611600" cy="5029200"/>
        </p:xfrm>
        <a:graphic>
          <a:graphicData uri="http://schemas.openxmlformats.org/drawingml/2006/table">
            <a:tbl>
              <a:tblPr/>
              <a:tblGrid>
                <a:gridCol w="3025761">
                  <a:extLst>
                    <a:ext uri="{9D8B030D-6E8A-4147-A177-3AD203B41FA5}">
                      <a16:colId xmlns:a16="http://schemas.microsoft.com/office/drawing/2014/main" val="20000"/>
                    </a:ext>
                  </a:extLst>
                </a:gridCol>
                <a:gridCol w="7249338">
                  <a:extLst>
                    <a:ext uri="{9D8B030D-6E8A-4147-A177-3AD203B41FA5}">
                      <a16:colId xmlns:a16="http://schemas.microsoft.com/office/drawing/2014/main" val="20001"/>
                    </a:ext>
                  </a:extLst>
                </a:gridCol>
                <a:gridCol w="6336501">
                  <a:extLst>
                    <a:ext uri="{9D8B030D-6E8A-4147-A177-3AD203B41FA5}">
                      <a16:colId xmlns:a16="http://schemas.microsoft.com/office/drawing/2014/main" val="20002"/>
                    </a:ext>
                  </a:extLst>
                </a:gridCol>
              </a:tblGrid>
              <a:tr h="838200">
                <a:tc>
                  <a:txBody>
                    <a:bodyPr/>
                    <a:lstStyle/>
                    <a:p>
                      <a:pPr algn="l">
                        <a:lnSpc>
                          <a:spcPts val="2520"/>
                        </a:lnSpc>
                        <a:defRPr/>
                      </a:pPr>
                      <a:r>
                        <a:rPr lang="en-US" sz="2100" b="1">
                          <a:solidFill>
                            <a:srgbClr val="FFFFFF"/>
                          </a:solidFill>
                          <a:latin typeface="Arial Bold"/>
                          <a:ea typeface="Arial Bold"/>
                          <a:cs typeface="Arial Bold"/>
                          <a:sym typeface="Arial Bold"/>
                        </a:rPr>
                        <a:t>Alternative</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11D35"/>
                    </a:solidFill>
                  </a:tcPr>
                </a:tc>
                <a:tc>
                  <a:txBody>
                    <a:bodyPr/>
                    <a:lstStyle/>
                    <a:p>
                      <a:pPr algn="l">
                        <a:lnSpc>
                          <a:spcPts val="2520"/>
                        </a:lnSpc>
                        <a:defRPr/>
                      </a:pPr>
                      <a:r>
                        <a:rPr lang="en-US" sz="2100" b="1">
                          <a:solidFill>
                            <a:srgbClr val="FFFFFF"/>
                          </a:solidFill>
                          <a:latin typeface="Arial Bold"/>
                          <a:ea typeface="Arial Bold"/>
                          <a:cs typeface="Arial Bold"/>
                          <a:sym typeface="Arial Bold"/>
                        </a:rPr>
                        <a:t>Publicly described offer</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11D35"/>
                    </a:solidFill>
                  </a:tcPr>
                </a:tc>
                <a:tc>
                  <a:txBody>
                    <a:bodyPr/>
                    <a:lstStyle/>
                    <a:p>
                      <a:pPr algn="l">
                        <a:lnSpc>
                          <a:spcPts val="2520"/>
                        </a:lnSpc>
                        <a:defRPr/>
                      </a:pPr>
                      <a:r>
                        <a:rPr lang="en-US" sz="2100" b="1">
                          <a:solidFill>
                            <a:srgbClr val="FFFFFF"/>
                          </a:solidFill>
                          <a:latin typeface="Arial Bold"/>
                          <a:ea typeface="Arial Bold"/>
                          <a:cs typeface="Arial Bold"/>
                          <a:sym typeface="Arial Bold"/>
                        </a:rPr>
                        <a:t>What we compare in pilots</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11D35"/>
                    </a:solidFill>
                  </a:tcPr>
                </a:tc>
                <a:extLst>
                  <a:ext uri="{0D108BD9-81ED-4DB2-BD59-A6C34878D82A}">
                    <a16:rowId xmlns:a16="http://schemas.microsoft.com/office/drawing/2014/main" val="10000"/>
                  </a:ext>
                </a:extLst>
              </a:tr>
              <a:tr h="838200">
                <a:tc>
                  <a:txBody>
                    <a:bodyPr/>
                    <a:lstStyle/>
                    <a:p>
                      <a:pPr algn="l">
                        <a:lnSpc>
                          <a:spcPts val="2520"/>
                        </a:lnSpc>
                        <a:defRPr/>
                      </a:pPr>
                      <a:r>
                        <a:rPr lang="en-US" sz="2100">
                          <a:solidFill>
                            <a:srgbClr val="15243A"/>
                          </a:solidFill>
                          <a:latin typeface="Arial"/>
                          <a:ea typeface="Arial"/>
                          <a:cs typeface="Arial"/>
                          <a:sym typeface="Arial"/>
                        </a:rPr>
                        <a:t>Khmer24</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520"/>
                        </a:lnSpc>
                        <a:defRPr/>
                      </a:pPr>
                      <a:r>
                        <a:rPr lang="en-US" sz="2100">
                          <a:solidFill>
                            <a:srgbClr val="15243A"/>
                          </a:solidFill>
                          <a:latin typeface="Arial"/>
                          <a:ea typeface="Arial"/>
                          <a:cs typeface="Arial"/>
                          <a:sym typeface="Arial"/>
                        </a:rPr>
                        <a:t>Broad listings across goods, property, jobs and services</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520"/>
                        </a:lnSpc>
                        <a:defRPr/>
                      </a:pPr>
                      <a:r>
                        <a:rPr lang="en-US" sz="2100">
                          <a:solidFill>
                            <a:srgbClr val="15243A"/>
                          </a:solidFill>
                          <a:latin typeface="Arial"/>
                          <a:ea typeface="Arial"/>
                          <a:cs typeface="Arial"/>
                          <a:sym typeface="Arial"/>
                        </a:rPr>
                        <a:t>Seller workflow for stock and orders</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extLst>
                  <a:ext uri="{0D108BD9-81ED-4DB2-BD59-A6C34878D82A}">
                    <a16:rowId xmlns:a16="http://schemas.microsoft.com/office/drawing/2014/main" val="10001"/>
                  </a:ext>
                </a:extLst>
              </a:tr>
              <a:tr h="838200">
                <a:tc>
                  <a:txBody>
                    <a:bodyPr/>
                    <a:lstStyle/>
                    <a:p>
                      <a:pPr algn="l">
                        <a:lnSpc>
                          <a:spcPts val="2520"/>
                        </a:lnSpc>
                        <a:defRPr/>
                      </a:pPr>
                      <a:r>
                        <a:rPr lang="en-US" sz="2100">
                          <a:solidFill>
                            <a:srgbClr val="15243A"/>
                          </a:solidFill>
                          <a:latin typeface="Arial"/>
                          <a:ea typeface="Arial"/>
                          <a:cs typeface="Arial"/>
                          <a:sym typeface="Arial"/>
                        </a:rPr>
                        <a:t>Smile Shop</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520"/>
                        </a:lnSpc>
                        <a:defRPr/>
                      </a:pPr>
                      <a:r>
                        <a:rPr lang="en-US" sz="2100">
                          <a:solidFill>
                            <a:srgbClr val="15243A"/>
                          </a:solidFill>
                          <a:latin typeface="Arial"/>
                          <a:ea typeface="Arial"/>
                          <a:cs typeface="Arial"/>
                          <a:sym typeface="Arial"/>
                        </a:rPr>
                        <a:t>Multi-merchant app with delivery, payment and returns</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520"/>
                        </a:lnSpc>
                        <a:defRPr/>
                      </a:pPr>
                      <a:r>
                        <a:rPr lang="en-US" sz="2100">
                          <a:solidFill>
                            <a:srgbClr val="15243A"/>
                          </a:solidFill>
                          <a:latin typeface="Arial"/>
                          <a:ea typeface="Arial"/>
                          <a:cs typeface="Arial"/>
                          <a:sym typeface="Arial"/>
                        </a:rPr>
                        <a:t>Merchant brand and storefront control</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extLst>
                  <a:ext uri="{0D108BD9-81ED-4DB2-BD59-A6C34878D82A}">
                    <a16:rowId xmlns:a16="http://schemas.microsoft.com/office/drawing/2014/main" val="10002"/>
                  </a:ext>
                </a:extLst>
              </a:tr>
              <a:tr h="838200">
                <a:tc>
                  <a:txBody>
                    <a:bodyPr/>
                    <a:lstStyle/>
                    <a:p>
                      <a:pPr algn="l">
                        <a:lnSpc>
                          <a:spcPts val="2520"/>
                        </a:lnSpc>
                        <a:defRPr/>
                      </a:pPr>
                      <a:r>
                        <a:rPr lang="en-US" sz="2100">
                          <a:solidFill>
                            <a:srgbClr val="15243A"/>
                          </a:solidFill>
                          <a:latin typeface="Arial"/>
                          <a:ea typeface="Arial"/>
                          <a:cs typeface="Arial"/>
                          <a:sym typeface="Arial"/>
                        </a:rPr>
                        <a:t>VTENH</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520"/>
                        </a:lnSpc>
                        <a:defRPr/>
                      </a:pPr>
                      <a:r>
                        <a:rPr lang="en-US" sz="2100">
                          <a:solidFill>
                            <a:srgbClr val="15243A"/>
                          </a:solidFill>
                          <a:latin typeface="Arial"/>
                          <a:ea typeface="Arial"/>
                          <a:cs typeface="Arial"/>
                          <a:sym typeface="Arial"/>
                        </a:rPr>
                        <a:t>Marketplace with nationwide delivery, card and ABA payments</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520"/>
                        </a:lnSpc>
                        <a:defRPr/>
                      </a:pPr>
                      <a:r>
                        <a:rPr lang="en-US" sz="2100">
                          <a:solidFill>
                            <a:srgbClr val="15243A"/>
                          </a:solidFill>
                          <a:latin typeface="Arial"/>
                          <a:ea typeface="Arial"/>
                          <a:cs typeface="Arial"/>
                          <a:sym typeface="Arial"/>
                        </a:rPr>
                        <a:t>Seller terms and total cost</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extLst>
                  <a:ext uri="{0D108BD9-81ED-4DB2-BD59-A6C34878D82A}">
                    <a16:rowId xmlns:a16="http://schemas.microsoft.com/office/drawing/2014/main" val="10003"/>
                  </a:ext>
                </a:extLst>
              </a:tr>
              <a:tr h="838200">
                <a:tc>
                  <a:txBody>
                    <a:bodyPr/>
                    <a:lstStyle/>
                    <a:p>
                      <a:pPr algn="l">
                        <a:lnSpc>
                          <a:spcPts val="2520"/>
                        </a:lnSpc>
                        <a:defRPr/>
                      </a:pPr>
                      <a:r>
                        <a:rPr lang="en-US" sz="2100">
                          <a:solidFill>
                            <a:srgbClr val="15243A"/>
                          </a:solidFill>
                          <a:latin typeface="Arial"/>
                          <a:ea typeface="Arial"/>
                          <a:cs typeface="Arial"/>
                          <a:sym typeface="Arial"/>
                        </a:rPr>
                        <a:t>Shopify</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520"/>
                        </a:lnSpc>
                        <a:defRPr/>
                      </a:pPr>
                      <a:r>
                        <a:rPr lang="en-US" sz="2100">
                          <a:solidFill>
                            <a:srgbClr val="15243A"/>
                          </a:solidFill>
                          <a:latin typeface="Arial"/>
                          <a:ea typeface="Arial"/>
                          <a:cs typeface="Arial"/>
                          <a:sym typeface="Arial"/>
                        </a:rPr>
                        <a:t>Online store and POS with synced inventory</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520"/>
                        </a:lnSpc>
                        <a:defRPr/>
                      </a:pPr>
                      <a:r>
                        <a:rPr lang="en-US" sz="2100">
                          <a:solidFill>
                            <a:srgbClr val="15243A"/>
                          </a:solidFill>
                          <a:latin typeface="Arial"/>
                          <a:ea typeface="Arial"/>
                          <a:cs typeface="Arial"/>
                          <a:sym typeface="Arial"/>
                        </a:rPr>
                        <a:t>Local fit, setup effort and cost</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extLst>
                  <a:ext uri="{0D108BD9-81ED-4DB2-BD59-A6C34878D82A}">
                    <a16:rowId xmlns:a16="http://schemas.microsoft.com/office/drawing/2014/main" val="10004"/>
                  </a:ext>
                </a:extLst>
              </a:tr>
              <a:tr h="838200">
                <a:tc>
                  <a:txBody>
                    <a:bodyPr/>
                    <a:lstStyle/>
                    <a:p>
                      <a:pPr algn="l">
                        <a:lnSpc>
                          <a:spcPts val="2520"/>
                        </a:lnSpc>
                        <a:defRPr/>
                      </a:pPr>
                      <a:r>
                        <a:rPr lang="en-US" sz="2100">
                          <a:solidFill>
                            <a:srgbClr val="15243A"/>
                          </a:solidFill>
                          <a:latin typeface="Arial"/>
                          <a:ea typeface="Arial"/>
                          <a:cs typeface="Arial"/>
                          <a:sym typeface="Arial"/>
                        </a:rPr>
                        <a:t>Khmum eShop</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520"/>
                        </a:lnSpc>
                        <a:defRPr/>
                      </a:pPr>
                      <a:r>
                        <a:rPr lang="en-US" sz="2100">
                          <a:solidFill>
                            <a:srgbClr val="15243A"/>
                          </a:solidFill>
                          <a:latin typeface="Arial"/>
                          <a:ea typeface="Arial"/>
                          <a:cs typeface="Arial"/>
                          <a:sym typeface="Arial"/>
                        </a:rPr>
                        <a:t>Marketplace, merchant tools, POS and white-label (closest)</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520"/>
                        </a:lnSpc>
                        <a:defRPr/>
                      </a:pPr>
                      <a:r>
                        <a:rPr lang="en-US" sz="2100">
                          <a:solidFill>
                            <a:srgbClr val="15243A"/>
                          </a:solidFill>
                          <a:latin typeface="Arial"/>
                          <a:ea typeface="Arial"/>
                          <a:cs typeface="Arial"/>
                          <a:sym typeface="Arial"/>
                        </a:rPr>
                        <a:t>Setup time, storefront, stock accuracy</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Box 4"/>
          <p:cNvSpPr txBox="1"/>
          <p:nvPr/>
        </p:nvSpPr>
        <p:spPr>
          <a:xfrm>
            <a:off x="822960" y="9513570"/>
            <a:ext cx="15636240" cy="257175"/>
          </a:xfrm>
          <a:prstGeom prst="rect">
            <a:avLst/>
          </a:prstGeom>
        </p:spPr>
        <p:txBody>
          <a:bodyPr lIns="0" tIns="0" rIns="0" bIns="0" rtlCol="0" anchor="t">
            <a:spAutoFit/>
          </a:bodyPr>
          <a:lstStyle/>
          <a:p>
            <a:pPr algn="l">
              <a:lnSpc>
                <a:spcPts val="1919"/>
              </a:lnSpc>
            </a:pPr>
            <a:r>
              <a:rPr lang="en-US" sz="1599">
                <a:solidFill>
                  <a:srgbClr val="52637A"/>
                </a:solidFill>
                <a:latin typeface="Arial"/>
                <a:ea typeface="Arial"/>
                <a:cs typeface="Arial"/>
                <a:sym typeface="Arial"/>
              </a:rPr>
              <a:t>Public descriptions checked 24–25 Sep 2026: khmer24.com, khsmileshop.com, vtenh.com, shopify.com/pos, startupcambodia.gov.kh (Khmum). Not a hands-on feature audit.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2960" y="548640"/>
            <a:ext cx="16596360" cy="960120"/>
            <a:chOff x="0" y="0"/>
            <a:chExt cx="22128480" cy="1280160"/>
          </a:xfrm>
        </p:grpSpPr>
        <p:sp>
          <p:nvSpPr>
            <p:cNvPr id="3" name="Freeform 3"/>
            <p:cNvSpPr/>
            <p:nvPr/>
          </p:nvSpPr>
          <p:spPr>
            <a:xfrm>
              <a:off x="0" y="0"/>
              <a:ext cx="22128480" cy="1280160"/>
            </a:xfrm>
            <a:custGeom>
              <a:avLst/>
              <a:gdLst/>
              <a:ahLst/>
              <a:cxnLst/>
              <a:rect l="l" t="t" r="r" b="b"/>
              <a:pathLst>
                <a:path w="22128480" h="1280160">
                  <a:moveTo>
                    <a:pt x="0" y="0"/>
                  </a:moveTo>
                  <a:lnTo>
                    <a:pt x="22128480" y="0"/>
                  </a:lnTo>
                  <a:lnTo>
                    <a:pt x="22128480" y="1280160"/>
                  </a:lnTo>
                  <a:lnTo>
                    <a:pt x="0" y="1280160"/>
                  </a:lnTo>
                  <a:close/>
                </a:path>
              </a:pathLst>
            </a:custGeom>
            <a:blipFill>
              <a:blip r:embed="rId2">
                <a:alphaModFix amt="0"/>
              </a:blip>
              <a:stretch>
                <a:fillRect t="-286812" b="-286812"/>
              </a:stretch>
            </a:blipFill>
          </p:spPr>
        </p:sp>
        <p:sp>
          <p:nvSpPr>
            <p:cNvPr id="4" name="TextBox 4"/>
            <p:cNvSpPr txBox="1"/>
            <p:nvPr/>
          </p:nvSpPr>
          <p:spPr>
            <a:xfrm>
              <a:off x="0" y="-28575"/>
              <a:ext cx="22128480" cy="1308735"/>
            </a:xfrm>
            <a:prstGeom prst="rect">
              <a:avLst/>
            </a:prstGeom>
          </p:spPr>
          <p:txBody>
            <a:bodyPr lIns="0" tIns="0" rIns="0" bIns="0" rtlCol="0" anchor="ctr"/>
            <a:lstStyle/>
            <a:p>
              <a:pPr algn="l">
                <a:lnSpc>
                  <a:spcPts val="5400"/>
                </a:lnSpc>
              </a:pPr>
              <a:r>
                <a:rPr lang="en-US" sz="4500" b="1">
                  <a:solidFill>
                    <a:srgbClr val="15243A"/>
                  </a:solidFill>
                  <a:latin typeface="Arial Bold"/>
                  <a:ea typeface="Arial Bold"/>
                  <a:cs typeface="Arial Bold"/>
                  <a:sym typeface="Arial Bold"/>
                </a:rPr>
                <a:t>Financial detail (bootstrapped model)</a:t>
              </a:r>
            </a:p>
          </p:txBody>
        </p:sp>
      </p:grpSp>
      <p:graphicFrame>
        <p:nvGraphicFramePr>
          <p:cNvPr id="5" name="Table 5"/>
          <p:cNvGraphicFramePr>
            <a:graphicFrameLocks noGrp="1"/>
          </p:cNvGraphicFramePr>
          <p:nvPr/>
        </p:nvGraphicFramePr>
        <p:xfrm>
          <a:off x="822960" y="1851660"/>
          <a:ext cx="16592550" cy="6915150"/>
        </p:xfrm>
        <a:graphic>
          <a:graphicData uri="http://schemas.openxmlformats.org/drawingml/2006/table">
            <a:tbl>
              <a:tblPr/>
              <a:tblGrid>
                <a:gridCol w="3554497">
                  <a:extLst>
                    <a:ext uri="{9D8B030D-6E8A-4147-A177-3AD203B41FA5}">
                      <a16:colId xmlns:a16="http://schemas.microsoft.com/office/drawing/2014/main" val="20000"/>
                    </a:ext>
                  </a:extLst>
                </a:gridCol>
                <a:gridCol w="1791376">
                  <a:extLst>
                    <a:ext uri="{9D8B030D-6E8A-4147-A177-3AD203B41FA5}">
                      <a16:colId xmlns:a16="http://schemas.microsoft.com/office/drawing/2014/main" val="20001"/>
                    </a:ext>
                  </a:extLst>
                </a:gridCol>
                <a:gridCol w="1791376">
                  <a:extLst>
                    <a:ext uri="{9D8B030D-6E8A-4147-A177-3AD203B41FA5}">
                      <a16:colId xmlns:a16="http://schemas.microsoft.com/office/drawing/2014/main" val="20002"/>
                    </a:ext>
                  </a:extLst>
                </a:gridCol>
                <a:gridCol w="1791376">
                  <a:extLst>
                    <a:ext uri="{9D8B030D-6E8A-4147-A177-3AD203B41FA5}">
                      <a16:colId xmlns:a16="http://schemas.microsoft.com/office/drawing/2014/main" val="20003"/>
                    </a:ext>
                  </a:extLst>
                </a:gridCol>
                <a:gridCol w="7663925">
                  <a:extLst>
                    <a:ext uri="{9D8B030D-6E8A-4147-A177-3AD203B41FA5}">
                      <a16:colId xmlns:a16="http://schemas.microsoft.com/office/drawing/2014/main" val="20004"/>
                    </a:ext>
                  </a:extLst>
                </a:gridCol>
              </a:tblGrid>
              <a:tr h="628650">
                <a:tc>
                  <a:txBody>
                    <a:bodyPr/>
                    <a:lstStyle/>
                    <a:p>
                      <a:pPr algn="l">
                        <a:lnSpc>
                          <a:spcPts val="2340"/>
                        </a:lnSpc>
                        <a:defRPr/>
                      </a:pPr>
                      <a:r>
                        <a:rPr lang="en-US" sz="1950" b="1">
                          <a:solidFill>
                            <a:srgbClr val="FFFFFF"/>
                          </a:solidFill>
                          <a:latin typeface="Arial Bold"/>
                          <a:ea typeface="Arial Bold"/>
                          <a:cs typeface="Arial Bold"/>
                          <a:sym typeface="Arial Bold"/>
                        </a:rPr>
                        <a:t>US$</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11D35"/>
                    </a:solidFill>
                  </a:tcPr>
                </a:tc>
                <a:tc>
                  <a:txBody>
                    <a:bodyPr/>
                    <a:lstStyle/>
                    <a:p>
                      <a:pPr algn="r">
                        <a:lnSpc>
                          <a:spcPts val="2340"/>
                        </a:lnSpc>
                        <a:defRPr/>
                      </a:pPr>
                      <a:r>
                        <a:rPr lang="en-US" sz="1950" b="1">
                          <a:solidFill>
                            <a:srgbClr val="FFFFFF"/>
                          </a:solidFill>
                          <a:latin typeface="Arial Bold"/>
                          <a:ea typeface="Arial Bold"/>
                          <a:cs typeface="Arial Bold"/>
                          <a:sym typeface="Arial Bold"/>
                        </a:rPr>
                        <a:t>Year 1</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11D35"/>
                    </a:solidFill>
                  </a:tcPr>
                </a:tc>
                <a:tc>
                  <a:txBody>
                    <a:bodyPr/>
                    <a:lstStyle/>
                    <a:p>
                      <a:pPr algn="r">
                        <a:lnSpc>
                          <a:spcPts val="2340"/>
                        </a:lnSpc>
                        <a:defRPr/>
                      </a:pPr>
                      <a:r>
                        <a:rPr lang="en-US" sz="1950" b="1">
                          <a:solidFill>
                            <a:srgbClr val="FFFFFF"/>
                          </a:solidFill>
                          <a:latin typeface="Arial Bold"/>
                          <a:ea typeface="Arial Bold"/>
                          <a:cs typeface="Arial Bold"/>
                          <a:sym typeface="Arial Bold"/>
                        </a:rPr>
                        <a:t>Year 2</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11D35"/>
                    </a:solidFill>
                  </a:tcPr>
                </a:tc>
                <a:tc>
                  <a:txBody>
                    <a:bodyPr/>
                    <a:lstStyle/>
                    <a:p>
                      <a:pPr algn="r">
                        <a:lnSpc>
                          <a:spcPts val="2340"/>
                        </a:lnSpc>
                        <a:defRPr/>
                      </a:pPr>
                      <a:r>
                        <a:rPr lang="en-US" sz="1950" b="1">
                          <a:solidFill>
                            <a:srgbClr val="FFFFFF"/>
                          </a:solidFill>
                          <a:latin typeface="Arial Bold"/>
                          <a:ea typeface="Arial Bold"/>
                          <a:cs typeface="Arial Bold"/>
                          <a:sym typeface="Arial Bold"/>
                        </a:rPr>
                        <a:t>Year 3</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11D35"/>
                    </a:solidFill>
                  </a:tcPr>
                </a:tc>
                <a:tc>
                  <a:txBody>
                    <a:bodyPr/>
                    <a:lstStyle/>
                    <a:p>
                      <a:pPr algn="l">
                        <a:lnSpc>
                          <a:spcPts val="2340"/>
                        </a:lnSpc>
                        <a:defRPr/>
                      </a:pPr>
                      <a:r>
                        <a:rPr lang="en-US" sz="1950" b="1">
                          <a:solidFill>
                            <a:srgbClr val="FFFFFF"/>
                          </a:solidFill>
                          <a:latin typeface="Arial Bold"/>
                          <a:ea typeface="Arial Bold"/>
                          <a:cs typeface="Arial Bold"/>
                          <a:sym typeface="Arial Bold"/>
                        </a:rPr>
                        <a:t>Assumption</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11D35"/>
                    </a:solidFill>
                  </a:tcPr>
                </a:tc>
                <a:extLst>
                  <a:ext uri="{0D108BD9-81ED-4DB2-BD59-A6C34878D82A}">
                    <a16:rowId xmlns:a16="http://schemas.microsoft.com/office/drawing/2014/main" val="10000"/>
                  </a:ext>
                </a:extLst>
              </a:tr>
              <a:tr h="628650">
                <a:tc>
                  <a:txBody>
                    <a:bodyPr/>
                    <a:lstStyle/>
                    <a:p>
                      <a:pPr algn="l">
                        <a:lnSpc>
                          <a:spcPts val="2340"/>
                        </a:lnSpc>
                        <a:defRPr/>
                      </a:pPr>
                      <a:r>
                        <a:rPr lang="en-US" sz="1950">
                          <a:solidFill>
                            <a:srgbClr val="15243A"/>
                          </a:solidFill>
                          <a:latin typeface="Arial"/>
                          <a:ea typeface="Arial"/>
                          <a:cs typeface="Arial"/>
                          <a:sym typeface="Arial"/>
                        </a:rPr>
                        <a:t>Subscription revenue</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a:lnSpc>
                          <a:spcPts val="2340"/>
                        </a:lnSpc>
                        <a:defRPr/>
                      </a:pPr>
                      <a:r>
                        <a:rPr lang="en-US" sz="1950">
                          <a:solidFill>
                            <a:srgbClr val="15243A"/>
                          </a:solidFill>
                          <a:latin typeface="Arial"/>
                          <a:ea typeface="Arial"/>
                          <a:cs typeface="Arial"/>
                          <a:sym typeface="Arial"/>
                        </a:rPr>
                        <a:t>3,142</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a:lnSpc>
                          <a:spcPts val="2340"/>
                        </a:lnSpc>
                        <a:defRPr/>
                      </a:pPr>
                      <a:r>
                        <a:rPr lang="en-US" sz="1950">
                          <a:solidFill>
                            <a:srgbClr val="15243A"/>
                          </a:solidFill>
                          <a:latin typeface="Arial"/>
                          <a:ea typeface="Arial"/>
                          <a:cs typeface="Arial"/>
                          <a:sym typeface="Arial"/>
                        </a:rPr>
                        <a:t>22,846</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a:lnSpc>
                          <a:spcPts val="2340"/>
                        </a:lnSpc>
                        <a:defRPr/>
                      </a:pPr>
                      <a:r>
                        <a:rPr lang="en-US" sz="1950">
                          <a:solidFill>
                            <a:srgbClr val="15243A"/>
                          </a:solidFill>
                          <a:latin typeface="Arial"/>
                          <a:ea typeface="Arial"/>
                          <a:cs typeface="Arial"/>
                          <a:sym typeface="Arial"/>
                        </a:rPr>
                        <a:t>61,586</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340"/>
                        </a:lnSpc>
                        <a:defRPr/>
                      </a:pPr>
                      <a:r>
                        <a:rPr lang="en-US" sz="1950">
                          <a:solidFill>
                            <a:srgbClr val="15243A"/>
                          </a:solidFill>
                          <a:latin typeface="Arial"/>
                          <a:ea typeface="Arial"/>
                          <a:cs typeface="Arial"/>
                          <a:sym typeface="Arial"/>
                        </a:rPr>
                        <a:t>Paying shops 58 → 419 → 1,129 × $5 plan; 10% VAT removed</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extLst>
                  <a:ext uri="{0D108BD9-81ED-4DB2-BD59-A6C34878D82A}">
                    <a16:rowId xmlns:a16="http://schemas.microsoft.com/office/drawing/2014/main" val="10001"/>
                  </a:ext>
                </a:extLst>
              </a:tr>
              <a:tr h="628650">
                <a:tc>
                  <a:txBody>
                    <a:bodyPr/>
                    <a:lstStyle/>
                    <a:p>
                      <a:pPr algn="l">
                        <a:lnSpc>
                          <a:spcPts val="2340"/>
                        </a:lnSpc>
                        <a:defRPr/>
                      </a:pPr>
                      <a:r>
                        <a:rPr lang="en-US" sz="1950">
                          <a:solidFill>
                            <a:srgbClr val="15243A"/>
                          </a:solidFill>
                          <a:latin typeface="Arial"/>
                          <a:ea typeface="Arial"/>
                          <a:cs typeface="Arial"/>
                          <a:sym typeface="Arial"/>
                        </a:rPr>
                        <a:t>Cost of service</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a:lnSpc>
                          <a:spcPts val="2340"/>
                        </a:lnSpc>
                        <a:defRPr/>
                      </a:pPr>
                      <a:r>
                        <a:rPr lang="en-US" sz="1950">
                          <a:solidFill>
                            <a:srgbClr val="15243A"/>
                          </a:solidFill>
                          <a:latin typeface="Arial"/>
                          <a:ea typeface="Arial"/>
                          <a:cs typeface="Arial"/>
                          <a:sym typeface="Arial"/>
                        </a:rPr>
                        <a:t>687</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a:lnSpc>
                          <a:spcPts val="2340"/>
                        </a:lnSpc>
                        <a:defRPr/>
                      </a:pPr>
                      <a:r>
                        <a:rPr lang="en-US" sz="1950">
                          <a:solidFill>
                            <a:srgbClr val="15243A"/>
                          </a:solidFill>
                          <a:latin typeface="Arial"/>
                          <a:ea typeface="Arial"/>
                          <a:cs typeface="Arial"/>
                          <a:sym typeface="Arial"/>
                        </a:rPr>
                        <a:t>1,569</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a:lnSpc>
                          <a:spcPts val="2340"/>
                        </a:lnSpc>
                        <a:defRPr/>
                      </a:pPr>
                      <a:r>
                        <a:rPr lang="en-US" sz="1950">
                          <a:solidFill>
                            <a:srgbClr val="15243A"/>
                          </a:solidFill>
                          <a:latin typeface="Arial"/>
                          <a:ea typeface="Arial"/>
                          <a:cs typeface="Arial"/>
                          <a:sym typeface="Arial"/>
                        </a:rPr>
                        <a:t>3,013</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340"/>
                        </a:lnSpc>
                        <a:defRPr/>
                      </a:pPr>
                      <a:r>
                        <a:rPr lang="en-US" sz="1950">
                          <a:solidFill>
                            <a:srgbClr val="15243A"/>
                          </a:solidFill>
                          <a:latin typeface="Arial"/>
                          <a:ea typeface="Arial"/>
                          <a:cs typeface="Arial"/>
                          <a:sym typeface="Arial"/>
                        </a:rPr>
                        <a:t>Servers, database, storage, email ($50 → $225 / month) + 14% withholding</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extLst>
                  <a:ext uri="{0D108BD9-81ED-4DB2-BD59-A6C34878D82A}">
                    <a16:rowId xmlns:a16="http://schemas.microsoft.com/office/drawing/2014/main" val="10002"/>
                  </a:ext>
                </a:extLst>
              </a:tr>
              <a:tr h="628650">
                <a:tc>
                  <a:txBody>
                    <a:bodyPr/>
                    <a:lstStyle/>
                    <a:p>
                      <a:pPr algn="l">
                        <a:lnSpc>
                          <a:spcPts val="2340"/>
                        </a:lnSpc>
                        <a:defRPr/>
                      </a:pPr>
                      <a:r>
                        <a:rPr lang="en-US" sz="1950">
                          <a:solidFill>
                            <a:srgbClr val="15243A"/>
                          </a:solidFill>
                          <a:latin typeface="Arial"/>
                          <a:ea typeface="Arial"/>
                          <a:cs typeface="Arial"/>
                          <a:sym typeface="Arial"/>
                        </a:rPr>
                        <a:t>Sales &amp; marketing</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a:lnSpc>
                          <a:spcPts val="2340"/>
                        </a:lnSpc>
                        <a:defRPr/>
                      </a:pPr>
                      <a:r>
                        <a:rPr lang="en-US" sz="1950">
                          <a:solidFill>
                            <a:srgbClr val="15243A"/>
                          </a:solidFill>
                          <a:latin typeface="Arial"/>
                          <a:ea typeface="Arial"/>
                          <a:cs typeface="Arial"/>
                          <a:sym typeface="Arial"/>
                        </a:rPr>
                        <a:t>472</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a:lnSpc>
                          <a:spcPts val="2340"/>
                        </a:lnSpc>
                        <a:defRPr/>
                      </a:pPr>
                      <a:r>
                        <a:rPr lang="en-US" sz="1950">
                          <a:solidFill>
                            <a:srgbClr val="15243A"/>
                          </a:solidFill>
                          <a:latin typeface="Arial"/>
                          <a:ea typeface="Arial"/>
                          <a:cs typeface="Arial"/>
                          <a:sym typeface="Arial"/>
                        </a:rPr>
                        <a:t>2,646</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a:lnSpc>
                          <a:spcPts val="2340"/>
                        </a:lnSpc>
                        <a:defRPr/>
                      </a:pPr>
                      <a:r>
                        <a:rPr lang="en-US" sz="1950">
                          <a:solidFill>
                            <a:srgbClr val="15243A"/>
                          </a:solidFill>
                          <a:latin typeface="Arial"/>
                          <a:ea typeface="Arial"/>
                          <a:cs typeface="Arial"/>
                          <a:sym typeface="Arial"/>
                        </a:rPr>
                        <a:t>6,869</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340"/>
                        </a:lnSpc>
                        <a:defRPr/>
                      </a:pPr>
                      <a:r>
                        <a:rPr lang="en-US" sz="1950">
                          <a:solidFill>
                            <a:srgbClr val="15243A"/>
                          </a:solidFill>
                          <a:latin typeface="Arial"/>
                          <a:ea typeface="Arial"/>
                          <a:cs typeface="Arial"/>
                          <a:sym typeface="Arial"/>
                        </a:rPr>
                        <a:t>10% of revenue + referral credits; growth is founder-led</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extLst>
                  <a:ext uri="{0D108BD9-81ED-4DB2-BD59-A6C34878D82A}">
                    <a16:rowId xmlns:a16="http://schemas.microsoft.com/office/drawing/2014/main" val="10003"/>
                  </a:ext>
                </a:extLst>
              </a:tr>
              <a:tr h="628650">
                <a:tc>
                  <a:txBody>
                    <a:bodyPr/>
                    <a:lstStyle/>
                    <a:p>
                      <a:pPr algn="l">
                        <a:lnSpc>
                          <a:spcPts val="2340"/>
                        </a:lnSpc>
                        <a:defRPr/>
                      </a:pPr>
                      <a:r>
                        <a:rPr lang="en-US" sz="1950">
                          <a:solidFill>
                            <a:srgbClr val="15243A"/>
                          </a:solidFill>
                          <a:latin typeface="Arial"/>
                          <a:ea typeface="Arial"/>
                          <a:cs typeface="Arial"/>
                          <a:sym typeface="Arial"/>
                        </a:rPr>
                        <a:t>Software, office, legal</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a:lnSpc>
                          <a:spcPts val="2340"/>
                        </a:lnSpc>
                        <a:defRPr/>
                      </a:pPr>
                      <a:r>
                        <a:rPr lang="en-US" sz="1950">
                          <a:solidFill>
                            <a:srgbClr val="15243A"/>
                          </a:solidFill>
                          <a:latin typeface="Arial"/>
                          <a:ea typeface="Arial"/>
                          <a:cs typeface="Arial"/>
                          <a:sym typeface="Arial"/>
                        </a:rPr>
                        <a:t>1,687</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a:lnSpc>
                          <a:spcPts val="2340"/>
                        </a:lnSpc>
                        <a:defRPr/>
                      </a:pPr>
                      <a:r>
                        <a:rPr lang="en-US" sz="1950">
                          <a:solidFill>
                            <a:srgbClr val="15243A"/>
                          </a:solidFill>
                          <a:latin typeface="Arial"/>
                          <a:ea typeface="Arial"/>
                          <a:cs typeface="Arial"/>
                          <a:sym typeface="Arial"/>
                        </a:rPr>
                        <a:t>847</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a:lnSpc>
                          <a:spcPts val="2340"/>
                        </a:lnSpc>
                        <a:defRPr/>
                      </a:pPr>
                      <a:r>
                        <a:rPr lang="en-US" sz="1950">
                          <a:solidFill>
                            <a:srgbClr val="15243A"/>
                          </a:solidFill>
                          <a:latin typeface="Arial"/>
                          <a:ea typeface="Arial"/>
                          <a:cs typeface="Arial"/>
                          <a:sym typeface="Arial"/>
                        </a:rPr>
                        <a:t>1,721</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340"/>
                        </a:lnSpc>
                        <a:defRPr/>
                      </a:pPr>
                      <a:r>
                        <a:rPr lang="en-US" sz="1950">
                          <a:solidFill>
                            <a:srgbClr val="15243A"/>
                          </a:solidFill>
                          <a:latin typeface="Arial"/>
                          <a:ea typeface="Arial"/>
                          <a:cs typeface="Arial"/>
                          <a:sym typeface="Arial"/>
                        </a:rPr>
                        <a:t>Shared AI tools, registration (~$840), patent tax; no office rent</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extLst>
                  <a:ext uri="{0D108BD9-81ED-4DB2-BD59-A6C34878D82A}">
                    <a16:rowId xmlns:a16="http://schemas.microsoft.com/office/drawing/2014/main" val="10004"/>
                  </a:ext>
                </a:extLst>
              </a:tr>
              <a:tr h="628650">
                <a:tc>
                  <a:txBody>
                    <a:bodyPr/>
                    <a:lstStyle/>
                    <a:p>
                      <a:pPr algn="l">
                        <a:lnSpc>
                          <a:spcPts val="2340"/>
                        </a:lnSpc>
                        <a:defRPr/>
                      </a:pPr>
                      <a:r>
                        <a:rPr lang="en-US" sz="1950" b="1">
                          <a:solidFill>
                            <a:srgbClr val="15243A"/>
                          </a:solidFill>
                          <a:latin typeface="Arial Bold"/>
                          <a:ea typeface="Arial Bold"/>
                          <a:cs typeface="Arial Bold"/>
                          <a:sym typeface="Arial Bold"/>
                        </a:rPr>
                        <a:t>Profit before team pay</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1F5F9"/>
                    </a:solidFill>
                  </a:tcPr>
                </a:tc>
                <a:tc>
                  <a:txBody>
                    <a:bodyPr/>
                    <a:lstStyle/>
                    <a:p>
                      <a:pPr algn="r">
                        <a:lnSpc>
                          <a:spcPts val="2340"/>
                        </a:lnSpc>
                        <a:defRPr/>
                      </a:pPr>
                      <a:r>
                        <a:rPr lang="en-US" sz="1950" b="1">
                          <a:solidFill>
                            <a:srgbClr val="15243A"/>
                          </a:solidFill>
                          <a:latin typeface="Arial Bold"/>
                          <a:ea typeface="Arial Bold"/>
                          <a:cs typeface="Arial Bold"/>
                          <a:sym typeface="Arial Bold"/>
                        </a:rPr>
                        <a:t>295</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1F5F9"/>
                    </a:solidFill>
                  </a:tcPr>
                </a:tc>
                <a:tc>
                  <a:txBody>
                    <a:bodyPr/>
                    <a:lstStyle/>
                    <a:p>
                      <a:pPr algn="r">
                        <a:lnSpc>
                          <a:spcPts val="2340"/>
                        </a:lnSpc>
                        <a:defRPr/>
                      </a:pPr>
                      <a:r>
                        <a:rPr lang="en-US" sz="1950" b="1">
                          <a:solidFill>
                            <a:srgbClr val="15243A"/>
                          </a:solidFill>
                          <a:latin typeface="Arial Bold"/>
                          <a:ea typeface="Arial Bold"/>
                          <a:cs typeface="Arial Bold"/>
                          <a:sym typeface="Arial Bold"/>
                        </a:rPr>
                        <a:t>17,784</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1F5F9"/>
                    </a:solidFill>
                  </a:tcPr>
                </a:tc>
                <a:tc>
                  <a:txBody>
                    <a:bodyPr/>
                    <a:lstStyle/>
                    <a:p>
                      <a:pPr algn="r">
                        <a:lnSpc>
                          <a:spcPts val="2340"/>
                        </a:lnSpc>
                        <a:defRPr/>
                      </a:pPr>
                      <a:r>
                        <a:rPr lang="en-US" sz="1950" b="1">
                          <a:solidFill>
                            <a:srgbClr val="15243A"/>
                          </a:solidFill>
                          <a:latin typeface="Arial Bold"/>
                          <a:ea typeface="Arial Bold"/>
                          <a:cs typeface="Arial Bold"/>
                          <a:sym typeface="Arial Bold"/>
                        </a:rPr>
                        <a:t>49,983</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1F5F9"/>
                    </a:solidFill>
                  </a:tcPr>
                </a:tc>
                <a:tc>
                  <a:txBody>
                    <a:bodyPr/>
                    <a:lstStyle/>
                    <a:p>
                      <a:pPr algn="l">
                        <a:lnSpc>
                          <a:spcPts val="2340"/>
                        </a:lnSpc>
                        <a:defRPr/>
                      </a:pPr>
                      <a:r>
                        <a:rPr lang="en-US" sz="1950">
                          <a:solidFill>
                            <a:srgbClr val="15243A"/>
                          </a:solidFill>
                          <a:latin typeface="Arial"/>
                          <a:ea typeface="Arial"/>
                          <a:cs typeface="Arial"/>
                          <a:sym typeface="Arial"/>
                        </a:rPr>
                        <a:t>Team works for equity until this is positive</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1F5F9"/>
                    </a:solidFill>
                  </a:tcPr>
                </a:tc>
                <a:extLst>
                  <a:ext uri="{0D108BD9-81ED-4DB2-BD59-A6C34878D82A}">
                    <a16:rowId xmlns:a16="http://schemas.microsoft.com/office/drawing/2014/main" val="10005"/>
                  </a:ext>
                </a:extLst>
              </a:tr>
              <a:tr h="628650">
                <a:tc>
                  <a:txBody>
                    <a:bodyPr/>
                    <a:lstStyle/>
                    <a:p>
                      <a:pPr algn="l">
                        <a:lnSpc>
                          <a:spcPts val="2340"/>
                        </a:lnSpc>
                        <a:defRPr/>
                      </a:pPr>
                      <a:r>
                        <a:rPr lang="en-US" sz="1950">
                          <a:solidFill>
                            <a:srgbClr val="15243A"/>
                          </a:solidFill>
                          <a:latin typeface="Arial"/>
                          <a:ea typeface="Arial"/>
                          <a:cs typeface="Arial"/>
                          <a:sym typeface="Arial"/>
                        </a:rPr>
                        <a:t>Team pay (incl. NSSF)</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a:lnSpc>
                          <a:spcPts val="2340"/>
                        </a:lnSpc>
                        <a:defRPr/>
                      </a:pPr>
                      <a:r>
                        <a:rPr lang="en-US" sz="1950">
                          <a:solidFill>
                            <a:srgbClr val="15243A"/>
                          </a:solidFill>
                          <a:latin typeface="Arial"/>
                          <a:ea typeface="Arial"/>
                          <a:cs typeface="Arial"/>
                          <a:sym typeface="Arial"/>
                        </a:rPr>
                        <a:t>0</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a:lnSpc>
                          <a:spcPts val="2340"/>
                        </a:lnSpc>
                        <a:defRPr/>
                      </a:pPr>
                      <a:r>
                        <a:rPr lang="en-US" sz="1950">
                          <a:solidFill>
                            <a:srgbClr val="15243A"/>
                          </a:solidFill>
                          <a:latin typeface="Arial"/>
                          <a:ea typeface="Arial"/>
                          <a:cs typeface="Arial"/>
                          <a:sym typeface="Arial"/>
                        </a:rPr>
                        <a:t>9,426</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a:lnSpc>
                          <a:spcPts val="2340"/>
                        </a:lnSpc>
                        <a:defRPr/>
                      </a:pPr>
                      <a:r>
                        <a:rPr lang="en-US" sz="1950">
                          <a:solidFill>
                            <a:srgbClr val="15243A"/>
                          </a:solidFill>
                          <a:latin typeface="Arial"/>
                          <a:ea typeface="Arial"/>
                          <a:cs typeface="Arial"/>
                          <a:sym typeface="Arial"/>
                        </a:rPr>
                        <a:t>26,741</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340"/>
                        </a:lnSpc>
                        <a:defRPr/>
                      </a:pPr>
                      <a:r>
                        <a:rPr lang="en-US" sz="1950">
                          <a:solidFill>
                            <a:srgbClr val="15243A"/>
                          </a:solidFill>
                          <a:latin typeface="Arial"/>
                          <a:ea typeface="Arial"/>
                          <a:cs typeface="Arial"/>
                          <a:sym typeface="Arial"/>
                        </a:rPr>
                        <a:t>Unpaid in Year 1; then half of profit, max $500 / founder / month</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extLst>
                  <a:ext uri="{0D108BD9-81ED-4DB2-BD59-A6C34878D82A}">
                    <a16:rowId xmlns:a16="http://schemas.microsoft.com/office/drawing/2014/main" val="10006"/>
                  </a:ext>
                </a:extLst>
              </a:tr>
              <a:tr h="628650">
                <a:tc>
                  <a:txBody>
                    <a:bodyPr/>
                    <a:lstStyle/>
                    <a:p>
                      <a:pPr algn="l">
                        <a:lnSpc>
                          <a:spcPts val="2340"/>
                        </a:lnSpc>
                        <a:defRPr/>
                      </a:pPr>
                      <a:r>
                        <a:rPr lang="en-US" sz="1950">
                          <a:solidFill>
                            <a:srgbClr val="15243A"/>
                          </a:solidFill>
                          <a:latin typeface="Arial"/>
                          <a:ea typeface="Arial"/>
                          <a:cs typeface="Arial"/>
                          <a:sym typeface="Arial"/>
                        </a:rPr>
                        <a:t>Tax on profit</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a:lnSpc>
                          <a:spcPts val="2340"/>
                        </a:lnSpc>
                        <a:defRPr/>
                      </a:pPr>
                      <a:r>
                        <a:rPr lang="en-US" sz="1950">
                          <a:solidFill>
                            <a:srgbClr val="15243A"/>
                          </a:solidFill>
                          <a:latin typeface="Arial"/>
                          <a:ea typeface="Arial"/>
                          <a:cs typeface="Arial"/>
                          <a:sym typeface="Arial"/>
                        </a:rPr>
                        <a:t>59</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a:lnSpc>
                          <a:spcPts val="2340"/>
                        </a:lnSpc>
                        <a:defRPr/>
                      </a:pPr>
                      <a:r>
                        <a:rPr lang="en-US" sz="1950">
                          <a:solidFill>
                            <a:srgbClr val="15243A"/>
                          </a:solidFill>
                          <a:latin typeface="Arial"/>
                          <a:ea typeface="Arial"/>
                          <a:cs typeface="Arial"/>
                          <a:sym typeface="Arial"/>
                        </a:rPr>
                        <a:t>1,672</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a:lnSpc>
                          <a:spcPts val="2340"/>
                        </a:lnSpc>
                        <a:defRPr/>
                      </a:pPr>
                      <a:r>
                        <a:rPr lang="en-US" sz="1950">
                          <a:solidFill>
                            <a:srgbClr val="15243A"/>
                          </a:solidFill>
                          <a:latin typeface="Arial"/>
                          <a:ea typeface="Arial"/>
                          <a:cs typeface="Arial"/>
                          <a:sym typeface="Arial"/>
                        </a:rPr>
                        <a:t>4,648</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340"/>
                        </a:lnSpc>
                        <a:defRPr/>
                      </a:pPr>
                      <a:r>
                        <a:rPr lang="en-US" sz="1950">
                          <a:solidFill>
                            <a:srgbClr val="15243A"/>
                          </a:solidFill>
                          <a:latin typeface="Arial"/>
                          <a:ea typeface="Arial"/>
                          <a:cs typeface="Arial"/>
                          <a:sym typeface="Arial"/>
                        </a:rPr>
                        <a:t>1% monthly prepayment; 20% profit tax</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extLst>
                  <a:ext uri="{0D108BD9-81ED-4DB2-BD59-A6C34878D82A}">
                    <a16:rowId xmlns:a16="http://schemas.microsoft.com/office/drawing/2014/main" val="10007"/>
                  </a:ext>
                </a:extLst>
              </a:tr>
              <a:tr h="628650">
                <a:tc>
                  <a:txBody>
                    <a:bodyPr/>
                    <a:lstStyle/>
                    <a:p>
                      <a:pPr algn="l">
                        <a:lnSpc>
                          <a:spcPts val="2340"/>
                        </a:lnSpc>
                        <a:defRPr/>
                      </a:pPr>
                      <a:r>
                        <a:rPr lang="en-US" sz="1950" b="1">
                          <a:solidFill>
                            <a:srgbClr val="15243A"/>
                          </a:solidFill>
                          <a:latin typeface="Arial Bold"/>
                          <a:ea typeface="Arial Bold"/>
                          <a:cs typeface="Arial Bold"/>
                          <a:sym typeface="Arial Bold"/>
                        </a:rPr>
                        <a:t>Kept in the company</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1F5F9"/>
                    </a:solidFill>
                  </a:tcPr>
                </a:tc>
                <a:tc>
                  <a:txBody>
                    <a:bodyPr/>
                    <a:lstStyle/>
                    <a:p>
                      <a:pPr algn="r">
                        <a:lnSpc>
                          <a:spcPts val="2340"/>
                        </a:lnSpc>
                        <a:defRPr/>
                      </a:pPr>
                      <a:r>
                        <a:rPr lang="en-US" sz="1950" b="1">
                          <a:solidFill>
                            <a:srgbClr val="15243A"/>
                          </a:solidFill>
                          <a:latin typeface="Arial Bold"/>
                          <a:ea typeface="Arial Bold"/>
                          <a:cs typeface="Arial Bold"/>
                          <a:sym typeface="Arial Bold"/>
                        </a:rPr>
                        <a:t>236</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1F5F9"/>
                    </a:solidFill>
                  </a:tcPr>
                </a:tc>
                <a:tc>
                  <a:txBody>
                    <a:bodyPr/>
                    <a:lstStyle/>
                    <a:p>
                      <a:pPr algn="r">
                        <a:lnSpc>
                          <a:spcPts val="2340"/>
                        </a:lnSpc>
                        <a:defRPr/>
                      </a:pPr>
                      <a:r>
                        <a:rPr lang="en-US" sz="1950" b="1">
                          <a:solidFill>
                            <a:srgbClr val="15243A"/>
                          </a:solidFill>
                          <a:latin typeface="Arial Bold"/>
                          <a:ea typeface="Arial Bold"/>
                          <a:cs typeface="Arial Bold"/>
                          <a:sym typeface="Arial Bold"/>
                        </a:rPr>
                        <a:t>6,687</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1F5F9"/>
                    </a:solidFill>
                  </a:tcPr>
                </a:tc>
                <a:tc>
                  <a:txBody>
                    <a:bodyPr/>
                    <a:lstStyle/>
                    <a:p>
                      <a:pPr algn="r">
                        <a:lnSpc>
                          <a:spcPts val="2340"/>
                        </a:lnSpc>
                        <a:defRPr/>
                      </a:pPr>
                      <a:r>
                        <a:rPr lang="en-US" sz="1950" b="1">
                          <a:solidFill>
                            <a:srgbClr val="15243A"/>
                          </a:solidFill>
                          <a:latin typeface="Arial Bold"/>
                          <a:ea typeface="Arial Bold"/>
                          <a:cs typeface="Arial Bold"/>
                          <a:sym typeface="Arial Bold"/>
                        </a:rPr>
                        <a:t>18,594</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1F5F9"/>
                    </a:solidFill>
                  </a:tcPr>
                </a:tc>
                <a:tc>
                  <a:txBody>
                    <a:bodyPr/>
                    <a:lstStyle/>
                    <a:p>
                      <a:pPr algn="l">
                        <a:lnSpc>
                          <a:spcPts val="2340"/>
                        </a:lnSpc>
                        <a:defRPr/>
                      </a:pPr>
                      <a:r>
                        <a:rPr lang="en-US" sz="1950">
                          <a:solidFill>
                            <a:srgbClr val="15243A"/>
                          </a:solidFill>
                          <a:latin typeface="Arial"/>
                          <a:ea typeface="Arial"/>
                          <a:cs typeface="Arial"/>
                          <a:sym typeface="Arial"/>
                        </a:rPr>
                        <a:t>Reserve for growth and bad months</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1F5F9"/>
                    </a:solidFill>
                  </a:tcPr>
                </a:tc>
                <a:extLst>
                  <a:ext uri="{0D108BD9-81ED-4DB2-BD59-A6C34878D82A}">
                    <a16:rowId xmlns:a16="http://schemas.microsoft.com/office/drawing/2014/main" val="10008"/>
                  </a:ext>
                </a:extLst>
              </a:tr>
              <a:tr h="628650">
                <a:tc>
                  <a:txBody>
                    <a:bodyPr/>
                    <a:lstStyle/>
                    <a:p>
                      <a:pPr algn="l">
                        <a:lnSpc>
                          <a:spcPts val="2340"/>
                        </a:lnSpc>
                        <a:defRPr/>
                      </a:pPr>
                      <a:r>
                        <a:rPr lang="en-US" sz="1950">
                          <a:solidFill>
                            <a:srgbClr val="15243A"/>
                          </a:solidFill>
                          <a:latin typeface="Arial"/>
                          <a:ea typeface="Arial"/>
                          <a:cs typeface="Arial"/>
                          <a:sym typeface="Arial"/>
                        </a:rPr>
                        <a:t>Pay per founder / month</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a:lnSpc>
                          <a:spcPts val="2340"/>
                        </a:lnSpc>
                        <a:defRPr/>
                      </a:pPr>
                      <a:r>
                        <a:rPr lang="en-US" sz="1950">
                          <a:solidFill>
                            <a:srgbClr val="15243A"/>
                          </a:solidFill>
                          <a:latin typeface="Arial"/>
                          <a:ea typeface="Arial"/>
                          <a:cs typeface="Arial"/>
                          <a:sym typeface="Arial"/>
                        </a:rPr>
                        <a:t>$0</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a:lnSpc>
                          <a:spcPts val="2340"/>
                        </a:lnSpc>
                        <a:defRPr/>
                      </a:pPr>
                      <a:r>
                        <a:rPr lang="en-US" sz="1950">
                          <a:solidFill>
                            <a:srgbClr val="15243A"/>
                          </a:solidFill>
                          <a:latin typeface="Arial"/>
                          <a:ea typeface="Arial"/>
                          <a:cs typeface="Arial"/>
                          <a:sym typeface="Arial"/>
                        </a:rPr>
                        <a:t>~$148</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a:lnSpc>
                          <a:spcPts val="2340"/>
                        </a:lnSpc>
                        <a:defRPr/>
                      </a:pPr>
                      <a:r>
                        <a:rPr lang="en-US" sz="1950">
                          <a:solidFill>
                            <a:srgbClr val="15243A"/>
                          </a:solidFill>
                          <a:latin typeface="Arial"/>
                          <a:ea typeface="Arial"/>
                          <a:cs typeface="Arial"/>
                          <a:sym typeface="Arial"/>
                        </a:rPr>
                        <a:t>~$417</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340"/>
                        </a:lnSpc>
                        <a:defRPr/>
                      </a:pPr>
                      <a:r>
                        <a:rPr lang="en-US" sz="1950">
                          <a:solidFill>
                            <a:srgbClr val="15243A"/>
                          </a:solidFill>
                          <a:latin typeface="Arial"/>
                          <a:ea typeface="Arial"/>
                          <a:cs typeface="Arial"/>
                          <a:sym typeface="Arial"/>
                        </a:rPr>
                        <a:t>5 founders, all doing product, sales and support</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extLst>
                  <a:ext uri="{0D108BD9-81ED-4DB2-BD59-A6C34878D82A}">
                    <a16:rowId xmlns:a16="http://schemas.microsoft.com/office/drawing/2014/main" val="10009"/>
                  </a:ext>
                </a:extLst>
              </a:tr>
              <a:tr h="628650">
                <a:tc>
                  <a:txBody>
                    <a:bodyPr/>
                    <a:lstStyle/>
                    <a:p>
                      <a:pPr algn="l">
                        <a:lnSpc>
                          <a:spcPts val="2340"/>
                        </a:lnSpc>
                        <a:defRPr/>
                      </a:pPr>
                      <a:r>
                        <a:rPr lang="en-US" sz="1950">
                          <a:solidFill>
                            <a:srgbClr val="15243A"/>
                          </a:solidFill>
                          <a:latin typeface="Arial"/>
                          <a:ea typeface="Arial"/>
                          <a:cs typeface="Arial"/>
                          <a:sym typeface="Arial"/>
                        </a:rPr>
                        <a:t>With 3% commission: kept</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a:lnSpc>
                          <a:spcPts val="2340"/>
                        </a:lnSpc>
                        <a:defRPr/>
                      </a:pPr>
                      <a:r>
                        <a:rPr lang="en-US" sz="1950">
                          <a:solidFill>
                            <a:srgbClr val="15243A"/>
                          </a:solidFill>
                          <a:latin typeface="Arial"/>
                          <a:ea typeface="Arial"/>
                          <a:cs typeface="Arial"/>
                          <a:sym typeface="Arial"/>
                        </a:rPr>
                        <a:t>399</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a:lnSpc>
                          <a:spcPts val="2340"/>
                        </a:lnSpc>
                        <a:defRPr/>
                      </a:pPr>
                      <a:r>
                        <a:rPr lang="en-US" sz="1950">
                          <a:solidFill>
                            <a:srgbClr val="15243A"/>
                          </a:solidFill>
                          <a:latin typeface="Arial"/>
                          <a:ea typeface="Arial"/>
                          <a:cs typeface="Arial"/>
                          <a:sym typeface="Arial"/>
                        </a:rPr>
                        <a:t>8,349</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a:lnSpc>
                          <a:spcPts val="2340"/>
                        </a:lnSpc>
                        <a:defRPr/>
                      </a:pPr>
                      <a:r>
                        <a:rPr lang="en-US" sz="1950">
                          <a:solidFill>
                            <a:srgbClr val="15243A"/>
                          </a:solidFill>
                          <a:latin typeface="Arial"/>
                          <a:ea typeface="Arial"/>
                          <a:cs typeface="Arial"/>
                          <a:sym typeface="Arial"/>
                        </a:rPr>
                        <a:t>27,018</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340"/>
                        </a:lnSpc>
                        <a:defRPr/>
                      </a:pPr>
                      <a:r>
                        <a:rPr lang="en-US" sz="1950">
                          <a:solidFill>
                            <a:srgbClr val="15243A"/>
                          </a:solidFill>
                          <a:latin typeface="Arial"/>
                          <a:ea typeface="Arial"/>
                          <a:cs typeface="Arial"/>
                          <a:sym typeface="Arial"/>
                        </a:rPr>
                        <a:t>Team reaches the $500 cap in Year 3</a:t>
                      </a:r>
                      <a:endParaRPr lang="en-US" sz="1100"/>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6" name="TextBox 6"/>
          <p:cNvSpPr txBox="1"/>
          <p:nvPr/>
        </p:nvSpPr>
        <p:spPr>
          <a:xfrm>
            <a:off x="822960" y="9376410"/>
            <a:ext cx="16596360" cy="636270"/>
          </a:xfrm>
          <a:prstGeom prst="rect">
            <a:avLst/>
          </a:prstGeom>
        </p:spPr>
        <p:txBody>
          <a:bodyPr lIns="0" tIns="0" rIns="0" bIns="0" rtlCol="0" anchor="t">
            <a:spAutoFit/>
          </a:bodyPr>
          <a:lstStyle/>
          <a:p>
            <a:pPr algn="l">
              <a:lnSpc>
                <a:spcPts val="1800"/>
              </a:lnSpc>
            </a:pPr>
            <a:r>
              <a:rPr lang="en-US" sz="1500">
                <a:solidFill>
                  <a:srgbClr val="52637A"/>
                </a:solidFill>
                <a:latin typeface="Arial"/>
                <a:ea typeface="Arial"/>
                <a:cs typeface="Arial"/>
                <a:sym typeface="Arial"/>
              </a:rPr>
              <a:t>About 110 paying shops cover running costs; about 765 would pay all 5 founders $500 / month (1.2% of the 65,433-store SAM). Cash needed to start: about $1.1K. Tax rules and prices checked Sept 2026; confirm with an accountant. Model: docs/rentify-financial-model.xlsx.</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22960" y="480060"/>
            <a:ext cx="16637508" cy="960120"/>
            <a:chOff x="0" y="0"/>
            <a:chExt cx="22183344" cy="1280160"/>
          </a:xfrm>
        </p:grpSpPr>
        <p:sp>
          <p:nvSpPr>
            <p:cNvPr id="3" name="Freeform 3"/>
            <p:cNvSpPr/>
            <p:nvPr/>
          </p:nvSpPr>
          <p:spPr>
            <a:xfrm>
              <a:off x="0" y="0"/>
              <a:ext cx="22183344" cy="1280160"/>
            </a:xfrm>
            <a:custGeom>
              <a:avLst/>
              <a:gdLst/>
              <a:ahLst/>
              <a:cxnLst/>
              <a:rect l="l" t="t" r="r" b="b"/>
              <a:pathLst>
                <a:path w="22183344" h="1280160">
                  <a:moveTo>
                    <a:pt x="0" y="0"/>
                  </a:moveTo>
                  <a:lnTo>
                    <a:pt x="22183344" y="0"/>
                  </a:lnTo>
                  <a:lnTo>
                    <a:pt x="22183344" y="1280160"/>
                  </a:lnTo>
                  <a:lnTo>
                    <a:pt x="0" y="1280160"/>
                  </a:lnTo>
                  <a:close/>
                </a:path>
              </a:pathLst>
            </a:custGeom>
            <a:blipFill>
              <a:blip r:embed="rId2">
                <a:alphaModFix amt="0"/>
              </a:blip>
              <a:stretch>
                <a:fillRect t="-287647" b="-287647"/>
              </a:stretch>
            </a:blipFill>
          </p:spPr>
        </p:sp>
        <p:sp>
          <p:nvSpPr>
            <p:cNvPr id="4" name="TextBox 4"/>
            <p:cNvSpPr txBox="1"/>
            <p:nvPr/>
          </p:nvSpPr>
          <p:spPr>
            <a:xfrm>
              <a:off x="0" y="-19050"/>
              <a:ext cx="22183344" cy="1299210"/>
            </a:xfrm>
            <a:prstGeom prst="rect">
              <a:avLst/>
            </a:prstGeom>
          </p:spPr>
          <p:txBody>
            <a:bodyPr lIns="0" tIns="0" rIns="0" bIns="0" rtlCol="0" anchor="ctr"/>
            <a:lstStyle/>
            <a:p>
              <a:pPr algn="ctr">
                <a:lnSpc>
                  <a:spcPts val="5759"/>
                </a:lnSpc>
              </a:pPr>
              <a:r>
                <a:rPr lang="en-US" sz="4800" b="1">
                  <a:solidFill>
                    <a:srgbClr val="15243A"/>
                  </a:solidFill>
                  <a:latin typeface="Arial Bold"/>
                  <a:ea typeface="Arial Bold"/>
                  <a:cs typeface="Arial Bold"/>
                  <a:sym typeface="Arial Bold"/>
                </a:rPr>
                <a:t>From 10 shops to profit</a:t>
              </a:r>
            </a:p>
          </p:txBody>
        </p:sp>
      </p:grpSp>
      <p:sp>
        <p:nvSpPr>
          <p:cNvPr id="5" name="AutoShape 5"/>
          <p:cNvSpPr/>
          <p:nvPr/>
        </p:nvSpPr>
        <p:spPr>
          <a:xfrm rot="-1345380">
            <a:off x="883234" y="5076825"/>
            <a:ext cx="16521074" cy="0"/>
          </a:xfrm>
          <a:prstGeom prst="line">
            <a:avLst/>
          </a:prstGeom>
          <a:ln w="133350" cap="rnd">
            <a:solidFill>
              <a:srgbClr val="CCFBF1"/>
            </a:solidFill>
            <a:prstDash val="solid"/>
            <a:headEnd type="none" w="sm" len="sm"/>
            <a:tailEnd type="triangle" w="lg" len="med"/>
          </a:ln>
        </p:spPr>
      </p:sp>
      <p:grpSp>
        <p:nvGrpSpPr>
          <p:cNvPr id="6" name="Group 6"/>
          <p:cNvGrpSpPr/>
          <p:nvPr/>
        </p:nvGrpSpPr>
        <p:grpSpPr>
          <a:xfrm>
            <a:off x="808634" y="5956935"/>
            <a:ext cx="3173730" cy="3173730"/>
            <a:chOff x="0" y="0"/>
            <a:chExt cx="4231640" cy="4231640"/>
          </a:xfrm>
        </p:grpSpPr>
        <p:sp>
          <p:nvSpPr>
            <p:cNvPr id="7" name="Freeform 7"/>
            <p:cNvSpPr/>
            <p:nvPr/>
          </p:nvSpPr>
          <p:spPr>
            <a:xfrm>
              <a:off x="0" y="0"/>
              <a:ext cx="4231640" cy="4231640"/>
            </a:xfrm>
            <a:custGeom>
              <a:avLst/>
              <a:gdLst/>
              <a:ahLst/>
              <a:cxnLst/>
              <a:rect l="l" t="t" r="r" b="b"/>
              <a:pathLst>
                <a:path w="4231640" h="4231640">
                  <a:moveTo>
                    <a:pt x="0" y="331216"/>
                  </a:moveTo>
                  <a:cubicBezTo>
                    <a:pt x="0" y="148209"/>
                    <a:pt x="148209" y="0"/>
                    <a:pt x="331216" y="0"/>
                  </a:cubicBezTo>
                  <a:lnTo>
                    <a:pt x="3900424" y="0"/>
                  </a:lnTo>
                  <a:cubicBezTo>
                    <a:pt x="4083304" y="0"/>
                    <a:pt x="4231640" y="148209"/>
                    <a:pt x="4231640" y="331216"/>
                  </a:cubicBezTo>
                  <a:lnTo>
                    <a:pt x="4231640" y="3900424"/>
                  </a:lnTo>
                  <a:cubicBezTo>
                    <a:pt x="4231640" y="4083304"/>
                    <a:pt x="4083431" y="4231640"/>
                    <a:pt x="3900424" y="4231640"/>
                  </a:cubicBezTo>
                  <a:lnTo>
                    <a:pt x="331216" y="4231640"/>
                  </a:lnTo>
                  <a:cubicBezTo>
                    <a:pt x="148209" y="4231640"/>
                    <a:pt x="0" y="4083431"/>
                    <a:pt x="0" y="3900424"/>
                  </a:cubicBezTo>
                  <a:close/>
                </a:path>
              </a:pathLst>
            </a:custGeom>
            <a:solidFill>
              <a:srgbClr val="FFFFFF"/>
            </a:solidFill>
            <a:ln w="19050" cap="sq">
              <a:solidFill>
                <a:srgbClr val="E2E8F0"/>
              </a:solidFill>
              <a:prstDash val="solid"/>
              <a:miter/>
            </a:ln>
          </p:spPr>
        </p:sp>
      </p:grpSp>
      <p:grpSp>
        <p:nvGrpSpPr>
          <p:cNvPr id="8" name="Group 8"/>
          <p:cNvGrpSpPr/>
          <p:nvPr/>
        </p:nvGrpSpPr>
        <p:grpSpPr>
          <a:xfrm>
            <a:off x="1092479" y="6213348"/>
            <a:ext cx="2606040" cy="384048"/>
            <a:chOff x="0" y="0"/>
            <a:chExt cx="3474720" cy="512064"/>
          </a:xfrm>
        </p:grpSpPr>
        <p:sp>
          <p:nvSpPr>
            <p:cNvPr id="9" name="Freeform 9"/>
            <p:cNvSpPr/>
            <p:nvPr/>
          </p:nvSpPr>
          <p:spPr>
            <a:xfrm>
              <a:off x="0" y="0"/>
              <a:ext cx="3474720" cy="512064"/>
            </a:xfrm>
            <a:custGeom>
              <a:avLst/>
              <a:gdLst/>
              <a:ahLst/>
              <a:cxnLst/>
              <a:rect l="l" t="t" r="r" b="b"/>
              <a:pathLst>
                <a:path w="3474720" h="512064">
                  <a:moveTo>
                    <a:pt x="0" y="0"/>
                  </a:moveTo>
                  <a:lnTo>
                    <a:pt x="3474720" y="0"/>
                  </a:lnTo>
                  <a:lnTo>
                    <a:pt x="3474720" y="512064"/>
                  </a:lnTo>
                  <a:lnTo>
                    <a:pt x="0" y="512064"/>
                  </a:lnTo>
                  <a:close/>
                </a:path>
              </a:pathLst>
            </a:custGeom>
            <a:blipFill>
              <a:blip r:embed="rId2">
                <a:alphaModFix amt="0"/>
              </a:blip>
              <a:stretch>
                <a:fillRect t="-82219" b="-82219"/>
              </a:stretch>
            </a:blipFill>
          </p:spPr>
        </p:sp>
        <p:sp>
          <p:nvSpPr>
            <p:cNvPr id="10" name="TextBox 10"/>
            <p:cNvSpPr txBox="1"/>
            <p:nvPr/>
          </p:nvSpPr>
          <p:spPr>
            <a:xfrm>
              <a:off x="0" y="-9525"/>
              <a:ext cx="3474720" cy="521589"/>
            </a:xfrm>
            <a:prstGeom prst="rect">
              <a:avLst/>
            </a:prstGeom>
          </p:spPr>
          <p:txBody>
            <a:bodyPr lIns="0" tIns="0" rIns="0" bIns="0" rtlCol="0" anchor="ctr"/>
            <a:lstStyle/>
            <a:p>
              <a:pPr algn="l">
                <a:lnSpc>
                  <a:spcPts val="1889"/>
                </a:lnSpc>
              </a:pPr>
              <a:r>
                <a:rPr lang="en-US" sz="1575" b="1" spc="150">
                  <a:solidFill>
                    <a:srgbClr val="0AA7A2"/>
                  </a:solidFill>
                  <a:latin typeface="Arial Bold"/>
                  <a:ea typeface="Arial Bold"/>
                  <a:cs typeface="Arial Bold"/>
                  <a:sym typeface="Arial Bold"/>
                </a:rPr>
                <a:t>NOW · Q4 2026</a:t>
              </a:r>
            </a:p>
          </p:txBody>
        </p:sp>
      </p:grpSp>
      <p:grpSp>
        <p:nvGrpSpPr>
          <p:cNvPr id="11" name="Group 11"/>
          <p:cNvGrpSpPr/>
          <p:nvPr/>
        </p:nvGrpSpPr>
        <p:grpSpPr>
          <a:xfrm>
            <a:off x="1092479" y="6652260"/>
            <a:ext cx="2606040" cy="891540"/>
            <a:chOff x="0" y="0"/>
            <a:chExt cx="3474720" cy="1188720"/>
          </a:xfrm>
        </p:grpSpPr>
        <p:sp>
          <p:nvSpPr>
            <p:cNvPr id="12" name="Freeform 12"/>
            <p:cNvSpPr/>
            <p:nvPr/>
          </p:nvSpPr>
          <p:spPr>
            <a:xfrm>
              <a:off x="0" y="0"/>
              <a:ext cx="3474720" cy="1188720"/>
            </a:xfrm>
            <a:custGeom>
              <a:avLst/>
              <a:gdLst/>
              <a:ahLst/>
              <a:cxnLst/>
              <a:rect l="l" t="t" r="r" b="b"/>
              <a:pathLst>
                <a:path w="3474720" h="1188720">
                  <a:moveTo>
                    <a:pt x="0" y="0"/>
                  </a:moveTo>
                  <a:lnTo>
                    <a:pt x="3474720" y="0"/>
                  </a:lnTo>
                  <a:lnTo>
                    <a:pt x="3474720" y="1188720"/>
                  </a:lnTo>
                  <a:lnTo>
                    <a:pt x="0" y="1188720"/>
                  </a:lnTo>
                  <a:close/>
                </a:path>
              </a:pathLst>
            </a:custGeom>
            <a:blipFill>
              <a:blip r:embed="rId2">
                <a:alphaModFix amt="0"/>
              </a:blip>
              <a:stretch>
                <a:fillRect t="-6956" b="-6956"/>
              </a:stretch>
            </a:blipFill>
          </p:spPr>
        </p:sp>
        <p:sp>
          <p:nvSpPr>
            <p:cNvPr id="13" name="TextBox 13"/>
            <p:cNvSpPr txBox="1"/>
            <p:nvPr/>
          </p:nvSpPr>
          <p:spPr>
            <a:xfrm>
              <a:off x="0" y="-28575"/>
              <a:ext cx="3474720" cy="1217295"/>
            </a:xfrm>
            <a:prstGeom prst="rect">
              <a:avLst/>
            </a:prstGeom>
          </p:spPr>
          <p:txBody>
            <a:bodyPr lIns="0" tIns="0" rIns="0" bIns="0" rtlCol="0" anchor="ctr"/>
            <a:lstStyle/>
            <a:p>
              <a:pPr algn="l">
                <a:lnSpc>
                  <a:spcPts val="6120"/>
                </a:lnSpc>
              </a:pPr>
              <a:r>
                <a:rPr lang="en-US" sz="5100" b="1">
                  <a:solidFill>
                    <a:srgbClr val="15243A"/>
                  </a:solidFill>
                  <a:latin typeface="Arial Bold"/>
                  <a:ea typeface="Arial Bold"/>
                  <a:cs typeface="Arial Bold"/>
                  <a:sym typeface="Arial Bold"/>
                </a:rPr>
                <a:t>10</a:t>
              </a:r>
            </a:p>
          </p:txBody>
        </p:sp>
      </p:grpSp>
      <p:grpSp>
        <p:nvGrpSpPr>
          <p:cNvPr id="14" name="Group 14"/>
          <p:cNvGrpSpPr/>
          <p:nvPr/>
        </p:nvGrpSpPr>
        <p:grpSpPr>
          <a:xfrm>
            <a:off x="1092479" y="7502652"/>
            <a:ext cx="2606040" cy="411480"/>
            <a:chOff x="0" y="0"/>
            <a:chExt cx="3474720" cy="548640"/>
          </a:xfrm>
        </p:grpSpPr>
        <p:sp>
          <p:nvSpPr>
            <p:cNvPr id="15" name="Freeform 15"/>
            <p:cNvSpPr/>
            <p:nvPr/>
          </p:nvSpPr>
          <p:spPr>
            <a:xfrm>
              <a:off x="0" y="0"/>
              <a:ext cx="3474720" cy="548640"/>
            </a:xfrm>
            <a:custGeom>
              <a:avLst/>
              <a:gdLst/>
              <a:ahLst/>
              <a:cxnLst/>
              <a:rect l="l" t="t" r="r" b="b"/>
              <a:pathLst>
                <a:path w="3474720" h="548640">
                  <a:moveTo>
                    <a:pt x="0" y="0"/>
                  </a:moveTo>
                  <a:lnTo>
                    <a:pt x="3474720" y="0"/>
                  </a:lnTo>
                  <a:lnTo>
                    <a:pt x="3474720" y="548640"/>
                  </a:lnTo>
                  <a:lnTo>
                    <a:pt x="0" y="548640"/>
                  </a:lnTo>
                  <a:close/>
                </a:path>
              </a:pathLst>
            </a:custGeom>
            <a:blipFill>
              <a:blip r:embed="rId2">
                <a:alphaModFix amt="0"/>
              </a:blip>
              <a:stretch>
                <a:fillRect t="-73405" b="-73405"/>
              </a:stretch>
            </a:blipFill>
          </p:spPr>
        </p:sp>
        <p:sp>
          <p:nvSpPr>
            <p:cNvPr id="16" name="TextBox 16"/>
            <p:cNvSpPr txBox="1"/>
            <p:nvPr/>
          </p:nvSpPr>
          <p:spPr>
            <a:xfrm>
              <a:off x="0" y="-28575"/>
              <a:ext cx="3474720" cy="577215"/>
            </a:xfrm>
            <a:prstGeom prst="rect">
              <a:avLst/>
            </a:prstGeom>
          </p:spPr>
          <p:txBody>
            <a:bodyPr lIns="0" tIns="0" rIns="0" bIns="0" rtlCol="0" anchor="ctr"/>
            <a:lstStyle/>
            <a:p>
              <a:pPr algn="l">
                <a:lnSpc>
                  <a:spcPts val="2250"/>
                </a:lnSpc>
              </a:pPr>
              <a:r>
                <a:rPr lang="en-US" sz="1875" b="1">
                  <a:solidFill>
                    <a:srgbClr val="52637A"/>
                  </a:solidFill>
                  <a:latin typeface="Arial Bold"/>
                  <a:ea typeface="Arial Bold"/>
                  <a:cs typeface="Arial Bold"/>
                  <a:sym typeface="Arial Bold"/>
                </a:rPr>
                <a:t>pilot shops</a:t>
              </a:r>
            </a:p>
          </p:txBody>
        </p:sp>
      </p:grpSp>
      <p:grpSp>
        <p:nvGrpSpPr>
          <p:cNvPr id="17" name="Group 17"/>
          <p:cNvGrpSpPr/>
          <p:nvPr/>
        </p:nvGrpSpPr>
        <p:grpSpPr>
          <a:xfrm>
            <a:off x="1092479" y="8161020"/>
            <a:ext cx="576072" cy="576072"/>
            <a:chOff x="0" y="0"/>
            <a:chExt cx="768096" cy="768096"/>
          </a:xfrm>
        </p:grpSpPr>
        <p:sp>
          <p:nvSpPr>
            <p:cNvPr id="18" name="Freeform 18"/>
            <p:cNvSpPr/>
            <p:nvPr/>
          </p:nvSpPr>
          <p:spPr>
            <a:xfrm>
              <a:off x="0" y="0"/>
              <a:ext cx="768096" cy="768096"/>
            </a:xfrm>
            <a:custGeom>
              <a:avLst/>
              <a:gdLst/>
              <a:ahLst/>
              <a:cxnLst/>
              <a:rect l="l" t="t" r="r" b="b"/>
              <a:pathLst>
                <a:path w="768096" h="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CCFBF1"/>
            </a:solidFill>
          </p:spPr>
        </p:sp>
      </p:grpSp>
      <p:grpSp>
        <p:nvGrpSpPr>
          <p:cNvPr id="19" name="Group 19"/>
          <p:cNvGrpSpPr/>
          <p:nvPr/>
        </p:nvGrpSpPr>
        <p:grpSpPr>
          <a:xfrm>
            <a:off x="1215923" y="8284464"/>
            <a:ext cx="329184" cy="329184"/>
            <a:chOff x="0" y="0"/>
            <a:chExt cx="438912" cy="438912"/>
          </a:xfrm>
        </p:grpSpPr>
        <p:sp>
          <p:nvSpPr>
            <p:cNvPr id="20" name="Freeform 20" descr="preencoded.png"/>
            <p:cNvSpPr/>
            <p:nvPr/>
          </p:nvSpPr>
          <p:spPr>
            <a:xfrm>
              <a:off x="0" y="0"/>
              <a:ext cx="438912" cy="438912"/>
            </a:xfrm>
            <a:custGeom>
              <a:avLst/>
              <a:gdLst/>
              <a:ahLst/>
              <a:cxnLst/>
              <a:rect l="l" t="t" r="r" b="b"/>
              <a:pathLst>
                <a:path w="438912" h="438912">
                  <a:moveTo>
                    <a:pt x="0" y="0"/>
                  </a:moveTo>
                  <a:lnTo>
                    <a:pt x="438912" y="0"/>
                  </a:lnTo>
                  <a:lnTo>
                    <a:pt x="438912" y="438912"/>
                  </a:lnTo>
                  <a:lnTo>
                    <a:pt x="0" y="438912"/>
                  </a:lnTo>
                  <a:lnTo>
                    <a:pt x="0" y="0"/>
                  </a:lnTo>
                  <a:close/>
                </a:path>
              </a:pathLst>
            </a:custGeom>
            <a:blipFill>
              <a:blip r:embed="rId3"/>
              <a:stretch>
                <a:fillRect/>
              </a:stretch>
            </a:blipFill>
          </p:spPr>
        </p:sp>
      </p:grpSp>
      <p:grpSp>
        <p:nvGrpSpPr>
          <p:cNvPr id="21" name="Group 21"/>
          <p:cNvGrpSpPr/>
          <p:nvPr/>
        </p:nvGrpSpPr>
        <p:grpSpPr>
          <a:xfrm>
            <a:off x="1778279" y="8051292"/>
            <a:ext cx="2057400" cy="822960"/>
            <a:chOff x="0" y="0"/>
            <a:chExt cx="2743200" cy="1097280"/>
          </a:xfrm>
        </p:grpSpPr>
        <p:sp>
          <p:nvSpPr>
            <p:cNvPr id="22" name="Freeform 22"/>
            <p:cNvSpPr/>
            <p:nvPr/>
          </p:nvSpPr>
          <p:spPr>
            <a:xfrm>
              <a:off x="0" y="0"/>
              <a:ext cx="2743200" cy="1097280"/>
            </a:xfrm>
            <a:custGeom>
              <a:avLst/>
              <a:gdLst/>
              <a:ahLst/>
              <a:cxnLst/>
              <a:rect l="l" t="t" r="r" b="b"/>
              <a:pathLst>
                <a:path w="2743200" h="1097280">
                  <a:moveTo>
                    <a:pt x="0" y="0"/>
                  </a:moveTo>
                  <a:lnTo>
                    <a:pt x="2743200" y="0"/>
                  </a:lnTo>
                  <a:lnTo>
                    <a:pt x="2743200" y="1097280"/>
                  </a:lnTo>
                  <a:lnTo>
                    <a:pt x="0" y="1097280"/>
                  </a:lnTo>
                  <a:close/>
                </a:path>
              </a:pathLst>
            </a:custGeom>
            <a:blipFill>
              <a:blip r:embed="rId2">
                <a:alphaModFix amt="0"/>
              </a:blip>
              <a:stretch>
                <a:fillRect l="-1321" r="-1321"/>
              </a:stretch>
            </a:blipFill>
          </p:spPr>
        </p:sp>
        <p:sp>
          <p:nvSpPr>
            <p:cNvPr id="23" name="TextBox 23"/>
            <p:cNvSpPr txBox="1"/>
            <p:nvPr/>
          </p:nvSpPr>
          <p:spPr>
            <a:xfrm>
              <a:off x="0" y="-19050"/>
              <a:ext cx="2743200" cy="1116330"/>
            </a:xfrm>
            <a:prstGeom prst="rect">
              <a:avLst/>
            </a:prstGeom>
          </p:spPr>
          <p:txBody>
            <a:bodyPr lIns="0" tIns="0" rIns="0" bIns="0" rtlCol="0" anchor="ctr"/>
            <a:lstStyle/>
            <a:p>
              <a:pPr algn="l">
                <a:lnSpc>
                  <a:spcPts val="1980"/>
                </a:lnSpc>
              </a:pPr>
              <a:r>
                <a:rPr lang="en-US" sz="1650">
                  <a:solidFill>
                    <a:srgbClr val="15243A"/>
                  </a:solidFill>
                  <a:latin typeface="Arial"/>
                  <a:ea typeface="Arial"/>
                  <a:cs typeface="Arial"/>
                  <a:sym typeface="Arial"/>
                </a:rPr>
                <a:t>Shop visits, Facebook groups</a:t>
              </a:r>
            </a:p>
          </p:txBody>
        </p:sp>
      </p:grpSp>
      <p:grpSp>
        <p:nvGrpSpPr>
          <p:cNvPr id="24" name="Group 24"/>
          <p:cNvGrpSpPr/>
          <p:nvPr/>
        </p:nvGrpSpPr>
        <p:grpSpPr>
          <a:xfrm>
            <a:off x="4182770" y="5106543"/>
            <a:ext cx="3173730" cy="3173730"/>
            <a:chOff x="0" y="0"/>
            <a:chExt cx="4231640" cy="4231640"/>
          </a:xfrm>
        </p:grpSpPr>
        <p:sp>
          <p:nvSpPr>
            <p:cNvPr id="25" name="Freeform 25"/>
            <p:cNvSpPr/>
            <p:nvPr/>
          </p:nvSpPr>
          <p:spPr>
            <a:xfrm>
              <a:off x="0" y="0"/>
              <a:ext cx="4231640" cy="4231640"/>
            </a:xfrm>
            <a:custGeom>
              <a:avLst/>
              <a:gdLst/>
              <a:ahLst/>
              <a:cxnLst/>
              <a:rect l="l" t="t" r="r" b="b"/>
              <a:pathLst>
                <a:path w="4231640" h="4231640">
                  <a:moveTo>
                    <a:pt x="0" y="331216"/>
                  </a:moveTo>
                  <a:cubicBezTo>
                    <a:pt x="0" y="148209"/>
                    <a:pt x="148209" y="0"/>
                    <a:pt x="331216" y="0"/>
                  </a:cubicBezTo>
                  <a:lnTo>
                    <a:pt x="3900424" y="0"/>
                  </a:lnTo>
                  <a:cubicBezTo>
                    <a:pt x="4083304" y="0"/>
                    <a:pt x="4231640" y="148209"/>
                    <a:pt x="4231640" y="331216"/>
                  </a:cubicBezTo>
                  <a:lnTo>
                    <a:pt x="4231640" y="3900424"/>
                  </a:lnTo>
                  <a:cubicBezTo>
                    <a:pt x="4231640" y="4083304"/>
                    <a:pt x="4083431" y="4231640"/>
                    <a:pt x="3900424" y="4231640"/>
                  </a:cubicBezTo>
                  <a:lnTo>
                    <a:pt x="331216" y="4231640"/>
                  </a:lnTo>
                  <a:cubicBezTo>
                    <a:pt x="148209" y="4231640"/>
                    <a:pt x="0" y="4083431"/>
                    <a:pt x="0" y="3900424"/>
                  </a:cubicBezTo>
                  <a:close/>
                </a:path>
              </a:pathLst>
            </a:custGeom>
            <a:solidFill>
              <a:srgbClr val="FFFFFF"/>
            </a:solidFill>
            <a:ln w="19050" cap="sq">
              <a:solidFill>
                <a:srgbClr val="E2E8F0"/>
              </a:solidFill>
              <a:prstDash val="solid"/>
              <a:miter/>
            </a:ln>
          </p:spPr>
        </p:sp>
      </p:grpSp>
      <p:grpSp>
        <p:nvGrpSpPr>
          <p:cNvPr id="26" name="Group 26"/>
          <p:cNvGrpSpPr/>
          <p:nvPr/>
        </p:nvGrpSpPr>
        <p:grpSpPr>
          <a:xfrm>
            <a:off x="4466615" y="5362956"/>
            <a:ext cx="2606040" cy="384048"/>
            <a:chOff x="0" y="0"/>
            <a:chExt cx="3474720" cy="512064"/>
          </a:xfrm>
        </p:grpSpPr>
        <p:sp>
          <p:nvSpPr>
            <p:cNvPr id="27" name="Freeform 27"/>
            <p:cNvSpPr/>
            <p:nvPr/>
          </p:nvSpPr>
          <p:spPr>
            <a:xfrm>
              <a:off x="0" y="0"/>
              <a:ext cx="3474720" cy="512064"/>
            </a:xfrm>
            <a:custGeom>
              <a:avLst/>
              <a:gdLst/>
              <a:ahLst/>
              <a:cxnLst/>
              <a:rect l="l" t="t" r="r" b="b"/>
              <a:pathLst>
                <a:path w="3474720" h="512064">
                  <a:moveTo>
                    <a:pt x="0" y="0"/>
                  </a:moveTo>
                  <a:lnTo>
                    <a:pt x="3474720" y="0"/>
                  </a:lnTo>
                  <a:lnTo>
                    <a:pt x="3474720" y="512064"/>
                  </a:lnTo>
                  <a:lnTo>
                    <a:pt x="0" y="512064"/>
                  </a:lnTo>
                  <a:close/>
                </a:path>
              </a:pathLst>
            </a:custGeom>
            <a:blipFill>
              <a:blip r:embed="rId2">
                <a:alphaModFix amt="0"/>
              </a:blip>
              <a:stretch>
                <a:fillRect t="-82219" b="-82219"/>
              </a:stretch>
            </a:blipFill>
          </p:spPr>
        </p:sp>
        <p:sp>
          <p:nvSpPr>
            <p:cNvPr id="28" name="TextBox 28"/>
            <p:cNvSpPr txBox="1"/>
            <p:nvPr/>
          </p:nvSpPr>
          <p:spPr>
            <a:xfrm>
              <a:off x="0" y="-9525"/>
              <a:ext cx="3474720" cy="521589"/>
            </a:xfrm>
            <a:prstGeom prst="rect">
              <a:avLst/>
            </a:prstGeom>
          </p:spPr>
          <p:txBody>
            <a:bodyPr lIns="0" tIns="0" rIns="0" bIns="0" rtlCol="0" anchor="ctr"/>
            <a:lstStyle/>
            <a:p>
              <a:pPr algn="l">
                <a:lnSpc>
                  <a:spcPts val="1889"/>
                </a:lnSpc>
              </a:pPr>
              <a:r>
                <a:rPr lang="en-US" sz="1575" b="1" spc="150">
                  <a:solidFill>
                    <a:srgbClr val="52637A"/>
                  </a:solidFill>
                  <a:latin typeface="Arial Bold"/>
                  <a:ea typeface="Arial Bold"/>
                  <a:cs typeface="Arial Bold"/>
                  <a:sym typeface="Arial Bold"/>
                </a:rPr>
                <a:t>YEAR 1 · 2027</a:t>
              </a:r>
            </a:p>
          </p:txBody>
        </p:sp>
      </p:grpSp>
      <p:grpSp>
        <p:nvGrpSpPr>
          <p:cNvPr id="29" name="Group 29"/>
          <p:cNvGrpSpPr/>
          <p:nvPr/>
        </p:nvGrpSpPr>
        <p:grpSpPr>
          <a:xfrm>
            <a:off x="4466615" y="5801868"/>
            <a:ext cx="2606040" cy="891540"/>
            <a:chOff x="0" y="0"/>
            <a:chExt cx="3474720" cy="1188720"/>
          </a:xfrm>
        </p:grpSpPr>
        <p:sp>
          <p:nvSpPr>
            <p:cNvPr id="30" name="Freeform 30"/>
            <p:cNvSpPr/>
            <p:nvPr/>
          </p:nvSpPr>
          <p:spPr>
            <a:xfrm>
              <a:off x="0" y="0"/>
              <a:ext cx="3474720" cy="1188720"/>
            </a:xfrm>
            <a:custGeom>
              <a:avLst/>
              <a:gdLst/>
              <a:ahLst/>
              <a:cxnLst/>
              <a:rect l="l" t="t" r="r" b="b"/>
              <a:pathLst>
                <a:path w="3474720" h="1188720">
                  <a:moveTo>
                    <a:pt x="0" y="0"/>
                  </a:moveTo>
                  <a:lnTo>
                    <a:pt x="3474720" y="0"/>
                  </a:lnTo>
                  <a:lnTo>
                    <a:pt x="3474720" y="1188720"/>
                  </a:lnTo>
                  <a:lnTo>
                    <a:pt x="0" y="1188720"/>
                  </a:lnTo>
                  <a:close/>
                </a:path>
              </a:pathLst>
            </a:custGeom>
            <a:blipFill>
              <a:blip r:embed="rId2">
                <a:alphaModFix amt="0"/>
              </a:blip>
              <a:stretch>
                <a:fillRect t="-6956" b="-6956"/>
              </a:stretch>
            </a:blipFill>
          </p:spPr>
        </p:sp>
        <p:sp>
          <p:nvSpPr>
            <p:cNvPr id="31" name="TextBox 31"/>
            <p:cNvSpPr txBox="1"/>
            <p:nvPr/>
          </p:nvSpPr>
          <p:spPr>
            <a:xfrm>
              <a:off x="0" y="-28575"/>
              <a:ext cx="3474720" cy="1217295"/>
            </a:xfrm>
            <a:prstGeom prst="rect">
              <a:avLst/>
            </a:prstGeom>
          </p:spPr>
          <p:txBody>
            <a:bodyPr lIns="0" tIns="0" rIns="0" bIns="0" rtlCol="0" anchor="ctr"/>
            <a:lstStyle/>
            <a:p>
              <a:pPr algn="l">
                <a:lnSpc>
                  <a:spcPts val="6120"/>
                </a:lnSpc>
              </a:pPr>
              <a:r>
                <a:rPr lang="en-US" sz="5100" b="1">
                  <a:solidFill>
                    <a:srgbClr val="15243A"/>
                  </a:solidFill>
                  <a:latin typeface="Arial Bold"/>
                  <a:ea typeface="Arial Bold"/>
                  <a:cs typeface="Arial Bold"/>
                  <a:sym typeface="Arial Bold"/>
                </a:rPr>
                <a:t>~60</a:t>
              </a:r>
            </a:p>
          </p:txBody>
        </p:sp>
      </p:grpSp>
      <p:grpSp>
        <p:nvGrpSpPr>
          <p:cNvPr id="32" name="Group 32"/>
          <p:cNvGrpSpPr/>
          <p:nvPr/>
        </p:nvGrpSpPr>
        <p:grpSpPr>
          <a:xfrm>
            <a:off x="4466615" y="6652260"/>
            <a:ext cx="2606040" cy="411480"/>
            <a:chOff x="0" y="0"/>
            <a:chExt cx="3474720" cy="548640"/>
          </a:xfrm>
        </p:grpSpPr>
        <p:sp>
          <p:nvSpPr>
            <p:cNvPr id="33" name="Freeform 33"/>
            <p:cNvSpPr/>
            <p:nvPr/>
          </p:nvSpPr>
          <p:spPr>
            <a:xfrm>
              <a:off x="0" y="0"/>
              <a:ext cx="3474720" cy="548640"/>
            </a:xfrm>
            <a:custGeom>
              <a:avLst/>
              <a:gdLst/>
              <a:ahLst/>
              <a:cxnLst/>
              <a:rect l="l" t="t" r="r" b="b"/>
              <a:pathLst>
                <a:path w="3474720" h="548640">
                  <a:moveTo>
                    <a:pt x="0" y="0"/>
                  </a:moveTo>
                  <a:lnTo>
                    <a:pt x="3474720" y="0"/>
                  </a:lnTo>
                  <a:lnTo>
                    <a:pt x="3474720" y="548640"/>
                  </a:lnTo>
                  <a:lnTo>
                    <a:pt x="0" y="548640"/>
                  </a:lnTo>
                  <a:close/>
                </a:path>
              </a:pathLst>
            </a:custGeom>
            <a:blipFill>
              <a:blip r:embed="rId2">
                <a:alphaModFix amt="0"/>
              </a:blip>
              <a:stretch>
                <a:fillRect t="-73405" b="-73405"/>
              </a:stretch>
            </a:blipFill>
          </p:spPr>
        </p:sp>
        <p:sp>
          <p:nvSpPr>
            <p:cNvPr id="34" name="TextBox 34"/>
            <p:cNvSpPr txBox="1"/>
            <p:nvPr/>
          </p:nvSpPr>
          <p:spPr>
            <a:xfrm>
              <a:off x="0" y="-28575"/>
              <a:ext cx="3474720" cy="577215"/>
            </a:xfrm>
            <a:prstGeom prst="rect">
              <a:avLst/>
            </a:prstGeom>
          </p:spPr>
          <p:txBody>
            <a:bodyPr lIns="0" tIns="0" rIns="0" bIns="0" rtlCol="0" anchor="ctr"/>
            <a:lstStyle/>
            <a:p>
              <a:pPr algn="l">
                <a:lnSpc>
                  <a:spcPts val="2250"/>
                </a:lnSpc>
              </a:pPr>
              <a:r>
                <a:rPr lang="en-US" sz="1875" b="1">
                  <a:solidFill>
                    <a:srgbClr val="52637A"/>
                  </a:solidFill>
                  <a:latin typeface="Arial Bold"/>
                  <a:ea typeface="Arial Bold"/>
                  <a:cs typeface="Arial Bold"/>
                  <a:sym typeface="Arial Bold"/>
                </a:rPr>
                <a:t>paying shops</a:t>
              </a:r>
            </a:p>
          </p:txBody>
        </p:sp>
      </p:grpSp>
      <p:grpSp>
        <p:nvGrpSpPr>
          <p:cNvPr id="35" name="Group 35"/>
          <p:cNvGrpSpPr/>
          <p:nvPr/>
        </p:nvGrpSpPr>
        <p:grpSpPr>
          <a:xfrm>
            <a:off x="4466615" y="7310628"/>
            <a:ext cx="576072" cy="576072"/>
            <a:chOff x="0" y="0"/>
            <a:chExt cx="768096" cy="768096"/>
          </a:xfrm>
        </p:grpSpPr>
        <p:sp>
          <p:nvSpPr>
            <p:cNvPr id="36" name="Freeform 36"/>
            <p:cNvSpPr/>
            <p:nvPr/>
          </p:nvSpPr>
          <p:spPr>
            <a:xfrm>
              <a:off x="0" y="0"/>
              <a:ext cx="768096" cy="768096"/>
            </a:xfrm>
            <a:custGeom>
              <a:avLst/>
              <a:gdLst/>
              <a:ahLst/>
              <a:cxnLst/>
              <a:rect l="l" t="t" r="r" b="b"/>
              <a:pathLst>
                <a:path w="768096" h="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CCFBF1"/>
            </a:solidFill>
          </p:spPr>
        </p:sp>
      </p:grpSp>
      <p:grpSp>
        <p:nvGrpSpPr>
          <p:cNvPr id="37" name="Group 37"/>
          <p:cNvGrpSpPr/>
          <p:nvPr/>
        </p:nvGrpSpPr>
        <p:grpSpPr>
          <a:xfrm>
            <a:off x="4590059" y="7434072"/>
            <a:ext cx="329184" cy="329184"/>
            <a:chOff x="0" y="0"/>
            <a:chExt cx="438912" cy="438912"/>
          </a:xfrm>
        </p:grpSpPr>
        <p:sp>
          <p:nvSpPr>
            <p:cNvPr id="38" name="Freeform 38" descr="preencoded.png"/>
            <p:cNvSpPr/>
            <p:nvPr/>
          </p:nvSpPr>
          <p:spPr>
            <a:xfrm>
              <a:off x="0" y="0"/>
              <a:ext cx="438912" cy="438912"/>
            </a:xfrm>
            <a:custGeom>
              <a:avLst/>
              <a:gdLst/>
              <a:ahLst/>
              <a:cxnLst/>
              <a:rect l="l" t="t" r="r" b="b"/>
              <a:pathLst>
                <a:path w="438912" h="438912">
                  <a:moveTo>
                    <a:pt x="0" y="0"/>
                  </a:moveTo>
                  <a:lnTo>
                    <a:pt x="438912" y="0"/>
                  </a:lnTo>
                  <a:lnTo>
                    <a:pt x="438912" y="438912"/>
                  </a:lnTo>
                  <a:lnTo>
                    <a:pt x="0" y="438912"/>
                  </a:lnTo>
                  <a:lnTo>
                    <a:pt x="0" y="0"/>
                  </a:lnTo>
                  <a:close/>
                </a:path>
              </a:pathLst>
            </a:custGeom>
            <a:blipFill>
              <a:blip r:embed="rId4"/>
              <a:stretch>
                <a:fillRect/>
              </a:stretch>
            </a:blipFill>
          </p:spPr>
        </p:sp>
      </p:grpSp>
      <p:grpSp>
        <p:nvGrpSpPr>
          <p:cNvPr id="39" name="Group 39"/>
          <p:cNvGrpSpPr/>
          <p:nvPr/>
        </p:nvGrpSpPr>
        <p:grpSpPr>
          <a:xfrm>
            <a:off x="5152415" y="7200900"/>
            <a:ext cx="2057400" cy="822960"/>
            <a:chOff x="0" y="0"/>
            <a:chExt cx="2743200" cy="1097280"/>
          </a:xfrm>
        </p:grpSpPr>
        <p:sp>
          <p:nvSpPr>
            <p:cNvPr id="40" name="Freeform 40"/>
            <p:cNvSpPr/>
            <p:nvPr/>
          </p:nvSpPr>
          <p:spPr>
            <a:xfrm>
              <a:off x="0" y="0"/>
              <a:ext cx="2743200" cy="1097280"/>
            </a:xfrm>
            <a:custGeom>
              <a:avLst/>
              <a:gdLst/>
              <a:ahLst/>
              <a:cxnLst/>
              <a:rect l="l" t="t" r="r" b="b"/>
              <a:pathLst>
                <a:path w="2743200" h="1097280">
                  <a:moveTo>
                    <a:pt x="0" y="0"/>
                  </a:moveTo>
                  <a:lnTo>
                    <a:pt x="2743200" y="0"/>
                  </a:lnTo>
                  <a:lnTo>
                    <a:pt x="2743200" y="1097280"/>
                  </a:lnTo>
                  <a:lnTo>
                    <a:pt x="0" y="1097280"/>
                  </a:lnTo>
                  <a:close/>
                </a:path>
              </a:pathLst>
            </a:custGeom>
            <a:blipFill>
              <a:blip r:embed="rId2">
                <a:alphaModFix amt="0"/>
              </a:blip>
              <a:stretch>
                <a:fillRect l="-1321" r="-1321"/>
              </a:stretch>
            </a:blipFill>
          </p:spPr>
        </p:sp>
        <p:sp>
          <p:nvSpPr>
            <p:cNvPr id="41" name="TextBox 41"/>
            <p:cNvSpPr txBox="1"/>
            <p:nvPr/>
          </p:nvSpPr>
          <p:spPr>
            <a:xfrm>
              <a:off x="0" y="-19050"/>
              <a:ext cx="2743200" cy="1116330"/>
            </a:xfrm>
            <a:prstGeom prst="rect">
              <a:avLst/>
            </a:prstGeom>
          </p:spPr>
          <p:txBody>
            <a:bodyPr lIns="0" tIns="0" rIns="0" bIns="0" rtlCol="0" anchor="ctr"/>
            <a:lstStyle/>
            <a:p>
              <a:pPr algn="l">
                <a:lnSpc>
                  <a:spcPts val="1980"/>
                </a:lnSpc>
              </a:pPr>
              <a:r>
                <a:rPr lang="en-US" sz="1650">
                  <a:solidFill>
                    <a:srgbClr val="15243A"/>
                  </a:solidFill>
                  <a:latin typeface="Arial"/>
                  <a:ea typeface="Arial"/>
                  <a:cs typeface="Arial"/>
                  <a:sym typeface="Arial"/>
                </a:rPr>
                <a:t>Public launch + KHQR</a:t>
              </a:r>
            </a:p>
          </p:txBody>
        </p:sp>
      </p:grpSp>
      <p:grpSp>
        <p:nvGrpSpPr>
          <p:cNvPr id="42" name="Group 42"/>
          <p:cNvGrpSpPr/>
          <p:nvPr/>
        </p:nvGrpSpPr>
        <p:grpSpPr>
          <a:xfrm>
            <a:off x="7556906" y="4256151"/>
            <a:ext cx="3173730" cy="3173730"/>
            <a:chOff x="0" y="0"/>
            <a:chExt cx="4231640" cy="4231640"/>
          </a:xfrm>
        </p:grpSpPr>
        <p:sp>
          <p:nvSpPr>
            <p:cNvPr id="43" name="Freeform 43"/>
            <p:cNvSpPr/>
            <p:nvPr/>
          </p:nvSpPr>
          <p:spPr>
            <a:xfrm>
              <a:off x="0" y="0"/>
              <a:ext cx="4231640" cy="4231640"/>
            </a:xfrm>
            <a:custGeom>
              <a:avLst/>
              <a:gdLst/>
              <a:ahLst/>
              <a:cxnLst/>
              <a:rect l="l" t="t" r="r" b="b"/>
              <a:pathLst>
                <a:path w="4231640" h="4231640">
                  <a:moveTo>
                    <a:pt x="0" y="331216"/>
                  </a:moveTo>
                  <a:cubicBezTo>
                    <a:pt x="0" y="148209"/>
                    <a:pt x="148209" y="0"/>
                    <a:pt x="331216" y="0"/>
                  </a:cubicBezTo>
                  <a:lnTo>
                    <a:pt x="3900424" y="0"/>
                  </a:lnTo>
                  <a:cubicBezTo>
                    <a:pt x="4083304" y="0"/>
                    <a:pt x="4231640" y="148209"/>
                    <a:pt x="4231640" y="331216"/>
                  </a:cubicBezTo>
                  <a:lnTo>
                    <a:pt x="4231640" y="3900424"/>
                  </a:lnTo>
                  <a:cubicBezTo>
                    <a:pt x="4231640" y="4083304"/>
                    <a:pt x="4083431" y="4231640"/>
                    <a:pt x="3900424" y="4231640"/>
                  </a:cubicBezTo>
                  <a:lnTo>
                    <a:pt x="331216" y="4231640"/>
                  </a:lnTo>
                  <a:cubicBezTo>
                    <a:pt x="148209" y="4231640"/>
                    <a:pt x="0" y="4083431"/>
                    <a:pt x="0" y="3900424"/>
                  </a:cubicBezTo>
                  <a:close/>
                </a:path>
              </a:pathLst>
            </a:custGeom>
            <a:solidFill>
              <a:srgbClr val="FFFFFF"/>
            </a:solidFill>
            <a:ln w="19050" cap="sq">
              <a:solidFill>
                <a:srgbClr val="E2E8F0"/>
              </a:solidFill>
              <a:prstDash val="solid"/>
              <a:miter/>
            </a:ln>
          </p:spPr>
        </p:sp>
      </p:grpSp>
      <p:grpSp>
        <p:nvGrpSpPr>
          <p:cNvPr id="44" name="Group 44"/>
          <p:cNvGrpSpPr/>
          <p:nvPr/>
        </p:nvGrpSpPr>
        <p:grpSpPr>
          <a:xfrm>
            <a:off x="7840751" y="4512564"/>
            <a:ext cx="2606040" cy="384048"/>
            <a:chOff x="0" y="0"/>
            <a:chExt cx="3474720" cy="512064"/>
          </a:xfrm>
        </p:grpSpPr>
        <p:sp>
          <p:nvSpPr>
            <p:cNvPr id="45" name="Freeform 45"/>
            <p:cNvSpPr/>
            <p:nvPr/>
          </p:nvSpPr>
          <p:spPr>
            <a:xfrm>
              <a:off x="0" y="0"/>
              <a:ext cx="3474720" cy="512064"/>
            </a:xfrm>
            <a:custGeom>
              <a:avLst/>
              <a:gdLst/>
              <a:ahLst/>
              <a:cxnLst/>
              <a:rect l="l" t="t" r="r" b="b"/>
              <a:pathLst>
                <a:path w="3474720" h="512064">
                  <a:moveTo>
                    <a:pt x="0" y="0"/>
                  </a:moveTo>
                  <a:lnTo>
                    <a:pt x="3474720" y="0"/>
                  </a:lnTo>
                  <a:lnTo>
                    <a:pt x="3474720" y="512064"/>
                  </a:lnTo>
                  <a:lnTo>
                    <a:pt x="0" y="512064"/>
                  </a:lnTo>
                  <a:close/>
                </a:path>
              </a:pathLst>
            </a:custGeom>
            <a:blipFill>
              <a:blip r:embed="rId2">
                <a:alphaModFix amt="0"/>
              </a:blip>
              <a:stretch>
                <a:fillRect t="-82219" b="-82219"/>
              </a:stretch>
            </a:blipFill>
          </p:spPr>
        </p:sp>
        <p:sp>
          <p:nvSpPr>
            <p:cNvPr id="46" name="TextBox 46"/>
            <p:cNvSpPr txBox="1"/>
            <p:nvPr/>
          </p:nvSpPr>
          <p:spPr>
            <a:xfrm>
              <a:off x="0" y="-9525"/>
              <a:ext cx="3474720" cy="521589"/>
            </a:xfrm>
            <a:prstGeom prst="rect">
              <a:avLst/>
            </a:prstGeom>
          </p:spPr>
          <p:txBody>
            <a:bodyPr lIns="0" tIns="0" rIns="0" bIns="0" rtlCol="0" anchor="ctr"/>
            <a:lstStyle/>
            <a:p>
              <a:pPr algn="l">
                <a:lnSpc>
                  <a:spcPts val="1889"/>
                </a:lnSpc>
              </a:pPr>
              <a:r>
                <a:rPr lang="en-US" sz="1575" b="1" spc="150">
                  <a:solidFill>
                    <a:srgbClr val="52637A"/>
                  </a:solidFill>
                  <a:latin typeface="Arial Bold"/>
                  <a:ea typeface="Arial Bold"/>
                  <a:cs typeface="Arial Bold"/>
                  <a:sym typeface="Arial Bold"/>
                </a:rPr>
                <a:t>YEAR 2 · 2028</a:t>
              </a:r>
            </a:p>
          </p:txBody>
        </p:sp>
      </p:grpSp>
      <p:grpSp>
        <p:nvGrpSpPr>
          <p:cNvPr id="47" name="Group 47"/>
          <p:cNvGrpSpPr/>
          <p:nvPr/>
        </p:nvGrpSpPr>
        <p:grpSpPr>
          <a:xfrm>
            <a:off x="7840751" y="4951476"/>
            <a:ext cx="2606040" cy="891540"/>
            <a:chOff x="0" y="0"/>
            <a:chExt cx="3474720" cy="1188720"/>
          </a:xfrm>
        </p:grpSpPr>
        <p:sp>
          <p:nvSpPr>
            <p:cNvPr id="48" name="Freeform 48"/>
            <p:cNvSpPr/>
            <p:nvPr/>
          </p:nvSpPr>
          <p:spPr>
            <a:xfrm>
              <a:off x="0" y="0"/>
              <a:ext cx="3474720" cy="1188720"/>
            </a:xfrm>
            <a:custGeom>
              <a:avLst/>
              <a:gdLst/>
              <a:ahLst/>
              <a:cxnLst/>
              <a:rect l="l" t="t" r="r" b="b"/>
              <a:pathLst>
                <a:path w="3474720" h="1188720">
                  <a:moveTo>
                    <a:pt x="0" y="0"/>
                  </a:moveTo>
                  <a:lnTo>
                    <a:pt x="3474720" y="0"/>
                  </a:lnTo>
                  <a:lnTo>
                    <a:pt x="3474720" y="1188720"/>
                  </a:lnTo>
                  <a:lnTo>
                    <a:pt x="0" y="1188720"/>
                  </a:lnTo>
                  <a:close/>
                </a:path>
              </a:pathLst>
            </a:custGeom>
            <a:blipFill>
              <a:blip r:embed="rId2">
                <a:alphaModFix amt="0"/>
              </a:blip>
              <a:stretch>
                <a:fillRect t="-6956" b="-6956"/>
              </a:stretch>
            </a:blipFill>
          </p:spPr>
        </p:sp>
        <p:sp>
          <p:nvSpPr>
            <p:cNvPr id="49" name="TextBox 49"/>
            <p:cNvSpPr txBox="1"/>
            <p:nvPr/>
          </p:nvSpPr>
          <p:spPr>
            <a:xfrm>
              <a:off x="0" y="-28575"/>
              <a:ext cx="3474720" cy="1217295"/>
            </a:xfrm>
            <a:prstGeom prst="rect">
              <a:avLst/>
            </a:prstGeom>
          </p:spPr>
          <p:txBody>
            <a:bodyPr lIns="0" tIns="0" rIns="0" bIns="0" rtlCol="0" anchor="ctr"/>
            <a:lstStyle/>
            <a:p>
              <a:pPr algn="l">
                <a:lnSpc>
                  <a:spcPts val="6120"/>
                </a:lnSpc>
              </a:pPr>
              <a:r>
                <a:rPr lang="en-US" sz="5100" b="1">
                  <a:solidFill>
                    <a:srgbClr val="15243A"/>
                  </a:solidFill>
                  <a:latin typeface="Arial Bold"/>
                  <a:ea typeface="Arial Bold"/>
                  <a:cs typeface="Arial Bold"/>
                  <a:sym typeface="Arial Bold"/>
                </a:rPr>
                <a:t>~420</a:t>
              </a:r>
            </a:p>
          </p:txBody>
        </p:sp>
      </p:grpSp>
      <p:grpSp>
        <p:nvGrpSpPr>
          <p:cNvPr id="50" name="Group 50"/>
          <p:cNvGrpSpPr/>
          <p:nvPr/>
        </p:nvGrpSpPr>
        <p:grpSpPr>
          <a:xfrm>
            <a:off x="7840751" y="5801868"/>
            <a:ext cx="2606040" cy="411480"/>
            <a:chOff x="0" y="0"/>
            <a:chExt cx="3474720" cy="548640"/>
          </a:xfrm>
        </p:grpSpPr>
        <p:sp>
          <p:nvSpPr>
            <p:cNvPr id="51" name="Freeform 51"/>
            <p:cNvSpPr/>
            <p:nvPr/>
          </p:nvSpPr>
          <p:spPr>
            <a:xfrm>
              <a:off x="0" y="0"/>
              <a:ext cx="3474720" cy="548640"/>
            </a:xfrm>
            <a:custGeom>
              <a:avLst/>
              <a:gdLst/>
              <a:ahLst/>
              <a:cxnLst/>
              <a:rect l="l" t="t" r="r" b="b"/>
              <a:pathLst>
                <a:path w="3474720" h="548640">
                  <a:moveTo>
                    <a:pt x="0" y="0"/>
                  </a:moveTo>
                  <a:lnTo>
                    <a:pt x="3474720" y="0"/>
                  </a:lnTo>
                  <a:lnTo>
                    <a:pt x="3474720" y="548640"/>
                  </a:lnTo>
                  <a:lnTo>
                    <a:pt x="0" y="548640"/>
                  </a:lnTo>
                  <a:close/>
                </a:path>
              </a:pathLst>
            </a:custGeom>
            <a:blipFill>
              <a:blip r:embed="rId2">
                <a:alphaModFix amt="0"/>
              </a:blip>
              <a:stretch>
                <a:fillRect t="-73405" b="-73405"/>
              </a:stretch>
            </a:blipFill>
          </p:spPr>
        </p:sp>
        <p:sp>
          <p:nvSpPr>
            <p:cNvPr id="52" name="TextBox 52"/>
            <p:cNvSpPr txBox="1"/>
            <p:nvPr/>
          </p:nvSpPr>
          <p:spPr>
            <a:xfrm>
              <a:off x="0" y="-28575"/>
              <a:ext cx="3474720" cy="577215"/>
            </a:xfrm>
            <a:prstGeom prst="rect">
              <a:avLst/>
            </a:prstGeom>
          </p:spPr>
          <p:txBody>
            <a:bodyPr lIns="0" tIns="0" rIns="0" bIns="0" rtlCol="0" anchor="ctr"/>
            <a:lstStyle/>
            <a:p>
              <a:pPr algn="l">
                <a:lnSpc>
                  <a:spcPts val="2250"/>
                </a:lnSpc>
              </a:pPr>
              <a:r>
                <a:rPr lang="en-US" sz="1875" b="1">
                  <a:solidFill>
                    <a:srgbClr val="52637A"/>
                  </a:solidFill>
                  <a:latin typeface="Arial Bold"/>
                  <a:ea typeface="Arial Bold"/>
                  <a:cs typeface="Arial Bold"/>
                  <a:sym typeface="Arial Bold"/>
                </a:rPr>
                <a:t>paying shops</a:t>
              </a:r>
            </a:p>
          </p:txBody>
        </p:sp>
      </p:grpSp>
      <p:grpSp>
        <p:nvGrpSpPr>
          <p:cNvPr id="53" name="Group 53"/>
          <p:cNvGrpSpPr/>
          <p:nvPr/>
        </p:nvGrpSpPr>
        <p:grpSpPr>
          <a:xfrm>
            <a:off x="7840751" y="6460236"/>
            <a:ext cx="576072" cy="576072"/>
            <a:chOff x="0" y="0"/>
            <a:chExt cx="768096" cy="768096"/>
          </a:xfrm>
        </p:grpSpPr>
        <p:sp>
          <p:nvSpPr>
            <p:cNvPr id="54" name="Freeform 54"/>
            <p:cNvSpPr/>
            <p:nvPr/>
          </p:nvSpPr>
          <p:spPr>
            <a:xfrm>
              <a:off x="0" y="0"/>
              <a:ext cx="768096" cy="768096"/>
            </a:xfrm>
            <a:custGeom>
              <a:avLst/>
              <a:gdLst/>
              <a:ahLst/>
              <a:cxnLst/>
              <a:rect l="l" t="t" r="r" b="b"/>
              <a:pathLst>
                <a:path w="768096" h="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CCFBF1"/>
            </a:solidFill>
          </p:spPr>
        </p:sp>
      </p:grpSp>
      <p:grpSp>
        <p:nvGrpSpPr>
          <p:cNvPr id="55" name="Group 55"/>
          <p:cNvGrpSpPr/>
          <p:nvPr/>
        </p:nvGrpSpPr>
        <p:grpSpPr>
          <a:xfrm>
            <a:off x="7964195" y="6583680"/>
            <a:ext cx="329184" cy="329184"/>
            <a:chOff x="0" y="0"/>
            <a:chExt cx="438912" cy="438912"/>
          </a:xfrm>
        </p:grpSpPr>
        <p:sp>
          <p:nvSpPr>
            <p:cNvPr id="56" name="Freeform 56" descr="preencoded.png"/>
            <p:cNvSpPr/>
            <p:nvPr/>
          </p:nvSpPr>
          <p:spPr>
            <a:xfrm>
              <a:off x="0" y="0"/>
              <a:ext cx="438912" cy="438912"/>
            </a:xfrm>
            <a:custGeom>
              <a:avLst/>
              <a:gdLst/>
              <a:ahLst/>
              <a:cxnLst/>
              <a:rect l="l" t="t" r="r" b="b"/>
              <a:pathLst>
                <a:path w="438912" h="438912">
                  <a:moveTo>
                    <a:pt x="0" y="0"/>
                  </a:moveTo>
                  <a:lnTo>
                    <a:pt x="438912" y="0"/>
                  </a:lnTo>
                  <a:lnTo>
                    <a:pt x="438912" y="438912"/>
                  </a:lnTo>
                  <a:lnTo>
                    <a:pt x="0" y="438912"/>
                  </a:lnTo>
                  <a:lnTo>
                    <a:pt x="0" y="0"/>
                  </a:lnTo>
                  <a:close/>
                </a:path>
              </a:pathLst>
            </a:custGeom>
            <a:blipFill>
              <a:blip r:embed="rId5"/>
              <a:stretch>
                <a:fillRect/>
              </a:stretch>
            </a:blipFill>
          </p:spPr>
        </p:sp>
      </p:grpSp>
      <p:grpSp>
        <p:nvGrpSpPr>
          <p:cNvPr id="57" name="Group 57"/>
          <p:cNvGrpSpPr/>
          <p:nvPr/>
        </p:nvGrpSpPr>
        <p:grpSpPr>
          <a:xfrm>
            <a:off x="8526551" y="6350508"/>
            <a:ext cx="2057400" cy="822960"/>
            <a:chOff x="0" y="0"/>
            <a:chExt cx="2743200" cy="1097280"/>
          </a:xfrm>
        </p:grpSpPr>
        <p:sp>
          <p:nvSpPr>
            <p:cNvPr id="58" name="Freeform 58"/>
            <p:cNvSpPr/>
            <p:nvPr/>
          </p:nvSpPr>
          <p:spPr>
            <a:xfrm>
              <a:off x="0" y="0"/>
              <a:ext cx="2743200" cy="1097280"/>
            </a:xfrm>
            <a:custGeom>
              <a:avLst/>
              <a:gdLst/>
              <a:ahLst/>
              <a:cxnLst/>
              <a:rect l="l" t="t" r="r" b="b"/>
              <a:pathLst>
                <a:path w="2743200" h="1097280">
                  <a:moveTo>
                    <a:pt x="0" y="0"/>
                  </a:moveTo>
                  <a:lnTo>
                    <a:pt x="2743200" y="0"/>
                  </a:lnTo>
                  <a:lnTo>
                    <a:pt x="2743200" y="1097280"/>
                  </a:lnTo>
                  <a:lnTo>
                    <a:pt x="0" y="1097280"/>
                  </a:lnTo>
                  <a:close/>
                </a:path>
              </a:pathLst>
            </a:custGeom>
            <a:blipFill>
              <a:blip r:embed="rId2">
                <a:alphaModFix amt="0"/>
              </a:blip>
              <a:stretch>
                <a:fillRect l="-1321" r="-1321"/>
              </a:stretch>
            </a:blipFill>
          </p:spPr>
        </p:sp>
        <p:sp>
          <p:nvSpPr>
            <p:cNvPr id="59" name="TextBox 59"/>
            <p:cNvSpPr txBox="1"/>
            <p:nvPr/>
          </p:nvSpPr>
          <p:spPr>
            <a:xfrm>
              <a:off x="0" y="-19050"/>
              <a:ext cx="2743200" cy="1116330"/>
            </a:xfrm>
            <a:prstGeom prst="rect">
              <a:avLst/>
            </a:prstGeom>
          </p:spPr>
          <p:txBody>
            <a:bodyPr lIns="0" tIns="0" rIns="0" bIns="0" rtlCol="0" anchor="ctr"/>
            <a:lstStyle/>
            <a:p>
              <a:pPr algn="l">
                <a:lnSpc>
                  <a:spcPts val="1980"/>
                </a:lnSpc>
              </a:pPr>
              <a:r>
                <a:rPr lang="en-US" sz="1650">
                  <a:solidFill>
                    <a:srgbClr val="15243A"/>
                  </a:solidFill>
                  <a:latin typeface="Arial"/>
                  <a:ea typeface="Arial"/>
                  <a:cs typeface="Arial"/>
                  <a:sym typeface="Arial"/>
                </a:rPr>
                <a:t>Shops bring their buyers</a:t>
              </a:r>
            </a:p>
          </p:txBody>
        </p:sp>
      </p:grpSp>
      <p:grpSp>
        <p:nvGrpSpPr>
          <p:cNvPr id="60" name="Group 60"/>
          <p:cNvGrpSpPr/>
          <p:nvPr/>
        </p:nvGrpSpPr>
        <p:grpSpPr>
          <a:xfrm>
            <a:off x="10931042" y="3405759"/>
            <a:ext cx="3173730" cy="3173730"/>
            <a:chOff x="0" y="0"/>
            <a:chExt cx="4231640" cy="4231640"/>
          </a:xfrm>
        </p:grpSpPr>
        <p:sp>
          <p:nvSpPr>
            <p:cNvPr id="61" name="Freeform 61"/>
            <p:cNvSpPr/>
            <p:nvPr/>
          </p:nvSpPr>
          <p:spPr>
            <a:xfrm>
              <a:off x="0" y="0"/>
              <a:ext cx="4231640" cy="4231640"/>
            </a:xfrm>
            <a:custGeom>
              <a:avLst/>
              <a:gdLst/>
              <a:ahLst/>
              <a:cxnLst/>
              <a:rect l="l" t="t" r="r" b="b"/>
              <a:pathLst>
                <a:path w="4231640" h="4231640">
                  <a:moveTo>
                    <a:pt x="0" y="331216"/>
                  </a:moveTo>
                  <a:cubicBezTo>
                    <a:pt x="0" y="148209"/>
                    <a:pt x="148209" y="0"/>
                    <a:pt x="331216" y="0"/>
                  </a:cubicBezTo>
                  <a:lnTo>
                    <a:pt x="3900424" y="0"/>
                  </a:lnTo>
                  <a:cubicBezTo>
                    <a:pt x="4083304" y="0"/>
                    <a:pt x="4231640" y="148209"/>
                    <a:pt x="4231640" y="331216"/>
                  </a:cubicBezTo>
                  <a:lnTo>
                    <a:pt x="4231640" y="3900424"/>
                  </a:lnTo>
                  <a:cubicBezTo>
                    <a:pt x="4231640" y="4083304"/>
                    <a:pt x="4083431" y="4231640"/>
                    <a:pt x="3900424" y="4231640"/>
                  </a:cubicBezTo>
                  <a:lnTo>
                    <a:pt x="331216" y="4231640"/>
                  </a:lnTo>
                  <a:cubicBezTo>
                    <a:pt x="148209" y="4231640"/>
                    <a:pt x="0" y="4083431"/>
                    <a:pt x="0" y="3900424"/>
                  </a:cubicBezTo>
                  <a:close/>
                </a:path>
              </a:pathLst>
            </a:custGeom>
            <a:solidFill>
              <a:srgbClr val="FFFFFF"/>
            </a:solidFill>
            <a:ln w="19050" cap="sq">
              <a:solidFill>
                <a:srgbClr val="E2E8F0"/>
              </a:solidFill>
              <a:prstDash val="solid"/>
              <a:miter/>
            </a:ln>
          </p:spPr>
        </p:sp>
      </p:grpSp>
      <p:grpSp>
        <p:nvGrpSpPr>
          <p:cNvPr id="62" name="Group 62"/>
          <p:cNvGrpSpPr/>
          <p:nvPr/>
        </p:nvGrpSpPr>
        <p:grpSpPr>
          <a:xfrm>
            <a:off x="11214887" y="3662172"/>
            <a:ext cx="2606040" cy="384048"/>
            <a:chOff x="0" y="0"/>
            <a:chExt cx="3474720" cy="512064"/>
          </a:xfrm>
        </p:grpSpPr>
        <p:sp>
          <p:nvSpPr>
            <p:cNvPr id="63" name="Freeform 63"/>
            <p:cNvSpPr/>
            <p:nvPr/>
          </p:nvSpPr>
          <p:spPr>
            <a:xfrm>
              <a:off x="0" y="0"/>
              <a:ext cx="3474720" cy="512064"/>
            </a:xfrm>
            <a:custGeom>
              <a:avLst/>
              <a:gdLst/>
              <a:ahLst/>
              <a:cxnLst/>
              <a:rect l="l" t="t" r="r" b="b"/>
              <a:pathLst>
                <a:path w="3474720" h="512064">
                  <a:moveTo>
                    <a:pt x="0" y="0"/>
                  </a:moveTo>
                  <a:lnTo>
                    <a:pt x="3474720" y="0"/>
                  </a:lnTo>
                  <a:lnTo>
                    <a:pt x="3474720" y="512064"/>
                  </a:lnTo>
                  <a:lnTo>
                    <a:pt x="0" y="512064"/>
                  </a:lnTo>
                  <a:close/>
                </a:path>
              </a:pathLst>
            </a:custGeom>
            <a:blipFill>
              <a:blip r:embed="rId2">
                <a:alphaModFix amt="0"/>
              </a:blip>
              <a:stretch>
                <a:fillRect t="-82219" b="-82219"/>
              </a:stretch>
            </a:blipFill>
          </p:spPr>
        </p:sp>
        <p:sp>
          <p:nvSpPr>
            <p:cNvPr id="64" name="TextBox 64"/>
            <p:cNvSpPr txBox="1"/>
            <p:nvPr/>
          </p:nvSpPr>
          <p:spPr>
            <a:xfrm>
              <a:off x="0" y="-9525"/>
              <a:ext cx="3474720" cy="521589"/>
            </a:xfrm>
            <a:prstGeom prst="rect">
              <a:avLst/>
            </a:prstGeom>
          </p:spPr>
          <p:txBody>
            <a:bodyPr lIns="0" tIns="0" rIns="0" bIns="0" rtlCol="0" anchor="ctr"/>
            <a:lstStyle/>
            <a:p>
              <a:pPr algn="l">
                <a:lnSpc>
                  <a:spcPts val="1889"/>
                </a:lnSpc>
              </a:pPr>
              <a:r>
                <a:rPr lang="en-US" sz="1575" b="1" spc="150">
                  <a:solidFill>
                    <a:srgbClr val="52637A"/>
                  </a:solidFill>
                  <a:latin typeface="Arial Bold"/>
                  <a:ea typeface="Arial Bold"/>
                  <a:cs typeface="Arial Bold"/>
                  <a:sym typeface="Arial Bold"/>
                </a:rPr>
                <a:t>YEAR 3 · 2029</a:t>
              </a:r>
            </a:p>
          </p:txBody>
        </p:sp>
      </p:grpSp>
      <p:grpSp>
        <p:nvGrpSpPr>
          <p:cNvPr id="65" name="Group 65"/>
          <p:cNvGrpSpPr/>
          <p:nvPr/>
        </p:nvGrpSpPr>
        <p:grpSpPr>
          <a:xfrm>
            <a:off x="11214887" y="4101084"/>
            <a:ext cx="2606040" cy="891540"/>
            <a:chOff x="0" y="0"/>
            <a:chExt cx="3474720" cy="1188720"/>
          </a:xfrm>
        </p:grpSpPr>
        <p:sp>
          <p:nvSpPr>
            <p:cNvPr id="66" name="Freeform 66"/>
            <p:cNvSpPr/>
            <p:nvPr/>
          </p:nvSpPr>
          <p:spPr>
            <a:xfrm>
              <a:off x="0" y="0"/>
              <a:ext cx="3474720" cy="1188720"/>
            </a:xfrm>
            <a:custGeom>
              <a:avLst/>
              <a:gdLst/>
              <a:ahLst/>
              <a:cxnLst/>
              <a:rect l="l" t="t" r="r" b="b"/>
              <a:pathLst>
                <a:path w="3474720" h="1188720">
                  <a:moveTo>
                    <a:pt x="0" y="0"/>
                  </a:moveTo>
                  <a:lnTo>
                    <a:pt x="3474720" y="0"/>
                  </a:lnTo>
                  <a:lnTo>
                    <a:pt x="3474720" y="1188720"/>
                  </a:lnTo>
                  <a:lnTo>
                    <a:pt x="0" y="1188720"/>
                  </a:lnTo>
                  <a:close/>
                </a:path>
              </a:pathLst>
            </a:custGeom>
            <a:blipFill>
              <a:blip r:embed="rId2">
                <a:alphaModFix amt="0"/>
              </a:blip>
              <a:stretch>
                <a:fillRect t="-6956" b="-6956"/>
              </a:stretch>
            </a:blipFill>
          </p:spPr>
        </p:sp>
        <p:sp>
          <p:nvSpPr>
            <p:cNvPr id="67" name="TextBox 67"/>
            <p:cNvSpPr txBox="1"/>
            <p:nvPr/>
          </p:nvSpPr>
          <p:spPr>
            <a:xfrm>
              <a:off x="0" y="-28575"/>
              <a:ext cx="3474720" cy="1217295"/>
            </a:xfrm>
            <a:prstGeom prst="rect">
              <a:avLst/>
            </a:prstGeom>
          </p:spPr>
          <p:txBody>
            <a:bodyPr lIns="0" tIns="0" rIns="0" bIns="0" rtlCol="0" anchor="ctr"/>
            <a:lstStyle/>
            <a:p>
              <a:pPr algn="l">
                <a:lnSpc>
                  <a:spcPts val="6120"/>
                </a:lnSpc>
              </a:pPr>
              <a:r>
                <a:rPr lang="en-US" sz="5100" b="1">
                  <a:solidFill>
                    <a:srgbClr val="15243A"/>
                  </a:solidFill>
                  <a:latin typeface="Arial Bold"/>
                  <a:ea typeface="Arial Bold"/>
                  <a:cs typeface="Arial Bold"/>
                  <a:sym typeface="Arial Bold"/>
                </a:rPr>
                <a:t>~1,130</a:t>
              </a:r>
            </a:p>
          </p:txBody>
        </p:sp>
      </p:grpSp>
      <p:grpSp>
        <p:nvGrpSpPr>
          <p:cNvPr id="68" name="Group 68"/>
          <p:cNvGrpSpPr/>
          <p:nvPr/>
        </p:nvGrpSpPr>
        <p:grpSpPr>
          <a:xfrm>
            <a:off x="11214887" y="4951476"/>
            <a:ext cx="2606040" cy="411480"/>
            <a:chOff x="0" y="0"/>
            <a:chExt cx="3474720" cy="548640"/>
          </a:xfrm>
        </p:grpSpPr>
        <p:sp>
          <p:nvSpPr>
            <p:cNvPr id="69" name="Freeform 69"/>
            <p:cNvSpPr/>
            <p:nvPr/>
          </p:nvSpPr>
          <p:spPr>
            <a:xfrm>
              <a:off x="0" y="0"/>
              <a:ext cx="3474720" cy="548640"/>
            </a:xfrm>
            <a:custGeom>
              <a:avLst/>
              <a:gdLst/>
              <a:ahLst/>
              <a:cxnLst/>
              <a:rect l="l" t="t" r="r" b="b"/>
              <a:pathLst>
                <a:path w="3474720" h="548640">
                  <a:moveTo>
                    <a:pt x="0" y="0"/>
                  </a:moveTo>
                  <a:lnTo>
                    <a:pt x="3474720" y="0"/>
                  </a:lnTo>
                  <a:lnTo>
                    <a:pt x="3474720" y="548640"/>
                  </a:lnTo>
                  <a:lnTo>
                    <a:pt x="0" y="548640"/>
                  </a:lnTo>
                  <a:close/>
                </a:path>
              </a:pathLst>
            </a:custGeom>
            <a:blipFill>
              <a:blip r:embed="rId2">
                <a:alphaModFix amt="0"/>
              </a:blip>
              <a:stretch>
                <a:fillRect t="-73405" b="-73405"/>
              </a:stretch>
            </a:blipFill>
          </p:spPr>
        </p:sp>
        <p:sp>
          <p:nvSpPr>
            <p:cNvPr id="70" name="TextBox 70"/>
            <p:cNvSpPr txBox="1"/>
            <p:nvPr/>
          </p:nvSpPr>
          <p:spPr>
            <a:xfrm>
              <a:off x="0" y="-28575"/>
              <a:ext cx="3474720" cy="577215"/>
            </a:xfrm>
            <a:prstGeom prst="rect">
              <a:avLst/>
            </a:prstGeom>
          </p:spPr>
          <p:txBody>
            <a:bodyPr lIns="0" tIns="0" rIns="0" bIns="0" rtlCol="0" anchor="ctr"/>
            <a:lstStyle/>
            <a:p>
              <a:pPr algn="l">
                <a:lnSpc>
                  <a:spcPts val="2250"/>
                </a:lnSpc>
              </a:pPr>
              <a:r>
                <a:rPr lang="en-US" sz="1875" b="1">
                  <a:solidFill>
                    <a:srgbClr val="52637A"/>
                  </a:solidFill>
                  <a:latin typeface="Arial Bold"/>
                  <a:ea typeface="Arial Bold"/>
                  <a:cs typeface="Arial Bold"/>
                  <a:sym typeface="Arial Bold"/>
                </a:rPr>
                <a:t>paying shops</a:t>
              </a:r>
            </a:p>
          </p:txBody>
        </p:sp>
      </p:grpSp>
      <p:grpSp>
        <p:nvGrpSpPr>
          <p:cNvPr id="71" name="Group 71"/>
          <p:cNvGrpSpPr/>
          <p:nvPr/>
        </p:nvGrpSpPr>
        <p:grpSpPr>
          <a:xfrm>
            <a:off x="11214887" y="5609844"/>
            <a:ext cx="576072" cy="576072"/>
            <a:chOff x="0" y="0"/>
            <a:chExt cx="768096" cy="768096"/>
          </a:xfrm>
        </p:grpSpPr>
        <p:sp>
          <p:nvSpPr>
            <p:cNvPr id="72" name="Freeform 72"/>
            <p:cNvSpPr/>
            <p:nvPr/>
          </p:nvSpPr>
          <p:spPr>
            <a:xfrm>
              <a:off x="0" y="0"/>
              <a:ext cx="768096" cy="768096"/>
            </a:xfrm>
            <a:custGeom>
              <a:avLst/>
              <a:gdLst/>
              <a:ahLst/>
              <a:cxnLst/>
              <a:rect l="l" t="t" r="r" b="b"/>
              <a:pathLst>
                <a:path w="768096" h="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CCFBF1"/>
            </a:solidFill>
          </p:spPr>
        </p:sp>
      </p:grpSp>
      <p:grpSp>
        <p:nvGrpSpPr>
          <p:cNvPr id="73" name="Group 73"/>
          <p:cNvGrpSpPr/>
          <p:nvPr/>
        </p:nvGrpSpPr>
        <p:grpSpPr>
          <a:xfrm>
            <a:off x="11338331" y="5733288"/>
            <a:ext cx="329184" cy="329184"/>
            <a:chOff x="0" y="0"/>
            <a:chExt cx="438912" cy="438912"/>
          </a:xfrm>
        </p:grpSpPr>
        <p:sp>
          <p:nvSpPr>
            <p:cNvPr id="74" name="Freeform 74" descr="preencoded.png"/>
            <p:cNvSpPr/>
            <p:nvPr/>
          </p:nvSpPr>
          <p:spPr>
            <a:xfrm>
              <a:off x="0" y="0"/>
              <a:ext cx="438912" cy="438912"/>
            </a:xfrm>
            <a:custGeom>
              <a:avLst/>
              <a:gdLst/>
              <a:ahLst/>
              <a:cxnLst/>
              <a:rect l="l" t="t" r="r" b="b"/>
              <a:pathLst>
                <a:path w="438912" h="438912">
                  <a:moveTo>
                    <a:pt x="0" y="0"/>
                  </a:moveTo>
                  <a:lnTo>
                    <a:pt x="438912" y="0"/>
                  </a:lnTo>
                  <a:lnTo>
                    <a:pt x="438912" y="438912"/>
                  </a:lnTo>
                  <a:lnTo>
                    <a:pt x="0" y="438912"/>
                  </a:lnTo>
                  <a:lnTo>
                    <a:pt x="0" y="0"/>
                  </a:lnTo>
                  <a:close/>
                </a:path>
              </a:pathLst>
            </a:custGeom>
            <a:blipFill>
              <a:blip r:embed="rId6"/>
              <a:stretch>
                <a:fillRect/>
              </a:stretch>
            </a:blipFill>
          </p:spPr>
        </p:sp>
      </p:grpSp>
      <p:grpSp>
        <p:nvGrpSpPr>
          <p:cNvPr id="75" name="Group 75"/>
          <p:cNvGrpSpPr/>
          <p:nvPr/>
        </p:nvGrpSpPr>
        <p:grpSpPr>
          <a:xfrm>
            <a:off x="11900687" y="5500116"/>
            <a:ext cx="2057400" cy="822960"/>
            <a:chOff x="0" y="0"/>
            <a:chExt cx="2743200" cy="1097280"/>
          </a:xfrm>
        </p:grpSpPr>
        <p:sp>
          <p:nvSpPr>
            <p:cNvPr id="76" name="Freeform 76"/>
            <p:cNvSpPr/>
            <p:nvPr/>
          </p:nvSpPr>
          <p:spPr>
            <a:xfrm>
              <a:off x="0" y="0"/>
              <a:ext cx="2743200" cy="1097280"/>
            </a:xfrm>
            <a:custGeom>
              <a:avLst/>
              <a:gdLst/>
              <a:ahLst/>
              <a:cxnLst/>
              <a:rect l="l" t="t" r="r" b="b"/>
              <a:pathLst>
                <a:path w="2743200" h="1097280">
                  <a:moveTo>
                    <a:pt x="0" y="0"/>
                  </a:moveTo>
                  <a:lnTo>
                    <a:pt x="2743200" y="0"/>
                  </a:lnTo>
                  <a:lnTo>
                    <a:pt x="2743200" y="1097280"/>
                  </a:lnTo>
                  <a:lnTo>
                    <a:pt x="0" y="1097280"/>
                  </a:lnTo>
                  <a:close/>
                </a:path>
              </a:pathLst>
            </a:custGeom>
            <a:blipFill>
              <a:blip r:embed="rId2">
                <a:alphaModFix amt="0"/>
              </a:blip>
              <a:stretch>
                <a:fillRect l="-1321" r="-1321"/>
              </a:stretch>
            </a:blipFill>
          </p:spPr>
        </p:sp>
        <p:sp>
          <p:nvSpPr>
            <p:cNvPr id="77" name="TextBox 77"/>
            <p:cNvSpPr txBox="1"/>
            <p:nvPr/>
          </p:nvSpPr>
          <p:spPr>
            <a:xfrm>
              <a:off x="0" y="-19050"/>
              <a:ext cx="2743200" cy="1116330"/>
            </a:xfrm>
            <a:prstGeom prst="rect">
              <a:avLst/>
            </a:prstGeom>
          </p:spPr>
          <p:txBody>
            <a:bodyPr lIns="0" tIns="0" rIns="0" bIns="0" rtlCol="0" anchor="ctr"/>
            <a:lstStyle/>
            <a:p>
              <a:pPr algn="l">
                <a:lnSpc>
                  <a:spcPts val="1980"/>
                </a:lnSpc>
              </a:pPr>
              <a:r>
                <a:rPr lang="en-US" sz="1650">
                  <a:solidFill>
                    <a:srgbClr val="15243A"/>
                  </a:solidFill>
                  <a:latin typeface="Arial"/>
                  <a:ea typeface="Arial"/>
                  <a:cs typeface="Arial"/>
                  <a:sym typeface="Arial"/>
                </a:rPr>
                <a:t>Referrals and partners</a:t>
              </a:r>
            </a:p>
          </p:txBody>
        </p:sp>
      </p:grpSp>
      <p:grpSp>
        <p:nvGrpSpPr>
          <p:cNvPr id="78" name="Group 78"/>
          <p:cNvGrpSpPr/>
          <p:nvPr/>
        </p:nvGrpSpPr>
        <p:grpSpPr>
          <a:xfrm>
            <a:off x="14314703" y="2564892"/>
            <a:ext cx="3154680" cy="3154680"/>
            <a:chOff x="0" y="0"/>
            <a:chExt cx="4206240" cy="4206240"/>
          </a:xfrm>
        </p:grpSpPr>
        <p:sp>
          <p:nvSpPr>
            <p:cNvPr id="79" name="Freeform 79"/>
            <p:cNvSpPr/>
            <p:nvPr/>
          </p:nvSpPr>
          <p:spPr>
            <a:xfrm>
              <a:off x="0" y="0"/>
              <a:ext cx="4206240" cy="4206240"/>
            </a:xfrm>
            <a:custGeom>
              <a:avLst/>
              <a:gdLst/>
              <a:ahLst/>
              <a:cxnLst/>
              <a:rect l="l" t="t" r="r" b="b"/>
              <a:pathLst>
                <a:path w="4206240" h="4206240">
                  <a:moveTo>
                    <a:pt x="0" y="329184"/>
                  </a:moveTo>
                  <a:cubicBezTo>
                    <a:pt x="0" y="147320"/>
                    <a:pt x="147320" y="0"/>
                    <a:pt x="329184" y="0"/>
                  </a:cubicBezTo>
                  <a:lnTo>
                    <a:pt x="3877056" y="0"/>
                  </a:lnTo>
                  <a:cubicBezTo>
                    <a:pt x="4058920" y="0"/>
                    <a:pt x="4206240" y="147320"/>
                    <a:pt x="4206240" y="329184"/>
                  </a:cubicBezTo>
                  <a:lnTo>
                    <a:pt x="4206240" y="3877056"/>
                  </a:lnTo>
                  <a:cubicBezTo>
                    <a:pt x="4206240" y="4058920"/>
                    <a:pt x="4058920" y="4206240"/>
                    <a:pt x="3877056" y="4206240"/>
                  </a:cubicBezTo>
                  <a:lnTo>
                    <a:pt x="329184" y="4206240"/>
                  </a:lnTo>
                  <a:cubicBezTo>
                    <a:pt x="147320" y="4206240"/>
                    <a:pt x="0" y="4058920"/>
                    <a:pt x="0" y="3877056"/>
                  </a:cubicBezTo>
                  <a:close/>
                </a:path>
              </a:pathLst>
            </a:custGeom>
            <a:solidFill>
              <a:srgbClr val="111D35"/>
            </a:solidFill>
          </p:spPr>
        </p:sp>
      </p:grpSp>
      <p:grpSp>
        <p:nvGrpSpPr>
          <p:cNvPr id="80" name="Group 80"/>
          <p:cNvGrpSpPr/>
          <p:nvPr/>
        </p:nvGrpSpPr>
        <p:grpSpPr>
          <a:xfrm>
            <a:off x="14589023" y="2811780"/>
            <a:ext cx="2606040" cy="384048"/>
            <a:chOff x="0" y="0"/>
            <a:chExt cx="3474720" cy="512064"/>
          </a:xfrm>
        </p:grpSpPr>
        <p:sp>
          <p:nvSpPr>
            <p:cNvPr id="81" name="Freeform 81"/>
            <p:cNvSpPr/>
            <p:nvPr/>
          </p:nvSpPr>
          <p:spPr>
            <a:xfrm>
              <a:off x="0" y="0"/>
              <a:ext cx="3474720" cy="512064"/>
            </a:xfrm>
            <a:custGeom>
              <a:avLst/>
              <a:gdLst/>
              <a:ahLst/>
              <a:cxnLst/>
              <a:rect l="l" t="t" r="r" b="b"/>
              <a:pathLst>
                <a:path w="3474720" h="512064">
                  <a:moveTo>
                    <a:pt x="0" y="0"/>
                  </a:moveTo>
                  <a:lnTo>
                    <a:pt x="3474720" y="0"/>
                  </a:lnTo>
                  <a:lnTo>
                    <a:pt x="3474720" y="512064"/>
                  </a:lnTo>
                  <a:lnTo>
                    <a:pt x="0" y="512064"/>
                  </a:lnTo>
                  <a:close/>
                </a:path>
              </a:pathLst>
            </a:custGeom>
            <a:blipFill>
              <a:blip r:embed="rId2">
                <a:alphaModFix amt="0"/>
              </a:blip>
              <a:stretch>
                <a:fillRect t="-82219" b="-82219"/>
              </a:stretch>
            </a:blipFill>
          </p:spPr>
        </p:sp>
        <p:sp>
          <p:nvSpPr>
            <p:cNvPr id="82" name="TextBox 82"/>
            <p:cNvSpPr txBox="1"/>
            <p:nvPr/>
          </p:nvSpPr>
          <p:spPr>
            <a:xfrm>
              <a:off x="0" y="-9525"/>
              <a:ext cx="3474720" cy="521589"/>
            </a:xfrm>
            <a:prstGeom prst="rect">
              <a:avLst/>
            </a:prstGeom>
          </p:spPr>
          <p:txBody>
            <a:bodyPr lIns="0" tIns="0" rIns="0" bIns="0" rtlCol="0" anchor="ctr"/>
            <a:lstStyle/>
            <a:p>
              <a:pPr algn="l">
                <a:lnSpc>
                  <a:spcPts val="1889"/>
                </a:lnSpc>
              </a:pPr>
              <a:r>
                <a:rPr lang="en-US" sz="1575" b="1" spc="150">
                  <a:solidFill>
                    <a:srgbClr val="A7F3D0"/>
                  </a:solidFill>
                  <a:latin typeface="Arial Bold"/>
                  <a:ea typeface="Arial Bold"/>
                  <a:cs typeface="Arial Bold"/>
                  <a:sym typeface="Arial Bold"/>
                </a:rPr>
                <a:t>YEAR 3</a:t>
              </a:r>
            </a:p>
          </p:txBody>
        </p:sp>
      </p:grpSp>
      <p:grpSp>
        <p:nvGrpSpPr>
          <p:cNvPr id="83" name="Group 83"/>
          <p:cNvGrpSpPr/>
          <p:nvPr/>
        </p:nvGrpSpPr>
        <p:grpSpPr>
          <a:xfrm>
            <a:off x="14589023" y="3250692"/>
            <a:ext cx="2606040" cy="891540"/>
            <a:chOff x="0" y="0"/>
            <a:chExt cx="3474720" cy="1188720"/>
          </a:xfrm>
        </p:grpSpPr>
        <p:sp>
          <p:nvSpPr>
            <p:cNvPr id="84" name="Freeform 84"/>
            <p:cNvSpPr/>
            <p:nvPr/>
          </p:nvSpPr>
          <p:spPr>
            <a:xfrm>
              <a:off x="0" y="0"/>
              <a:ext cx="3474720" cy="1188720"/>
            </a:xfrm>
            <a:custGeom>
              <a:avLst/>
              <a:gdLst/>
              <a:ahLst/>
              <a:cxnLst/>
              <a:rect l="l" t="t" r="r" b="b"/>
              <a:pathLst>
                <a:path w="3474720" h="1188720">
                  <a:moveTo>
                    <a:pt x="0" y="0"/>
                  </a:moveTo>
                  <a:lnTo>
                    <a:pt x="3474720" y="0"/>
                  </a:lnTo>
                  <a:lnTo>
                    <a:pt x="3474720" y="1188720"/>
                  </a:lnTo>
                  <a:lnTo>
                    <a:pt x="0" y="1188720"/>
                  </a:lnTo>
                  <a:close/>
                </a:path>
              </a:pathLst>
            </a:custGeom>
            <a:blipFill>
              <a:blip r:embed="rId2">
                <a:alphaModFix amt="0"/>
              </a:blip>
              <a:stretch>
                <a:fillRect t="-6956" b="-6956"/>
              </a:stretch>
            </a:blipFill>
          </p:spPr>
        </p:sp>
        <p:sp>
          <p:nvSpPr>
            <p:cNvPr id="85" name="TextBox 85"/>
            <p:cNvSpPr txBox="1"/>
            <p:nvPr/>
          </p:nvSpPr>
          <p:spPr>
            <a:xfrm>
              <a:off x="0" y="-28575"/>
              <a:ext cx="3474720" cy="1217295"/>
            </a:xfrm>
            <a:prstGeom prst="rect">
              <a:avLst/>
            </a:prstGeom>
          </p:spPr>
          <p:txBody>
            <a:bodyPr lIns="0" tIns="0" rIns="0" bIns="0" rtlCol="0" anchor="ctr"/>
            <a:lstStyle/>
            <a:p>
              <a:pPr algn="l">
                <a:lnSpc>
                  <a:spcPts val="6120"/>
                </a:lnSpc>
              </a:pPr>
              <a:r>
                <a:rPr lang="en-US" sz="5100" b="1">
                  <a:solidFill>
                    <a:srgbClr val="FFFFFF"/>
                  </a:solidFill>
                  <a:latin typeface="Arial Bold"/>
                  <a:ea typeface="Arial Bold"/>
                  <a:cs typeface="Arial Bold"/>
                  <a:sym typeface="Arial Bold"/>
                </a:rPr>
                <a:t>~$420</a:t>
              </a:r>
            </a:p>
          </p:txBody>
        </p:sp>
      </p:grpSp>
      <p:grpSp>
        <p:nvGrpSpPr>
          <p:cNvPr id="86" name="Group 86"/>
          <p:cNvGrpSpPr/>
          <p:nvPr/>
        </p:nvGrpSpPr>
        <p:grpSpPr>
          <a:xfrm>
            <a:off x="14589023" y="4101084"/>
            <a:ext cx="2606040" cy="411480"/>
            <a:chOff x="0" y="0"/>
            <a:chExt cx="3474720" cy="548640"/>
          </a:xfrm>
        </p:grpSpPr>
        <p:sp>
          <p:nvSpPr>
            <p:cNvPr id="87" name="Freeform 87"/>
            <p:cNvSpPr/>
            <p:nvPr/>
          </p:nvSpPr>
          <p:spPr>
            <a:xfrm>
              <a:off x="0" y="0"/>
              <a:ext cx="3474720" cy="548640"/>
            </a:xfrm>
            <a:custGeom>
              <a:avLst/>
              <a:gdLst/>
              <a:ahLst/>
              <a:cxnLst/>
              <a:rect l="l" t="t" r="r" b="b"/>
              <a:pathLst>
                <a:path w="3474720" h="548640">
                  <a:moveTo>
                    <a:pt x="0" y="0"/>
                  </a:moveTo>
                  <a:lnTo>
                    <a:pt x="3474720" y="0"/>
                  </a:lnTo>
                  <a:lnTo>
                    <a:pt x="3474720" y="548640"/>
                  </a:lnTo>
                  <a:lnTo>
                    <a:pt x="0" y="548640"/>
                  </a:lnTo>
                  <a:close/>
                </a:path>
              </a:pathLst>
            </a:custGeom>
            <a:blipFill>
              <a:blip r:embed="rId2">
                <a:alphaModFix amt="0"/>
              </a:blip>
              <a:stretch>
                <a:fillRect t="-73405" b="-73405"/>
              </a:stretch>
            </a:blipFill>
          </p:spPr>
        </p:sp>
        <p:sp>
          <p:nvSpPr>
            <p:cNvPr id="88" name="TextBox 88"/>
            <p:cNvSpPr txBox="1"/>
            <p:nvPr/>
          </p:nvSpPr>
          <p:spPr>
            <a:xfrm>
              <a:off x="0" y="-28575"/>
              <a:ext cx="3474720" cy="577215"/>
            </a:xfrm>
            <a:prstGeom prst="rect">
              <a:avLst/>
            </a:prstGeom>
          </p:spPr>
          <p:txBody>
            <a:bodyPr lIns="0" tIns="0" rIns="0" bIns="0" rtlCol="0" anchor="ctr"/>
            <a:lstStyle/>
            <a:p>
              <a:pPr algn="l">
                <a:lnSpc>
                  <a:spcPts val="2250"/>
                </a:lnSpc>
              </a:pPr>
              <a:r>
                <a:rPr lang="en-US" sz="1875" b="1">
                  <a:solidFill>
                    <a:srgbClr val="A7F3D0"/>
                  </a:solidFill>
                  <a:latin typeface="Arial Bold"/>
                  <a:ea typeface="Arial Bold"/>
                  <a:cs typeface="Arial Bold"/>
                  <a:sym typeface="Arial Bold"/>
                </a:rPr>
                <a:t>per founder / month</a:t>
              </a:r>
            </a:p>
          </p:txBody>
        </p:sp>
      </p:grpSp>
      <p:grpSp>
        <p:nvGrpSpPr>
          <p:cNvPr id="89" name="Group 89"/>
          <p:cNvGrpSpPr/>
          <p:nvPr/>
        </p:nvGrpSpPr>
        <p:grpSpPr>
          <a:xfrm>
            <a:off x="14589023" y="4759452"/>
            <a:ext cx="576072" cy="576072"/>
            <a:chOff x="0" y="0"/>
            <a:chExt cx="768096" cy="768096"/>
          </a:xfrm>
        </p:grpSpPr>
        <p:sp>
          <p:nvSpPr>
            <p:cNvPr id="90" name="Freeform 90"/>
            <p:cNvSpPr/>
            <p:nvPr/>
          </p:nvSpPr>
          <p:spPr>
            <a:xfrm>
              <a:off x="0" y="0"/>
              <a:ext cx="768096" cy="768096"/>
            </a:xfrm>
            <a:custGeom>
              <a:avLst/>
              <a:gdLst/>
              <a:ahLst/>
              <a:cxnLst/>
              <a:rect l="l" t="t" r="r" b="b"/>
              <a:pathLst>
                <a:path w="768096" h="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0AA7A2"/>
            </a:solidFill>
          </p:spPr>
        </p:sp>
      </p:grpSp>
      <p:grpSp>
        <p:nvGrpSpPr>
          <p:cNvPr id="91" name="Group 91"/>
          <p:cNvGrpSpPr/>
          <p:nvPr/>
        </p:nvGrpSpPr>
        <p:grpSpPr>
          <a:xfrm>
            <a:off x="14712467" y="4882896"/>
            <a:ext cx="329184" cy="329184"/>
            <a:chOff x="0" y="0"/>
            <a:chExt cx="438912" cy="438912"/>
          </a:xfrm>
        </p:grpSpPr>
        <p:sp>
          <p:nvSpPr>
            <p:cNvPr id="92" name="Freeform 92" descr="preencoded.png"/>
            <p:cNvSpPr/>
            <p:nvPr/>
          </p:nvSpPr>
          <p:spPr>
            <a:xfrm>
              <a:off x="0" y="0"/>
              <a:ext cx="438912" cy="438912"/>
            </a:xfrm>
            <a:custGeom>
              <a:avLst/>
              <a:gdLst/>
              <a:ahLst/>
              <a:cxnLst/>
              <a:rect l="l" t="t" r="r" b="b"/>
              <a:pathLst>
                <a:path w="438912" h="438912">
                  <a:moveTo>
                    <a:pt x="0" y="0"/>
                  </a:moveTo>
                  <a:lnTo>
                    <a:pt x="438912" y="0"/>
                  </a:lnTo>
                  <a:lnTo>
                    <a:pt x="438912" y="438912"/>
                  </a:lnTo>
                  <a:lnTo>
                    <a:pt x="0" y="438912"/>
                  </a:lnTo>
                  <a:lnTo>
                    <a:pt x="0" y="0"/>
                  </a:lnTo>
                  <a:close/>
                </a:path>
              </a:pathLst>
            </a:custGeom>
            <a:blipFill>
              <a:blip r:embed="rId7"/>
              <a:stretch>
                <a:fillRect/>
              </a:stretch>
            </a:blipFill>
          </p:spPr>
        </p:sp>
      </p:grpSp>
      <p:grpSp>
        <p:nvGrpSpPr>
          <p:cNvPr id="93" name="Group 93"/>
          <p:cNvGrpSpPr/>
          <p:nvPr/>
        </p:nvGrpSpPr>
        <p:grpSpPr>
          <a:xfrm>
            <a:off x="15274823" y="4649724"/>
            <a:ext cx="2057400" cy="822960"/>
            <a:chOff x="0" y="0"/>
            <a:chExt cx="2743200" cy="1097280"/>
          </a:xfrm>
        </p:grpSpPr>
        <p:sp>
          <p:nvSpPr>
            <p:cNvPr id="94" name="Freeform 94"/>
            <p:cNvSpPr/>
            <p:nvPr/>
          </p:nvSpPr>
          <p:spPr>
            <a:xfrm>
              <a:off x="0" y="0"/>
              <a:ext cx="2743200" cy="1097280"/>
            </a:xfrm>
            <a:custGeom>
              <a:avLst/>
              <a:gdLst/>
              <a:ahLst/>
              <a:cxnLst/>
              <a:rect l="l" t="t" r="r" b="b"/>
              <a:pathLst>
                <a:path w="2743200" h="1097280">
                  <a:moveTo>
                    <a:pt x="0" y="0"/>
                  </a:moveTo>
                  <a:lnTo>
                    <a:pt x="2743200" y="0"/>
                  </a:lnTo>
                  <a:lnTo>
                    <a:pt x="2743200" y="1097280"/>
                  </a:lnTo>
                  <a:lnTo>
                    <a:pt x="0" y="1097280"/>
                  </a:lnTo>
                  <a:close/>
                </a:path>
              </a:pathLst>
            </a:custGeom>
            <a:blipFill>
              <a:blip r:embed="rId2">
                <a:alphaModFix amt="0"/>
              </a:blip>
              <a:stretch>
                <a:fillRect l="-1321" r="-1321"/>
              </a:stretch>
            </a:blipFill>
          </p:spPr>
        </p:sp>
        <p:sp>
          <p:nvSpPr>
            <p:cNvPr id="95" name="TextBox 95"/>
            <p:cNvSpPr txBox="1"/>
            <p:nvPr/>
          </p:nvSpPr>
          <p:spPr>
            <a:xfrm>
              <a:off x="0" y="-19050"/>
              <a:ext cx="2743200" cy="1116330"/>
            </a:xfrm>
            <a:prstGeom prst="rect">
              <a:avLst/>
            </a:prstGeom>
          </p:spPr>
          <p:txBody>
            <a:bodyPr lIns="0" tIns="0" rIns="0" bIns="0" rtlCol="0" anchor="ctr"/>
            <a:lstStyle/>
            <a:p>
              <a:pPr algn="l">
                <a:lnSpc>
                  <a:spcPts val="1980"/>
                </a:lnSpc>
              </a:pPr>
              <a:r>
                <a:rPr lang="en-US" sz="1650">
                  <a:solidFill>
                    <a:srgbClr val="FFFFFF"/>
                  </a:solidFill>
                  <a:latin typeface="Arial"/>
                  <a:ea typeface="Arial"/>
                  <a:cs typeface="Arial"/>
                  <a:sym typeface="Arial"/>
                </a:rPr>
                <a:t>Paid from profit; $18.6K kept</a:t>
              </a:r>
            </a:p>
          </p:txBody>
        </p:sp>
      </p:grpSp>
      <p:grpSp>
        <p:nvGrpSpPr>
          <p:cNvPr id="96" name="Group 96"/>
          <p:cNvGrpSpPr/>
          <p:nvPr/>
        </p:nvGrpSpPr>
        <p:grpSpPr>
          <a:xfrm>
            <a:off x="822960" y="9532620"/>
            <a:ext cx="16596360" cy="411480"/>
            <a:chOff x="0" y="0"/>
            <a:chExt cx="22128480" cy="548640"/>
          </a:xfrm>
        </p:grpSpPr>
        <p:sp>
          <p:nvSpPr>
            <p:cNvPr id="97" name="Freeform 97"/>
            <p:cNvSpPr/>
            <p:nvPr/>
          </p:nvSpPr>
          <p:spPr>
            <a:xfrm>
              <a:off x="0" y="0"/>
              <a:ext cx="22128480" cy="548640"/>
            </a:xfrm>
            <a:custGeom>
              <a:avLst/>
              <a:gdLst/>
              <a:ahLst/>
              <a:cxnLst/>
              <a:rect l="l" t="t" r="r" b="b"/>
              <a:pathLst>
                <a:path w="22128480" h="548640">
                  <a:moveTo>
                    <a:pt x="0" y="0"/>
                  </a:moveTo>
                  <a:lnTo>
                    <a:pt x="22128480" y="0"/>
                  </a:lnTo>
                  <a:lnTo>
                    <a:pt x="22128480" y="548640"/>
                  </a:lnTo>
                  <a:lnTo>
                    <a:pt x="0" y="548640"/>
                  </a:lnTo>
                  <a:close/>
                </a:path>
              </a:pathLst>
            </a:custGeom>
            <a:blipFill>
              <a:blip r:embed="rId2">
                <a:alphaModFix amt="0"/>
              </a:blip>
              <a:stretch>
                <a:fillRect t="-735896" b="-735896"/>
              </a:stretch>
            </a:blipFill>
          </p:spPr>
        </p:sp>
        <p:sp>
          <p:nvSpPr>
            <p:cNvPr id="98" name="TextBox 98"/>
            <p:cNvSpPr txBox="1"/>
            <p:nvPr/>
          </p:nvSpPr>
          <p:spPr>
            <a:xfrm>
              <a:off x="0" y="-19050"/>
              <a:ext cx="22128480" cy="567690"/>
            </a:xfrm>
            <a:prstGeom prst="rect">
              <a:avLst/>
            </a:prstGeom>
          </p:spPr>
          <p:txBody>
            <a:bodyPr lIns="0" tIns="0" rIns="0" bIns="0" rtlCol="0" anchor="ctr"/>
            <a:lstStyle/>
            <a:p>
              <a:pPr algn="l">
                <a:lnSpc>
                  <a:spcPts val="1800"/>
                </a:lnSpc>
              </a:pPr>
              <a:r>
                <a:rPr lang="en-US" sz="1500">
                  <a:solidFill>
                    <a:srgbClr val="52637A"/>
                  </a:solidFill>
                  <a:latin typeface="Arial"/>
                  <a:ea typeface="Arial"/>
                  <a:cs typeface="Arial"/>
                  <a:sym typeface="Arial"/>
                </a:rPr>
                <a:t>Paying shops = yearly average from the team’s financial model. Pilot passes if 7 of 10 shops stay active, stock is ≥99% accurate and 6 of 10 will pay.</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2960" y="548640"/>
            <a:ext cx="16596360" cy="960120"/>
            <a:chOff x="0" y="0"/>
            <a:chExt cx="22128480" cy="1280160"/>
          </a:xfrm>
        </p:grpSpPr>
        <p:sp>
          <p:nvSpPr>
            <p:cNvPr id="3" name="Freeform 3"/>
            <p:cNvSpPr/>
            <p:nvPr/>
          </p:nvSpPr>
          <p:spPr>
            <a:xfrm>
              <a:off x="0" y="0"/>
              <a:ext cx="22128480" cy="1280160"/>
            </a:xfrm>
            <a:custGeom>
              <a:avLst/>
              <a:gdLst/>
              <a:ahLst/>
              <a:cxnLst/>
              <a:rect l="l" t="t" r="r" b="b"/>
              <a:pathLst>
                <a:path w="22128480" h="1280160">
                  <a:moveTo>
                    <a:pt x="0" y="0"/>
                  </a:moveTo>
                  <a:lnTo>
                    <a:pt x="22128480" y="0"/>
                  </a:lnTo>
                  <a:lnTo>
                    <a:pt x="22128480" y="1280160"/>
                  </a:lnTo>
                  <a:lnTo>
                    <a:pt x="0" y="1280160"/>
                  </a:lnTo>
                  <a:close/>
                </a:path>
              </a:pathLst>
            </a:custGeom>
            <a:blipFill>
              <a:blip r:embed="rId2">
                <a:alphaModFix amt="0"/>
              </a:blip>
              <a:stretch>
                <a:fillRect t="-286812" b="-286812"/>
              </a:stretch>
            </a:blipFill>
          </p:spPr>
        </p:sp>
        <p:sp>
          <p:nvSpPr>
            <p:cNvPr id="4" name="TextBox 4"/>
            <p:cNvSpPr txBox="1"/>
            <p:nvPr/>
          </p:nvSpPr>
          <p:spPr>
            <a:xfrm>
              <a:off x="0" y="-28575"/>
              <a:ext cx="22128480" cy="1308735"/>
            </a:xfrm>
            <a:prstGeom prst="rect">
              <a:avLst/>
            </a:prstGeom>
          </p:spPr>
          <p:txBody>
            <a:bodyPr lIns="0" tIns="0" rIns="0" bIns="0" rtlCol="0" anchor="ctr"/>
            <a:lstStyle/>
            <a:p>
              <a:pPr algn="l">
                <a:lnSpc>
                  <a:spcPts val="5400"/>
                </a:lnSpc>
              </a:pPr>
              <a:r>
                <a:rPr lang="en-US" sz="4500" b="1">
                  <a:solidFill>
                    <a:srgbClr val="15243A"/>
                  </a:solidFill>
                  <a:latin typeface="Arial Bold"/>
                  <a:ea typeface="Arial Bold"/>
                  <a:cs typeface="Arial Bold"/>
                  <a:sym typeface="Arial Bold"/>
                </a:rPr>
                <a:t>Market sizing: how we counted</a:t>
              </a:r>
            </a:p>
          </p:txBody>
        </p:sp>
      </p:grpSp>
      <p:graphicFrame>
        <p:nvGraphicFramePr>
          <p:cNvPr id="5" name="Table 5"/>
          <p:cNvGraphicFramePr>
            <a:graphicFrameLocks noGrp="1"/>
          </p:cNvGraphicFramePr>
          <p:nvPr/>
        </p:nvGraphicFramePr>
        <p:xfrm>
          <a:off x="822960" y="1851660"/>
          <a:ext cx="16611600" cy="4076700"/>
        </p:xfrm>
        <a:graphic>
          <a:graphicData uri="http://schemas.openxmlformats.org/drawingml/2006/table">
            <a:tbl>
              <a:tblPr/>
              <a:tblGrid>
                <a:gridCol w="1524468">
                  <a:extLst>
                    <a:ext uri="{9D8B030D-6E8A-4147-A177-3AD203B41FA5}">
                      <a16:colId xmlns:a16="http://schemas.microsoft.com/office/drawing/2014/main" val="20000"/>
                    </a:ext>
                  </a:extLst>
                </a:gridCol>
                <a:gridCol w="2204528">
                  <a:extLst>
                    <a:ext uri="{9D8B030D-6E8A-4147-A177-3AD203B41FA5}">
                      <a16:colId xmlns:a16="http://schemas.microsoft.com/office/drawing/2014/main" val="20001"/>
                    </a:ext>
                  </a:extLst>
                </a:gridCol>
                <a:gridCol w="9957212">
                  <a:extLst>
                    <a:ext uri="{9D8B030D-6E8A-4147-A177-3AD203B41FA5}">
                      <a16:colId xmlns:a16="http://schemas.microsoft.com/office/drawing/2014/main" val="20002"/>
                    </a:ext>
                  </a:extLst>
                </a:gridCol>
                <a:gridCol w="2925392">
                  <a:extLst>
                    <a:ext uri="{9D8B030D-6E8A-4147-A177-3AD203B41FA5}">
                      <a16:colId xmlns:a16="http://schemas.microsoft.com/office/drawing/2014/main" val="20003"/>
                    </a:ext>
                  </a:extLst>
                </a:gridCol>
              </a:tblGrid>
              <a:tr h="688632">
                <a:tc>
                  <a:txBody>
                    <a:bodyPr/>
                    <a:lstStyle/>
                    <a:p>
                      <a:pPr algn="l">
                        <a:lnSpc>
                          <a:spcPts val="1679"/>
                        </a:lnSpc>
                        <a:defRPr/>
                      </a:pP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11D35"/>
                    </a:solidFill>
                  </a:tcPr>
                </a:tc>
                <a:tc>
                  <a:txBody>
                    <a:bodyPr/>
                    <a:lstStyle/>
                    <a:p>
                      <a:pPr algn="l">
                        <a:lnSpc>
                          <a:spcPts val="2430"/>
                        </a:lnSpc>
                        <a:defRPr/>
                      </a:pPr>
                      <a:r>
                        <a:rPr lang="en-US" sz="2025" b="1">
                          <a:solidFill>
                            <a:srgbClr val="FFFFFF"/>
                          </a:solidFill>
                          <a:latin typeface="Arial Bold"/>
                          <a:ea typeface="Arial Bold"/>
                          <a:cs typeface="Arial Bold"/>
                          <a:sym typeface="Arial Bold"/>
                        </a:rPr>
                        <a:t>Shops</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11D35"/>
                    </a:solidFill>
                  </a:tcPr>
                </a:tc>
                <a:tc>
                  <a:txBody>
                    <a:bodyPr/>
                    <a:lstStyle/>
                    <a:p>
                      <a:pPr algn="l">
                        <a:lnSpc>
                          <a:spcPts val="2430"/>
                        </a:lnSpc>
                        <a:defRPr/>
                      </a:pPr>
                      <a:r>
                        <a:rPr lang="en-US" sz="2025" b="1">
                          <a:solidFill>
                            <a:srgbClr val="FFFFFF"/>
                          </a:solidFill>
                          <a:latin typeface="Arial Bold"/>
                          <a:ea typeface="Arial Bold"/>
                          <a:cs typeface="Arial Bold"/>
                          <a:sym typeface="Arial Bold"/>
                        </a:rPr>
                        <a:t>Basis</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11D35"/>
                    </a:solidFill>
                  </a:tcPr>
                </a:tc>
                <a:tc>
                  <a:txBody>
                    <a:bodyPr/>
                    <a:lstStyle/>
                    <a:p>
                      <a:pPr algn="l">
                        <a:lnSpc>
                          <a:spcPts val="2430"/>
                        </a:lnSpc>
                        <a:defRPr/>
                      </a:pPr>
                      <a:r>
                        <a:rPr lang="en-US" sz="2025" b="1">
                          <a:solidFill>
                            <a:srgbClr val="FFFFFF"/>
                          </a:solidFill>
                          <a:latin typeface="Arial Bold"/>
                          <a:ea typeface="Arial Bold"/>
                          <a:cs typeface="Arial Bold"/>
                          <a:sym typeface="Arial Bold"/>
                        </a:rPr>
                        <a:t>× US$54.5 / yr</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11D35"/>
                    </a:solidFill>
                  </a:tcPr>
                </a:tc>
                <a:extLst>
                  <a:ext uri="{0D108BD9-81ED-4DB2-BD59-A6C34878D82A}">
                    <a16:rowId xmlns:a16="http://schemas.microsoft.com/office/drawing/2014/main" val="10000"/>
                  </a:ext>
                </a:extLst>
              </a:tr>
              <a:tr h="1085284">
                <a:tc>
                  <a:txBody>
                    <a:bodyPr/>
                    <a:lstStyle/>
                    <a:p>
                      <a:pPr algn="l">
                        <a:lnSpc>
                          <a:spcPts val="2430"/>
                        </a:lnSpc>
                        <a:defRPr/>
                      </a:pPr>
                      <a:r>
                        <a:rPr lang="en-US" sz="2025">
                          <a:solidFill>
                            <a:srgbClr val="15243A"/>
                          </a:solidFill>
                          <a:latin typeface="Arial"/>
                          <a:ea typeface="Arial"/>
                          <a:cs typeface="Arial"/>
                          <a:sym typeface="Arial"/>
                        </a:rPr>
                        <a:t>TAM</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430"/>
                        </a:lnSpc>
                        <a:defRPr/>
                      </a:pPr>
                      <a:r>
                        <a:rPr lang="en-US" sz="2025">
                          <a:solidFill>
                            <a:srgbClr val="15243A"/>
                          </a:solidFill>
                          <a:latin typeface="Arial"/>
                          <a:ea typeface="Arial"/>
                          <a:cs typeface="Arial"/>
                          <a:sym typeface="Arial"/>
                        </a:rPr>
                        <a:t>410,623</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430"/>
                        </a:lnSpc>
                        <a:defRPr/>
                      </a:pPr>
                      <a:r>
                        <a:rPr lang="en-US" sz="2025">
                          <a:solidFill>
                            <a:srgbClr val="15243A"/>
                          </a:solidFill>
                          <a:latin typeface="Arial"/>
                          <a:ea typeface="Arial"/>
                          <a:cs typeface="Arial"/>
                          <a:sym typeface="Arial"/>
                        </a:rPr>
                        <a:t>All retail establishments, ISIC division 47, excluding fuel stations (4730)</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430"/>
                        </a:lnSpc>
                        <a:defRPr/>
                      </a:pPr>
                      <a:r>
                        <a:rPr lang="en-US" sz="2025">
                          <a:solidFill>
                            <a:srgbClr val="15243A"/>
                          </a:solidFill>
                          <a:latin typeface="Arial"/>
                          <a:ea typeface="Arial"/>
                          <a:cs typeface="Arial"/>
                          <a:sym typeface="Arial"/>
                        </a:rPr>
                        <a:t>US$22.4M</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extLst>
                  <a:ext uri="{0D108BD9-81ED-4DB2-BD59-A6C34878D82A}">
                    <a16:rowId xmlns:a16="http://schemas.microsoft.com/office/drawing/2014/main" val="10001"/>
                  </a:ext>
                </a:extLst>
              </a:tr>
              <a:tr h="1217501">
                <a:tc>
                  <a:txBody>
                    <a:bodyPr/>
                    <a:lstStyle/>
                    <a:p>
                      <a:pPr algn="l">
                        <a:lnSpc>
                          <a:spcPts val="2430"/>
                        </a:lnSpc>
                        <a:defRPr/>
                      </a:pPr>
                      <a:r>
                        <a:rPr lang="en-US" sz="2025">
                          <a:solidFill>
                            <a:srgbClr val="15243A"/>
                          </a:solidFill>
                          <a:latin typeface="Arial"/>
                          <a:ea typeface="Arial"/>
                          <a:cs typeface="Arial"/>
                          <a:sym typeface="Arial"/>
                        </a:rPr>
                        <a:t>SAM</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430"/>
                        </a:lnSpc>
                        <a:defRPr/>
                      </a:pPr>
                      <a:r>
                        <a:rPr lang="en-US" sz="2025">
                          <a:solidFill>
                            <a:srgbClr val="15243A"/>
                          </a:solidFill>
                          <a:latin typeface="Arial"/>
                          <a:ea typeface="Arial"/>
                          <a:cs typeface="Arial"/>
                          <a:sym typeface="Arial"/>
                        </a:rPr>
                        <a:t>65,433</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430"/>
                        </a:lnSpc>
                        <a:defRPr/>
                      </a:pPr>
                      <a:r>
                        <a:rPr lang="en-US" sz="2025">
                          <a:solidFill>
                            <a:srgbClr val="15243A"/>
                          </a:solidFill>
                          <a:latin typeface="Arial"/>
                          <a:ea typeface="Arial"/>
                          <a:cs typeface="Arial"/>
                          <a:sym typeface="Arial"/>
                        </a:rPr>
                        <a:t>Specialized non-food retail, ISIC 4741–4774: fashion, cosmetics, electronics, household, books, toys, sports, second-hand</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430"/>
                        </a:lnSpc>
                        <a:defRPr/>
                      </a:pPr>
                      <a:r>
                        <a:rPr lang="en-US" sz="2025">
                          <a:solidFill>
                            <a:srgbClr val="15243A"/>
                          </a:solidFill>
                          <a:latin typeface="Arial"/>
                          <a:ea typeface="Arial"/>
                          <a:cs typeface="Arial"/>
                          <a:sym typeface="Arial"/>
                        </a:rPr>
                        <a:t>US$3.6M</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extLst>
                  <a:ext uri="{0D108BD9-81ED-4DB2-BD59-A6C34878D82A}">
                    <a16:rowId xmlns:a16="http://schemas.microsoft.com/office/drawing/2014/main" val="10002"/>
                  </a:ext>
                </a:extLst>
              </a:tr>
              <a:tr h="1085284">
                <a:tc>
                  <a:txBody>
                    <a:bodyPr/>
                    <a:lstStyle/>
                    <a:p>
                      <a:pPr algn="l">
                        <a:lnSpc>
                          <a:spcPts val="2430"/>
                        </a:lnSpc>
                        <a:defRPr/>
                      </a:pPr>
                      <a:r>
                        <a:rPr lang="en-US" sz="2025">
                          <a:solidFill>
                            <a:srgbClr val="15243A"/>
                          </a:solidFill>
                          <a:latin typeface="Arial"/>
                          <a:ea typeface="Arial"/>
                          <a:cs typeface="Arial"/>
                          <a:sym typeface="Arial"/>
                        </a:rPr>
                        <a:t>SOM</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430"/>
                        </a:lnSpc>
                        <a:defRPr/>
                      </a:pPr>
                      <a:r>
                        <a:rPr lang="en-US" sz="2025">
                          <a:solidFill>
                            <a:srgbClr val="15243A"/>
                          </a:solidFill>
                          <a:latin typeface="Arial"/>
                          <a:ea typeface="Arial"/>
                          <a:cs typeface="Arial"/>
                          <a:sym typeface="Arial"/>
                        </a:rPr>
                        <a:t>≈1,129</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430"/>
                        </a:lnSpc>
                        <a:defRPr/>
                      </a:pPr>
                      <a:r>
                        <a:rPr lang="en-US" sz="2025">
                          <a:solidFill>
                            <a:srgbClr val="15243A"/>
                          </a:solidFill>
                          <a:latin typeface="Arial"/>
                          <a:ea typeface="Arial"/>
                          <a:cs typeface="Arial"/>
                          <a:sym typeface="Arial"/>
                        </a:rPr>
                        <a:t>Year 3 subscription revenue (US$61,586) ÷ US$54.5 — average paying shops in the team model</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430"/>
                        </a:lnSpc>
                        <a:defRPr/>
                      </a:pPr>
                      <a:r>
                        <a:rPr lang="en-US" sz="2025">
                          <a:solidFill>
                            <a:srgbClr val="15243A"/>
                          </a:solidFill>
                          <a:latin typeface="Arial"/>
                          <a:ea typeface="Arial"/>
                          <a:cs typeface="Arial"/>
                          <a:sym typeface="Arial"/>
                        </a:rPr>
                        <a:t>US$61.6K</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pSp>
        <p:nvGrpSpPr>
          <p:cNvPr id="6" name="Group 6"/>
          <p:cNvGrpSpPr/>
          <p:nvPr/>
        </p:nvGrpSpPr>
        <p:grpSpPr>
          <a:xfrm>
            <a:off x="822960" y="6377940"/>
            <a:ext cx="16596360" cy="658368"/>
            <a:chOff x="0" y="0"/>
            <a:chExt cx="22128480" cy="877824"/>
          </a:xfrm>
        </p:grpSpPr>
        <p:sp>
          <p:nvSpPr>
            <p:cNvPr id="7" name="Freeform 7"/>
            <p:cNvSpPr/>
            <p:nvPr/>
          </p:nvSpPr>
          <p:spPr>
            <a:xfrm>
              <a:off x="0" y="0"/>
              <a:ext cx="22128480" cy="877824"/>
            </a:xfrm>
            <a:custGeom>
              <a:avLst/>
              <a:gdLst/>
              <a:ahLst/>
              <a:cxnLst/>
              <a:rect l="l" t="t" r="r" b="b"/>
              <a:pathLst>
                <a:path w="22128480" h="877824">
                  <a:moveTo>
                    <a:pt x="0" y="0"/>
                  </a:moveTo>
                  <a:lnTo>
                    <a:pt x="22128480" y="0"/>
                  </a:lnTo>
                  <a:lnTo>
                    <a:pt x="22128480" y="877824"/>
                  </a:lnTo>
                  <a:lnTo>
                    <a:pt x="0" y="877824"/>
                  </a:lnTo>
                  <a:close/>
                </a:path>
              </a:pathLst>
            </a:custGeom>
            <a:blipFill>
              <a:blip r:embed="rId2">
                <a:alphaModFix amt="0"/>
              </a:blip>
              <a:stretch>
                <a:fillRect t="-441185" b="-441185"/>
              </a:stretch>
            </a:blipFill>
          </p:spPr>
        </p:sp>
        <p:sp>
          <p:nvSpPr>
            <p:cNvPr id="8" name="TextBox 8"/>
            <p:cNvSpPr txBox="1"/>
            <p:nvPr/>
          </p:nvSpPr>
          <p:spPr>
            <a:xfrm>
              <a:off x="0" y="-28575"/>
              <a:ext cx="22128480" cy="906399"/>
            </a:xfrm>
            <a:prstGeom prst="rect">
              <a:avLst/>
            </a:prstGeom>
          </p:spPr>
          <p:txBody>
            <a:bodyPr lIns="0" tIns="0" rIns="0" bIns="0" rtlCol="0" anchor="ctr"/>
            <a:lstStyle/>
            <a:p>
              <a:pPr algn="l">
                <a:lnSpc>
                  <a:spcPts val="2250"/>
                </a:lnSpc>
              </a:pPr>
              <a:r>
                <a:rPr lang="en-US" sz="1875" b="1">
                  <a:solidFill>
                    <a:srgbClr val="15243A"/>
                  </a:solidFill>
                  <a:latin typeface="Arial Bold"/>
                  <a:ea typeface="Arial Bold"/>
                  <a:cs typeface="Arial Bold"/>
                  <a:sym typeface="Arial Bold"/>
                </a:rPr>
                <a:t>Why US$54.5?  </a:t>
              </a:r>
              <a:r>
                <a:rPr lang="en-US" sz="1875">
                  <a:solidFill>
                    <a:srgbClr val="15243A"/>
                  </a:solidFill>
                  <a:latin typeface="Arial"/>
                  <a:ea typeface="Arial"/>
                  <a:cs typeface="Arial"/>
                  <a:sym typeface="Arial"/>
                </a:rPr>
                <a:t>The $5 average plan × 12 months, with 10% VAT removed. Free-plan shops pay no subscription.</a:t>
              </a:r>
            </a:p>
          </p:txBody>
        </p:sp>
      </p:grpSp>
      <p:grpSp>
        <p:nvGrpSpPr>
          <p:cNvPr id="9" name="Group 9"/>
          <p:cNvGrpSpPr/>
          <p:nvPr/>
        </p:nvGrpSpPr>
        <p:grpSpPr>
          <a:xfrm>
            <a:off x="822960" y="7063740"/>
            <a:ext cx="16596360" cy="658368"/>
            <a:chOff x="0" y="0"/>
            <a:chExt cx="22128480" cy="877824"/>
          </a:xfrm>
        </p:grpSpPr>
        <p:sp>
          <p:nvSpPr>
            <p:cNvPr id="10" name="Freeform 10"/>
            <p:cNvSpPr/>
            <p:nvPr/>
          </p:nvSpPr>
          <p:spPr>
            <a:xfrm>
              <a:off x="0" y="0"/>
              <a:ext cx="22128480" cy="877824"/>
            </a:xfrm>
            <a:custGeom>
              <a:avLst/>
              <a:gdLst/>
              <a:ahLst/>
              <a:cxnLst/>
              <a:rect l="l" t="t" r="r" b="b"/>
              <a:pathLst>
                <a:path w="22128480" h="877824">
                  <a:moveTo>
                    <a:pt x="0" y="0"/>
                  </a:moveTo>
                  <a:lnTo>
                    <a:pt x="22128480" y="0"/>
                  </a:lnTo>
                  <a:lnTo>
                    <a:pt x="22128480" y="877824"/>
                  </a:lnTo>
                  <a:lnTo>
                    <a:pt x="0" y="877824"/>
                  </a:lnTo>
                  <a:close/>
                </a:path>
              </a:pathLst>
            </a:custGeom>
            <a:blipFill>
              <a:blip r:embed="rId2">
                <a:alphaModFix amt="0"/>
              </a:blip>
              <a:stretch>
                <a:fillRect t="-441185" b="-441185"/>
              </a:stretch>
            </a:blipFill>
          </p:spPr>
        </p:sp>
        <p:sp>
          <p:nvSpPr>
            <p:cNvPr id="11" name="TextBox 11"/>
            <p:cNvSpPr txBox="1"/>
            <p:nvPr/>
          </p:nvSpPr>
          <p:spPr>
            <a:xfrm>
              <a:off x="0" y="-28575"/>
              <a:ext cx="22128480" cy="906399"/>
            </a:xfrm>
            <a:prstGeom prst="rect">
              <a:avLst/>
            </a:prstGeom>
          </p:spPr>
          <p:txBody>
            <a:bodyPr lIns="0" tIns="0" rIns="0" bIns="0" rtlCol="0" anchor="ctr"/>
            <a:lstStyle/>
            <a:p>
              <a:pPr algn="l">
                <a:lnSpc>
                  <a:spcPts val="2250"/>
                </a:lnSpc>
              </a:pPr>
              <a:r>
                <a:rPr lang="en-US" sz="1875" b="1">
                  <a:solidFill>
                    <a:srgbClr val="15243A"/>
                  </a:solidFill>
                  <a:latin typeface="Arial Bold"/>
                  <a:ea typeface="Arial Bold"/>
                  <a:cs typeface="Arial Bold"/>
                  <a:sym typeface="Arial Bold"/>
                </a:rPr>
                <a:t>Market context  </a:t>
              </a:r>
              <a:r>
                <a:rPr lang="en-US" sz="1875">
                  <a:solidFill>
                    <a:srgbClr val="15243A"/>
                  </a:solidFill>
                  <a:latin typeface="Arial"/>
                  <a:ea typeface="Arial"/>
                  <a:cs typeface="Arial"/>
                  <a:sym typeface="Arial"/>
                </a:rPr>
                <a:t>Cambodian e-commerce: US$1.51B (2024) → US$1.78B (2025, projected), +17.9% a year. Fashion 37% and beauty 20% of online purchases. This is sales value, not Rentify revenue.</a:t>
              </a:r>
            </a:p>
          </p:txBody>
        </p:sp>
      </p:grpSp>
      <p:grpSp>
        <p:nvGrpSpPr>
          <p:cNvPr id="12" name="Group 12"/>
          <p:cNvGrpSpPr/>
          <p:nvPr/>
        </p:nvGrpSpPr>
        <p:grpSpPr>
          <a:xfrm>
            <a:off x="822960" y="7749540"/>
            <a:ext cx="16596360" cy="658368"/>
            <a:chOff x="0" y="0"/>
            <a:chExt cx="22128480" cy="877824"/>
          </a:xfrm>
        </p:grpSpPr>
        <p:sp>
          <p:nvSpPr>
            <p:cNvPr id="13" name="Freeform 13"/>
            <p:cNvSpPr/>
            <p:nvPr/>
          </p:nvSpPr>
          <p:spPr>
            <a:xfrm>
              <a:off x="0" y="0"/>
              <a:ext cx="22128480" cy="877824"/>
            </a:xfrm>
            <a:custGeom>
              <a:avLst/>
              <a:gdLst/>
              <a:ahLst/>
              <a:cxnLst/>
              <a:rect l="l" t="t" r="r" b="b"/>
              <a:pathLst>
                <a:path w="22128480" h="877824">
                  <a:moveTo>
                    <a:pt x="0" y="0"/>
                  </a:moveTo>
                  <a:lnTo>
                    <a:pt x="22128480" y="0"/>
                  </a:lnTo>
                  <a:lnTo>
                    <a:pt x="22128480" y="877824"/>
                  </a:lnTo>
                  <a:lnTo>
                    <a:pt x="0" y="877824"/>
                  </a:lnTo>
                  <a:close/>
                </a:path>
              </a:pathLst>
            </a:custGeom>
            <a:blipFill>
              <a:blip r:embed="rId2">
                <a:alphaModFix amt="0"/>
              </a:blip>
              <a:stretch>
                <a:fillRect t="-441185" b="-441185"/>
              </a:stretch>
            </a:blipFill>
          </p:spPr>
        </p:sp>
        <p:sp>
          <p:nvSpPr>
            <p:cNvPr id="14" name="TextBox 14"/>
            <p:cNvSpPr txBox="1"/>
            <p:nvPr/>
          </p:nvSpPr>
          <p:spPr>
            <a:xfrm>
              <a:off x="0" y="-28575"/>
              <a:ext cx="22128480" cy="906399"/>
            </a:xfrm>
            <a:prstGeom prst="rect">
              <a:avLst/>
            </a:prstGeom>
          </p:spPr>
          <p:txBody>
            <a:bodyPr lIns="0" tIns="0" rIns="0" bIns="0" rtlCol="0" anchor="ctr"/>
            <a:lstStyle/>
            <a:p>
              <a:pPr algn="l">
                <a:lnSpc>
                  <a:spcPts val="2250"/>
                </a:lnSpc>
              </a:pPr>
              <a:r>
                <a:rPr lang="en-US" sz="1875" b="1">
                  <a:solidFill>
                    <a:srgbClr val="15243A"/>
                  </a:solidFill>
                  <a:latin typeface="Arial Bold"/>
                  <a:ea typeface="Arial Bold"/>
                  <a:cs typeface="Arial Bold"/>
                  <a:sym typeface="Arial Bold"/>
                </a:rPr>
                <a:t>Small businesses  </a:t>
              </a:r>
              <a:r>
                <a:rPr lang="en-US" sz="1875">
                  <a:solidFill>
                    <a:srgbClr val="15243A"/>
                  </a:solidFill>
                  <a:latin typeface="Arial"/>
                  <a:ea typeface="Arial"/>
                  <a:cs typeface="Arial"/>
                  <a:sym typeface="Arial"/>
                </a:rPr>
                <a:t>49% of Cambodian establishments have only one employee (Economic Census 2022).</a:t>
              </a:r>
            </a:p>
          </p:txBody>
        </p:sp>
      </p:grpSp>
      <p:grpSp>
        <p:nvGrpSpPr>
          <p:cNvPr id="15" name="Group 15"/>
          <p:cNvGrpSpPr/>
          <p:nvPr/>
        </p:nvGrpSpPr>
        <p:grpSpPr>
          <a:xfrm>
            <a:off x="822960" y="8435340"/>
            <a:ext cx="16596360" cy="658368"/>
            <a:chOff x="0" y="0"/>
            <a:chExt cx="22128480" cy="877824"/>
          </a:xfrm>
        </p:grpSpPr>
        <p:sp>
          <p:nvSpPr>
            <p:cNvPr id="16" name="Freeform 16"/>
            <p:cNvSpPr/>
            <p:nvPr/>
          </p:nvSpPr>
          <p:spPr>
            <a:xfrm>
              <a:off x="0" y="0"/>
              <a:ext cx="22128480" cy="877824"/>
            </a:xfrm>
            <a:custGeom>
              <a:avLst/>
              <a:gdLst/>
              <a:ahLst/>
              <a:cxnLst/>
              <a:rect l="l" t="t" r="r" b="b"/>
              <a:pathLst>
                <a:path w="22128480" h="877824">
                  <a:moveTo>
                    <a:pt x="0" y="0"/>
                  </a:moveTo>
                  <a:lnTo>
                    <a:pt x="22128480" y="0"/>
                  </a:lnTo>
                  <a:lnTo>
                    <a:pt x="22128480" y="877824"/>
                  </a:lnTo>
                  <a:lnTo>
                    <a:pt x="0" y="877824"/>
                  </a:lnTo>
                  <a:close/>
                </a:path>
              </a:pathLst>
            </a:custGeom>
            <a:blipFill>
              <a:blip r:embed="rId2">
                <a:alphaModFix amt="0"/>
              </a:blip>
              <a:stretch>
                <a:fillRect t="-441185" b="-441185"/>
              </a:stretch>
            </a:blipFill>
          </p:spPr>
        </p:sp>
        <p:sp>
          <p:nvSpPr>
            <p:cNvPr id="17" name="TextBox 17"/>
            <p:cNvSpPr txBox="1"/>
            <p:nvPr/>
          </p:nvSpPr>
          <p:spPr>
            <a:xfrm>
              <a:off x="0" y="-28575"/>
              <a:ext cx="22128480" cy="906399"/>
            </a:xfrm>
            <a:prstGeom prst="rect">
              <a:avLst/>
            </a:prstGeom>
          </p:spPr>
          <p:txBody>
            <a:bodyPr lIns="0" tIns="0" rIns="0" bIns="0" rtlCol="0" anchor="ctr"/>
            <a:lstStyle/>
            <a:p>
              <a:pPr algn="l">
                <a:lnSpc>
                  <a:spcPts val="2250"/>
                </a:lnSpc>
              </a:pPr>
              <a:r>
                <a:rPr lang="en-US" sz="1875" b="1">
                  <a:solidFill>
                    <a:srgbClr val="15243A"/>
                  </a:solidFill>
                  <a:latin typeface="Arial Bold"/>
                  <a:ea typeface="Arial Bold"/>
                  <a:cs typeface="Arial Bold"/>
                  <a:sym typeface="Arial Bold"/>
                </a:rPr>
                <a:t>Not counted  </a:t>
              </a:r>
              <a:r>
                <a:rPr lang="en-US" sz="1875">
                  <a:solidFill>
                    <a:srgbClr val="15243A"/>
                  </a:solidFill>
                  <a:latin typeface="Arial"/>
                  <a:ea typeface="Arial"/>
                  <a:cs typeface="Arial"/>
                  <a:sym typeface="Arial"/>
                </a:rPr>
                <a:t>Marketplace commission, and home-based Facebook sellers the census barely captures (only 162 establishments list internet retail as their main activity).</a:t>
              </a:r>
            </a:p>
          </p:txBody>
        </p:sp>
      </p:grpSp>
      <p:grpSp>
        <p:nvGrpSpPr>
          <p:cNvPr id="18" name="Group 18"/>
          <p:cNvGrpSpPr/>
          <p:nvPr/>
        </p:nvGrpSpPr>
        <p:grpSpPr>
          <a:xfrm>
            <a:off x="822960" y="9532620"/>
            <a:ext cx="16596360" cy="411480"/>
            <a:chOff x="0" y="0"/>
            <a:chExt cx="22128480" cy="548640"/>
          </a:xfrm>
        </p:grpSpPr>
        <p:sp>
          <p:nvSpPr>
            <p:cNvPr id="19" name="Freeform 19"/>
            <p:cNvSpPr/>
            <p:nvPr/>
          </p:nvSpPr>
          <p:spPr>
            <a:xfrm>
              <a:off x="0" y="0"/>
              <a:ext cx="22128480" cy="548640"/>
            </a:xfrm>
            <a:custGeom>
              <a:avLst/>
              <a:gdLst/>
              <a:ahLst/>
              <a:cxnLst/>
              <a:rect l="l" t="t" r="r" b="b"/>
              <a:pathLst>
                <a:path w="22128480" h="548640">
                  <a:moveTo>
                    <a:pt x="0" y="0"/>
                  </a:moveTo>
                  <a:lnTo>
                    <a:pt x="22128480" y="0"/>
                  </a:lnTo>
                  <a:lnTo>
                    <a:pt x="22128480" y="548640"/>
                  </a:lnTo>
                  <a:lnTo>
                    <a:pt x="0" y="548640"/>
                  </a:lnTo>
                  <a:close/>
                </a:path>
              </a:pathLst>
            </a:custGeom>
            <a:blipFill>
              <a:blip r:embed="rId2">
                <a:alphaModFix amt="0"/>
              </a:blip>
              <a:stretch>
                <a:fillRect t="-735896" b="-735896"/>
              </a:stretch>
            </a:blipFill>
          </p:spPr>
        </p:sp>
        <p:sp>
          <p:nvSpPr>
            <p:cNvPr id="20" name="TextBox 20"/>
            <p:cNvSpPr txBox="1"/>
            <p:nvPr/>
          </p:nvSpPr>
          <p:spPr>
            <a:xfrm>
              <a:off x="0" y="-19050"/>
              <a:ext cx="22128480" cy="567690"/>
            </a:xfrm>
            <a:prstGeom prst="rect">
              <a:avLst/>
            </a:prstGeom>
          </p:spPr>
          <p:txBody>
            <a:bodyPr lIns="0" tIns="0" rIns="0" bIns="0" rtlCol="0" anchor="ctr"/>
            <a:lstStyle/>
            <a:p>
              <a:pPr algn="l">
                <a:lnSpc>
                  <a:spcPts val="1919"/>
                </a:lnSpc>
              </a:pPr>
              <a:r>
                <a:rPr lang="en-US" sz="1599">
                  <a:solidFill>
                    <a:srgbClr val="52637A"/>
                  </a:solidFill>
                  <a:latin typeface="Arial"/>
                  <a:ea typeface="Arial"/>
                  <a:cs typeface="Arial"/>
                  <a:sym typeface="Arial"/>
                </a:rPr>
                <a:t>Sources: NIS Economic Census 2022 (final report Table 2.10; leaflet); Ministry of Commerce iTrade Bulletin, March 2025.</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22960" y="588645"/>
            <a:ext cx="16596360" cy="1125855"/>
          </a:xfrm>
          <a:prstGeom prst="rect">
            <a:avLst/>
          </a:prstGeom>
        </p:spPr>
        <p:txBody>
          <a:bodyPr lIns="0" tIns="0" rIns="0" bIns="0" rtlCol="0" anchor="t">
            <a:spAutoFit/>
          </a:bodyPr>
          <a:lstStyle/>
          <a:p>
            <a:pPr algn="l">
              <a:lnSpc>
                <a:spcPts val="6120"/>
              </a:lnSpc>
            </a:pPr>
            <a:r>
              <a:rPr lang="en-US" sz="5100" b="1">
                <a:solidFill>
                  <a:srgbClr val="15243A"/>
                </a:solidFill>
                <a:latin typeface="Arial Bold"/>
                <a:ea typeface="Arial Bold"/>
                <a:cs typeface="Arial Bold"/>
                <a:sym typeface="Arial Bold"/>
              </a:rPr>
              <a:t>Business model canvas</a:t>
            </a:r>
          </a:p>
        </p:txBody>
      </p:sp>
      <p:grpSp>
        <p:nvGrpSpPr>
          <p:cNvPr id="3" name="Group 3"/>
          <p:cNvGrpSpPr/>
          <p:nvPr/>
        </p:nvGrpSpPr>
        <p:grpSpPr>
          <a:xfrm>
            <a:off x="822960" y="1920240"/>
            <a:ext cx="3223260" cy="4937760"/>
            <a:chOff x="0" y="0"/>
            <a:chExt cx="4297680" cy="6583680"/>
          </a:xfrm>
        </p:grpSpPr>
        <p:sp>
          <p:nvSpPr>
            <p:cNvPr id="4" name="Freeform 4"/>
            <p:cNvSpPr/>
            <p:nvPr/>
          </p:nvSpPr>
          <p:spPr>
            <a:xfrm>
              <a:off x="0" y="0"/>
              <a:ext cx="4297680" cy="6583680"/>
            </a:xfrm>
            <a:custGeom>
              <a:avLst/>
              <a:gdLst/>
              <a:ahLst/>
              <a:cxnLst/>
              <a:rect l="l" t="t" r="r" b="b"/>
              <a:pathLst>
                <a:path w="4297680" h="6583680">
                  <a:moveTo>
                    <a:pt x="0" y="146304"/>
                  </a:moveTo>
                  <a:cubicBezTo>
                    <a:pt x="0" y="65532"/>
                    <a:pt x="65532" y="0"/>
                    <a:pt x="146304" y="0"/>
                  </a:cubicBezTo>
                  <a:lnTo>
                    <a:pt x="4151376" y="0"/>
                  </a:lnTo>
                  <a:cubicBezTo>
                    <a:pt x="4232148" y="0"/>
                    <a:pt x="4297680" y="65532"/>
                    <a:pt x="4297680" y="146304"/>
                  </a:cubicBezTo>
                  <a:lnTo>
                    <a:pt x="4297680" y="6437376"/>
                  </a:lnTo>
                  <a:cubicBezTo>
                    <a:pt x="4297680" y="6518148"/>
                    <a:pt x="4232148" y="6583680"/>
                    <a:pt x="4151376" y="6583680"/>
                  </a:cubicBezTo>
                  <a:lnTo>
                    <a:pt x="146304" y="6583680"/>
                  </a:lnTo>
                  <a:cubicBezTo>
                    <a:pt x="65532" y="6583680"/>
                    <a:pt x="0" y="6518148"/>
                    <a:pt x="0" y="6437376"/>
                  </a:cubicBezTo>
                  <a:close/>
                </a:path>
              </a:pathLst>
            </a:custGeom>
            <a:solidFill>
              <a:srgbClr val="F5F8FC"/>
            </a:solidFill>
          </p:spPr>
        </p:sp>
      </p:grpSp>
      <p:sp>
        <p:nvSpPr>
          <p:cNvPr id="5" name="TextBox 5"/>
          <p:cNvSpPr txBox="1"/>
          <p:nvPr/>
        </p:nvSpPr>
        <p:spPr>
          <a:xfrm>
            <a:off x="1028700" y="2075307"/>
            <a:ext cx="2811780" cy="295275"/>
          </a:xfrm>
          <a:prstGeom prst="rect">
            <a:avLst/>
          </a:prstGeom>
        </p:spPr>
        <p:txBody>
          <a:bodyPr lIns="0" tIns="0" rIns="0" bIns="0" rtlCol="0" anchor="t">
            <a:spAutoFit/>
          </a:bodyPr>
          <a:lstStyle/>
          <a:p>
            <a:pPr algn="l">
              <a:lnSpc>
                <a:spcPts val="2279"/>
              </a:lnSpc>
            </a:pPr>
            <a:r>
              <a:rPr lang="en-US" sz="1899" b="1">
                <a:solidFill>
                  <a:srgbClr val="2463E8"/>
                </a:solidFill>
                <a:latin typeface="Arial Bold"/>
                <a:ea typeface="Arial Bold"/>
                <a:cs typeface="Arial Bold"/>
                <a:sym typeface="Arial Bold"/>
              </a:rPr>
              <a:t>Key partners</a:t>
            </a:r>
          </a:p>
        </p:txBody>
      </p:sp>
      <p:sp>
        <p:nvSpPr>
          <p:cNvPr id="6" name="TextBox 6"/>
          <p:cNvSpPr txBox="1"/>
          <p:nvPr/>
        </p:nvSpPr>
        <p:spPr>
          <a:xfrm>
            <a:off x="1028700" y="2508885"/>
            <a:ext cx="2811780" cy="1443419"/>
          </a:xfrm>
          <a:prstGeom prst="rect">
            <a:avLst/>
          </a:prstGeom>
        </p:spPr>
        <p:txBody>
          <a:bodyPr lIns="0" tIns="0" rIns="0" bIns="0" rtlCol="0" anchor="t">
            <a:spAutoFit/>
          </a:bodyPr>
          <a:lstStyle/>
          <a:p>
            <a:pPr algn="l">
              <a:lnSpc>
                <a:spcPts val="2299"/>
              </a:lnSpc>
            </a:pPr>
            <a:r>
              <a:rPr lang="en-US" sz="1824">
                <a:solidFill>
                  <a:srgbClr val="15243A"/>
                </a:solidFill>
                <a:latin typeface="Arial"/>
                <a:ea typeface="Arial"/>
                <a:cs typeface="Arial"/>
                <a:sym typeface="Arial"/>
              </a:rPr>
              <a:t>Pilot merchants</a:t>
            </a:r>
          </a:p>
          <a:p>
            <a:pPr algn="l">
              <a:lnSpc>
                <a:spcPts val="2299"/>
              </a:lnSpc>
            </a:pPr>
            <a:r>
              <a:rPr lang="en-US" sz="1824">
                <a:solidFill>
                  <a:srgbClr val="15243A"/>
                </a:solidFill>
                <a:latin typeface="Arial"/>
                <a:ea typeface="Arial"/>
                <a:cs typeface="Arial"/>
                <a:sym typeface="Arial"/>
              </a:rPr>
              <a:t>Delivery carriers</a:t>
            </a:r>
          </a:p>
          <a:p>
            <a:pPr algn="l">
              <a:lnSpc>
                <a:spcPts val="2299"/>
              </a:lnSpc>
            </a:pPr>
            <a:r>
              <a:rPr lang="en-US" sz="1824">
                <a:solidFill>
                  <a:srgbClr val="15243A"/>
                </a:solidFill>
                <a:latin typeface="Arial"/>
                <a:ea typeface="Arial"/>
                <a:cs typeface="Arial"/>
                <a:sym typeface="Arial"/>
              </a:rPr>
              <a:t>Payment provider (online payments, 2027)</a:t>
            </a:r>
          </a:p>
          <a:p>
            <a:pPr algn="l">
              <a:lnSpc>
                <a:spcPts val="2299"/>
              </a:lnSpc>
            </a:pPr>
            <a:r>
              <a:rPr lang="en-US" sz="1824">
                <a:solidFill>
                  <a:srgbClr val="15243A"/>
                </a:solidFill>
                <a:latin typeface="Arial"/>
                <a:ea typeface="Arial"/>
                <a:cs typeface="Arial"/>
                <a:sym typeface="Arial"/>
              </a:rPr>
              <a:t>SME associations</a:t>
            </a:r>
          </a:p>
        </p:txBody>
      </p:sp>
      <p:grpSp>
        <p:nvGrpSpPr>
          <p:cNvPr id="7" name="Group 7"/>
          <p:cNvGrpSpPr/>
          <p:nvPr/>
        </p:nvGrpSpPr>
        <p:grpSpPr>
          <a:xfrm>
            <a:off x="4176522" y="1920240"/>
            <a:ext cx="3223260" cy="2403729"/>
            <a:chOff x="0" y="0"/>
            <a:chExt cx="4297680" cy="3204972"/>
          </a:xfrm>
        </p:grpSpPr>
        <p:sp>
          <p:nvSpPr>
            <p:cNvPr id="8" name="Freeform 8"/>
            <p:cNvSpPr/>
            <p:nvPr/>
          </p:nvSpPr>
          <p:spPr>
            <a:xfrm>
              <a:off x="0" y="0"/>
              <a:ext cx="4297680" cy="3204972"/>
            </a:xfrm>
            <a:custGeom>
              <a:avLst/>
              <a:gdLst/>
              <a:ahLst/>
              <a:cxnLst/>
              <a:rect l="l" t="t" r="r" b="b"/>
              <a:pathLst>
                <a:path w="4297680" h="3204972">
                  <a:moveTo>
                    <a:pt x="0" y="146304"/>
                  </a:moveTo>
                  <a:cubicBezTo>
                    <a:pt x="0" y="65532"/>
                    <a:pt x="65532" y="0"/>
                    <a:pt x="146304" y="0"/>
                  </a:cubicBezTo>
                  <a:lnTo>
                    <a:pt x="4151376" y="0"/>
                  </a:lnTo>
                  <a:cubicBezTo>
                    <a:pt x="4232148" y="0"/>
                    <a:pt x="4297680" y="65532"/>
                    <a:pt x="4297680" y="146304"/>
                  </a:cubicBezTo>
                  <a:lnTo>
                    <a:pt x="4297680" y="3058668"/>
                  </a:lnTo>
                  <a:cubicBezTo>
                    <a:pt x="4297680" y="3139440"/>
                    <a:pt x="4232148" y="3204972"/>
                    <a:pt x="4151376" y="3204972"/>
                  </a:cubicBezTo>
                  <a:lnTo>
                    <a:pt x="146304" y="3204972"/>
                  </a:lnTo>
                  <a:cubicBezTo>
                    <a:pt x="65532" y="3204972"/>
                    <a:pt x="0" y="3139440"/>
                    <a:pt x="0" y="3058668"/>
                  </a:cubicBezTo>
                  <a:close/>
                </a:path>
              </a:pathLst>
            </a:custGeom>
            <a:solidFill>
              <a:srgbClr val="F5F8FC"/>
            </a:solidFill>
          </p:spPr>
        </p:sp>
      </p:grpSp>
      <p:sp>
        <p:nvSpPr>
          <p:cNvPr id="9" name="TextBox 9"/>
          <p:cNvSpPr txBox="1"/>
          <p:nvPr/>
        </p:nvSpPr>
        <p:spPr>
          <a:xfrm>
            <a:off x="4382262" y="2075307"/>
            <a:ext cx="2811780" cy="295275"/>
          </a:xfrm>
          <a:prstGeom prst="rect">
            <a:avLst/>
          </a:prstGeom>
        </p:spPr>
        <p:txBody>
          <a:bodyPr lIns="0" tIns="0" rIns="0" bIns="0" rtlCol="0" anchor="t">
            <a:spAutoFit/>
          </a:bodyPr>
          <a:lstStyle/>
          <a:p>
            <a:pPr algn="l">
              <a:lnSpc>
                <a:spcPts val="2279"/>
              </a:lnSpc>
            </a:pPr>
            <a:r>
              <a:rPr lang="en-US" sz="1899" b="1">
                <a:solidFill>
                  <a:srgbClr val="2463E8"/>
                </a:solidFill>
                <a:latin typeface="Arial Bold"/>
                <a:ea typeface="Arial Bold"/>
                <a:cs typeface="Arial Bold"/>
                <a:sym typeface="Arial Bold"/>
              </a:rPr>
              <a:t>Key activities</a:t>
            </a:r>
          </a:p>
        </p:txBody>
      </p:sp>
      <p:sp>
        <p:nvSpPr>
          <p:cNvPr id="10" name="TextBox 10"/>
          <p:cNvSpPr txBox="1"/>
          <p:nvPr/>
        </p:nvSpPr>
        <p:spPr>
          <a:xfrm>
            <a:off x="4382262" y="2508885"/>
            <a:ext cx="2811780" cy="1443419"/>
          </a:xfrm>
          <a:prstGeom prst="rect">
            <a:avLst/>
          </a:prstGeom>
        </p:spPr>
        <p:txBody>
          <a:bodyPr lIns="0" tIns="0" rIns="0" bIns="0" rtlCol="0" anchor="t">
            <a:spAutoFit/>
          </a:bodyPr>
          <a:lstStyle/>
          <a:p>
            <a:pPr algn="l">
              <a:lnSpc>
                <a:spcPts val="2299"/>
              </a:lnSpc>
            </a:pPr>
            <a:r>
              <a:rPr lang="en-US" sz="1824">
                <a:solidFill>
                  <a:srgbClr val="15243A"/>
                </a:solidFill>
                <a:latin typeface="Arial"/>
                <a:ea typeface="Arial"/>
                <a:cs typeface="Arial"/>
                <a:sym typeface="Arial"/>
              </a:rPr>
              <a:t>Build and run the platform</a:t>
            </a:r>
          </a:p>
          <a:p>
            <a:pPr algn="l">
              <a:lnSpc>
                <a:spcPts val="2299"/>
              </a:lnSpc>
            </a:pPr>
            <a:r>
              <a:rPr lang="en-US" sz="1824">
                <a:solidFill>
                  <a:srgbClr val="15243A"/>
                </a:solidFill>
                <a:latin typeface="Arial"/>
                <a:ea typeface="Arial"/>
                <a:cs typeface="Arial"/>
                <a:sym typeface="Arial"/>
              </a:rPr>
              <a:t>Onboard and approve sellers</a:t>
            </a:r>
          </a:p>
          <a:p>
            <a:pPr algn="l">
              <a:lnSpc>
                <a:spcPts val="2299"/>
              </a:lnSpc>
            </a:pPr>
            <a:r>
              <a:rPr lang="en-US" sz="1824">
                <a:solidFill>
                  <a:srgbClr val="15243A"/>
                </a:solidFill>
                <a:latin typeface="Arial"/>
                <a:ea typeface="Arial"/>
                <a:cs typeface="Arial"/>
                <a:sym typeface="Arial"/>
              </a:rPr>
              <a:t>Buyer support and moderation</a:t>
            </a:r>
          </a:p>
        </p:txBody>
      </p:sp>
      <p:grpSp>
        <p:nvGrpSpPr>
          <p:cNvPr id="11" name="Group 11"/>
          <p:cNvGrpSpPr/>
          <p:nvPr/>
        </p:nvGrpSpPr>
        <p:grpSpPr>
          <a:xfrm>
            <a:off x="4176522" y="4454271"/>
            <a:ext cx="3223260" cy="2403729"/>
            <a:chOff x="0" y="0"/>
            <a:chExt cx="4297680" cy="3204972"/>
          </a:xfrm>
        </p:grpSpPr>
        <p:sp>
          <p:nvSpPr>
            <p:cNvPr id="12" name="Freeform 12"/>
            <p:cNvSpPr/>
            <p:nvPr/>
          </p:nvSpPr>
          <p:spPr>
            <a:xfrm>
              <a:off x="0" y="0"/>
              <a:ext cx="4297680" cy="3204972"/>
            </a:xfrm>
            <a:custGeom>
              <a:avLst/>
              <a:gdLst/>
              <a:ahLst/>
              <a:cxnLst/>
              <a:rect l="l" t="t" r="r" b="b"/>
              <a:pathLst>
                <a:path w="4297680" h="3204972">
                  <a:moveTo>
                    <a:pt x="0" y="146304"/>
                  </a:moveTo>
                  <a:cubicBezTo>
                    <a:pt x="0" y="65532"/>
                    <a:pt x="65532" y="0"/>
                    <a:pt x="146304" y="0"/>
                  </a:cubicBezTo>
                  <a:lnTo>
                    <a:pt x="4151376" y="0"/>
                  </a:lnTo>
                  <a:cubicBezTo>
                    <a:pt x="4232148" y="0"/>
                    <a:pt x="4297680" y="65532"/>
                    <a:pt x="4297680" y="146304"/>
                  </a:cubicBezTo>
                  <a:lnTo>
                    <a:pt x="4297680" y="3058668"/>
                  </a:lnTo>
                  <a:cubicBezTo>
                    <a:pt x="4297680" y="3139440"/>
                    <a:pt x="4232148" y="3204972"/>
                    <a:pt x="4151376" y="3204972"/>
                  </a:cubicBezTo>
                  <a:lnTo>
                    <a:pt x="146304" y="3204972"/>
                  </a:lnTo>
                  <a:cubicBezTo>
                    <a:pt x="65532" y="3204972"/>
                    <a:pt x="0" y="3139440"/>
                    <a:pt x="0" y="3058668"/>
                  </a:cubicBezTo>
                  <a:close/>
                </a:path>
              </a:pathLst>
            </a:custGeom>
            <a:solidFill>
              <a:srgbClr val="F5F8FC"/>
            </a:solidFill>
          </p:spPr>
        </p:sp>
      </p:grpSp>
      <p:sp>
        <p:nvSpPr>
          <p:cNvPr id="13" name="TextBox 13"/>
          <p:cNvSpPr txBox="1"/>
          <p:nvPr/>
        </p:nvSpPr>
        <p:spPr>
          <a:xfrm>
            <a:off x="4382262" y="4609338"/>
            <a:ext cx="2811780" cy="295275"/>
          </a:xfrm>
          <a:prstGeom prst="rect">
            <a:avLst/>
          </a:prstGeom>
        </p:spPr>
        <p:txBody>
          <a:bodyPr lIns="0" tIns="0" rIns="0" bIns="0" rtlCol="0" anchor="t">
            <a:spAutoFit/>
          </a:bodyPr>
          <a:lstStyle/>
          <a:p>
            <a:pPr algn="l">
              <a:lnSpc>
                <a:spcPts val="2279"/>
              </a:lnSpc>
            </a:pPr>
            <a:r>
              <a:rPr lang="en-US" sz="1899" b="1">
                <a:solidFill>
                  <a:srgbClr val="2463E8"/>
                </a:solidFill>
                <a:latin typeface="Arial Bold"/>
                <a:ea typeface="Arial Bold"/>
                <a:cs typeface="Arial Bold"/>
                <a:sym typeface="Arial Bold"/>
              </a:rPr>
              <a:t>Key resources</a:t>
            </a:r>
          </a:p>
        </p:txBody>
      </p:sp>
      <p:sp>
        <p:nvSpPr>
          <p:cNvPr id="14" name="TextBox 14"/>
          <p:cNvSpPr txBox="1"/>
          <p:nvPr/>
        </p:nvSpPr>
        <p:spPr>
          <a:xfrm>
            <a:off x="4382262" y="5042916"/>
            <a:ext cx="2811780" cy="1157669"/>
          </a:xfrm>
          <a:prstGeom prst="rect">
            <a:avLst/>
          </a:prstGeom>
        </p:spPr>
        <p:txBody>
          <a:bodyPr lIns="0" tIns="0" rIns="0" bIns="0" rtlCol="0" anchor="t">
            <a:spAutoFit/>
          </a:bodyPr>
          <a:lstStyle/>
          <a:p>
            <a:pPr algn="l">
              <a:lnSpc>
                <a:spcPts val="2299"/>
              </a:lnSpc>
            </a:pPr>
            <a:r>
              <a:rPr lang="en-US" sz="1824">
                <a:solidFill>
                  <a:srgbClr val="15243A"/>
                </a:solidFill>
                <a:latin typeface="Arial"/>
                <a:ea typeface="Arial"/>
                <a:cs typeface="Arial"/>
                <a:sym typeface="Arial"/>
              </a:rPr>
              <a:t>One-store catalog and stock</a:t>
            </a:r>
          </a:p>
          <a:p>
            <a:pPr algn="l">
              <a:lnSpc>
                <a:spcPts val="2299"/>
              </a:lnSpc>
            </a:pPr>
            <a:r>
              <a:rPr lang="en-US" sz="1824">
                <a:solidFill>
                  <a:srgbClr val="15243A"/>
                </a:solidFill>
                <a:latin typeface="Arial"/>
                <a:ea typeface="Arial"/>
                <a:cs typeface="Arial"/>
                <a:sym typeface="Arial"/>
              </a:rPr>
              <a:t>Storefront templates, marketplace, POS</a:t>
            </a:r>
          </a:p>
        </p:txBody>
      </p:sp>
      <p:grpSp>
        <p:nvGrpSpPr>
          <p:cNvPr id="15" name="Group 15"/>
          <p:cNvGrpSpPr/>
          <p:nvPr/>
        </p:nvGrpSpPr>
        <p:grpSpPr>
          <a:xfrm>
            <a:off x="7530084" y="1920240"/>
            <a:ext cx="3223260" cy="4937760"/>
            <a:chOff x="0" y="0"/>
            <a:chExt cx="4297680" cy="6583680"/>
          </a:xfrm>
        </p:grpSpPr>
        <p:sp>
          <p:nvSpPr>
            <p:cNvPr id="16" name="Freeform 16"/>
            <p:cNvSpPr/>
            <p:nvPr/>
          </p:nvSpPr>
          <p:spPr>
            <a:xfrm>
              <a:off x="0" y="0"/>
              <a:ext cx="4297680" cy="6583680"/>
            </a:xfrm>
            <a:custGeom>
              <a:avLst/>
              <a:gdLst/>
              <a:ahLst/>
              <a:cxnLst/>
              <a:rect l="l" t="t" r="r" b="b"/>
              <a:pathLst>
                <a:path w="4297680" h="6583680">
                  <a:moveTo>
                    <a:pt x="0" y="146304"/>
                  </a:moveTo>
                  <a:cubicBezTo>
                    <a:pt x="0" y="65532"/>
                    <a:pt x="65532" y="0"/>
                    <a:pt x="146304" y="0"/>
                  </a:cubicBezTo>
                  <a:lnTo>
                    <a:pt x="4151376" y="0"/>
                  </a:lnTo>
                  <a:cubicBezTo>
                    <a:pt x="4232148" y="0"/>
                    <a:pt x="4297680" y="65532"/>
                    <a:pt x="4297680" y="146304"/>
                  </a:cubicBezTo>
                  <a:lnTo>
                    <a:pt x="4297680" y="6437376"/>
                  </a:lnTo>
                  <a:cubicBezTo>
                    <a:pt x="4297680" y="6518148"/>
                    <a:pt x="4232148" y="6583680"/>
                    <a:pt x="4151376" y="6583680"/>
                  </a:cubicBezTo>
                  <a:lnTo>
                    <a:pt x="146304" y="6583680"/>
                  </a:lnTo>
                  <a:cubicBezTo>
                    <a:pt x="65532" y="6583680"/>
                    <a:pt x="0" y="6518148"/>
                    <a:pt x="0" y="6437376"/>
                  </a:cubicBezTo>
                  <a:close/>
                </a:path>
              </a:pathLst>
            </a:custGeom>
            <a:solidFill>
              <a:srgbClr val="D6F4F0"/>
            </a:solidFill>
          </p:spPr>
        </p:sp>
      </p:grpSp>
      <p:sp>
        <p:nvSpPr>
          <p:cNvPr id="17" name="TextBox 17"/>
          <p:cNvSpPr txBox="1"/>
          <p:nvPr/>
        </p:nvSpPr>
        <p:spPr>
          <a:xfrm>
            <a:off x="7735824" y="2075307"/>
            <a:ext cx="2811780" cy="295275"/>
          </a:xfrm>
          <a:prstGeom prst="rect">
            <a:avLst/>
          </a:prstGeom>
        </p:spPr>
        <p:txBody>
          <a:bodyPr lIns="0" tIns="0" rIns="0" bIns="0" rtlCol="0" anchor="t">
            <a:spAutoFit/>
          </a:bodyPr>
          <a:lstStyle/>
          <a:p>
            <a:pPr algn="l">
              <a:lnSpc>
                <a:spcPts val="2279"/>
              </a:lnSpc>
            </a:pPr>
            <a:r>
              <a:rPr lang="en-US" sz="1899" b="1">
                <a:solidFill>
                  <a:srgbClr val="2463E8"/>
                </a:solidFill>
                <a:latin typeface="Arial Bold"/>
                <a:ea typeface="Arial Bold"/>
                <a:cs typeface="Arial Bold"/>
                <a:sym typeface="Arial Bold"/>
              </a:rPr>
              <a:t>Value proposition</a:t>
            </a:r>
          </a:p>
        </p:txBody>
      </p:sp>
      <p:sp>
        <p:nvSpPr>
          <p:cNvPr id="18" name="TextBox 18"/>
          <p:cNvSpPr txBox="1"/>
          <p:nvPr/>
        </p:nvSpPr>
        <p:spPr>
          <a:xfrm>
            <a:off x="7735824" y="2508885"/>
            <a:ext cx="2811780" cy="2586419"/>
          </a:xfrm>
          <a:prstGeom prst="rect">
            <a:avLst/>
          </a:prstGeom>
        </p:spPr>
        <p:txBody>
          <a:bodyPr lIns="0" tIns="0" rIns="0" bIns="0" rtlCol="0" anchor="t">
            <a:spAutoFit/>
          </a:bodyPr>
          <a:lstStyle/>
          <a:p>
            <a:pPr algn="l">
              <a:lnSpc>
                <a:spcPts val="2299"/>
              </a:lnSpc>
            </a:pPr>
            <a:r>
              <a:rPr lang="en-US" sz="1824">
                <a:solidFill>
                  <a:srgbClr val="15243A"/>
                </a:solidFill>
                <a:latin typeface="Arial"/>
                <a:ea typeface="Arial"/>
                <a:cs typeface="Arial"/>
                <a:sym typeface="Arial"/>
              </a:rPr>
              <a:t>Merchants: sell on their own storefront, the marketplace and at the counter from one store.</a:t>
            </a:r>
          </a:p>
          <a:p>
            <a:pPr algn="l">
              <a:lnSpc>
                <a:spcPts val="2299"/>
              </a:lnSpc>
            </a:pPr>
            <a:endParaRPr lang="en-US" sz="1824">
              <a:solidFill>
                <a:srgbClr val="15243A"/>
              </a:solidFill>
              <a:latin typeface="Arial"/>
              <a:ea typeface="Arial"/>
              <a:cs typeface="Arial"/>
              <a:sym typeface="Arial"/>
            </a:endParaRPr>
          </a:p>
          <a:p>
            <a:pPr algn="l">
              <a:lnSpc>
                <a:spcPts val="2299"/>
              </a:lnSpc>
            </a:pPr>
            <a:r>
              <a:rPr lang="en-US" sz="1824">
                <a:solidFill>
                  <a:srgbClr val="15243A"/>
                </a:solidFill>
                <a:latin typeface="Arial"/>
                <a:ea typeface="Arial"/>
                <a:cs typeface="Arial"/>
                <a:sym typeface="Arial"/>
              </a:rPr>
              <a:t>Buyers: products from many Cambodian stores with clear seller and delivery details.</a:t>
            </a:r>
          </a:p>
        </p:txBody>
      </p:sp>
      <p:grpSp>
        <p:nvGrpSpPr>
          <p:cNvPr id="19" name="Group 19"/>
          <p:cNvGrpSpPr/>
          <p:nvPr/>
        </p:nvGrpSpPr>
        <p:grpSpPr>
          <a:xfrm>
            <a:off x="10883646" y="1920240"/>
            <a:ext cx="3223260" cy="2403729"/>
            <a:chOff x="0" y="0"/>
            <a:chExt cx="4297680" cy="3204972"/>
          </a:xfrm>
        </p:grpSpPr>
        <p:sp>
          <p:nvSpPr>
            <p:cNvPr id="20" name="Freeform 20"/>
            <p:cNvSpPr/>
            <p:nvPr/>
          </p:nvSpPr>
          <p:spPr>
            <a:xfrm>
              <a:off x="0" y="0"/>
              <a:ext cx="4297680" cy="3204972"/>
            </a:xfrm>
            <a:custGeom>
              <a:avLst/>
              <a:gdLst/>
              <a:ahLst/>
              <a:cxnLst/>
              <a:rect l="l" t="t" r="r" b="b"/>
              <a:pathLst>
                <a:path w="4297680" h="3204972">
                  <a:moveTo>
                    <a:pt x="0" y="146304"/>
                  </a:moveTo>
                  <a:cubicBezTo>
                    <a:pt x="0" y="65532"/>
                    <a:pt x="65532" y="0"/>
                    <a:pt x="146304" y="0"/>
                  </a:cubicBezTo>
                  <a:lnTo>
                    <a:pt x="4151376" y="0"/>
                  </a:lnTo>
                  <a:cubicBezTo>
                    <a:pt x="4232148" y="0"/>
                    <a:pt x="4297680" y="65532"/>
                    <a:pt x="4297680" y="146304"/>
                  </a:cubicBezTo>
                  <a:lnTo>
                    <a:pt x="4297680" y="3058668"/>
                  </a:lnTo>
                  <a:cubicBezTo>
                    <a:pt x="4297680" y="3139440"/>
                    <a:pt x="4232148" y="3204972"/>
                    <a:pt x="4151376" y="3204972"/>
                  </a:cubicBezTo>
                  <a:lnTo>
                    <a:pt x="146304" y="3204972"/>
                  </a:lnTo>
                  <a:cubicBezTo>
                    <a:pt x="65532" y="3204972"/>
                    <a:pt x="0" y="3139440"/>
                    <a:pt x="0" y="3058668"/>
                  </a:cubicBezTo>
                  <a:close/>
                </a:path>
              </a:pathLst>
            </a:custGeom>
            <a:solidFill>
              <a:srgbClr val="F5F8FC"/>
            </a:solidFill>
          </p:spPr>
        </p:sp>
      </p:grpSp>
      <p:sp>
        <p:nvSpPr>
          <p:cNvPr id="21" name="TextBox 21"/>
          <p:cNvSpPr txBox="1"/>
          <p:nvPr/>
        </p:nvSpPr>
        <p:spPr>
          <a:xfrm>
            <a:off x="11089386" y="2075307"/>
            <a:ext cx="2811780" cy="295275"/>
          </a:xfrm>
          <a:prstGeom prst="rect">
            <a:avLst/>
          </a:prstGeom>
        </p:spPr>
        <p:txBody>
          <a:bodyPr lIns="0" tIns="0" rIns="0" bIns="0" rtlCol="0" anchor="t">
            <a:spAutoFit/>
          </a:bodyPr>
          <a:lstStyle/>
          <a:p>
            <a:pPr algn="l">
              <a:lnSpc>
                <a:spcPts val="2279"/>
              </a:lnSpc>
            </a:pPr>
            <a:r>
              <a:rPr lang="en-US" sz="1899" b="1">
                <a:solidFill>
                  <a:srgbClr val="2463E8"/>
                </a:solidFill>
                <a:latin typeface="Arial Bold"/>
                <a:ea typeface="Arial Bold"/>
                <a:cs typeface="Arial Bold"/>
                <a:sym typeface="Arial Bold"/>
              </a:rPr>
              <a:t>Relationships</a:t>
            </a:r>
          </a:p>
        </p:txBody>
      </p:sp>
      <p:sp>
        <p:nvSpPr>
          <p:cNvPr id="22" name="TextBox 22"/>
          <p:cNvSpPr txBox="1"/>
          <p:nvPr/>
        </p:nvSpPr>
        <p:spPr>
          <a:xfrm>
            <a:off x="11089386" y="2508885"/>
            <a:ext cx="2811780" cy="586169"/>
          </a:xfrm>
          <a:prstGeom prst="rect">
            <a:avLst/>
          </a:prstGeom>
        </p:spPr>
        <p:txBody>
          <a:bodyPr lIns="0" tIns="0" rIns="0" bIns="0" rtlCol="0" anchor="t">
            <a:spAutoFit/>
          </a:bodyPr>
          <a:lstStyle/>
          <a:p>
            <a:pPr algn="l">
              <a:lnSpc>
                <a:spcPts val="2299"/>
              </a:lnSpc>
            </a:pPr>
            <a:r>
              <a:rPr lang="en-US" sz="1824">
                <a:solidFill>
                  <a:srgbClr val="15243A"/>
                </a:solidFill>
                <a:latin typeface="Arial"/>
                <a:ea typeface="Arial"/>
                <a:cs typeface="Arial"/>
                <a:sym typeface="Arial"/>
              </a:rPr>
              <a:t>Assisted onboarding</a:t>
            </a:r>
          </a:p>
          <a:p>
            <a:pPr algn="l">
              <a:lnSpc>
                <a:spcPts val="2299"/>
              </a:lnSpc>
            </a:pPr>
            <a:r>
              <a:rPr lang="en-US" sz="1824">
                <a:solidFill>
                  <a:srgbClr val="15243A"/>
                </a:solidFill>
                <a:latin typeface="Arial"/>
                <a:ea typeface="Arial"/>
                <a:cs typeface="Arial"/>
                <a:sym typeface="Arial"/>
              </a:rPr>
              <a:t>Khmer and English support</a:t>
            </a:r>
          </a:p>
        </p:txBody>
      </p:sp>
      <p:grpSp>
        <p:nvGrpSpPr>
          <p:cNvPr id="23" name="Group 23"/>
          <p:cNvGrpSpPr/>
          <p:nvPr/>
        </p:nvGrpSpPr>
        <p:grpSpPr>
          <a:xfrm>
            <a:off x="10883646" y="4454271"/>
            <a:ext cx="3223260" cy="2403729"/>
            <a:chOff x="0" y="0"/>
            <a:chExt cx="4297680" cy="3204972"/>
          </a:xfrm>
        </p:grpSpPr>
        <p:sp>
          <p:nvSpPr>
            <p:cNvPr id="24" name="Freeform 24"/>
            <p:cNvSpPr/>
            <p:nvPr/>
          </p:nvSpPr>
          <p:spPr>
            <a:xfrm>
              <a:off x="0" y="0"/>
              <a:ext cx="4297680" cy="3204972"/>
            </a:xfrm>
            <a:custGeom>
              <a:avLst/>
              <a:gdLst/>
              <a:ahLst/>
              <a:cxnLst/>
              <a:rect l="l" t="t" r="r" b="b"/>
              <a:pathLst>
                <a:path w="4297680" h="3204972">
                  <a:moveTo>
                    <a:pt x="0" y="146304"/>
                  </a:moveTo>
                  <a:cubicBezTo>
                    <a:pt x="0" y="65532"/>
                    <a:pt x="65532" y="0"/>
                    <a:pt x="146304" y="0"/>
                  </a:cubicBezTo>
                  <a:lnTo>
                    <a:pt x="4151376" y="0"/>
                  </a:lnTo>
                  <a:cubicBezTo>
                    <a:pt x="4232148" y="0"/>
                    <a:pt x="4297680" y="65532"/>
                    <a:pt x="4297680" y="146304"/>
                  </a:cubicBezTo>
                  <a:lnTo>
                    <a:pt x="4297680" y="3058668"/>
                  </a:lnTo>
                  <a:cubicBezTo>
                    <a:pt x="4297680" y="3139440"/>
                    <a:pt x="4232148" y="3204972"/>
                    <a:pt x="4151376" y="3204972"/>
                  </a:cubicBezTo>
                  <a:lnTo>
                    <a:pt x="146304" y="3204972"/>
                  </a:lnTo>
                  <a:cubicBezTo>
                    <a:pt x="65532" y="3204972"/>
                    <a:pt x="0" y="3139440"/>
                    <a:pt x="0" y="3058668"/>
                  </a:cubicBezTo>
                  <a:close/>
                </a:path>
              </a:pathLst>
            </a:custGeom>
            <a:solidFill>
              <a:srgbClr val="F5F8FC"/>
            </a:solidFill>
          </p:spPr>
        </p:sp>
      </p:grpSp>
      <p:sp>
        <p:nvSpPr>
          <p:cNvPr id="25" name="TextBox 25"/>
          <p:cNvSpPr txBox="1"/>
          <p:nvPr/>
        </p:nvSpPr>
        <p:spPr>
          <a:xfrm>
            <a:off x="11089386" y="4609338"/>
            <a:ext cx="2811780" cy="295275"/>
          </a:xfrm>
          <a:prstGeom prst="rect">
            <a:avLst/>
          </a:prstGeom>
        </p:spPr>
        <p:txBody>
          <a:bodyPr lIns="0" tIns="0" rIns="0" bIns="0" rtlCol="0" anchor="t">
            <a:spAutoFit/>
          </a:bodyPr>
          <a:lstStyle/>
          <a:p>
            <a:pPr algn="l">
              <a:lnSpc>
                <a:spcPts val="2279"/>
              </a:lnSpc>
            </a:pPr>
            <a:r>
              <a:rPr lang="en-US" sz="1899" b="1">
                <a:solidFill>
                  <a:srgbClr val="2463E8"/>
                </a:solidFill>
                <a:latin typeface="Arial Bold"/>
                <a:ea typeface="Arial Bold"/>
                <a:cs typeface="Arial Bold"/>
                <a:sym typeface="Arial Bold"/>
              </a:rPr>
              <a:t>Channels</a:t>
            </a:r>
          </a:p>
        </p:txBody>
      </p:sp>
      <p:sp>
        <p:nvSpPr>
          <p:cNvPr id="26" name="TextBox 26"/>
          <p:cNvSpPr txBox="1"/>
          <p:nvPr/>
        </p:nvSpPr>
        <p:spPr>
          <a:xfrm>
            <a:off x="11089386" y="5042916"/>
            <a:ext cx="2811780" cy="1157669"/>
          </a:xfrm>
          <a:prstGeom prst="rect">
            <a:avLst/>
          </a:prstGeom>
        </p:spPr>
        <p:txBody>
          <a:bodyPr lIns="0" tIns="0" rIns="0" bIns="0" rtlCol="0" anchor="t">
            <a:spAutoFit/>
          </a:bodyPr>
          <a:lstStyle/>
          <a:p>
            <a:pPr algn="l">
              <a:lnSpc>
                <a:spcPts val="2299"/>
              </a:lnSpc>
            </a:pPr>
            <a:r>
              <a:rPr lang="en-US" sz="1824">
                <a:solidFill>
                  <a:srgbClr val="15243A"/>
                </a:solidFill>
                <a:latin typeface="Arial"/>
                <a:ea typeface="Arial"/>
                <a:cs typeface="Arial"/>
                <a:sym typeface="Arial"/>
              </a:rPr>
              <a:t>Shop visits, Facebook seller groups</a:t>
            </a:r>
          </a:p>
          <a:p>
            <a:pPr algn="l">
              <a:lnSpc>
                <a:spcPts val="2299"/>
              </a:lnSpc>
            </a:pPr>
            <a:r>
              <a:rPr lang="en-US" sz="1824">
                <a:solidFill>
                  <a:srgbClr val="15243A"/>
                </a:solidFill>
                <a:latin typeface="Arial"/>
                <a:ea typeface="Arial"/>
                <a:cs typeface="Arial"/>
                <a:sym typeface="Arial"/>
              </a:rPr>
              <a:t>Merchant storefront links, referrals</a:t>
            </a:r>
          </a:p>
        </p:txBody>
      </p:sp>
      <p:grpSp>
        <p:nvGrpSpPr>
          <p:cNvPr id="27" name="Group 27"/>
          <p:cNvGrpSpPr/>
          <p:nvPr/>
        </p:nvGrpSpPr>
        <p:grpSpPr>
          <a:xfrm>
            <a:off x="14237208" y="1920240"/>
            <a:ext cx="3223260" cy="4937760"/>
            <a:chOff x="0" y="0"/>
            <a:chExt cx="4297680" cy="6583680"/>
          </a:xfrm>
        </p:grpSpPr>
        <p:sp>
          <p:nvSpPr>
            <p:cNvPr id="28" name="Freeform 28"/>
            <p:cNvSpPr/>
            <p:nvPr/>
          </p:nvSpPr>
          <p:spPr>
            <a:xfrm>
              <a:off x="0" y="0"/>
              <a:ext cx="4297680" cy="6583680"/>
            </a:xfrm>
            <a:custGeom>
              <a:avLst/>
              <a:gdLst/>
              <a:ahLst/>
              <a:cxnLst/>
              <a:rect l="l" t="t" r="r" b="b"/>
              <a:pathLst>
                <a:path w="4297680" h="6583680">
                  <a:moveTo>
                    <a:pt x="0" y="146304"/>
                  </a:moveTo>
                  <a:cubicBezTo>
                    <a:pt x="0" y="65532"/>
                    <a:pt x="65532" y="0"/>
                    <a:pt x="146304" y="0"/>
                  </a:cubicBezTo>
                  <a:lnTo>
                    <a:pt x="4151376" y="0"/>
                  </a:lnTo>
                  <a:cubicBezTo>
                    <a:pt x="4232148" y="0"/>
                    <a:pt x="4297680" y="65532"/>
                    <a:pt x="4297680" y="146304"/>
                  </a:cubicBezTo>
                  <a:lnTo>
                    <a:pt x="4297680" y="6437376"/>
                  </a:lnTo>
                  <a:cubicBezTo>
                    <a:pt x="4297680" y="6518148"/>
                    <a:pt x="4232148" y="6583680"/>
                    <a:pt x="4151376" y="6583680"/>
                  </a:cubicBezTo>
                  <a:lnTo>
                    <a:pt x="146304" y="6583680"/>
                  </a:lnTo>
                  <a:cubicBezTo>
                    <a:pt x="65532" y="6583680"/>
                    <a:pt x="0" y="6518148"/>
                    <a:pt x="0" y="6437376"/>
                  </a:cubicBezTo>
                  <a:close/>
                </a:path>
              </a:pathLst>
            </a:custGeom>
            <a:solidFill>
              <a:srgbClr val="F5F8FC"/>
            </a:solidFill>
          </p:spPr>
        </p:sp>
      </p:grpSp>
      <p:sp>
        <p:nvSpPr>
          <p:cNvPr id="29" name="TextBox 29"/>
          <p:cNvSpPr txBox="1"/>
          <p:nvPr/>
        </p:nvSpPr>
        <p:spPr>
          <a:xfrm>
            <a:off x="14442948" y="2075307"/>
            <a:ext cx="2811780" cy="295275"/>
          </a:xfrm>
          <a:prstGeom prst="rect">
            <a:avLst/>
          </a:prstGeom>
        </p:spPr>
        <p:txBody>
          <a:bodyPr lIns="0" tIns="0" rIns="0" bIns="0" rtlCol="0" anchor="t">
            <a:spAutoFit/>
          </a:bodyPr>
          <a:lstStyle/>
          <a:p>
            <a:pPr algn="l">
              <a:lnSpc>
                <a:spcPts val="2279"/>
              </a:lnSpc>
            </a:pPr>
            <a:r>
              <a:rPr lang="en-US" sz="1899" b="1">
                <a:solidFill>
                  <a:srgbClr val="2463E8"/>
                </a:solidFill>
                <a:latin typeface="Arial Bold"/>
                <a:ea typeface="Arial Bold"/>
                <a:cs typeface="Arial Bold"/>
                <a:sym typeface="Arial Bold"/>
              </a:rPr>
              <a:t>Customer segments</a:t>
            </a:r>
          </a:p>
        </p:txBody>
      </p:sp>
      <p:sp>
        <p:nvSpPr>
          <p:cNvPr id="30" name="TextBox 30"/>
          <p:cNvSpPr txBox="1"/>
          <p:nvPr/>
        </p:nvSpPr>
        <p:spPr>
          <a:xfrm>
            <a:off x="14442948" y="2508885"/>
            <a:ext cx="2811780" cy="1157669"/>
          </a:xfrm>
          <a:prstGeom prst="rect">
            <a:avLst/>
          </a:prstGeom>
        </p:spPr>
        <p:txBody>
          <a:bodyPr lIns="0" tIns="0" rIns="0" bIns="0" rtlCol="0" anchor="t">
            <a:spAutoFit/>
          </a:bodyPr>
          <a:lstStyle/>
          <a:p>
            <a:pPr algn="l">
              <a:lnSpc>
                <a:spcPts val="2299"/>
              </a:lnSpc>
            </a:pPr>
            <a:r>
              <a:rPr lang="en-US" sz="1824">
                <a:solidFill>
                  <a:srgbClr val="15243A"/>
                </a:solidFill>
                <a:latin typeface="Arial"/>
                <a:ea typeface="Arial"/>
                <a:cs typeface="Arial"/>
                <a:sym typeface="Arial"/>
              </a:rPr>
              <a:t>Facebook sellers</a:t>
            </a:r>
          </a:p>
          <a:p>
            <a:pPr algn="l">
              <a:lnSpc>
                <a:spcPts val="2299"/>
              </a:lnSpc>
            </a:pPr>
            <a:r>
              <a:rPr lang="en-US" sz="1824">
                <a:solidFill>
                  <a:srgbClr val="15243A"/>
                </a:solidFill>
                <a:latin typeface="Arial"/>
                <a:ea typeface="Arial"/>
                <a:cs typeface="Arial"/>
                <a:sym typeface="Arial"/>
              </a:rPr>
              <a:t>Small retail shops selling online and at a counter</a:t>
            </a:r>
          </a:p>
          <a:p>
            <a:pPr algn="l">
              <a:lnSpc>
                <a:spcPts val="2299"/>
              </a:lnSpc>
            </a:pPr>
            <a:r>
              <a:rPr lang="en-US" sz="1824">
                <a:solidFill>
                  <a:srgbClr val="15243A"/>
                </a:solidFill>
                <a:latin typeface="Arial"/>
                <a:ea typeface="Arial"/>
                <a:cs typeface="Arial"/>
                <a:sym typeface="Arial"/>
              </a:rPr>
              <a:t>Buyers in Cambodia</a:t>
            </a:r>
          </a:p>
        </p:txBody>
      </p:sp>
      <p:grpSp>
        <p:nvGrpSpPr>
          <p:cNvPr id="31" name="Group 31"/>
          <p:cNvGrpSpPr/>
          <p:nvPr/>
        </p:nvGrpSpPr>
        <p:grpSpPr>
          <a:xfrm>
            <a:off x="822960" y="6988302"/>
            <a:ext cx="8257032" cy="2194560"/>
            <a:chOff x="0" y="0"/>
            <a:chExt cx="11009376" cy="2926080"/>
          </a:xfrm>
        </p:grpSpPr>
        <p:sp>
          <p:nvSpPr>
            <p:cNvPr id="32" name="Freeform 32"/>
            <p:cNvSpPr/>
            <p:nvPr/>
          </p:nvSpPr>
          <p:spPr>
            <a:xfrm>
              <a:off x="0" y="0"/>
              <a:ext cx="11009376" cy="2926080"/>
            </a:xfrm>
            <a:custGeom>
              <a:avLst/>
              <a:gdLst/>
              <a:ahLst/>
              <a:cxnLst/>
              <a:rect l="l" t="t" r="r" b="b"/>
              <a:pathLst>
                <a:path w="11009376" h="2926080">
                  <a:moveTo>
                    <a:pt x="0" y="146304"/>
                  </a:moveTo>
                  <a:cubicBezTo>
                    <a:pt x="0" y="65532"/>
                    <a:pt x="65532" y="0"/>
                    <a:pt x="146304" y="0"/>
                  </a:cubicBezTo>
                  <a:lnTo>
                    <a:pt x="10863072" y="0"/>
                  </a:lnTo>
                  <a:cubicBezTo>
                    <a:pt x="10943844" y="0"/>
                    <a:pt x="11009376" y="65532"/>
                    <a:pt x="11009376" y="146304"/>
                  </a:cubicBezTo>
                  <a:lnTo>
                    <a:pt x="11009376" y="2779776"/>
                  </a:lnTo>
                  <a:cubicBezTo>
                    <a:pt x="11009376" y="2860548"/>
                    <a:pt x="10943844" y="2926080"/>
                    <a:pt x="10863072" y="2926080"/>
                  </a:cubicBezTo>
                  <a:lnTo>
                    <a:pt x="146304" y="2926080"/>
                  </a:lnTo>
                  <a:cubicBezTo>
                    <a:pt x="65532" y="2926080"/>
                    <a:pt x="0" y="2860548"/>
                    <a:pt x="0" y="2779776"/>
                  </a:cubicBezTo>
                  <a:close/>
                </a:path>
              </a:pathLst>
            </a:custGeom>
            <a:solidFill>
              <a:srgbClr val="F5F8FC"/>
            </a:solidFill>
          </p:spPr>
        </p:sp>
      </p:grpSp>
      <p:sp>
        <p:nvSpPr>
          <p:cNvPr id="33" name="TextBox 33"/>
          <p:cNvSpPr txBox="1"/>
          <p:nvPr/>
        </p:nvSpPr>
        <p:spPr>
          <a:xfrm>
            <a:off x="1028700" y="7143369"/>
            <a:ext cx="7845552" cy="295275"/>
          </a:xfrm>
          <a:prstGeom prst="rect">
            <a:avLst/>
          </a:prstGeom>
        </p:spPr>
        <p:txBody>
          <a:bodyPr lIns="0" tIns="0" rIns="0" bIns="0" rtlCol="0" anchor="t">
            <a:spAutoFit/>
          </a:bodyPr>
          <a:lstStyle/>
          <a:p>
            <a:pPr algn="l">
              <a:lnSpc>
                <a:spcPts val="2279"/>
              </a:lnSpc>
            </a:pPr>
            <a:r>
              <a:rPr lang="en-US" sz="1899" b="1">
                <a:solidFill>
                  <a:srgbClr val="2463E8"/>
                </a:solidFill>
                <a:latin typeface="Arial Bold"/>
                <a:ea typeface="Arial Bold"/>
                <a:cs typeface="Arial Bold"/>
                <a:sym typeface="Arial Bold"/>
              </a:rPr>
              <a:t>Cost structure</a:t>
            </a:r>
          </a:p>
        </p:txBody>
      </p:sp>
      <p:sp>
        <p:nvSpPr>
          <p:cNvPr id="34" name="TextBox 34"/>
          <p:cNvSpPr txBox="1"/>
          <p:nvPr/>
        </p:nvSpPr>
        <p:spPr>
          <a:xfrm>
            <a:off x="1028700" y="7576947"/>
            <a:ext cx="7845552" cy="586169"/>
          </a:xfrm>
          <a:prstGeom prst="rect">
            <a:avLst/>
          </a:prstGeom>
        </p:spPr>
        <p:txBody>
          <a:bodyPr lIns="0" tIns="0" rIns="0" bIns="0" rtlCol="0" anchor="t">
            <a:spAutoFit/>
          </a:bodyPr>
          <a:lstStyle/>
          <a:p>
            <a:pPr algn="l">
              <a:lnSpc>
                <a:spcPts val="2299"/>
              </a:lnSpc>
            </a:pPr>
            <a:r>
              <a:rPr lang="en-US" sz="1824">
                <a:solidFill>
                  <a:srgbClr val="15243A"/>
                </a:solidFill>
                <a:latin typeface="Arial"/>
                <a:ea typeface="Arial"/>
                <a:cs typeface="Arial"/>
                <a:sym typeface="Arial"/>
              </a:rPr>
              <a:t>Engineering and hosting · Seller onboarding and moderation · Buyer support · Sales and marketing</a:t>
            </a:r>
          </a:p>
        </p:txBody>
      </p:sp>
      <p:grpSp>
        <p:nvGrpSpPr>
          <p:cNvPr id="35" name="Group 35"/>
          <p:cNvGrpSpPr/>
          <p:nvPr/>
        </p:nvGrpSpPr>
        <p:grpSpPr>
          <a:xfrm>
            <a:off x="9210294" y="6988302"/>
            <a:ext cx="8250174" cy="2194560"/>
            <a:chOff x="0" y="0"/>
            <a:chExt cx="11000232" cy="2926080"/>
          </a:xfrm>
        </p:grpSpPr>
        <p:sp>
          <p:nvSpPr>
            <p:cNvPr id="36" name="Freeform 36"/>
            <p:cNvSpPr/>
            <p:nvPr/>
          </p:nvSpPr>
          <p:spPr>
            <a:xfrm>
              <a:off x="0" y="0"/>
              <a:ext cx="11000232" cy="2926080"/>
            </a:xfrm>
            <a:custGeom>
              <a:avLst/>
              <a:gdLst/>
              <a:ahLst/>
              <a:cxnLst/>
              <a:rect l="l" t="t" r="r" b="b"/>
              <a:pathLst>
                <a:path w="11000232" h="2926080">
                  <a:moveTo>
                    <a:pt x="0" y="146304"/>
                  </a:moveTo>
                  <a:cubicBezTo>
                    <a:pt x="0" y="65532"/>
                    <a:pt x="65532" y="0"/>
                    <a:pt x="146304" y="0"/>
                  </a:cubicBezTo>
                  <a:lnTo>
                    <a:pt x="10853928" y="0"/>
                  </a:lnTo>
                  <a:cubicBezTo>
                    <a:pt x="10934700" y="0"/>
                    <a:pt x="11000232" y="65532"/>
                    <a:pt x="11000232" y="146304"/>
                  </a:cubicBezTo>
                  <a:lnTo>
                    <a:pt x="11000232" y="2779776"/>
                  </a:lnTo>
                  <a:cubicBezTo>
                    <a:pt x="11000232" y="2860548"/>
                    <a:pt x="10934700" y="2926080"/>
                    <a:pt x="10853928" y="2926080"/>
                  </a:cubicBezTo>
                  <a:lnTo>
                    <a:pt x="146304" y="2926080"/>
                  </a:lnTo>
                  <a:cubicBezTo>
                    <a:pt x="65532" y="2926080"/>
                    <a:pt x="0" y="2860548"/>
                    <a:pt x="0" y="2779776"/>
                  </a:cubicBezTo>
                  <a:close/>
                </a:path>
              </a:pathLst>
            </a:custGeom>
            <a:solidFill>
              <a:srgbClr val="F5F8FC"/>
            </a:solidFill>
          </p:spPr>
        </p:sp>
      </p:grpSp>
      <p:sp>
        <p:nvSpPr>
          <p:cNvPr id="37" name="TextBox 37"/>
          <p:cNvSpPr txBox="1"/>
          <p:nvPr/>
        </p:nvSpPr>
        <p:spPr>
          <a:xfrm>
            <a:off x="9416034" y="7143369"/>
            <a:ext cx="7838694" cy="295275"/>
          </a:xfrm>
          <a:prstGeom prst="rect">
            <a:avLst/>
          </a:prstGeom>
        </p:spPr>
        <p:txBody>
          <a:bodyPr lIns="0" tIns="0" rIns="0" bIns="0" rtlCol="0" anchor="t">
            <a:spAutoFit/>
          </a:bodyPr>
          <a:lstStyle/>
          <a:p>
            <a:pPr algn="l">
              <a:lnSpc>
                <a:spcPts val="2279"/>
              </a:lnSpc>
            </a:pPr>
            <a:r>
              <a:rPr lang="en-US" sz="1899" b="1">
                <a:solidFill>
                  <a:srgbClr val="2463E8"/>
                </a:solidFill>
                <a:latin typeface="Arial Bold"/>
                <a:ea typeface="Arial Bold"/>
                <a:cs typeface="Arial Bold"/>
                <a:sym typeface="Arial Bold"/>
              </a:rPr>
              <a:t>Revenue streams</a:t>
            </a:r>
          </a:p>
        </p:txBody>
      </p:sp>
      <p:sp>
        <p:nvSpPr>
          <p:cNvPr id="38" name="TextBox 38"/>
          <p:cNvSpPr txBox="1"/>
          <p:nvPr/>
        </p:nvSpPr>
        <p:spPr>
          <a:xfrm>
            <a:off x="9416034" y="7576947"/>
            <a:ext cx="7838694" cy="871919"/>
          </a:xfrm>
          <a:prstGeom prst="rect">
            <a:avLst/>
          </a:prstGeom>
        </p:spPr>
        <p:txBody>
          <a:bodyPr lIns="0" tIns="0" rIns="0" bIns="0" rtlCol="0" anchor="t">
            <a:spAutoFit/>
          </a:bodyPr>
          <a:lstStyle/>
          <a:p>
            <a:pPr algn="l">
              <a:lnSpc>
                <a:spcPts val="2299"/>
              </a:lnSpc>
            </a:pPr>
            <a:r>
              <a:rPr lang="en-US" sz="1824">
                <a:solidFill>
                  <a:srgbClr val="15243A"/>
                </a:solidFill>
                <a:latin typeface="Arial"/>
                <a:ea typeface="Arial"/>
                <a:cs typeface="Arial"/>
                <a:sym typeface="Arial"/>
              </a:rPr>
              <a:t>Subscriptions: Free, Starter $5, Pro $10 per month (proposed)</a:t>
            </a:r>
          </a:p>
          <a:p>
            <a:pPr algn="l">
              <a:lnSpc>
                <a:spcPts val="2299"/>
              </a:lnSpc>
            </a:pPr>
            <a:r>
              <a:rPr lang="en-US" sz="1824">
                <a:solidFill>
                  <a:srgbClr val="15243A"/>
                </a:solidFill>
                <a:latin typeface="Arial"/>
                <a:ea typeface="Arial"/>
                <a:cs typeface="Arial"/>
                <a:sym typeface="Arial"/>
              </a:rPr>
              <a:t>Marketplace commission: proposed 3% on marketplace sales, from 2027; 0% on own storefront and POS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22960" y="588645"/>
            <a:ext cx="16596360" cy="1125855"/>
          </a:xfrm>
          <a:prstGeom prst="rect">
            <a:avLst/>
          </a:prstGeom>
        </p:spPr>
        <p:txBody>
          <a:bodyPr lIns="0" tIns="0" rIns="0" bIns="0" rtlCol="0" anchor="t">
            <a:spAutoFit/>
          </a:bodyPr>
          <a:lstStyle/>
          <a:p>
            <a:pPr algn="l">
              <a:lnSpc>
                <a:spcPts val="6120"/>
              </a:lnSpc>
            </a:pPr>
            <a:r>
              <a:rPr lang="en-US" sz="5100" b="1">
                <a:solidFill>
                  <a:srgbClr val="15243A"/>
                </a:solidFill>
                <a:latin typeface="Arial Bold"/>
                <a:ea typeface="Arial Bold"/>
                <a:cs typeface="Arial Bold"/>
                <a:sym typeface="Arial Bold"/>
              </a:rPr>
              <a:t>Cambodia delivery partner options</a:t>
            </a:r>
          </a:p>
        </p:txBody>
      </p:sp>
      <p:graphicFrame>
        <p:nvGraphicFramePr>
          <p:cNvPr id="3" name="Table 3"/>
          <p:cNvGraphicFramePr>
            <a:graphicFrameLocks noGrp="1"/>
          </p:cNvGraphicFramePr>
          <p:nvPr/>
        </p:nvGraphicFramePr>
        <p:xfrm>
          <a:off x="822960" y="2057400"/>
          <a:ext cx="16592550" cy="4476750"/>
        </p:xfrm>
        <a:graphic>
          <a:graphicData uri="http://schemas.openxmlformats.org/drawingml/2006/table">
            <a:tbl>
              <a:tblPr/>
              <a:tblGrid>
                <a:gridCol w="3838820">
                  <a:extLst>
                    <a:ext uri="{9D8B030D-6E8A-4147-A177-3AD203B41FA5}">
                      <a16:colId xmlns:a16="http://schemas.microsoft.com/office/drawing/2014/main" val="20000"/>
                    </a:ext>
                  </a:extLst>
                </a:gridCol>
                <a:gridCol w="6696672">
                  <a:extLst>
                    <a:ext uri="{9D8B030D-6E8A-4147-A177-3AD203B41FA5}">
                      <a16:colId xmlns:a16="http://schemas.microsoft.com/office/drawing/2014/main" val="20001"/>
                    </a:ext>
                  </a:extLst>
                </a:gridCol>
                <a:gridCol w="6057058">
                  <a:extLst>
                    <a:ext uri="{9D8B030D-6E8A-4147-A177-3AD203B41FA5}">
                      <a16:colId xmlns:a16="http://schemas.microsoft.com/office/drawing/2014/main" val="20002"/>
                    </a:ext>
                  </a:extLst>
                </a:gridCol>
              </a:tblGrid>
              <a:tr h="895350">
                <a:tc>
                  <a:txBody>
                    <a:bodyPr/>
                    <a:lstStyle/>
                    <a:p>
                      <a:pPr algn="l">
                        <a:lnSpc>
                          <a:spcPts val="2700"/>
                        </a:lnSpc>
                        <a:defRPr/>
                      </a:pPr>
                      <a:r>
                        <a:rPr lang="en-US" sz="2250" b="1">
                          <a:solidFill>
                            <a:srgbClr val="FFFFFF"/>
                          </a:solidFill>
                          <a:latin typeface="Arial Bold"/>
                          <a:ea typeface="Arial Bold"/>
                          <a:cs typeface="Arial Bold"/>
                          <a:sym typeface="Arial Bold"/>
                        </a:rPr>
                        <a:t>Carrier</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11D35"/>
                    </a:solidFill>
                  </a:tcPr>
                </a:tc>
                <a:tc>
                  <a:txBody>
                    <a:bodyPr/>
                    <a:lstStyle/>
                    <a:p>
                      <a:pPr algn="l">
                        <a:lnSpc>
                          <a:spcPts val="2700"/>
                        </a:lnSpc>
                        <a:defRPr/>
                      </a:pPr>
                      <a:r>
                        <a:rPr lang="en-US" sz="2250" b="1">
                          <a:solidFill>
                            <a:srgbClr val="FFFFFF"/>
                          </a:solidFill>
                          <a:latin typeface="Arial Bold"/>
                          <a:ea typeface="Arial Bold"/>
                          <a:cs typeface="Arial Bold"/>
                          <a:sym typeface="Arial Bold"/>
                        </a:rPr>
                        <a:t>Publicly described offer</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11D35"/>
                    </a:solidFill>
                  </a:tcPr>
                </a:tc>
                <a:tc>
                  <a:txBody>
                    <a:bodyPr/>
                    <a:lstStyle/>
                    <a:p>
                      <a:pPr algn="l">
                        <a:lnSpc>
                          <a:spcPts val="2700"/>
                        </a:lnSpc>
                        <a:defRPr/>
                      </a:pPr>
                      <a:r>
                        <a:rPr lang="en-US" sz="2250" b="1">
                          <a:solidFill>
                            <a:srgbClr val="FFFFFF"/>
                          </a:solidFill>
                          <a:latin typeface="Arial Bold"/>
                          <a:ea typeface="Arial Bold"/>
                          <a:cs typeface="Arial Bold"/>
                          <a:sym typeface="Arial Bold"/>
                        </a:rPr>
                        <a:t>Confirm before pilot</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11D35"/>
                    </a:solidFill>
                  </a:tcPr>
                </a:tc>
                <a:extLst>
                  <a:ext uri="{0D108BD9-81ED-4DB2-BD59-A6C34878D82A}">
                    <a16:rowId xmlns:a16="http://schemas.microsoft.com/office/drawing/2014/main" val="10000"/>
                  </a:ext>
                </a:extLst>
              </a:tr>
              <a:tr h="895350">
                <a:tc>
                  <a:txBody>
                    <a:bodyPr/>
                    <a:lstStyle/>
                    <a:p>
                      <a:pPr algn="l">
                        <a:lnSpc>
                          <a:spcPts val="2700"/>
                        </a:lnSpc>
                        <a:defRPr/>
                      </a:pPr>
                      <a:r>
                        <a:rPr lang="en-US" sz="2250">
                          <a:solidFill>
                            <a:srgbClr val="15243A"/>
                          </a:solidFill>
                          <a:latin typeface="Arial"/>
                          <a:ea typeface="Arial"/>
                          <a:cs typeface="Arial"/>
                          <a:sym typeface="Arial"/>
                        </a:rPr>
                        <a:t>Vireak Buntham</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700"/>
                        </a:lnSpc>
                        <a:defRPr/>
                      </a:pPr>
                      <a:r>
                        <a:rPr lang="en-US" sz="2250">
                          <a:solidFill>
                            <a:srgbClr val="15243A"/>
                          </a:solidFill>
                          <a:latin typeface="Arial"/>
                          <a:ea typeface="Arial"/>
                          <a:cs typeface="Arial"/>
                          <a:sym typeface="Arial"/>
                        </a:rPr>
                        <a:t>Parcels, tracking, COD, insurance</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700"/>
                        </a:lnSpc>
                        <a:defRPr/>
                      </a:pPr>
                      <a:r>
                        <a:rPr lang="en-US" sz="2250">
                          <a:solidFill>
                            <a:srgbClr val="15243A"/>
                          </a:solidFill>
                          <a:latin typeface="Arial"/>
                          <a:ea typeface="Arial"/>
                          <a:cs typeface="Arial"/>
                          <a:sym typeface="Arial"/>
                        </a:rPr>
                        <a:t>Routes, prices, remittance</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extLst>
                  <a:ext uri="{0D108BD9-81ED-4DB2-BD59-A6C34878D82A}">
                    <a16:rowId xmlns:a16="http://schemas.microsoft.com/office/drawing/2014/main" val="10001"/>
                  </a:ext>
                </a:extLst>
              </a:tr>
              <a:tr h="895350">
                <a:tc>
                  <a:txBody>
                    <a:bodyPr/>
                    <a:lstStyle/>
                    <a:p>
                      <a:pPr algn="l">
                        <a:lnSpc>
                          <a:spcPts val="2700"/>
                        </a:lnSpc>
                        <a:defRPr/>
                      </a:pPr>
                      <a:r>
                        <a:rPr lang="en-US" sz="2250">
                          <a:solidFill>
                            <a:srgbClr val="15243A"/>
                          </a:solidFill>
                          <a:latin typeface="Arial"/>
                          <a:ea typeface="Arial"/>
                          <a:cs typeface="Arial"/>
                          <a:sym typeface="Arial"/>
                        </a:rPr>
                        <a:t>J&amp;T Express</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700"/>
                        </a:lnSpc>
                        <a:defRPr/>
                      </a:pPr>
                      <a:r>
                        <a:rPr lang="en-US" sz="2250">
                          <a:solidFill>
                            <a:srgbClr val="15243A"/>
                          </a:solidFill>
                          <a:latin typeface="Arial"/>
                          <a:ea typeface="Arial"/>
                          <a:cs typeface="Arial"/>
                          <a:sym typeface="Arial"/>
                        </a:rPr>
                        <a:t>Cambodia parcel booking and tracking</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700"/>
                        </a:lnSpc>
                        <a:defRPr/>
                      </a:pPr>
                      <a:r>
                        <a:rPr lang="en-US" sz="2250">
                          <a:solidFill>
                            <a:srgbClr val="15243A"/>
                          </a:solidFill>
                          <a:latin typeface="Arial"/>
                          <a:ea typeface="Arial"/>
                          <a:cs typeface="Arial"/>
                          <a:sym typeface="Arial"/>
                        </a:rPr>
                        <a:t>Local COD, returns, insurance</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extLst>
                  <a:ext uri="{0D108BD9-81ED-4DB2-BD59-A6C34878D82A}">
                    <a16:rowId xmlns:a16="http://schemas.microsoft.com/office/drawing/2014/main" val="10002"/>
                  </a:ext>
                </a:extLst>
              </a:tr>
              <a:tr h="895350">
                <a:tc>
                  <a:txBody>
                    <a:bodyPr/>
                    <a:lstStyle/>
                    <a:p>
                      <a:pPr algn="l">
                        <a:lnSpc>
                          <a:spcPts val="2700"/>
                        </a:lnSpc>
                        <a:defRPr/>
                      </a:pPr>
                      <a:r>
                        <a:rPr lang="en-US" sz="2250">
                          <a:solidFill>
                            <a:srgbClr val="15243A"/>
                          </a:solidFill>
                          <a:latin typeface="Arial"/>
                          <a:ea typeface="Arial"/>
                          <a:cs typeface="Arial"/>
                          <a:sym typeface="Arial"/>
                        </a:rPr>
                        <a:t>ZTO Cambodia</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700"/>
                        </a:lnSpc>
                        <a:defRPr/>
                      </a:pPr>
                      <a:r>
                        <a:rPr lang="en-US" sz="2250">
                          <a:solidFill>
                            <a:srgbClr val="15243A"/>
                          </a:solidFill>
                          <a:latin typeface="Arial"/>
                          <a:ea typeface="Arial"/>
                          <a:cs typeface="Arial"/>
                          <a:sym typeface="Arial"/>
                        </a:rPr>
                        <a:t>Domestic parcels; business inquiry</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700"/>
                        </a:lnSpc>
                        <a:defRPr/>
                      </a:pPr>
                      <a:r>
                        <a:rPr lang="en-US" sz="2250">
                          <a:solidFill>
                            <a:srgbClr val="15243A"/>
                          </a:solidFill>
                          <a:latin typeface="Arial"/>
                          <a:ea typeface="Arial"/>
                          <a:cs typeface="Arial"/>
                          <a:sym typeface="Arial"/>
                        </a:rPr>
                        <a:t>Quotes, COD and data link</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extLst>
                  <a:ext uri="{0D108BD9-81ED-4DB2-BD59-A6C34878D82A}">
                    <a16:rowId xmlns:a16="http://schemas.microsoft.com/office/drawing/2014/main" val="10003"/>
                  </a:ext>
                </a:extLst>
              </a:tr>
              <a:tr h="895350">
                <a:tc>
                  <a:txBody>
                    <a:bodyPr/>
                    <a:lstStyle/>
                    <a:p>
                      <a:pPr algn="l">
                        <a:lnSpc>
                          <a:spcPts val="2700"/>
                        </a:lnSpc>
                        <a:defRPr/>
                      </a:pPr>
                      <a:r>
                        <a:rPr lang="en-US" sz="2250">
                          <a:solidFill>
                            <a:srgbClr val="15243A"/>
                          </a:solidFill>
                          <a:latin typeface="Arial"/>
                          <a:ea typeface="Arial"/>
                          <a:cs typeface="Arial"/>
                          <a:sym typeface="Arial"/>
                        </a:rPr>
                        <a:t>Grab for Business</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700"/>
                        </a:lnSpc>
                        <a:defRPr/>
                      </a:pPr>
                      <a:r>
                        <a:rPr lang="en-US" sz="2250">
                          <a:solidFill>
                            <a:srgbClr val="15243A"/>
                          </a:solidFill>
                          <a:latin typeface="Arial"/>
                          <a:ea typeface="Arial"/>
                          <a:cs typeface="Arial"/>
                          <a:sym typeface="Arial"/>
                        </a:rPr>
                        <a:t>Urban parcel booking and tracking</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l">
                        <a:lnSpc>
                          <a:spcPts val="2700"/>
                        </a:lnSpc>
                        <a:defRPr/>
                      </a:pPr>
                      <a:r>
                        <a:rPr lang="en-US" sz="2250">
                          <a:solidFill>
                            <a:srgbClr val="15243A"/>
                          </a:solidFill>
                          <a:latin typeface="Arial"/>
                          <a:ea typeface="Arial"/>
                          <a:cs typeface="Arial"/>
                          <a:sym typeface="Arial"/>
                        </a:rPr>
                        <a:t>Area, size limit and COD</a:t>
                      </a:r>
                      <a:endParaRPr lang="en-US" sz="1100"/>
                    </a:p>
                  </a:txBody>
                  <a:tcPr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TextBox 4"/>
          <p:cNvSpPr txBox="1"/>
          <p:nvPr/>
        </p:nvSpPr>
        <p:spPr>
          <a:xfrm>
            <a:off x="822960" y="9513570"/>
            <a:ext cx="15636240" cy="276225"/>
          </a:xfrm>
          <a:prstGeom prst="rect">
            <a:avLst/>
          </a:prstGeom>
        </p:spPr>
        <p:txBody>
          <a:bodyPr lIns="0" tIns="0" rIns="0" bIns="0" rtlCol="0" anchor="t">
            <a:spAutoFit/>
          </a:bodyPr>
          <a:lstStyle/>
          <a:p>
            <a:pPr algn="l">
              <a:lnSpc>
                <a:spcPts val="2039"/>
              </a:lnSpc>
            </a:pPr>
            <a:r>
              <a:rPr lang="en-US" sz="1699">
                <a:solidFill>
                  <a:srgbClr val="52637A"/>
                </a:solidFill>
                <a:latin typeface="Arial"/>
                <a:ea typeface="Arial"/>
                <a:cs typeface="Arial"/>
                <a:sym typeface="Arial"/>
              </a:rPr>
              <a:t>All candidates are prospective. Compare identical parcels; no carrier terms are signed.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2891</Words>
  <Application>Microsoft Office PowerPoint</Application>
  <PresentationFormat>Custom</PresentationFormat>
  <Paragraphs>476</Paragraphs>
  <Slides>20</Slides>
  <Notes>17</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 Bold</vt:lpstr>
      <vt:lpstr>Arial</vt:lpstr>
      <vt:lpstr>Segoe UI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Rentify_Uniprenuer</dc:title>
  <cp:lastModifiedBy>Kaze .</cp:lastModifiedBy>
  <cp:revision>3</cp:revision>
  <dcterms:created xsi:type="dcterms:W3CDTF">2006-08-16T00:00:00Z</dcterms:created>
  <dcterms:modified xsi:type="dcterms:W3CDTF">2026-09-25T19:40:01Z</dcterms:modified>
  <dc:identifier>DAHVhp-fb3I</dc:identifier>
</cp:coreProperties>
</file>