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31e384ffc14549" /><Relationship Type="http://schemas.openxmlformats.org/officeDocument/2006/relationships/extended-properties" Target="/docProps/app.xml" Id="R0074208921f0453b" /><Relationship Type="http://schemas.openxmlformats.org/officeDocument/2006/relationships/officeDocument" Target="/ppt/presentation.xml" Id="Re2eaf436bcfe46b7" /></Relationships>
</file>

<file path=ppt/presentation.xml><?xml version="1.0" encoding="utf-8"?>
<p:presentation xmlns:p="http://schemas.openxmlformats.org/presentationml/2006/main">
  <p:sldMasterIdLst>
    <p:sldMasterId xmlns:r="http://schemas.openxmlformats.org/officeDocument/2006/relationships" id="2147483648" r:id="R221b855eb00d419a"/>
  </p:sldMasterIdLst>
  <p:notesMasterIdLst>
    <p:notesMasterId xmlns:r="http://schemas.openxmlformats.org/officeDocument/2006/relationships" r:id="R5e599543a15f4e23"/>
  </p:notesMasterIdLst>
  <p:sldIdLst>
    <p:sldId xmlns:r="http://schemas.openxmlformats.org/officeDocument/2006/relationships" id="256" r:id="R0322a15756cd42d7"/>
    <p:sldId xmlns:r="http://schemas.openxmlformats.org/officeDocument/2006/relationships" id="257" r:id="Rcfc67681655c4aaa"/>
    <p:sldId xmlns:r="http://schemas.openxmlformats.org/officeDocument/2006/relationships" id="258" r:id="R88f69fa9527b4ec1"/>
    <p:sldId xmlns:r="http://schemas.openxmlformats.org/officeDocument/2006/relationships" id="259" r:id="R1e4224158a834acf"/>
    <p:sldId xmlns:r="http://schemas.openxmlformats.org/officeDocument/2006/relationships" id="260" r:id="Rb86f7e12748c48cf"/>
    <p:sldId xmlns:r="http://schemas.openxmlformats.org/officeDocument/2006/relationships" id="261" r:id="Rc275a895a3624999"/>
    <p:sldId xmlns:r="http://schemas.openxmlformats.org/officeDocument/2006/relationships" id="262" r:id="Ree14b66682c643f5"/>
    <p:sldId xmlns:r="http://schemas.openxmlformats.org/officeDocument/2006/relationships" id="263" r:id="Rc7be00dc8dcc4e96"/>
    <p:sldId xmlns:r="http://schemas.openxmlformats.org/officeDocument/2006/relationships" id="264" r:id="R0ef9247c93744036"/>
    <p:sldId xmlns:r="http://schemas.openxmlformats.org/officeDocument/2006/relationships" id="265" r:id="R8a894111e72f4886"/>
    <p:sldId xmlns:r="http://schemas.openxmlformats.org/officeDocument/2006/relationships" id="266" r:id="Rec0de0a4dca54987"/>
    <p:sldId xmlns:r="http://schemas.openxmlformats.org/officeDocument/2006/relationships" id="267" r:id="Rfe5131bcbbd24880"/>
    <p:sldId xmlns:r="http://schemas.openxmlformats.org/officeDocument/2006/relationships" id="268" r:id="R3d6d3b88183f46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cbedbb306e4fb4" /><Relationship Type="http://schemas.openxmlformats.org/officeDocument/2006/relationships/slideMaster" Target="/ppt/slideMasters/slideMaster1.xml" Id="R221b855eb00d419a" /><Relationship Type="http://schemas.openxmlformats.org/officeDocument/2006/relationships/notesMaster" Target="/ppt/notesMasters/notesMaster1.xml" Id="R5e599543a15f4e23" /><Relationship Type="http://schemas.openxmlformats.org/officeDocument/2006/relationships/presProps" Target="/ppt/presProps.xml" Id="Rcbf9898a02b44396" /><Relationship Type="http://schemas.openxmlformats.org/officeDocument/2006/relationships/tableStyles" Target="/ppt/tableStyles.xml" Id="R46ba12fe1bc049a2" /><Relationship Type="http://schemas.openxmlformats.org/officeDocument/2006/relationships/slide" Target="/ppt/slides/slide1.xml" Id="R0322a15756cd42d7" /><Relationship Type="http://schemas.openxmlformats.org/officeDocument/2006/relationships/slide" Target="/ppt/slides/slide2.xml" Id="Rcfc67681655c4aaa" /><Relationship Type="http://schemas.openxmlformats.org/officeDocument/2006/relationships/slide" Target="/ppt/slides/slide3.xml" Id="R88f69fa9527b4ec1" /><Relationship Type="http://schemas.openxmlformats.org/officeDocument/2006/relationships/slide" Target="/ppt/slides/slide4.xml" Id="R1e4224158a834acf" /><Relationship Type="http://schemas.openxmlformats.org/officeDocument/2006/relationships/slide" Target="/ppt/slides/slide5.xml" Id="Rb86f7e12748c48cf" /><Relationship Type="http://schemas.openxmlformats.org/officeDocument/2006/relationships/slide" Target="/ppt/slides/slide6.xml" Id="Rc275a895a3624999" /><Relationship Type="http://schemas.openxmlformats.org/officeDocument/2006/relationships/slide" Target="/ppt/slides/slide7.xml" Id="Ree14b66682c643f5" /><Relationship Type="http://schemas.openxmlformats.org/officeDocument/2006/relationships/slide" Target="/ppt/slides/slide8.xml" Id="Rc7be00dc8dcc4e96" /><Relationship Type="http://schemas.openxmlformats.org/officeDocument/2006/relationships/slide" Target="/ppt/slides/slide9.xml" Id="R0ef9247c93744036" /><Relationship Type="http://schemas.openxmlformats.org/officeDocument/2006/relationships/slide" Target="/ppt/slides/slide10.xml" Id="R8a894111e72f4886" /><Relationship Type="http://schemas.openxmlformats.org/officeDocument/2006/relationships/slide" Target="/ppt/slides/slide11.xml" Id="Rec0de0a4dca54987" /><Relationship Type="http://schemas.openxmlformats.org/officeDocument/2006/relationships/slide" Target="/ppt/slides/slide12.xml" Id="Rfe5131bcbbd24880" /><Relationship Type="http://schemas.openxmlformats.org/officeDocument/2006/relationships/slide" Target="/ppt/slides/slide13.xml" Id="R3d6d3b88183f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535e964e8a4e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34a5620b1549cf" /><Relationship Type="http://schemas.openxmlformats.org/officeDocument/2006/relationships/notesMaster" Target="/ppt/notesMasters/notesMaster1.xml" Id="Rccdc2e7472ce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9198fd9a594a67" /><Relationship Type="http://schemas.openxmlformats.org/officeDocument/2006/relationships/notesMaster" Target="/ppt/notesMasters/notesMaster1.xml" Id="R191ad1f40e6949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0dc298f5284f68" /><Relationship Type="http://schemas.openxmlformats.org/officeDocument/2006/relationships/notesMaster" Target="/ppt/notesMasters/notesMaster1.xml" Id="Rd931c46c3b764a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c421c81e7d4bc2" /><Relationship Type="http://schemas.openxmlformats.org/officeDocument/2006/relationships/notesMaster" Target="/ppt/notesMasters/notesMaster1.xml" Id="R74a6e318c3784b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83bfd3d4944c1b" /><Relationship Type="http://schemas.openxmlformats.org/officeDocument/2006/relationships/notesMaster" Target="/ppt/notesMasters/notesMaster1.xml" Id="Rced50e95087941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a3e17acd9d4d32" /><Relationship Type="http://schemas.openxmlformats.org/officeDocument/2006/relationships/notesMaster" Target="/ppt/notesMasters/notesMaster1.xml" Id="Rf51e7296e08e48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709d2d236d4e1e" /><Relationship Type="http://schemas.openxmlformats.org/officeDocument/2006/relationships/notesMaster" Target="/ppt/notesMasters/notesMaster1.xml" Id="R5de1e366ae3d4b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29eddcb6034101" /><Relationship Type="http://schemas.openxmlformats.org/officeDocument/2006/relationships/notesMaster" Target="/ppt/notesMasters/notesMaster1.xml" Id="R6297f0db7e7a48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f8289e9124b05" /><Relationship Type="http://schemas.openxmlformats.org/officeDocument/2006/relationships/notesMaster" Target="/ppt/notesMasters/notesMaster1.xml" Id="R47a8480ddf4d42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2c1ff52ce24d3c" /><Relationship Type="http://schemas.openxmlformats.org/officeDocument/2006/relationships/notesMaster" Target="/ppt/notesMasters/notesMaster1.xml" Id="R8994b8cd8afb4c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6e8eba13954dd0" /><Relationship Type="http://schemas.openxmlformats.org/officeDocument/2006/relationships/notesMaster" Target="/ppt/notesMasters/notesMaster1.xml" Id="Ra23c56fc3c3141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cee9391058407e" /><Relationship Type="http://schemas.openxmlformats.org/officeDocument/2006/relationships/notesMaster" Target="/ppt/notesMasters/notesMaster1.xml" Id="R905a1b229df348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f8682bdf2b49b7" /><Relationship Type="http://schemas.openxmlformats.org/officeDocument/2006/relationships/notesMaster" Target="/ppt/notesMasters/notesMaster1.xml" Id="Rb760dbdb8e2446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20 seconds</a:t>
            </a:r>
          </a:p>
          <a:p xmlns:a="http://schemas.openxmlformats.org/drawingml/2006/main">
            <a:r>
              <a:t/>
            </a:r>
          </a:p>
          <a:p xmlns:a="http://schemas.openxmlformats.org/drawingml/2006/main">
            <a:r>
              <a:t>SAY</a:t>
            </a:r>
          </a:p>
          <a:p xmlns:a="http://schemas.openxmlformats.org/drawingml/2006/main">
            <a:r>
              <a:t>Rentify gives Cambodian merchants one place to manage their selling, with three ways to reach customers: their own storefront, our shared marketplace, and a point of sale at the counter. One catalog connects the business behind all three.</a:t>
            </a:r>
          </a:p>
          <a:p xmlns:a="http://schemas.openxmlformats.org/drawingml/2006/main">
            <a:r>
              <a:t/>
            </a:r>
          </a:p>
          <a:p xmlns:a="http://schemas.openxmlformats.org/drawingml/2006/main">
            <a:r>
              <a:t>EVIDENCE AND Q&amp;A</a:t>
            </a:r>
          </a:p>
          <a:p xmlns:a="http://schemas.openxmlformats.org/drawingml/2006/main">
            <a:r>
              <a:t>Full product direction confirmed by the user. Do not imply that all shared transaction behavior is production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35 seconds</a:t>
            </a:r>
          </a:p>
          <a:p xmlns:a="http://schemas.openxmlformats.org/drawingml/2006/main">
            <a:r>
              <a:t/>
            </a:r>
          </a:p>
          <a:p xmlns:a="http://schemas.openxmlformats.org/drawingml/2006/main">
            <a:r>
              <a:t>SAY</a:t>
            </a:r>
          </a:p>
          <a:p xmlns:a="http://schemas.openxmlformats.org/drawingml/2006/main">
            <a:r>
              <a:t>Imagine a small shop that also sells online. The last item sells at the counter, but the online listing still says it is available. Now the owner has to update stock, find the order, and explain the mistake to a customer. This is the problem we want to solve: selling in more places should not mean maintaining more separate records. We will test how often this happens with our first merchant pilots.</a:t>
            </a:r>
          </a:p>
          <a:p xmlns:a="http://schemas.openxmlformats.org/drawingml/2006/main">
            <a:r>
              <a:t/>
            </a:r>
          </a:p>
          <a:p xmlns:a="http://schemas.openxmlformats.org/drawingml/2006/main">
            <a:r>
              <a:t>EVIDENCE AND Q&amp;A</a:t>
            </a:r>
          </a:p>
          <a:p xmlns:a="http://schemas.openxmlformats.org/drawingml/2006/main">
            <a:r>
              <a:t>Illustrative scenario. The shopkeeper image is AI-generated, not an interviewed merchant. No interviews or measured problem frequency are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40 seconds</a:t>
            </a:r>
          </a:p>
          <a:p xmlns:a="http://schemas.openxmlformats.org/drawingml/2006/main">
            <a:r>
              <a:t/>
            </a:r>
          </a:p>
          <a:p xmlns:a="http://schemas.openxmlformats.org/drawingml/2006/main">
            <a:r>
              <a:t>SAY</a:t>
            </a:r>
          </a:p>
          <a:p xmlns:a="http://schemas.openxmlformats.org/drawingml/2006/main">
            <a:r>
              <a:t>Our full product puts the merchant at the center. They manage products, prices, stock, and orders once. Their personal storefront carries their brand. The shared marketplace gives buyers a place to discover different stores. The POS handles sales in the physical shop. The intended result is simple: when an item sells in one channel, its availability changes across the others. A merchant can begin with the marketplace and add a storefront as their business grows.</a:t>
            </a:r>
          </a:p>
          <a:p xmlns:a="http://schemas.openxmlformats.org/drawingml/2006/main">
            <a:r>
              <a:t/>
            </a:r>
          </a:p>
          <a:p xmlns:a="http://schemas.openxmlformats.org/drawingml/2006/main">
            <a:r>
              <a:t>EVIDENCE AND Q&amp;A</a:t>
            </a:r>
          </a:p>
          <a:p xmlns:a="http://schemas.openxmlformats.org/drawingml/2006/main">
            <a:r>
              <a:t>Target product workflow. Marketplace-only stores and optional storefronts follow docs/platform-architecture.md. Cross-channel stock behavior remains a release validation task. Sources: C:/Users/User/rentify/README.md; C:/Users/User/rentify/docs/migration-plan.md.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35 seconds</a:t>
            </a:r>
          </a:p>
          <a:p xmlns:a="http://schemas.openxmlformats.org/drawingml/2006/main">
            <a:r>
              <a:t/>
            </a:r>
          </a:p>
          <a:p xmlns:a="http://schemas.openxmlformats.org/drawingml/2006/main">
            <a:r>
              <a:t>SAY</a:t>
            </a:r>
          </a:p>
          <a:p xmlns:a="http://schemas.openxmlformats.org/drawingml/2006/main">
            <a:r>
              <a:t>Here are the three interfaces. On the left is a merchant storefront. In the middle is Rentify Marketplace, where buyers can browse across sellers. On the right is our POS product preview, showing products, a cart, and a customer display. We have development interfaces running today. The next product milestone is to demonstrate a complete sale with consistent stock across all three channels.</a:t>
            </a:r>
          </a:p>
          <a:p xmlns:a="http://schemas.openxmlformats.org/drawingml/2006/main">
            <a:r>
              <a:t/>
            </a:r>
          </a:p>
          <a:p xmlns:a="http://schemas.openxmlformats.org/drawingml/2006/main">
            <a:r>
              <a:t>EVIDENCE AND Q&amp;A</a:t>
            </a:r>
          </a:p>
          <a:p xmlns:a="http://schemas.openxmlformats.org/drawingml/2006/main">
            <a:r>
              <a:t>Storefront: local NexTech template at http://localhost:4600/. Marketplace: user-provided screenshot of http://localhost:4500/. POS: user-selected image from marketing site http://localhost:4200/; this is a product preview. Actual POS route is http://localhost:4400/pos. Prior browser review added a seeded product to a temporary POS cart; no sale was submitted. The hosted storefront product section was empty during that review. Do not claim that these images prove stock synchronization.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25 seconds</a:t>
            </a:r>
          </a:p>
          <a:p xmlns:a="http://schemas.openxmlformats.org/drawingml/2006/main">
            <a:r>
              <a:t/>
            </a:r>
          </a:p>
          <a:p xmlns:a="http://schemas.openxmlformats.org/drawingml/2006/main">
            <a:r>
              <a:t>SAY</a:t>
            </a:r>
          </a:p>
          <a:p xmlns:a="http://schemas.openxmlformats.org/drawingml/2006/main">
            <a:r>
              <a:t>We will start with small Cambodian retailers who sell both online and at a physical counter. They already have customers and a stock management task we can observe. Cambodia's e-commerce market was reported at 1.51 billion US dollars in 2024. That gives us market context; our first practical target is ten suitable retailers.</a:t>
            </a:r>
          </a:p>
          <a:p xmlns:a="http://schemas.openxmlformats.org/drawingml/2006/main">
            <a:r>
              <a:t/>
            </a:r>
          </a:p>
          <a:p xmlns:a="http://schemas.openxmlformats.org/drawingml/2006/main">
            <a:r>
              <a:t>EVIDENCE AND Q&amp;A</a:t>
            </a:r>
          </a:p>
          <a:p xmlns:a="http://schemas.openxmlformats.org/drawingml/2006/main">
            <a:r>
              <a:t>US$1.51B is reported 2024 Cambodian e-commerce market value, not Rentify revenue or TAM. Source: https://s2.moc.gov.kh/mocspace/mocspace_1744030861626.pdf ; corroborated 24 September 2026 at https://www.trade.gov/country-commercial-guides/cambodia-ecommerce . First 10 retailers is a proposed pilot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35 seconds</a:t>
            </a:r>
          </a:p>
          <a:p xmlns:a="http://schemas.openxmlformats.org/drawingml/2006/main">
            <a:r>
              <a:t/>
            </a:r>
          </a:p>
          <a:p xmlns:a="http://schemas.openxmlformats.org/drawingml/2006/main">
            <a:r>
              <a:t>SAY</a:t>
            </a:r>
          </a:p>
          <a:p xmlns:a="http://schemas.openxmlformats.org/drawingml/2006/main">
            <a:r>
              <a:t>Merchants already have alternatives. Khmer24 offers broad product discovery. Shopify connects online stores with POS. Khmum combines a local marketplace with merchant tools and POS. Rentify's focus is the small Cambodian retailer who wants their own brand, shared buyer discovery, and counter sales in one workflow. We will compare how much work it takes to set up and operate, how reliably stock updates, and what the merchant pays.</a:t>
            </a:r>
          </a:p>
          <a:p xmlns:a="http://schemas.openxmlformats.org/drawingml/2006/main">
            <a:r>
              <a:t/>
            </a:r>
          </a:p>
          <a:p xmlns:a="http://schemas.openxmlformats.org/drawingml/2006/main">
            <a:r>
              <a:t>EVIDENCE AND Q&amp;A</a:t>
            </a:r>
          </a:p>
          <a:p xmlns:a="http://schemas.openxmlformats.org/drawingml/2006/main">
            <a:r>
              <a:t>Public descriptions checked 24 September 2026. Sources: https://www.khmer24.com/en ; https://www.shopify.com/pos ; https://www.khmersme.gov.kh/service_provider/khmum-technology-co-ltd/ . Khmum has overlapping capabilities. No first/only/cheapest/best claim or measured advantage is supported.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30 seconds</a:t>
            </a:r>
          </a:p>
          <a:p xmlns:a="http://schemas.openxmlformats.org/drawingml/2006/main">
            <a:r>
              <a:t/>
            </a:r>
          </a:p>
          <a:p xmlns:a="http://schemas.openxmlformats.org/drawingml/2006/main">
            <a:r>
              <a:t>SAY</a:t>
            </a:r>
          </a:p>
          <a:p xmlns:a="http://schemas.openxmlformats.org/drawingml/2006/main">
            <a:r>
              <a:t>Our business model follows the value we provide. Merchants subscribe to their personal storefront and POS tools. Rentify also earns a commission on completed orders through the shared marketplace. One stream supports daily operations; the other grows with marketplace sales. We will test prices and commission rates with merchants and against our support and payment costs before setting them.</a:t>
            </a:r>
          </a:p>
          <a:p xmlns:a="http://schemas.openxmlformats.org/drawingml/2006/main">
            <a:r>
              <a:t/>
            </a:r>
          </a:p>
          <a:p xmlns:a="http://schemas.openxmlformats.org/drawingml/2006/main">
            <a:r>
              <a:t>EVIDENCE AND Q&amp;A</a:t>
            </a:r>
          </a:p>
          <a:p xmlns:a="http://schemas.openxmlformats.org/drawingml/2006/main">
            <a:r>
              <a:t>User's final business model is storefront/POS subscription plus marketplace commission. Pricing, rates, settlement, refund treatment and marketplace-only entitlements remain open. The repository's initial COD policy is not the intended final business model. Conversation.md is historical context, not a source of approved numerical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40 seconds</a:t>
            </a:r>
          </a:p>
          <a:p xmlns:a="http://schemas.openxmlformats.org/drawingml/2006/main">
            <a:r>
              <a:t/>
            </a:r>
          </a:p>
          <a:p xmlns:a="http://schemas.openxmlformats.org/drawingml/2006/main">
            <a:r>
              <a:t>SAY</a:t>
            </a:r>
          </a:p>
          <a:p xmlns:a="http://schemas.openxmlformats.org/drawingml/2006/main">
            <a:r>
              <a:t>We will recruit the first ten retailers through shop visits and merchant referrals. We will help them set up their catalog and invite their existing customers through store links and social posts. This gives us a way to test both merchant adoption and buyer orders before spending heavily on advertising. We will measure setup time, stock accuracy, completed orders, repeat use, and willingness to pay. These are our planned pilots; we have no verified customer traction yet.</a:t>
            </a:r>
          </a:p>
          <a:p xmlns:a="http://schemas.openxmlformats.org/drawingml/2006/main">
            <a:r>
              <a:t/>
            </a:r>
          </a:p>
          <a:p xmlns:a="http://schemas.openxmlformats.org/drawingml/2006/main">
            <a:r>
              <a:t>EVIDENCE AND Q&amp;A</a:t>
            </a:r>
          </a:p>
          <a:p xmlns:a="http://schemas.openxmlformats.org/drawingml/2006/main">
            <a:r>
              <a:t>Proposed acquisition experiment, not traction. No paid customers, merchant interviews, pilots, or revenue are verified. Merchant-shared links and social posts are suggested first buyer channels. Workshop source: Discuss..pdf, pages 2-3. Measure direct-store and marketplace orders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25 seconds</a:t>
            </a:r>
          </a:p>
          <a:p xmlns:a="http://schemas.openxmlformats.org/drawingml/2006/main">
            <a:r>
              <a:t/>
            </a:r>
          </a:p>
          <a:p xmlns:a="http://schemas.openxmlformats.org/drawingml/2006/main">
            <a:r>
              <a:t>SAY</a:t>
            </a:r>
          </a:p>
          <a:p xmlns:a="http://schemas.openxmlformats.org/drawingml/2006/main">
            <a:r>
              <a:t>Our five-person team covers product development, business outreach, presenting, and operations. Through UniPreneur, we are asking for introductions to ten retailers who sell online and in person. We want to help them keep their brand, reach more buyers, and run their sales from one place. That is Rentify: one catalog, three ways to sell.</a:t>
            </a:r>
          </a:p>
          <a:p xmlns:a="http://schemas.openxmlformats.org/drawingml/2006/main">
            <a:r>
              <a:t/>
            </a:r>
          </a:p>
          <a:p xmlns:a="http://schemas.openxmlformats.org/drawingml/2006/main">
            <a:r>
              <a:t>EVIDENCE AND Q&amp;A</a:t>
            </a:r>
          </a:p>
          <a:p xmlns:a="http://schemas.openxmlformats.org/drawingml/2006/main">
            <a:r>
              <a:t>Five team names and roles confirmed by the user. Long Mengchheng is Team Lead with product responsibilities; Hong Thanbrathna is Idea Founder with R&amp;D support; Khemrak Pasey is Business Lead; Mom Sothireak is Pitch Lead; Vy Seoul supports R&amp;D and team operations. Source: Rentify_Uniprenuer.pdf page 13. The introductions ask is a recommendation, not a funding request or existing partnership. Stop the timed pitch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market size. The 2024 US$1.51B figure is transaction market context, not software TAM. Annual revenue opportunity = eligible subscribing merchants × annual subscription price + relevant annual completed marketplace order value × take rate. Narrow the same definition consistently for SAM and SOM. Do not multiply all businesses by a guessed price. The 2022 census counted 753,670 establishments across all sectors, broader than our target. Source: https://nis.gov.kh/nis/EC2022/Leaflet.pdf . The workshop Discuss..pdf page 3 asks for bottom-up sizing. Merchant count, launch geography, attainable conversion, retention and pricing are still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uniqueness. We do not claim to be the first or only platform in these categories. Khmum is the closest local benchmark among the sources reviewed. Public descriptions do not establish current service quality, exact prices or absent features. Sources checked 24 September 2026: https://www.khmer24.com/en ; https://www.shopify.com/pos ; https://www.khmersme.gov.kh/service_provider/khmum-technology-co-ltd/ ; https://h5.khsmileshop.com/ . Test the same merchant tasks and cost assumptions before claiming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revenue mechanics. Illustrative arithmetic only: 100 average paying subscribers × US$8 per month = US$800. US$20,000 of eligible completed marketplace order value after cancellations/refunds × 3% = US$600. Total US$1,400 monthly platform revenue before costs and taxes. GMV belongs to merchants and is not Rentify revenue. Inputs are invented sensitivity assumptions, not actual traction, validated prices, or a projection. Profit requires actual payment and support costs, hosting, acquisition and staffing. The workshop requests a three-year plan; build each year from average paid merchants, retention, annual GMV and costs before calling it a forecast. Avoid annualizing a year-end merchant count as if all merchants paid for all twelve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current status. No verified merchant traction or revenue. Local development surfaces and Commerce modules exist. Opening a screen or adding an item to a cart does not prove a completed sale, live payment or correct inventory across every channel. The storefront product section was empty in the prior local review. The user selected the polished POS image displayed on the marketing page. Do not imply a bank partnership or live settlement. Sources: C:/Users/User/rentify/README.md; C:/Users/User/rentify/docs/migration-plan.md; browser observations documented in docs/demo-runbook.md. Current architecture snapshot predates later migration progress, so current README and migration status take precedence for this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9a5ac3eec844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c43d649e0e4bfb" /><Relationship Type="http://schemas.openxmlformats.org/officeDocument/2006/relationships/slideLayout" Target="/ppt/slideLayouts/slideLayout1.xml" Id="R33d994347a6843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d994347a6843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361d7c98ac4fa2" /><Relationship Type="http://schemas.openxmlformats.org/officeDocument/2006/relationships/image" Target="/ppt/media/image.png" Id="Ra9d3bbff4bd74cd0" /><Relationship Type="http://schemas.openxmlformats.org/officeDocument/2006/relationships/notesSlide" Target="/ppt/notesSlides/notesSlide1.xml" Id="R2d71526cb77144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0ffba87ead47c5" /><Relationship Type="http://schemas.openxmlformats.org/officeDocument/2006/relationships/image" Target="/ppt/media/image2.png" Id="Rc443654712254192" /><Relationship Type="http://schemas.openxmlformats.org/officeDocument/2006/relationships/notesSlide" Target="/ppt/notesSlides/notesSlide2.xml" Id="Rfcf27ad348574a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cdb22ff7ed48ac" /><Relationship Type="http://schemas.openxmlformats.org/officeDocument/2006/relationships/notesSlide" Target="/ppt/notesSlides/notesSlide3.xml" Id="R27b4fa8a648a45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7ca155a2d64acf" /><Relationship Type="http://schemas.openxmlformats.org/officeDocument/2006/relationships/image" Target="/ppt/media/image3.png" Id="Rf002997848b44787" /><Relationship Type="http://schemas.openxmlformats.org/officeDocument/2006/relationships/image" Target="/ppt/media/image4.png" Id="Rb60c81dbdaab4a41" /><Relationship Type="http://schemas.openxmlformats.org/officeDocument/2006/relationships/image" Target="/ppt/media/image5.png" Id="R999cf52293144799" /><Relationship Type="http://schemas.openxmlformats.org/officeDocument/2006/relationships/notesSlide" Target="/ppt/notesSlides/notesSlide4.xml" Id="Rb4e13f05a2ab4f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13ee88cded4143" /><Relationship Type="http://schemas.openxmlformats.org/officeDocument/2006/relationships/notesSlide" Target="/ppt/notesSlides/notesSlide5.xml" Id="R7d4799cb07f149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aa7f38b5d74873" /><Relationship Type="http://schemas.openxmlformats.org/officeDocument/2006/relationships/notesSlide" Target="/ppt/notesSlides/notesSlide6.xml" Id="R60cd205ee3a342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97abf4174e4d66" /><Relationship Type="http://schemas.openxmlformats.org/officeDocument/2006/relationships/notesSlide" Target="/ppt/notesSlides/notesSlide7.xml" Id="Rd8798c3411754a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e15290454a443c" /><Relationship Type="http://schemas.openxmlformats.org/officeDocument/2006/relationships/notesSlide" Target="/ppt/notesSlides/notesSlide8.xml" Id="R7f6ca695d30847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caea8b49b24623" /><Relationship Type="http://schemas.openxmlformats.org/officeDocument/2006/relationships/image" Target="/ppt/media/image6.png" Id="R72a0c969f69e41c9" /><Relationship Type="http://schemas.openxmlformats.org/officeDocument/2006/relationships/image" Target="/ppt/media/image7.png" Id="R6033f15e7136404d" /><Relationship Type="http://schemas.openxmlformats.org/officeDocument/2006/relationships/image" Target="/ppt/media/image8.png" Id="R555028e479a2406a" /><Relationship Type="http://schemas.openxmlformats.org/officeDocument/2006/relationships/image" Target="/ppt/media/image9.png" Id="R8a17ea894a114a5e" /><Relationship Type="http://schemas.openxmlformats.org/officeDocument/2006/relationships/image" Target="/ppt/media/image10.png" Id="R5e345a91f6c841c4" /><Relationship Type="http://schemas.openxmlformats.org/officeDocument/2006/relationships/notesSlide" Target="/ppt/notesSlides/notesSlide9.xml" Id="R0bc046f5aea74b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3810bb81604d9f" /><Relationship Type="http://schemas.openxmlformats.org/officeDocument/2006/relationships/notesSlide" Target="/ppt/notesSlides/notesSlide10.xml" Id="R3259b31004cc4e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bbaab78bd640df" /><Relationship Type="http://schemas.openxmlformats.org/officeDocument/2006/relationships/notesSlide" Target="/ppt/notesSlides/notesSlide11.xml" Id="R714e7e6b053347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775b504bde4655" /><Relationship Type="http://schemas.openxmlformats.org/officeDocument/2006/relationships/notesSlide" Target="/ppt/notesSlides/notesSlide12.xml" Id="Rc75d6d19f0e94f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78cec08ee8d4280" /><Relationship Type="http://schemas.openxmlformats.org/officeDocument/2006/relationships/notesSlide" Target="/ppt/notesSlides/notesSlide13.xml" Id="Rdd6f0ba258de448c" /></Relationships>
</file>

<file path=ppt/slides/slide1.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d3bbff4bd74cd0"/>
          <a:srcRect xmlns:a="http://schemas.openxmlformats.org/drawingml/2006/main" l="0" t="0" r="0" b="0"/>
          <a:stretch xmlns:a="http://schemas.openxmlformats.org/drawingml/2006/main">
            <a:fillRect l="0" t="0" r="0" b="0"/>
          </a:stretch>
        </p:blipFill>
        <p:spPr>
          <a:xfrm xmlns:a="http://schemas.openxmlformats.org/drawingml/2006/main">
            <a:off x="723900" y="647700"/>
            <a:ext cx="876300" cy="876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0BD586-6DD9-4821-A37B-962EAF9F07AE}"/>
              </a:ext>
            </a:extLst>
          </p:cNvPr>
          <p:cNvSpPr>
            <a:spLocks xmlns:a="http://schemas.openxmlformats.org/drawingml/2006/main" noGrp="1"/>
          </p:cNvSpPr>
          <p:nvPr/>
        </p:nvSpPr>
        <p:spPr>
          <a:xfrm xmlns:a="http://schemas.openxmlformats.org/drawingml/2006/main">
            <a:off x="1809750" y="800100"/>
            <a:ext cx="5715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Rentify</a:t>
            </a:r>
          </a:p>
        </p:txBody>
      </p:sp>
      <p:sp>
        <p:nvSpPr>
          <p:cNvPr id="3" name="">
            <a:extLst xmlns:a="http://schemas.openxmlformats.org/drawingml/2006/main">
              <a:ext uri="{FF2B5EF4-FFF2-40B4-BE49-F238E27FC236}">
                <a16:creationId xmlns:a16="http://schemas.microsoft.com/office/drawing/2014/main" id="{EFC426B7-77EB-4C3F-B183-D396531D467E}"/>
              </a:ext>
            </a:extLst>
          </p:cNvPr>
          <p:cNvSpPr>
            <a:spLocks xmlns:a="http://schemas.openxmlformats.org/drawingml/2006/main" noGrp="1"/>
          </p:cNvSpPr>
          <p:nvPr/>
        </p:nvSpPr>
        <p:spPr>
          <a:xfrm xmlns:a="http://schemas.openxmlformats.org/drawingml/2006/main">
            <a:off x="742950" y="20383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D6F4F0"/>
                </a:solidFill>
                <a:latin typeface="Arial"/>
                <a:ea typeface="Arial"/>
                <a:cs typeface="Arial"/>
              </a:defRPr>
            </a:pPr>
            <a:r>
              <a:rPr sz="2175" b="0">
                <a:solidFill>
                  <a:srgbClr val="D6F4F0"/>
                </a:solidFill>
                <a:latin typeface="Arial"/>
                <a:ea typeface="Arial"/>
                <a:cs typeface="Arial"/>
              </a:rPr>
              <a:t>Unified selling for Cambodian merchants</a:t>
            </a:r>
          </a:p>
        </p:txBody>
      </p:sp>
      <p:sp>
        <p:nvSpPr>
          <p:cNvPr id="4" name="">
            <a:extLst xmlns:a="http://schemas.openxmlformats.org/drawingml/2006/main">
              <a:ext uri="{FF2B5EF4-FFF2-40B4-BE49-F238E27FC236}">
                <a16:creationId xmlns:a16="http://schemas.microsoft.com/office/drawing/2014/main" id="{BAECEB30-D3A1-4454-BB88-E75A54AD82AA}"/>
              </a:ext>
            </a:extLst>
          </p:cNvPr>
          <p:cNvSpPr>
            <a:spLocks xmlns:a="http://schemas.openxmlformats.org/drawingml/2006/main" noGrp="1"/>
          </p:cNvSpPr>
          <p:nvPr/>
        </p:nvSpPr>
        <p:spPr>
          <a:xfrm xmlns:a="http://schemas.openxmlformats.org/drawingml/2006/main">
            <a:off x="723900" y="2895600"/>
            <a:ext cx="104775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One catalog.</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Three ways to sell.</a:t>
            </a:r>
          </a:p>
        </p:txBody>
      </p:sp>
      <p:sp>
        <p:nvSpPr>
          <p:cNvPr id="5" name="">
            <a:extLst xmlns:a="http://schemas.openxmlformats.org/drawingml/2006/main">
              <a:ext uri="{FF2B5EF4-FFF2-40B4-BE49-F238E27FC236}">
                <a16:creationId xmlns:a16="http://schemas.microsoft.com/office/drawing/2014/main" id="{C68FF341-0455-4A3A-9639-DE2230056866}"/>
              </a:ext>
            </a:extLst>
          </p:cNvPr>
          <p:cNvSpPr>
            <a:spLocks xmlns:a="http://schemas.openxmlformats.org/drawingml/2006/main" noGrp="1"/>
          </p:cNvSpPr>
          <p:nvPr/>
        </p:nvSpPr>
        <p:spPr>
          <a:xfrm xmlns:a="http://schemas.openxmlformats.org/drawingml/2006/main">
            <a:off x="742950" y="5210175"/>
            <a:ext cx="1076325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0E392F-A63E-4A78-B398-5856A6B6F0E7}"/>
              </a:ext>
            </a:extLst>
          </p:cNvPr>
          <p:cNvSpPr>
            <a:spLocks xmlns:a="http://schemas.openxmlformats.org/drawingml/2006/main" noGrp="1"/>
          </p:cNvSpPr>
          <p:nvPr/>
        </p:nvSpPr>
        <p:spPr>
          <a:xfrm xmlns:a="http://schemas.openxmlformats.org/drawingml/2006/main">
            <a:off x="742950" y="55626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Personal storefront</a:t>
            </a:r>
          </a:p>
        </p:txBody>
      </p:sp>
      <p:sp>
        <p:nvSpPr>
          <p:cNvPr id="7" name="">
            <a:extLst xmlns:a="http://schemas.openxmlformats.org/drawingml/2006/main">
              <a:ext uri="{FF2B5EF4-FFF2-40B4-BE49-F238E27FC236}">
                <a16:creationId xmlns:a16="http://schemas.microsoft.com/office/drawing/2014/main" id="{61D578AD-9CC9-49D9-B1CB-E9B07D32EE87}"/>
              </a:ext>
            </a:extLst>
          </p:cNvPr>
          <p:cNvSpPr>
            <a:spLocks xmlns:a="http://schemas.openxmlformats.org/drawingml/2006/main" noGrp="1"/>
          </p:cNvSpPr>
          <p:nvPr/>
        </p:nvSpPr>
        <p:spPr>
          <a:xfrm xmlns:a="http://schemas.openxmlformats.org/drawingml/2006/main">
            <a:off x="4552950" y="55626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Shared marketplace</a:t>
            </a:r>
          </a:p>
        </p:txBody>
      </p:sp>
      <p:sp>
        <p:nvSpPr>
          <p:cNvPr id="8" name="">
            <a:extLst xmlns:a="http://schemas.openxmlformats.org/drawingml/2006/main">
              <a:ext uri="{FF2B5EF4-FFF2-40B4-BE49-F238E27FC236}">
                <a16:creationId xmlns:a16="http://schemas.microsoft.com/office/drawing/2014/main" id="{7A297302-481F-472F-A5CB-8E2942422FE6}"/>
              </a:ext>
            </a:extLst>
          </p:cNvPr>
          <p:cNvSpPr>
            <a:spLocks xmlns:a="http://schemas.openxmlformats.org/drawingml/2006/main" noGrp="1"/>
          </p:cNvSpPr>
          <p:nvPr/>
        </p:nvSpPr>
        <p:spPr>
          <a:xfrm xmlns:a="http://schemas.openxmlformats.org/drawingml/2006/main">
            <a:off x="8829675" y="55626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In-store POS</a:t>
            </a:r>
          </a:p>
        </p:txBody>
      </p:sp>
      <p:sp>
        <p:nvSpPr>
          <p:cNvPr id="9" name="">
            <a:extLst xmlns:a="http://schemas.openxmlformats.org/drawingml/2006/main">
              <a:ext uri="{FF2B5EF4-FFF2-40B4-BE49-F238E27FC236}">
                <a16:creationId xmlns:a16="http://schemas.microsoft.com/office/drawing/2014/main" id="{EB655F36-390D-4CC9-93FB-1842ECA0A611}"/>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01</a:t>
            </a:r>
          </a:p>
        </p:txBody>
      </p:sp>
    </p:spTree>
    <p:extLst>
      <p:ext uri="{BB962C8B-B14F-4D97-AF65-F5344CB8AC3E}">
        <p14:creationId xmlns:p14="http://schemas.microsoft.com/office/powerpoint/2010/main" val="4967609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DFDC7D-EFE1-4828-A7EF-95A13FB6BF75}"/>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One sale can leave three records out of step</a:t>
            </a:r>
          </a:p>
        </p:txBody>
      </p:sp>
      <p:sp>
        <p:nvSpPr>
          <p:cNvPr id="2" name="">
            <a:extLst xmlns:a="http://schemas.openxmlformats.org/drawingml/2006/main">
              <a:ext uri="{FF2B5EF4-FFF2-40B4-BE49-F238E27FC236}">
                <a16:creationId xmlns:a16="http://schemas.microsoft.com/office/drawing/2014/main" id="{6A428351-5B42-47CD-8C2F-1F16C803C3BC}"/>
              </a:ext>
            </a:extLst>
          </p:cNvPr>
          <p:cNvSpPr>
            <a:spLocks xmlns:a="http://schemas.openxmlformats.org/drawingml/2006/main" noGrp="1"/>
          </p:cNvSpPr>
          <p:nvPr/>
        </p:nvSpPr>
        <p:spPr>
          <a:xfrm xmlns:a="http://schemas.openxmlformats.org/drawingml/2006/main">
            <a:off x="685800" y="1790700"/>
            <a:ext cx="5095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15243A"/>
                </a:solidFill>
                <a:latin typeface="Arial"/>
                <a:ea typeface="Arial"/>
                <a:cs typeface="Arial"/>
              </a:defRPr>
            </a:pPr>
            <a:r>
              <a:rPr sz="3450" b="1">
                <a:solidFill>
                  <a:srgbClr val="15243A"/>
                </a:solidFill>
                <a:latin typeface="Arial"/>
                <a:ea typeface="Arial"/>
                <a:cs typeface="Arial"/>
              </a:rPr>
              <a:t>The last item sells</a:t>
            </a:r>
          </a:p>
          <a:p xmlns:a="http://schemas.openxmlformats.org/drawingml/2006/main">
            <a:pPr algn="l">
              <a:defRPr sz="3450" b="1">
                <a:solidFill>
                  <a:srgbClr val="15243A"/>
                </a:solidFill>
                <a:latin typeface="Arial"/>
                <a:ea typeface="Arial"/>
                <a:cs typeface="Arial"/>
              </a:defRPr>
            </a:pPr>
            <a:r>
              <a:rPr sz="3450" b="1">
                <a:solidFill>
                  <a:srgbClr val="15243A"/>
                </a:solidFill>
                <a:latin typeface="Arial"/>
                <a:ea typeface="Arial"/>
                <a:cs typeface="Arial"/>
              </a:rPr>
              <a:t>at the counter.</a:t>
            </a:r>
          </a:p>
        </p:txBody>
      </p:sp>
      <p:sp>
        <p:nvSpPr>
          <p:cNvPr id="3" name="">
            <a:extLst xmlns:a="http://schemas.openxmlformats.org/drawingml/2006/main">
              <a:ext uri="{FF2B5EF4-FFF2-40B4-BE49-F238E27FC236}">
                <a16:creationId xmlns:a16="http://schemas.microsoft.com/office/drawing/2014/main" id="{9CF5E3B9-A144-4413-84E8-F538D9B4D36E}"/>
              </a:ext>
            </a:extLst>
          </p:cNvPr>
          <p:cNvSpPr>
            <a:spLocks xmlns:a="http://schemas.openxmlformats.org/drawingml/2006/main" noGrp="1"/>
          </p:cNvSpPr>
          <p:nvPr/>
        </p:nvSpPr>
        <p:spPr>
          <a:xfrm xmlns:a="http://schemas.openxmlformats.org/drawingml/2006/main">
            <a:off x="685800" y="3457575"/>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2463E8"/>
                </a:solidFill>
                <a:latin typeface="Arial"/>
                <a:ea typeface="Arial"/>
                <a:cs typeface="Arial"/>
              </a:defRPr>
            </a:pPr>
            <a:r>
              <a:rPr sz="3300" b="1">
                <a:solidFill>
                  <a:srgbClr val="2463E8"/>
                </a:solidFill>
                <a:latin typeface="Arial"/>
                <a:ea typeface="Arial"/>
                <a:cs typeface="Arial"/>
              </a:rPr>
              <a:t>Online still says</a:t>
            </a:r>
          </a:p>
          <a:p xmlns:a="http://schemas.openxmlformats.org/drawingml/2006/main">
            <a:pPr algn="l">
              <a:defRPr sz="3300" b="1">
                <a:solidFill>
                  <a:srgbClr val="2463E8"/>
                </a:solidFill>
                <a:latin typeface="Arial"/>
                <a:ea typeface="Arial"/>
                <a:cs typeface="Arial"/>
              </a:defRPr>
            </a:pPr>
            <a:r>
              <a:rPr sz="3300" b="1">
                <a:solidFill>
                  <a:srgbClr val="2463E8"/>
                </a:solidFill>
                <a:latin typeface="Arial"/>
                <a:ea typeface="Arial"/>
                <a:cs typeface="Arial"/>
              </a:rPr>
              <a:t>“in stock.”</a:t>
            </a:r>
          </a:p>
        </p:txBody>
      </p:sp>
      <p:sp>
        <p:nvSpPr>
          <p:cNvPr id="4" name="">
            <a:extLst xmlns:a="http://schemas.openxmlformats.org/drawingml/2006/main">
              <a:ext uri="{FF2B5EF4-FFF2-40B4-BE49-F238E27FC236}">
                <a16:creationId xmlns:a16="http://schemas.microsoft.com/office/drawing/2014/main" id="{94A20694-14BE-4EEF-AB8B-481D6FB65FC0}"/>
              </a:ext>
            </a:extLst>
          </p:cNvPr>
          <p:cNvSpPr>
            <a:spLocks xmlns:a="http://schemas.openxmlformats.org/drawingml/2006/main" noGrp="1"/>
          </p:cNvSpPr>
          <p:nvPr/>
        </p:nvSpPr>
        <p:spPr>
          <a:xfrm xmlns:a="http://schemas.openxmlformats.org/drawingml/2006/main">
            <a:off x="685800" y="5095875"/>
            <a:ext cx="4953000" cy="19050"/>
          </a:xfrm>
          <a:prstGeom xmlns:a="http://schemas.openxmlformats.org/drawingml/2006/main" prst="rect">
            <a:avLst/>
          </a:prstGeom>
          <a:solidFill xmlns:a="http://schemas.openxmlformats.org/drawingml/2006/main">
            <a:srgbClr val="2463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53C8D1-E79D-49AE-8C11-5191AE39AC8C}"/>
              </a:ext>
            </a:extLst>
          </p:cNvPr>
          <p:cNvSpPr>
            <a:spLocks xmlns:a="http://schemas.openxmlformats.org/drawingml/2006/main" noGrp="1"/>
          </p:cNvSpPr>
          <p:nvPr/>
        </p:nvSpPr>
        <p:spPr>
          <a:xfrm xmlns:a="http://schemas.openxmlformats.org/drawingml/2006/main">
            <a:off x="685800" y="5334000"/>
            <a:ext cx="5000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52637A"/>
                </a:solidFill>
                <a:latin typeface="Arial"/>
                <a:ea typeface="Arial"/>
                <a:cs typeface="Arial"/>
              </a:defRPr>
            </a:pPr>
            <a:r>
              <a:rPr sz="2100" b="0">
                <a:solidFill>
                  <a:srgbClr val="52637A"/>
                </a:solidFill>
                <a:latin typeface="Arial"/>
                <a:ea typeface="Arial"/>
                <a:cs typeface="Arial"/>
              </a:rPr>
              <a:t>Extra work. Missed orders.</a:t>
            </a:r>
          </a:p>
          <a:p xmlns:a="http://schemas.openxmlformats.org/drawingml/2006/main">
            <a:pPr algn="l">
              <a:defRPr sz="2100" b="0">
                <a:solidFill>
                  <a:srgbClr val="52637A"/>
                </a:solidFill>
                <a:latin typeface="Arial"/>
                <a:ea typeface="Arial"/>
                <a:cs typeface="Arial"/>
              </a:defRPr>
            </a:pPr>
            <a:r>
              <a:rPr sz="2100" b="0">
                <a:solidFill>
                  <a:srgbClr val="52637A"/>
                </a:solidFill>
                <a:latin typeface="Arial"/>
                <a:ea typeface="Arial"/>
                <a:cs typeface="Arial"/>
              </a:rPr>
              <a:t>Customer frustration.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443654712254192"/>
          <a:srcRect xmlns:a="http://schemas.openxmlformats.org/drawingml/2006/main" l="15106" t="0" r="15106" b="0"/>
          <a:stretch xmlns:a="http://schemas.openxmlformats.org/drawingml/2006/main">
            <a:fillRect l="0" t="0" r="0" b="0"/>
          </a:stretch>
        </p:blipFill>
        <p:spPr>
          <a:xfrm xmlns:a="http://schemas.openxmlformats.org/drawingml/2006/main">
            <a:off x="6191250" y="1600200"/>
            <a:ext cx="531495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9F1710-B970-49A3-BB3F-4D159D478EB7}"/>
              </a:ext>
            </a:extLst>
          </p:cNvPr>
          <p:cNvSpPr>
            <a:spLocks xmlns:a="http://schemas.openxmlformats.org/drawingml/2006/main" noGrp="1"/>
          </p:cNvSpPr>
          <p:nvPr/>
        </p:nvSpPr>
        <p:spPr>
          <a:xfrm xmlns:a="http://schemas.openxmlformats.org/drawingml/2006/main">
            <a:off x="6191250" y="6038850"/>
            <a:ext cx="531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Illustrative scenario. AI-generated image.</a:t>
            </a:r>
          </a:p>
        </p:txBody>
      </p:sp>
      <p:sp>
        <p:nvSpPr>
          <p:cNvPr id="8" name="">
            <a:extLst xmlns:a="http://schemas.openxmlformats.org/drawingml/2006/main">
              <a:ext uri="{FF2B5EF4-FFF2-40B4-BE49-F238E27FC236}">
                <a16:creationId xmlns:a16="http://schemas.microsoft.com/office/drawing/2014/main" id="{6486D2B8-F326-42AD-9825-D70B7FC36060}"/>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02</a:t>
            </a:r>
          </a:p>
        </p:txBody>
      </p:sp>
    </p:spTree>
    <p:extLst>
      <p:ext uri="{BB962C8B-B14F-4D97-AF65-F5344CB8AC3E}">
        <p14:creationId xmlns:p14="http://schemas.microsoft.com/office/powerpoint/2010/main" val="1604128307"/>
      </p:ext>
    </p:extLst>
  </p:cSld>
</p:sld>
</file>

<file path=ppt/slides/slide3.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888BCA-0BEF-4935-964A-FB8A054EC161}"/>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One catalog connects every sale</a:t>
            </a:r>
          </a:p>
        </p:txBody>
      </p:sp>
      <p:sp>
        <p:nvSpPr>
          <p:cNvPr id="2" name="">
            <a:extLst xmlns:a="http://schemas.openxmlformats.org/drawingml/2006/main">
              <a:ext uri="{FF2B5EF4-FFF2-40B4-BE49-F238E27FC236}">
                <a16:creationId xmlns:a16="http://schemas.microsoft.com/office/drawing/2014/main" id="{8E13B406-1426-4C66-855E-C514C79137B1}"/>
              </a:ext>
            </a:extLst>
          </p:cNvPr>
          <p:cNvSpPr>
            <a:spLocks xmlns:a="http://schemas.openxmlformats.org/drawingml/2006/main" noGrp="1"/>
          </p:cNvSpPr>
          <p:nvPr/>
        </p:nvSpPr>
        <p:spPr>
          <a:xfrm xmlns:a="http://schemas.openxmlformats.org/drawingml/2006/main">
            <a:off x="685800" y="16668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D6F4F0"/>
                </a:solidFill>
                <a:latin typeface="Arial"/>
                <a:ea typeface="Arial"/>
                <a:cs typeface="Arial"/>
              </a:defRPr>
            </a:pPr>
            <a:r>
              <a:rPr sz="2175" b="1">
                <a:solidFill>
                  <a:srgbClr val="D6F4F0"/>
                </a:solidFill>
                <a:latin typeface="Arial"/>
                <a:ea typeface="Arial"/>
                <a:cs typeface="Arial"/>
              </a:rPr>
              <a:t>ONE MERCHANT WORKSPACE</a:t>
            </a:r>
          </a:p>
        </p:txBody>
      </p:sp>
      <p:sp>
        <p:nvSpPr>
          <p:cNvPr id="3" name="">
            <a:extLst xmlns:a="http://schemas.openxmlformats.org/drawingml/2006/main">
              <a:ext uri="{FF2B5EF4-FFF2-40B4-BE49-F238E27FC236}">
                <a16:creationId xmlns:a16="http://schemas.microsoft.com/office/drawing/2014/main" id="{B65EED22-73B7-4336-8D23-DFBBE7CCA140}"/>
              </a:ext>
            </a:extLst>
          </p:cNvPr>
          <p:cNvSpPr>
            <a:spLocks xmlns:a="http://schemas.openxmlformats.org/drawingml/2006/main" noGrp="1"/>
          </p:cNvSpPr>
          <p:nvPr/>
        </p:nvSpPr>
        <p:spPr>
          <a:xfrm xmlns:a="http://schemas.openxmlformats.org/drawingml/2006/main">
            <a:off x="685800" y="2419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Products     Prices     Stock     Orders</a:t>
            </a:r>
          </a:p>
        </p:txBody>
      </p:sp>
      <p:sp>
        <p:nvSpPr>
          <p:cNvPr id="4" name="">
            <a:extLst xmlns:a="http://schemas.openxmlformats.org/drawingml/2006/main">
              <a:ext uri="{FF2B5EF4-FFF2-40B4-BE49-F238E27FC236}">
                <a16:creationId xmlns:a16="http://schemas.microsoft.com/office/drawing/2014/main" id="{0D7B62FD-1A12-4D32-9DD6-B7E90E023D02}"/>
              </a:ext>
            </a:extLst>
          </p:cNvPr>
          <p:cNvSpPr>
            <a:spLocks xmlns:a="http://schemas.openxmlformats.org/drawingml/2006/main" noGrp="1"/>
          </p:cNvSpPr>
          <p:nvPr/>
        </p:nvSpPr>
        <p:spPr>
          <a:xfrm xmlns:a="http://schemas.openxmlformats.org/drawingml/2006/main">
            <a:off x="6076950" y="3171825"/>
            <a:ext cx="28575" cy="371475"/>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19976F-25CD-491A-BD49-5D78923CB9C0}"/>
              </a:ext>
            </a:extLst>
          </p:cNvPr>
          <p:cNvSpPr>
            <a:spLocks xmlns:a="http://schemas.openxmlformats.org/drawingml/2006/main" noGrp="1"/>
          </p:cNvSpPr>
          <p:nvPr/>
        </p:nvSpPr>
        <p:spPr>
          <a:xfrm xmlns:a="http://schemas.openxmlformats.org/drawingml/2006/main">
            <a:off x="2343150" y="3524250"/>
            <a:ext cx="752475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85E1F5-FC7C-4CEC-A9FA-F148C2306A7F}"/>
              </a:ext>
            </a:extLst>
          </p:cNvPr>
          <p:cNvSpPr>
            <a:spLocks xmlns:a="http://schemas.openxmlformats.org/drawingml/2006/main" noGrp="1"/>
          </p:cNvSpPr>
          <p:nvPr/>
        </p:nvSpPr>
        <p:spPr>
          <a:xfrm xmlns:a="http://schemas.openxmlformats.org/drawingml/2006/main">
            <a:off x="2343150"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76DD2A-106B-46BA-BA7D-3FF8AEAC1985}"/>
              </a:ext>
            </a:extLst>
          </p:cNvPr>
          <p:cNvSpPr>
            <a:spLocks xmlns:a="http://schemas.openxmlformats.org/drawingml/2006/main" noGrp="1"/>
          </p:cNvSpPr>
          <p:nvPr/>
        </p:nvSpPr>
        <p:spPr>
          <a:xfrm xmlns:a="http://schemas.openxmlformats.org/drawingml/2006/main">
            <a:off x="6086475"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526360-7CF9-4D9E-948F-D7C3B52F2E88}"/>
              </a:ext>
            </a:extLst>
          </p:cNvPr>
          <p:cNvSpPr>
            <a:spLocks xmlns:a="http://schemas.openxmlformats.org/drawingml/2006/main" noGrp="1"/>
          </p:cNvSpPr>
          <p:nvPr/>
        </p:nvSpPr>
        <p:spPr>
          <a:xfrm xmlns:a="http://schemas.openxmlformats.org/drawingml/2006/main">
            <a:off x="9867900" y="3524250"/>
            <a:ext cx="28575" cy="49530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7EDA85-FF04-404E-B2B7-1D6DAE73E9BD}"/>
              </a:ext>
            </a:extLst>
          </p:cNvPr>
          <p:cNvSpPr>
            <a:spLocks xmlns:a="http://schemas.openxmlformats.org/drawingml/2006/main" noGrp="1"/>
          </p:cNvSpPr>
          <p:nvPr/>
        </p:nvSpPr>
        <p:spPr>
          <a:xfrm xmlns:a="http://schemas.openxmlformats.org/drawingml/2006/main">
            <a:off x="68580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PERSONAL STOREFRONT</a:t>
            </a:r>
          </a:p>
        </p:txBody>
      </p:sp>
      <p:sp>
        <p:nvSpPr>
          <p:cNvPr id="10" name="">
            <a:extLst xmlns:a="http://schemas.openxmlformats.org/drawingml/2006/main">
              <a:ext uri="{FF2B5EF4-FFF2-40B4-BE49-F238E27FC236}">
                <a16:creationId xmlns:a16="http://schemas.microsoft.com/office/drawing/2014/main" id="{1BA09888-19E7-40A7-ABBF-494A787342DD}"/>
              </a:ext>
            </a:extLst>
          </p:cNvPr>
          <p:cNvSpPr>
            <a:spLocks xmlns:a="http://schemas.openxmlformats.org/drawingml/2006/main" noGrp="1"/>
          </p:cNvSpPr>
          <p:nvPr/>
        </p:nvSpPr>
        <p:spPr>
          <a:xfrm xmlns:a="http://schemas.openxmlformats.org/drawingml/2006/main">
            <a:off x="443865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SHARED MARKETPLACE</a:t>
            </a:r>
          </a:p>
        </p:txBody>
      </p:sp>
      <p:sp>
        <p:nvSpPr>
          <p:cNvPr id="11" name="">
            <a:extLst xmlns:a="http://schemas.openxmlformats.org/drawingml/2006/main">
              <a:ext uri="{FF2B5EF4-FFF2-40B4-BE49-F238E27FC236}">
                <a16:creationId xmlns:a16="http://schemas.microsoft.com/office/drawing/2014/main" id="{665D278A-CBCD-492C-84D7-3451B6B2E8C8}"/>
              </a:ext>
            </a:extLst>
          </p:cNvPr>
          <p:cNvSpPr>
            <a:spLocks xmlns:a="http://schemas.openxmlformats.org/drawingml/2006/main" noGrp="1"/>
          </p:cNvSpPr>
          <p:nvPr/>
        </p:nvSpPr>
        <p:spPr>
          <a:xfrm xmlns:a="http://schemas.openxmlformats.org/drawingml/2006/main">
            <a:off x="8191500" y="4238625"/>
            <a:ext cx="331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IN-STORE POS</a:t>
            </a:r>
          </a:p>
        </p:txBody>
      </p:sp>
      <p:sp>
        <p:nvSpPr>
          <p:cNvPr id="12" name="">
            <a:extLst xmlns:a="http://schemas.openxmlformats.org/drawingml/2006/main">
              <a:ext uri="{FF2B5EF4-FFF2-40B4-BE49-F238E27FC236}">
                <a16:creationId xmlns:a16="http://schemas.microsoft.com/office/drawing/2014/main" id="{73376F5E-9B91-498E-8528-E28E63D7754A}"/>
              </a:ext>
            </a:extLst>
          </p:cNvPr>
          <p:cNvSpPr>
            <a:spLocks xmlns:a="http://schemas.openxmlformats.org/drawingml/2006/main" noGrp="1"/>
          </p:cNvSpPr>
          <p:nvPr/>
        </p:nvSpPr>
        <p:spPr>
          <a:xfrm xmlns:a="http://schemas.openxmlformats.org/drawingml/2006/main">
            <a:off x="68580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Build their brand</a:t>
            </a:r>
          </a:p>
        </p:txBody>
      </p:sp>
      <p:sp>
        <p:nvSpPr>
          <p:cNvPr id="13" name="">
            <a:extLst xmlns:a="http://schemas.openxmlformats.org/drawingml/2006/main">
              <a:ext uri="{FF2B5EF4-FFF2-40B4-BE49-F238E27FC236}">
                <a16:creationId xmlns:a16="http://schemas.microsoft.com/office/drawing/2014/main" id="{B83F8901-6C7F-45F8-A3B6-25932208376F}"/>
              </a:ext>
            </a:extLst>
          </p:cNvPr>
          <p:cNvSpPr>
            <a:spLocks xmlns:a="http://schemas.openxmlformats.org/drawingml/2006/main" noGrp="1"/>
          </p:cNvSpPr>
          <p:nvPr/>
        </p:nvSpPr>
        <p:spPr>
          <a:xfrm xmlns:a="http://schemas.openxmlformats.org/drawingml/2006/main">
            <a:off x="443865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Reach shared buyers</a:t>
            </a:r>
          </a:p>
        </p:txBody>
      </p:sp>
      <p:sp>
        <p:nvSpPr>
          <p:cNvPr id="14" name="">
            <a:extLst xmlns:a="http://schemas.openxmlformats.org/drawingml/2006/main">
              <a:ext uri="{FF2B5EF4-FFF2-40B4-BE49-F238E27FC236}">
                <a16:creationId xmlns:a16="http://schemas.microsoft.com/office/drawing/2014/main" id="{018AFFEE-69DD-4647-B0F3-B6526DCABB42}"/>
              </a:ext>
            </a:extLst>
          </p:cNvPr>
          <p:cNvSpPr>
            <a:spLocks xmlns:a="http://schemas.openxmlformats.org/drawingml/2006/main" noGrp="1"/>
          </p:cNvSpPr>
          <p:nvPr/>
        </p:nvSpPr>
        <p:spPr>
          <a:xfrm xmlns:a="http://schemas.openxmlformats.org/drawingml/2006/main">
            <a:off x="8191500" y="5172075"/>
            <a:ext cx="331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950" b="0">
                <a:solidFill>
                  <a:srgbClr val="D6F4F0"/>
                </a:solidFill>
                <a:latin typeface="Arial"/>
                <a:ea typeface="Arial"/>
                <a:cs typeface="Arial"/>
              </a:defRPr>
            </a:pPr>
            <a:r>
              <a:rPr sz="1950" b="0">
                <a:solidFill>
                  <a:srgbClr val="D6F4F0"/>
                </a:solidFill>
                <a:latin typeface="Arial"/>
                <a:ea typeface="Arial"/>
                <a:cs typeface="Arial"/>
              </a:rPr>
              <a:t>Sell at the counter</a:t>
            </a:r>
          </a:p>
        </p:txBody>
      </p:sp>
      <p:sp>
        <p:nvSpPr>
          <p:cNvPr id="15" name="">
            <a:extLst xmlns:a="http://schemas.openxmlformats.org/drawingml/2006/main">
              <a:ext uri="{FF2B5EF4-FFF2-40B4-BE49-F238E27FC236}">
                <a16:creationId xmlns:a16="http://schemas.microsoft.com/office/drawing/2014/main" id="{9F732A29-42B2-478A-B250-FDED4DF548CB}"/>
              </a:ext>
            </a:extLst>
          </p:cNvPr>
          <p:cNvSpPr>
            <a:spLocks xmlns:a="http://schemas.openxmlformats.org/drawingml/2006/main" noGrp="1"/>
          </p:cNvSpPr>
          <p:nvPr/>
        </p:nvSpPr>
        <p:spPr>
          <a:xfrm xmlns:a="http://schemas.openxmlformats.org/drawingml/2006/main">
            <a:off x="685800" y="6191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D6F4F0"/>
                </a:solidFill>
                <a:latin typeface="Arial"/>
                <a:ea typeface="Arial"/>
                <a:cs typeface="Arial"/>
              </a:defRPr>
            </a:pPr>
            <a:r>
              <a:rPr sz="1275" b="0">
                <a:solidFill>
                  <a:srgbClr val="D6F4F0"/>
                </a:solidFill>
                <a:latin typeface="Arial"/>
                <a:ea typeface="Arial"/>
                <a:cs typeface="Arial"/>
              </a:rPr>
              <a:t>Full product workflow</a:t>
            </a:r>
          </a:p>
        </p:txBody>
      </p:sp>
      <p:sp>
        <p:nvSpPr>
          <p:cNvPr id="16" name="">
            <a:extLst xmlns:a="http://schemas.openxmlformats.org/drawingml/2006/main">
              <a:ext uri="{FF2B5EF4-FFF2-40B4-BE49-F238E27FC236}">
                <a16:creationId xmlns:a16="http://schemas.microsoft.com/office/drawing/2014/main" id="{528B495F-2D69-4F3D-AE3C-AA4884F2288E}"/>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03</a:t>
            </a:r>
          </a:p>
        </p:txBody>
      </p:sp>
    </p:spTree>
    <p:extLst>
      <p:ext uri="{BB962C8B-B14F-4D97-AF65-F5344CB8AC3E}">
        <p14:creationId xmlns:p14="http://schemas.microsoft.com/office/powerpoint/2010/main" val="440355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4A87ED-3F39-4039-B0B3-B594E076762D}"/>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The storefront, marketplace and POS experience</a:t>
            </a:r>
          </a:p>
        </p:txBody>
      </p:sp>
      <p:sp>
        <p:nvSpPr>
          <p:cNvPr id="2" name="">
            <a:extLst xmlns:a="http://schemas.openxmlformats.org/drawingml/2006/main">
              <a:ext uri="{FF2B5EF4-FFF2-40B4-BE49-F238E27FC236}">
                <a16:creationId xmlns:a16="http://schemas.microsoft.com/office/drawing/2014/main" id="{2635ECB8-F00D-4A82-8DAB-D9550540E37E}"/>
              </a:ext>
            </a:extLst>
          </p:cNvPr>
          <p:cNvSpPr>
            <a:spLocks xmlns:a="http://schemas.openxmlformats.org/drawingml/2006/main" noGrp="1"/>
          </p:cNvSpPr>
          <p:nvPr/>
        </p:nvSpPr>
        <p:spPr>
          <a:xfrm xmlns:a="http://schemas.openxmlformats.org/drawingml/2006/main">
            <a:off x="533400"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PERSONAL STOREFRONT</a:t>
            </a:r>
          </a:p>
        </p:txBody>
      </p:sp>
      <p:sp>
        <p:nvSpPr>
          <p:cNvPr id="3" name="">
            <a:extLst xmlns:a="http://schemas.openxmlformats.org/drawingml/2006/main">
              <a:ext uri="{FF2B5EF4-FFF2-40B4-BE49-F238E27FC236}">
                <a16:creationId xmlns:a16="http://schemas.microsoft.com/office/drawing/2014/main" id="{A5DA946A-0B4D-48C1-830C-FE2D2BEE7D71}"/>
              </a:ext>
            </a:extLst>
          </p:cNvPr>
          <p:cNvSpPr>
            <a:spLocks xmlns:a="http://schemas.openxmlformats.org/drawingml/2006/main" noGrp="1"/>
          </p:cNvSpPr>
          <p:nvPr/>
        </p:nvSpPr>
        <p:spPr>
          <a:xfrm xmlns:a="http://schemas.openxmlformats.org/drawingml/2006/main">
            <a:off x="4371975"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SHARED MARKETPLACE</a:t>
            </a:r>
          </a:p>
        </p:txBody>
      </p:sp>
      <p:sp>
        <p:nvSpPr>
          <p:cNvPr id="4" name="">
            <a:extLst xmlns:a="http://schemas.openxmlformats.org/drawingml/2006/main">
              <a:ext uri="{FF2B5EF4-FFF2-40B4-BE49-F238E27FC236}">
                <a16:creationId xmlns:a16="http://schemas.microsoft.com/office/drawing/2014/main" id="{32C0F419-07D7-4483-97E1-2F4C0799E7A2}"/>
              </a:ext>
            </a:extLst>
          </p:cNvPr>
          <p:cNvSpPr>
            <a:spLocks xmlns:a="http://schemas.openxmlformats.org/drawingml/2006/main" noGrp="1"/>
          </p:cNvSpPr>
          <p:nvPr/>
        </p:nvSpPr>
        <p:spPr>
          <a:xfrm xmlns:a="http://schemas.openxmlformats.org/drawingml/2006/main">
            <a:off x="8210550" y="1724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IN-STORE POS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002997848b44787"/>
          <a:stretch xmlns:a="http://schemas.openxmlformats.org/drawingml/2006/main"/>
        </p:blipFill>
        <p:spPr>
          <a:xfrm xmlns:a="http://schemas.openxmlformats.org/drawingml/2006/main">
            <a:off x="533400" y="2691152"/>
            <a:ext cx="3448050" cy="1551896"/>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60c81dbdaab4a41"/>
          <a:stretch xmlns:a="http://schemas.openxmlformats.org/drawingml/2006/main"/>
        </p:blipFill>
        <p:spPr>
          <a:xfrm xmlns:a="http://schemas.openxmlformats.org/drawingml/2006/main">
            <a:off x="4371975" y="2585752"/>
            <a:ext cx="3448050" cy="1762696"/>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99cf52293144799"/>
          <a:stretch xmlns:a="http://schemas.openxmlformats.org/drawingml/2006/main"/>
        </p:blipFill>
        <p:spPr>
          <a:xfrm xmlns:a="http://schemas.openxmlformats.org/drawingml/2006/main">
            <a:off x="8232775" y="2400300"/>
            <a:ext cx="3403600" cy="2133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E936518-FDB5-4E8F-A12E-43F8D6A5466A}"/>
              </a:ext>
            </a:extLst>
          </p:cNvPr>
          <p:cNvSpPr>
            <a:spLocks xmlns:a="http://schemas.openxmlformats.org/drawingml/2006/main" noGrp="1"/>
          </p:cNvSpPr>
          <p:nvPr/>
        </p:nvSpPr>
        <p:spPr>
          <a:xfrm xmlns:a="http://schemas.openxmlformats.org/drawingml/2006/main">
            <a:off x="533400"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Their own online shop</a:t>
            </a:r>
          </a:p>
        </p:txBody>
      </p:sp>
      <p:sp>
        <p:nvSpPr>
          <p:cNvPr id="9" name="">
            <a:extLst xmlns:a="http://schemas.openxmlformats.org/drawingml/2006/main">
              <a:ext uri="{FF2B5EF4-FFF2-40B4-BE49-F238E27FC236}">
                <a16:creationId xmlns:a16="http://schemas.microsoft.com/office/drawing/2014/main" id="{B62A6B3F-0182-4CC0-9205-309A5459F5EC}"/>
              </a:ext>
            </a:extLst>
          </p:cNvPr>
          <p:cNvSpPr>
            <a:spLocks xmlns:a="http://schemas.openxmlformats.org/drawingml/2006/main" noGrp="1"/>
          </p:cNvSpPr>
          <p:nvPr/>
        </p:nvSpPr>
        <p:spPr>
          <a:xfrm xmlns:a="http://schemas.openxmlformats.org/drawingml/2006/main">
            <a:off x="4371975"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A place to find more buyers</a:t>
            </a:r>
          </a:p>
        </p:txBody>
      </p:sp>
      <p:sp>
        <p:nvSpPr>
          <p:cNvPr id="10" name="">
            <a:extLst xmlns:a="http://schemas.openxmlformats.org/drawingml/2006/main">
              <a:ext uri="{FF2B5EF4-FFF2-40B4-BE49-F238E27FC236}">
                <a16:creationId xmlns:a16="http://schemas.microsoft.com/office/drawing/2014/main" id="{9288E2A8-41E8-4D61-8683-89D83C53F04D}"/>
              </a:ext>
            </a:extLst>
          </p:cNvPr>
          <p:cNvSpPr>
            <a:spLocks xmlns:a="http://schemas.openxmlformats.org/drawingml/2006/main" noGrp="1"/>
          </p:cNvSpPr>
          <p:nvPr/>
        </p:nvSpPr>
        <p:spPr>
          <a:xfrm xmlns:a="http://schemas.openxmlformats.org/drawingml/2006/main">
            <a:off x="8210550" y="4819650"/>
            <a:ext cx="3448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243A"/>
                </a:solidFill>
                <a:latin typeface="Arial"/>
                <a:ea typeface="Arial"/>
                <a:cs typeface="Arial"/>
              </a:defRPr>
            </a:pPr>
            <a:r>
              <a:rPr sz="2025" b="1">
                <a:solidFill>
                  <a:srgbClr val="15243A"/>
                </a:solidFill>
                <a:latin typeface="Arial"/>
                <a:ea typeface="Arial"/>
                <a:cs typeface="Arial"/>
              </a:rPr>
              <a:t>Products, cart and checkout</a:t>
            </a:r>
          </a:p>
        </p:txBody>
      </p:sp>
      <p:sp>
        <p:nvSpPr>
          <p:cNvPr id="11" name="">
            <a:extLst xmlns:a="http://schemas.openxmlformats.org/drawingml/2006/main">
              <a:ext uri="{FF2B5EF4-FFF2-40B4-BE49-F238E27FC236}">
                <a16:creationId xmlns:a16="http://schemas.microsoft.com/office/drawing/2014/main" id="{3FD9DC17-AD99-4210-A355-2DDFFC6D7A93}"/>
              </a:ext>
            </a:extLst>
          </p:cNvPr>
          <p:cNvSpPr>
            <a:spLocks xmlns:a="http://schemas.openxmlformats.org/drawingml/2006/main" noGrp="1"/>
          </p:cNvSpPr>
          <p:nvPr/>
        </p:nvSpPr>
        <p:spPr>
          <a:xfrm xmlns:a="http://schemas.openxmlformats.org/drawingml/2006/main">
            <a:off x="685800" y="5762625"/>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A8EF4DB-5BC0-439A-AD41-74021DE10006}"/>
              </a:ext>
            </a:extLst>
          </p:cNvPr>
          <p:cNvSpPr>
            <a:spLocks xmlns:a="http://schemas.openxmlformats.org/drawingml/2006/main" noGrp="1"/>
          </p:cNvSpPr>
          <p:nvPr/>
        </p:nvSpPr>
        <p:spPr>
          <a:xfrm xmlns:a="http://schemas.openxmlformats.org/drawingml/2006/main">
            <a:off x="685800" y="60198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Development storefront and marketplace screens. POS product preview.</a:t>
            </a:r>
          </a:p>
        </p:txBody>
      </p:sp>
      <p:sp>
        <p:nvSpPr>
          <p:cNvPr id="13" name="">
            <a:extLst xmlns:a="http://schemas.openxmlformats.org/drawingml/2006/main">
              <a:ext uri="{FF2B5EF4-FFF2-40B4-BE49-F238E27FC236}">
                <a16:creationId xmlns:a16="http://schemas.microsoft.com/office/drawing/2014/main" id="{A5DAB4A3-0CEC-4A38-BF07-ACB7EC62CC06}"/>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04</a:t>
            </a:r>
          </a:p>
        </p:txBody>
      </p:sp>
    </p:spTree>
    <p:extLst>
      <p:ext uri="{BB962C8B-B14F-4D97-AF65-F5344CB8AC3E}">
        <p14:creationId xmlns:p14="http://schemas.microsoft.com/office/powerpoint/2010/main" val="1057575412"/>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3A5097-B1BE-4511-BD95-A988D982E31B}"/>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Target retailers sell online and in person</a:t>
            </a:r>
          </a:p>
        </p:txBody>
      </p:sp>
      <p:sp>
        <p:nvSpPr>
          <p:cNvPr id="2" name="">
            <a:extLst xmlns:a="http://schemas.openxmlformats.org/drawingml/2006/main">
              <a:ext uri="{FF2B5EF4-FFF2-40B4-BE49-F238E27FC236}">
                <a16:creationId xmlns:a16="http://schemas.microsoft.com/office/drawing/2014/main" id="{913C8357-10C6-41E4-8890-13DB2ADC8AF9}"/>
              </a:ext>
            </a:extLst>
          </p:cNvPr>
          <p:cNvSpPr>
            <a:spLocks xmlns:a="http://schemas.openxmlformats.org/drawingml/2006/main" noGrp="1"/>
          </p:cNvSpPr>
          <p:nvPr/>
        </p:nvSpPr>
        <p:spPr>
          <a:xfrm xmlns:a="http://schemas.openxmlformats.org/drawingml/2006/main">
            <a:off x="685800" y="1838325"/>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5243A"/>
                </a:solidFill>
                <a:latin typeface="Arial"/>
                <a:ea typeface="Arial"/>
                <a:cs typeface="Arial"/>
              </a:defRPr>
            </a:pPr>
            <a:r>
              <a:rPr sz="2475" b="1">
                <a:solidFill>
                  <a:srgbClr val="15243A"/>
                </a:solidFill>
                <a:latin typeface="Arial"/>
                <a:ea typeface="Arial"/>
                <a:cs typeface="Arial"/>
              </a:rPr>
              <a:t>Small Cambodian retailers</a:t>
            </a:r>
          </a:p>
        </p:txBody>
      </p:sp>
      <p:sp>
        <p:nvSpPr>
          <p:cNvPr id="3" name="">
            <a:extLst xmlns:a="http://schemas.openxmlformats.org/drawingml/2006/main">
              <a:ext uri="{FF2B5EF4-FFF2-40B4-BE49-F238E27FC236}">
                <a16:creationId xmlns:a16="http://schemas.microsoft.com/office/drawing/2014/main" id="{16332608-D2D8-402D-9CBD-6F5504A96710}"/>
              </a:ext>
            </a:extLst>
          </p:cNvPr>
          <p:cNvSpPr>
            <a:spLocks xmlns:a="http://schemas.openxmlformats.org/drawingml/2006/main" noGrp="1"/>
          </p:cNvSpPr>
          <p:nvPr/>
        </p:nvSpPr>
        <p:spPr>
          <a:xfrm xmlns:a="http://schemas.openxmlformats.org/drawingml/2006/main">
            <a:off x="685800" y="2628900"/>
            <a:ext cx="5857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750" b="1">
                <a:solidFill>
                  <a:srgbClr val="2463E8"/>
                </a:solidFill>
                <a:latin typeface="Arial"/>
                <a:ea typeface="Arial"/>
                <a:cs typeface="Arial"/>
              </a:defRPr>
            </a:pPr>
            <a:r>
              <a:rPr sz="3750" b="1">
                <a:solidFill>
                  <a:srgbClr val="2463E8"/>
                </a:solidFill>
                <a:latin typeface="Arial"/>
                <a:ea typeface="Arial"/>
                <a:cs typeface="Arial"/>
              </a:rPr>
              <a:t>Online</a:t>
            </a:r>
          </a:p>
          <a:p xmlns:a="http://schemas.openxmlformats.org/drawingml/2006/main">
            <a:pPr algn="l">
              <a:defRPr sz="3750" b="1">
                <a:solidFill>
                  <a:srgbClr val="2463E8"/>
                </a:solidFill>
                <a:latin typeface="Arial"/>
                <a:ea typeface="Arial"/>
                <a:cs typeface="Arial"/>
              </a:defRPr>
            </a:pPr>
            <a:r>
              <a:rPr sz="3750" b="1">
                <a:solidFill>
                  <a:srgbClr val="2463E8"/>
                </a:solidFill>
                <a:latin typeface="Arial"/>
                <a:ea typeface="Arial"/>
                <a:cs typeface="Arial"/>
              </a:rPr>
              <a:t>and at the counter</a:t>
            </a:r>
          </a:p>
        </p:txBody>
      </p:sp>
      <p:sp>
        <p:nvSpPr>
          <p:cNvPr id="4" name="">
            <a:extLst xmlns:a="http://schemas.openxmlformats.org/drawingml/2006/main">
              <a:ext uri="{FF2B5EF4-FFF2-40B4-BE49-F238E27FC236}">
                <a16:creationId xmlns:a16="http://schemas.microsoft.com/office/drawing/2014/main" id="{C7B2C7C7-E2F7-413B-A4CA-DAA9EAA36D02}"/>
              </a:ext>
            </a:extLst>
          </p:cNvPr>
          <p:cNvSpPr>
            <a:spLocks xmlns:a="http://schemas.openxmlformats.org/drawingml/2006/main" noGrp="1"/>
          </p:cNvSpPr>
          <p:nvPr/>
        </p:nvSpPr>
        <p:spPr>
          <a:xfrm xmlns:a="http://schemas.openxmlformats.org/drawingml/2006/main">
            <a:off x="685800" y="4448175"/>
            <a:ext cx="5524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Existing customers.</a:t>
            </a:r>
          </a:p>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Physical stock.</a:t>
            </a:r>
          </a:p>
          <a:p xmlns:a="http://schemas.openxmlformats.org/drawingml/2006/main">
            <a:pPr algn="l">
              <a:defRPr sz="2175" b="0">
                <a:solidFill>
                  <a:srgbClr val="52637A"/>
                </a:solidFill>
                <a:latin typeface="Arial"/>
                <a:ea typeface="Arial"/>
                <a:cs typeface="Arial"/>
              </a:defRPr>
            </a:pPr>
            <a:r>
              <a:rPr sz="2175" b="0">
                <a:solidFill>
                  <a:srgbClr val="52637A"/>
                </a:solidFill>
                <a:latin typeface="Arial"/>
                <a:ea typeface="Arial"/>
                <a:cs typeface="Arial"/>
              </a:rPr>
              <a:t>A daily sales workflow.</a:t>
            </a:r>
          </a:p>
        </p:txBody>
      </p:sp>
      <p:sp>
        <p:nvSpPr>
          <p:cNvPr id="5" name="">
            <a:extLst xmlns:a="http://schemas.openxmlformats.org/drawingml/2006/main">
              <a:ext uri="{FF2B5EF4-FFF2-40B4-BE49-F238E27FC236}">
                <a16:creationId xmlns:a16="http://schemas.microsoft.com/office/drawing/2014/main" id="{3D10387D-BF8F-4E69-BE47-58FE476ADCE5}"/>
              </a:ext>
            </a:extLst>
          </p:cNvPr>
          <p:cNvSpPr>
            <a:spLocks xmlns:a="http://schemas.openxmlformats.org/drawingml/2006/main" noGrp="1"/>
          </p:cNvSpPr>
          <p:nvPr/>
        </p:nvSpPr>
        <p:spPr>
          <a:xfrm xmlns:a="http://schemas.openxmlformats.org/drawingml/2006/main">
            <a:off x="6819900" y="1762125"/>
            <a:ext cx="19050" cy="38195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35E81A-5500-4808-9DE9-BD644DDC112F}"/>
              </a:ext>
            </a:extLst>
          </p:cNvPr>
          <p:cNvSpPr>
            <a:spLocks xmlns:a="http://schemas.openxmlformats.org/drawingml/2006/main" noGrp="1"/>
          </p:cNvSpPr>
          <p:nvPr/>
        </p:nvSpPr>
        <p:spPr>
          <a:xfrm xmlns:a="http://schemas.openxmlformats.org/drawingml/2006/main">
            <a:off x="7419975" y="2343150"/>
            <a:ext cx="4086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950" b="1">
                <a:solidFill>
                  <a:srgbClr val="0AA7A2"/>
                </a:solidFill>
                <a:latin typeface="Arial"/>
                <a:ea typeface="Arial"/>
                <a:cs typeface="Arial"/>
              </a:defRPr>
            </a:pPr>
            <a:r>
              <a:rPr sz="4950" b="1">
                <a:solidFill>
                  <a:srgbClr val="0AA7A2"/>
                </a:solidFill>
                <a:latin typeface="Arial"/>
                <a:ea typeface="Arial"/>
                <a:cs typeface="Arial"/>
              </a:rPr>
              <a:t>US$1.51B</a:t>
            </a:r>
          </a:p>
        </p:txBody>
      </p:sp>
      <p:sp>
        <p:nvSpPr>
          <p:cNvPr id="7" name="">
            <a:extLst xmlns:a="http://schemas.openxmlformats.org/drawingml/2006/main">
              <a:ext uri="{FF2B5EF4-FFF2-40B4-BE49-F238E27FC236}">
                <a16:creationId xmlns:a16="http://schemas.microsoft.com/office/drawing/2014/main" id="{E895D7A8-742C-4F3A-ADC7-5BBF8A9A461C}"/>
              </a:ext>
            </a:extLst>
          </p:cNvPr>
          <p:cNvSpPr>
            <a:spLocks xmlns:a="http://schemas.openxmlformats.org/drawingml/2006/main" noGrp="1"/>
          </p:cNvSpPr>
          <p:nvPr/>
        </p:nvSpPr>
        <p:spPr>
          <a:xfrm xmlns:a="http://schemas.openxmlformats.org/drawingml/2006/main">
            <a:off x="7419975" y="3467100"/>
            <a:ext cx="40290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Cambodian e-commerce</a:t>
            </a:r>
          </a:p>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market value in 2024</a:t>
            </a:r>
          </a:p>
        </p:txBody>
      </p:sp>
      <p:sp>
        <p:nvSpPr>
          <p:cNvPr id="8" name="">
            <a:extLst xmlns:a="http://schemas.openxmlformats.org/drawingml/2006/main">
              <a:ext uri="{FF2B5EF4-FFF2-40B4-BE49-F238E27FC236}">
                <a16:creationId xmlns:a16="http://schemas.microsoft.com/office/drawing/2014/main" id="{18EDC0DB-55AA-4D46-A2E0-A4A61A2F38A8}"/>
              </a:ext>
            </a:extLst>
          </p:cNvPr>
          <p:cNvSpPr>
            <a:spLocks xmlns:a="http://schemas.openxmlformats.org/drawingml/2006/main" noGrp="1"/>
          </p:cNvSpPr>
          <p:nvPr/>
        </p:nvSpPr>
        <p:spPr>
          <a:xfrm xmlns:a="http://schemas.openxmlformats.org/drawingml/2006/main">
            <a:off x="7419975" y="4895850"/>
            <a:ext cx="40290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2463E8"/>
                </a:solidFill>
                <a:latin typeface="Arial"/>
                <a:ea typeface="Arial"/>
                <a:cs typeface="Arial"/>
              </a:defRPr>
            </a:pPr>
            <a:r>
              <a:rPr sz="2025" b="1">
                <a:solidFill>
                  <a:srgbClr val="2463E8"/>
                </a:solidFill>
                <a:latin typeface="Arial"/>
                <a:ea typeface="Arial"/>
                <a:cs typeface="Arial"/>
              </a:rPr>
              <a:t>First milestone: 10 pilot retailers</a:t>
            </a:r>
          </a:p>
        </p:txBody>
      </p:sp>
      <p:sp>
        <p:nvSpPr>
          <p:cNvPr id="9" name="">
            <a:extLst xmlns:a="http://schemas.openxmlformats.org/drawingml/2006/main">
              <a:ext uri="{FF2B5EF4-FFF2-40B4-BE49-F238E27FC236}">
                <a16:creationId xmlns:a16="http://schemas.microsoft.com/office/drawing/2014/main" id="{BD233B3D-C65F-4942-8657-0C0EEA6C5115}"/>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Market context. Sources: Cambodia Ministry of Commerce and U.S. ITA.</a:t>
            </a:r>
          </a:p>
        </p:txBody>
      </p:sp>
      <p:sp>
        <p:nvSpPr>
          <p:cNvPr id="10" name="">
            <a:extLst xmlns:a="http://schemas.openxmlformats.org/drawingml/2006/main">
              <a:ext uri="{FF2B5EF4-FFF2-40B4-BE49-F238E27FC236}">
                <a16:creationId xmlns:a16="http://schemas.microsoft.com/office/drawing/2014/main" id="{7B61F190-E6B1-493E-993F-79E59FB2F790}"/>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05</a:t>
            </a:r>
          </a:p>
        </p:txBody>
      </p:sp>
    </p:spTree>
    <p:extLst>
      <p:ext uri="{BB962C8B-B14F-4D97-AF65-F5344CB8AC3E}">
        <p14:creationId xmlns:p14="http://schemas.microsoft.com/office/powerpoint/2010/main" val="12498774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F9A804-5CB8-40ED-83A6-5FDC9DC59E96}"/>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Where Rentify competes</a:t>
            </a:r>
          </a:p>
        </p:txBody>
      </p:sp>
      <p:sp>
        <p:nvSpPr>
          <p:cNvPr id="2" name="">
            <a:extLst xmlns:a="http://schemas.openxmlformats.org/drawingml/2006/main">
              <a:ext uri="{FF2B5EF4-FFF2-40B4-BE49-F238E27FC236}">
                <a16:creationId xmlns:a16="http://schemas.microsoft.com/office/drawing/2014/main" id="{AF435961-6FEE-4742-A953-7A84415B895F}"/>
              </a:ext>
            </a:extLst>
          </p:cNvPr>
          <p:cNvSpPr>
            <a:spLocks xmlns:a="http://schemas.openxmlformats.org/drawingml/2006/main" noGrp="1"/>
          </p:cNvSpPr>
          <p:nvPr/>
        </p:nvSpPr>
        <p:spPr>
          <a:xfrm xmlns:a="http://schemas.openxmlformats.org/drawingml/2006/main">
            <a:off x="685800" y="17049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52637A"/>
                </a:solidFill>
                <a:latin typeface="Arial"/>
                <a:ea typeface="Arial"/>
                <a:cs typeface="Arial"/>
              </a:defRPr>
            </a:pPr>
            <a:r>
              <a:rPr sz="1725" b="1">
                <a:solidFill>
                  <a:srgbClr val="52637A"/>
                </a:solidFill>
                <a:latin typeface="Arial"/>
                <a:ea typeface="Arial"/>
                <a:cs typeface="Arial"/>
              </a:rPr>
              <a:t>MERCHANT ALTERNATIVES</a:t>
            </a:r>
          </a:p>
        </p:txBody>
      </p:sp>
      <p:sp>
        <p:nvSpPr>
          <p:cNvPr id="3" name="">
            <a:extLst xmlns:a="http://schemas.openxmlformats.org/drawingml/2006/main">
              <a:ext uri="{FF2B5EF4-FFF2-40B4-BE49-F238E27FC236}">
                <a16:creationId xmlns:a16="http://schemas.microsoft.com/office/drawing/2014/main" id="{99104D47-56D1-449E-A4CD-80658EF080DF}"/>
              </a:ext>
            </a:extLst>
          </p:cNvPr>
          <p:cNvSpPr>
            <a:spLocks xmlns:a="http://schemas.openxmlformats.org/drawingml/2006/main" noGrp="1"/>
          </p:cNvSpPr>
          <p:nvPr/>
        </p:nvSpPr>
        <p:spPr>
          <a:xfrm xmlns:a="http://schemas.openxmlformats.org/drawingml/2006/main">
            <a:off x="685800" y="24193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Khmer24</a:t>
            </a:r>
          </a:p>
        </p:txBody>
      </p:sp>
      <p:sp>
        <p:nvSpPr>
          <p:cNvPr id="4" name="">
            <a:extLst xmlns:a="http://schemas.openxmlformats.org/drawingml/2006/main">
              <a:ext uri="{FF2B5EF4-FFF2-40B4-BE49-F238E27FC236}">
                <a16:creationId xmlns:a16="http://schemas.microsoft.com/office/drawing/2014/main" id="{AE352C67-0C5E-455C-BE1E-D2720359BAD2}"/>
              </a:ext>
            </a:extLst>
          </p:cNvPr>
          <p:cNvSpPr>
            <a:spLocks xmlns:a="http://schemas.openxmlformats.org/drawingml/2006/main" noGrp="1"/>
          </p:cNvSpPr>
          <p:nvPr/>
        </p:nvSpPr>
        <p:spPr>
          <a:xfrm xmlns:a="http://schemas.openxmlformats.org/drawingml/2006/main">
            <a:off x="2486025" y="24193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Broad listings and discovery</a:t>
            </a:r>
          </a:p>
        </p:txBody>
      </p:sp>
      <p:sp>
        <p:nvSpPr>
          <p:cNvPr id="5" name="">
            <a:extLst xmlns:a="http://schemas.openxmlformats.org/drawingml/2006/main">
              <a:ext uri="{FF2B5EF4-FFF2-40B4-BE49-F238E27FC236}">
                <a16:creationId xmlns:a16="http://schemas.microsoft.com/office/drawing/2014/main" id="{C0ED7ECF-F8CC-4F6E-99D5-AB0E2BE61EC9}"/>
              </a:ext>
            </a:extLst>
          </p:cNvPr>
          <p:cNvSpPr>
            <a:spLocks xmlns:a="http://schemas.openxmlformats.org/drawingml/2006/main" noGrp="1"/>
          </p:cNvSpPr>
          <p:nvPr/>
        </p:nvSpPr>
        <p:spPr>
          <a:xfrm xmlns:a="http://schemas.openxmlformats.org/drawingml/2006/main">
            <a:off x="685800" y="3267075"/>
            <a:ext cx="52673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25CE47-E8B3-4A75-9C89-995E4DC3DDFA}"/>
              </a:ext>
            </a:extLst>
          </p:cNvPr>
          <p:cNvSpPr>
            <a:spLocks xmlns:a="http://schemas.openxmlformats.org/drawingml/2006/main" noGrp="1"/>
          </p:cNvSpPr>
          <p:nvPr/>
        </p:nvSpPr>
        <p:spPr>
          <a:xfrm xmlns:a="http://schemas.openxmlformats.org/drawingml/2006/main">
            <a:off x="685800" y="3486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Shopify</a:t>
            </a:r>
          </a:p>
        </p:txBody>
      </p:sp>
      <p:sp>
        <p:nvSpPr>
          <p:cNvPr id="7" name="">
            <a:extLst xmlns:a="http://schemas.openxmlformats.org/drawingml/2006/main">
              <a:ext uri="{FF2B5EF4-FFF2-40B4-BE49-F238E27FC236}">
                <a16:creationId xmlns:a16="http://schemas.microsoft.com/office/drawing/2014/main" id="{A291E2E0-B308-4955-B979-9BA914DD0933}"/>
              </a:ext>
            </a:extLst>
          </p:cNvPr>
          <p:cNvSpPr>
            <a:spLocks xmlns:a="http://schemas.openxmlformats.org/drawingml/2006/main" noGrp="1"/>
          </p:cNvSpPr>
          <p:nvPr/>
        </p:nvSpPr>
        <p:spPr>
          <a:xfrm xmlns:a="http://schemas.openxmlformats.org/drawingml/2006/main">
            <a:off x="2486025" y="34861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Online store and POS</a:t>
            </a:r>
          </a:p>
        </p:txBody>
      </p:sp>
      <p:sp>
        <p:nvSpPr>
          <p:cNvPr id="8" name="">
            <a:extLst xmlns:a="http://schemas.openxmlformats.org/drawingml/2006/main">
              <a:ext uri="{FF2B5EF4-FFF2-40B4-BE49-F238E27FC236}">
                <a16:creationId xmlns:a16="http://schemas.microsoft.com/office/drawing/2014/main" id="{0689657E-2916-49B1-B2F8-FDDF5EA8FC33}"/>
              </a:ext>
            </a:extLst>
          </p:cNvPr>
          <p:cNvSpPr>
            <a:spLocks xmlns:a="http://schemas.openxmlformats.org/drawingml/2006/main" noGrp="1"/>
          </p:cNvSpPr>
          <p:nvPr/>
        </p:nvSpPr>
        <p:spPr>
          <a:xfrm xmlns:a="http://schemas.openxmlformats.org/drawingml/2006/main">
            <a:off x="685800" y="4333875"/>
            <a:ext cx="52673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8B6304-0687-4DDA-9557-75AB746CFC31}"/>
              </a:ext>
            </a:extLst>
          </p:cNvPr>
          <p:cNvSpPr>
            <a:spLocks xmlns:a="http://schemas.openxmlformats.org/drawingml/2006/main" noGrp="1"/>
          </p:cNvSpPr>
          <p:nvPr/>
        </p:nvSpPr>
        <p:spPr>
          <a:xfrm xmlns:a="http://schemas.openxmlformats.org/drawingml/2006/main">
            <a:off x="685800" y="45529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5243A"/>
                </a:solidFill>
                <a:latin typeface="Arial"/>
                <a:ea typeface="Arial"/>
                <a:cs typeface="Arial"/>
              </a:defRPr>
            </a:pPr>
            <a:r>
              <a:rPr sz="2175" b="1">
                <a:solidFill>
                  <a:srgbClr val="15243A"/>
                </a:solidFill>
                <a:latin typeface="Arial"/>
                <a:ea typeface="Arial"/>
                <a:cs typeface="Arial"/>
              </a:rPr>
              <a:t>Khmum</a:t>
            </a:r>
          </a:p>
        </p:txBody>
      </p:sp>
      <p:sp>
        <p:nvSpPr>
          <p:cNvPr id="10" name="">
            <a:extLst xmlns:a="http://schemas.openxmlformats.org/drawingml/2006/main">
              <a:ext uri="{FF2B5EF4-FFF2-40B4-BE49-F238E27FC236}">
                <a16:creationId xmlns:a16="http://schemas.microsoft.com/office/drawing/2014/main" id="{6F22C18D-EEBB-4D4D-A0C7-ACD85EF89FA4}"/>
              </a:ext>
            </a:extLst>
          </p:cNvPr>
          <p:cNvSpPr>
            <a:spLocks xmlns:a="http://schemas.openxmlformats.org/drawingml/2006/main" noGrp="1"/>
          </p:cNvSpPr>
          <p:nvPr/>
        </p:nvSpPr>
        <p:spPr>
          <a:xfrm xmlns:a="http://schemas.openxmlformats.org/drawingml/2006/main">
            <a:off x="2486025" y="45529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Marketplace, merchant tools and POS</a:t>
            </a:r>
          </a:p>
        </p:txBody>
      </p:sp>
      <p:sp>
        <p:nvSpPr>
          <p:cNvPr id="11" name="">
            <a:extLst xmlns:a="http://schemas.openxmlformats.org/drawingml/2006/main">
              <a:ext uri="{FF2B5EF4-FFF2-40B4-BE49-F238E27FC236}">
                <a16:creationId xmlns:a16="http://schemas.microsoft.com/office/drawing/2014/main" id="{9AEEA6F5-7365-45E9-B210-B519547C02D4}"/>
              </a:ext>
            </a:extLst>
          </p:cNvPr>
          <p:cNvSpPr>
            <a:spLocks xmlns:a="http://schemas.openxmlformats.org/drawingml/2006/main" noGrp="1"/>
          </p:cNvSpPr>
          <p:nvPr/>
        </p:nvSpPr>
        <p:spPr>
          <a:xfrm xmlns:a="http://schemas.openxmlformats.org/drawingml/2006/main">
            <a:off x="6477000" y="1685925"/>
            <a:ext cx="19050" cy="376237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416D85-BB51-4698-A888-9B125AEEAE38}"/>
              </a:ext>
            </a:extLst>
          </p:cNvPr>
          <p:cNvSpPr>
            <a:spLocks xmlns:a="http://schemas.openxmlformats.org/drawingml/2006/main" noGrp="1"/>
          </p:cNvSpPr>
          <p:nvPr/>
        </p:nvSpPr>
        <p:spPr>
          <a:xfrm xmlns:a="http://schemas.openxmlformats.org/drawingml/2006/main">
            <a:off x="7010400" y="1704975"/>
            <a:ext cx="449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463E8"/>
                </a:solidFill>
                <a:latin typeface="Arial"/>
                <a:ea typeface="Arial"/>
                <a:cs typeface="Arial"/>
              </a:defRPr>
            </a:pPr>
            <a:r>
              <a:rPr sz="1725" b="1">
                <a:solidFill>
                  <a:srgbClr val="2463E8"/>
                </a:solidFill>
                <a:latin typeface="Arial"/>
                <a:ea typeface="Arial"/>
                <a:cs typeface="Arial"/>
              </a:rPr>
              <a:t>RENTIFY’S FOCUS</a:t>
            </a:r>
          </a:p>
        </p:txBody>
      </p:sp>
      <p:sp>
        <p:nvSpPr>
          <p:cNvPr id="13" name="">
            <a:extLst xmlns:a="http://schemas.openxmlformats.org/drawingml/2006/main">
              <a:ext uri="{FF2B5EF4-FFF2-40B4-BE49-F238E27FC236}">
                <a16:creationId xmlns:a16="http://schemas.microsoft.com/office/drawing/2014/main" id="{062B92BA-190C-440E-A035-046964AAB94F}"/>
              </a:ext>
            </a:extLst>
          </p:cNvPr>
          <p:cNvSpPr>
            <a:spLocks xmlns:a="http://schemas.openxmlformats.org/drawingml/2006/main" noGrp="1"/>
          </p:cNvSpPr>
          <p:nvPr/>
        </p:nvSpPr>
        <p:spPr>
          <a:xfrm xmlns:a="http://schemas.openxmlformats.org/drawingml/2006/main">
            <a:off x="7010400" y="2457450"/>
            <a:ext cx="44958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Their brand.</a:t>
            </a:r>
          </a:p>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Shared buyer reach.</a:t>
            </a:r>
          </a:p>
          <a:p xmlns:a="http://schemas.openxmlformats.org/drawingml/2006/main">
            <a:pPr algn="l">
              <a:defRPr sz="2925" b="1">
                <a:solidFill>
                  <a:srgbClr val="15243A"/>
                </a:solidFill>
                <a:latin typeface="Arial"/>
                <a:ea typeface="Arial"/>
                <a:cs typeface="Arial"/>
              </a:defRPr>
            </a:pPr>
            <a:r>
              <a:rPr sz="2925" b="1">
                <a:solidFill>
                  <a:srgbClr val="15243A"/>
                </a:solidFill>
                <a:latin typeface="Arial"/>
                <a:ea typeface="Arial"/>
                <a:cs typeface="Arial"/>
              </a:rPr>
              <a:t>One selling workflow.</a:t>
            </a:r>
          </a:p>
        </p:txBody>
      </p:sp>
      <p:sp>
        <p:nvSpPr>
          <p:cNvPr id="14" name="">
            <a:extLst xmlns:a="http://schemas.openxmlformats.org/drawingml/2006/main">
              <a:ext uri="{FF2B5EF4-FFF2-40B4-BE49-F238E27FC236}">
                <a16:creationId xmlns:a16="http://schemas.microsoft.com/office/drawing/2014/main" id="{A3A59A97-806D-4CC9-8970-69628D85F11C}"/>
              </a:ext>
            </a:extLst>
          </p:cNvPr>
          <p:cNvSpPr>
            <a:spLocks xmlns:a="http://schemas.openxmlformats.org/drawingml/2006/main" noGrp="1"/>
          </p:cNvSpPr>
          <p:nvPr/>
        </p:nvSpPr>
        <p:spPr>
          <a:xfrm xmlns:a="http://schemas.openxmlformats.org/drawingml/2006/main">
            <a:off x="7010400" y="5105400"/>
            <a:ext cx="4495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2463E8"/>
                </a:solidFill>
                <a:latin typeface="Arial"/>
                <a:ea typeface="Arial"/>
                <a:cs typeface="Arial"/>
              </a:defRPr>
            </a:pPr>
            <a:r>
              <a:rPr sz="1950" b="0">
                <a:solidFill>
                  <a:srgbClr val="2463E8"/>
                </a:solidFill>
                <a:latin typeface="Arial"/>
                <a:ea typeface="Arial"/>
                <a:cs typeface="Arial"/>
              </a:rPr>
              <a:t>For small Cambodian retailers</a:t>
            </a:r>
          </a:p>
        </p:txBody>
      </p:sp>
      <p:sp>
        <p:nvSpPr>
          <p:cNvPr id="15" name="">
            <a:extLst xmlns:a="http://schemas.openxmlformats.org/drawingml/2006/main">
              <a:ext uri="{FF2B5EF4-FFF2-40B4-BE49-F238E27FC236}">
                <a16:creationId xmlns:a16="http://schemas.microsoft.com/office/drawing/2014/main" id="{181E74F3-67E8-4DF0-B776-6DFFA9648EAA}"/>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Pilot comparison: setup effort, stock accuracy and total merchant cost.</a:t>
            </a:r>
          </a:p>
        </p:txBody>
      </p:sp>
      <p:sp>
        <p:nvSpPr>
          <p:cNvPr id="16" name="">
            <a:extLst xmlns:a="http://schemas.openxmlformats.org/drawingml/2006/main">
              <a:ext uri="{FF2B5EF4-FFF2-40B4-BE49-F238E27FC236}">
                <a16:creationId xmlns:a16="http://schemas.microsoft.com/office/drawing/2014/main" id="{BA933A5F-1FCC-4675-8801-E64C3EB5E798}"/>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06</a:t>
            </a:r>
          </a:p>
        </p:txBody>
      </p:sp>
    </p:spTree>
    <p:extLst>
      <p:ext uri="{BB962C8B-B14F-4D97-AF65-F5344CB8AC3E}">
        <p14:creationId xmlns:p14="http://schemas.microsoft.com/office/powerpoint/2010/main" val="2034714135"/>
      </p:ext>
    </p:extLst>
  </p:cSld>
</p:sld>
</file>

<file path=ppt/slides/slide7.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8E481C-B68B-43A0-9CAA-EB38FC8278D2}"/>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Two ways Rentify earns revenue</a:t>
            </a:r>
          </a:p>
        </p:txBody>
      </p:sp>
      <p:sp>
        <p:nvSpPr>
          <p:cNvPr id="2" name="">
            <a:extLst xmlns:a="http://schemas.openxmlformats.org/drawingml/2006/main">
              <a:ext uri="{FF2B5EF4-FFF2-40B4-BE49-F238E27FC236}">
                <a16:creationId xmlns:a16="http://schemas.microsoft.com/office/drawing/2014/main" id="{A1F4CD92-4ABA-4291-AF61-418CAC3C8150}"/>
              </a:ext>
            </a:extLst>
          </p:cNvPr>
          <p:cNvSpPr>
            <a:spLocks xmlns:a="http://schemas.openxmlformats.org/drawingml/2006/main" noGrp="1"/>
          </p:cNvSpPr>
          <p:nvPr/>
        </p:nvSpPr>
        <p:spPr>
          <a:xfrm xmlns:a="http://schemas.openxmlformats.org/drawingml/2006/main">
            <a:off x="685800" y="1885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D6F4F0"/>
                </a:solidFill>
                <a:latin typeface="Arial"/>
                <a:ea typeface="Arial"/>
                <a:cs typeface="Arial"/>
              </a:defRPr>
            </a:pPr>
            <a:r>
              <a:rPr sz="1875" b="1">
                <a:solidFill>
                  <a:srgbClr val="D6F4F0"/>
                </a:solidFill>
                <a:latin typeface="Arial"/>
                <a:ea typeface="Arial"/>
                <a:cs typeface="Arial"/>
              </a:rPr>
              <a:t>SUBSCRIPTION</a:t>
            </a:r>
          </a:p>
        </p:txBody>
      </p:sp>
      <p:sp>
        <p:nvSpPr>
          <p:cNvPr id="3" name="">
            <a:extLst xmlns:a="http://schemas.openxmlformats.org/drawingml/2006/main">
              <a:ext uri="{FF2B5EF4-FFF2-40B4-BE49-F238E27FC236}">
                <a16:creationId xmlns:a16="http://schemas.microsoft.com/office/drawing/2014/main" id="{C6D002B0-EF81-4EBC-B436-F8DE5B0BEABA}"/>
              </a:ext>
            </a:extLst>
          </p:cNvPr>
          <p:cNvSpPr>
            <a:spLocks xmlns:a="http://schemas.openxmlformats.org/drawingml/2006/main" noGrp="1"/>
          </p:cNvSpPr>
          <p:nvPr/>
        </p:nvSpPr>
        <p:spPr>
          <a:xfrm xmlns:a="http://schemas.openxmlformats.org/drawingml/2006/main">
            <a:off x="685800" y="2600325"/>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Personal storefront</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and POS tools</a:t>
            </a:r>
          </a:p>
        </p:txBody>
      </p:sp>
      <p:sp>
        <p:nvSpPr>
          <p:cNvPr id="4" name="">
            <a:extLst xmlns:a="http://schemas.openxmlformats.org/drawingml/2006/main">
              <a:ext uri="{FF2B5EF4-FFF2-40B4-BE49-F238E27FC236}">
                <a16:creationId xmlns:a16="http://schemas.microsoft.com/office/drawing/2014/main" id="{F0AFC569-6C54-4028-B7A0-F2F8F22D78B2}"/>
              </a:ext>
            </a:extLst>
          </p:cNvPr>
          <p:cNvSpPr>
            <a:spLocks xmlns:a="http://schemas.openxmlformats.org/drawingml/2006/main" noGrp="1"/>
          </p:cNvSpPr>
          <p:nvPr/>
        </p:nvSpPr>
        <p:spPr>
          <a:xfrm xmlns:a="http://schemas.openxmlformats.org/drawingml/2006/main">
            <a:off x="685800" y="41624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Recurring value for daily operations</a:t>
            </a:r>
          </a:p>
        </p:txBody>
      </p:sp>
      <p:sp>
        <p:nvSpPr>
          <p:cNvPr id="5" name="">
            <a:extLst xmlns:a="http://schemas.openxmlformats.org/drawingml/2006/main">
              <a:ext uri="{FF2B5EF4-FFF2-40B4-BE49-F238E27FC236}">
                <a16:creationId xmlns:a16="http://schemas.microsoft.com/office/drawing/2014/main" id="{656833F4-03C5-4537-9730-AEE4F26C7980}"/>
              </a:ext>
            </a:extLst>
          </p:cNvPr>
          <p:cNvSpPr>
            <a:spLocks xmlns:a="http://schemas.openxmlformats.org/drawingml/2006/main" noGrp="1"/>
          </p:cNvSpPr>
          <p:nvPr/>
        </p:nvSpPr>
        <p:spPr>
          <a:xfrm xmlns:a="http://schemas.openxmlformats.org/drawingml/2006/main">
            <a:off x="6048375" y="1905000"/>
            <a:ext cx="19050" cy="3209925"/>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F01B7C-E784-4B1E-8A52-3F765B56CD11}"/>
              </a:ext>
            </a:extLst>
          </p:cNvPr>
          <p:cNvSpPr>
            <a:spLocks xmlns:a="http://schemas.openxmlformats.org/drawingml/2006/main" noGrp="1"/>
          </p:cNvSpPr>
          <p:nvPr/>
        </p:nvSpPr>
        <p:spPr>
          <a:xfrm xmlns:a="http://schemas.openxmlformats.org/drawingml/2006/main">
            <a:off x="6572250" y="188595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D6F4F0"/>
                </a:solidFill>
                <a:latin typeface="Arial"/>
                <a:ea typeface="Arial"/>
                <a:cs typeface="Arial"/>
              </a:defRPr>
            </a:pPr>
            <a:r>
              <a:rPr sz="1875" b="1">
                <a:solidFill>
                  <a:srgbClr val="D6F4F0"/>
                </a:solidFill>
                <a:latin typeface="Arial"/>
                <a:ea typeface="Arial"/>
                <a:cs typeface="Arial"/>
              </a:rPr>
              <a:t>COMMISSION</a:t>
            </a:r>
          </a:p>
        </p:txBody>
      </p:sp>
      <p:sp>
        <p:nvSpPr>
          <p:cNvPr id="7" name="">
            <a:extLst xmlns:a="http://schemas.openxmlformats.org/drawingml/2006/main">
              <a:ext uri="{FF2B5EF4-FFF2-40B4-BE49-F238E27FC236}">
                <a16:creationId xmlns:a16="http://schemas.microsoft.com/office/drawing/2014/main" id="{810C577F-4B7D-46AD-B5D8-41DF672AF7F3}"/>
              </a:ext>
            </a:extLst>
          </p:cNvPr>
          <p:cNvSpPr>
            <a:spLocks xmlns:a="http://schemas.openxmlformats.org/drawingml/2006/main" noGrp="1"/>
          </p:cNvSpPr>
          <p:nvPr/>
        </p:nvSpPr>
        <p:spPr>
          <a:xfrm xmlns:a="http://schemas.openxmlformats.org/drawingml/2006/main">
            <a:off x="6572250" y="2600325"/>
            <a:ext cx="4933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Completed marketplace</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orders</a:t>
            </a:r>
          </a:p>
        </p:txBody>
      </p:sp>
      <p:sp>
        <p:nvSpPr>
          <p:cNvPr id="8" name="">
            <a:extLst xmlns:a="http://schemas.openxmlformats.org/drawingml/2006/main">
              <a:ext uri="{FF2B5EF4-FFF2-40B4-BE49-F238E27FC236}">
                <a16:creationId xmlns:a16="http://schemas.microsoft.com/office/drawing/2014/main" id="{175F03C9-D2B1-42C2-A44F-4D8AF29F2F07}"/>
              </a:ext>
            </a:extLst>
          </p:cNvPr>
          <p:cNvSpPr>
            <a:spLocks xmlns:a="http://schemas.openxmlformats.org/drawingml/2006/main" noGrp="1"/>
          </p:cNvSpPr>
          <p:nvPr/>
        </p:nvSpPr>
        <p:spPr>
          <a:xfrm xmlns:a="http://schemas.openxmlformats.org/drawingml/2006/main">
            <a:off x="6572250" y="4162425"/>
            <a:ext cx="4933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Revenue grows with marketplace sales</a:t>
            </a:r>
          </a:p>
        </p:txBody>
      </p:sp>
      <p:sp>
        <p:nvSpPr>
          <p:cNvPr id="9" name="">
            <a:extLst xmlns:a="http://schemas.openxmlformats.org/drawingml/2006/main">
              <a:ext uri="{FF2B5EF4-FFF2-40B4-BE49-F238E27FC236}">
                <a16:creationId xmlns:a16="http://schemas.microsoft.com/office/drawing/2014/main" id="{C905239F-3E21-4482-A653-6D6584093F15}"/>
              </a:ext>
            </a:extLst>
          </p:cNvPr>
          <p:cNvSpPr>
            <a:spLocks xmlns:a="http://schemas.openxmlformats.org/drawingml/2006/main" noGrp="1"/>
          </p:cNvSpPr>
          <p:nvPr/>
        </p:nvSpPr>
        <p:spPr>
          <a:xfrm xmlns:a="http://schemas.openxmlformats.org/drawingml/2006/main">
            <a:off x="685800" y="5524500"/>
            <a:ext cx="1082040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CC8D60-11D7-4BD6-B918-563E4561C887}"/>
              </a:ext>
            </a:extLst>
          </p:cNvPr>
          <p:cNvSpPr>
            <a:spLocks xmlns:a="http://schemas.openxmlformats.org/drawingml/2006/main" noGrp="1"/>
          </p:cNvSpPr>
          <p:nvPr/>
        </p:nvSpPr>
        <p:spPr>
          <a:xfrm xmlns:a="http://schemas.openxmlformats.org/drawingml/2006/main">
            <a:off x="685800" y="58388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Planned model. Pricing and commission rates will be tested with merchants.</a:t>
            </a:r>
          </a:p>
        </p:txBody>
      </p:sp>
      <p:sp>
        <p:nvSpPr>
          <p:cNvPr id="11" name="">
            <a:extLst xmlns:a="http://schemas.openxmlformats.org/drawingml/2006/main">
              <a:ext uri="{FF2B5EF4-FFF2-40B4-BE49-F238E27FC236}">
                <a16:creationId xmlns:a16="http://schemas.microsoft.com/office/drawing/2014/main" id="{1774E41D-E28F-42CE-82A5-8C8014E65526}"/>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07</a:t>
            </a:r>
          </a:p>
        </p:txBody>
      </p:sp>
    </p:spTree>
    <p:extLst>
      <p:ext uri="{BB962C8B-B14F-4D97-AF65-F5344CB8AC3E}">
        <p14:creationId xmlns:p14="http://schemas.microsoft.com/office/powerpoint/2010/main" val="575725346"/>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EF71B1-2265-4827-97E5-DC5CF5E90FC8}"/>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Our launch plan: 10 retailers and their buyers</a:t>
            </a:r>
          </a:p>
        </p:txBody>
      </p:sp>
      <p:sp>
        <p:nvSpPr>
          <p:cNvPr id="2" name="">
            <a:extLst xmlns:a="http://schemas.openxmlformats.org/drawingml/2006/main">
              <a:ext uri="{FF2B5EF4-FFF2-40B4-BE49-F238E27FC236}">
                <a16:creationId xmlns:a16="http://schemas.microsoft.com/office/drawing/2014/main" id="{0FB9B80A-4C6A-4231-939D-436C0ED98D66}"/>
              </a:ext>
            </a:extLst>
          </p:cNvPr>
          <p:cNvSpPr>
            <a:spLocks xmlns:a="http://schemas.openxmlformats.org/drawingml/2006/main" noGrp="1"/>
          </p:cNvSpPr>
          <p:nvPr/>
        </p:nvSpPr>
        <p:spPr>
          <a:xfrm xmlns:a="http://schemas.openxmlformats.org/drawingml/2006/main">
            <a:off x="685800" y="1790700"/>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6C4A89C-8F2C-47D3-9663-C88A768FBC97}"/>
              </a:ext>
            </a:extLst>
          </p:cNvPr>
          <p:cNvSpPr>
            <a:spLocks xmlns:a="http://schemas.openxmlformats.org/drawingml/2006/main" noGrp="1"/>
          </p:cNvSpPr>
          <p:nvPr/>
        </p:nvSpPr>
        <p:spPr>
          <a:xfrm xmlns:a="http://schemas.openxmlformats.org/drawingml/2006/main">
            <a:off x="1781175" y="1790700"/>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Recruit merchants</a:t>
            </a:r>
          </a:p>
        </p:txBody>
      </p:sp>
      <p:sp>
        <p:nvSpPr>
          <p:cNvPr id="4" name="">
            <a:extLst xmlns:a="http://schemas.openxmlformats.org/drawingml/2006/main">
              <a:ext uri="{FF2B5EF4-FFF2-40B4-BE49-F238E27FC236}">
                <a16:creationId xmlns:a16="http://schemas.microsoft.com/office/drawing/2014/main" id="{D83DD41F-50E5-4DB2-92B9-8BD80AAA5419}"/>
              </a:ext>
            </a:extLst>
          </p:cNvPr>
          <p:cNvSpPr>
            <a:spLocks xmlns:a="http://schemas.openxmlformats.org/drawingml/2006/main" noGrp="1"/>
          </p:cNvSpPr>
          <p:nvPr/>
        </p:nvSpPr>
        <p:spPr>
          <a:xfrm xmlns:a="http://schemas.openxmlformats.org/drawingml/2006/main">
            <a:off x="1781175" y="2324100"/>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Founder shop visits and merchant referrals</a:t>
            </a:r>
          </a:p>
        </p:txBody>
      </p:sp>
      <p:sp>
        <p:nvSpPr>
          <p:cNvPr id="5" name="">
            <a:extLst xmlns:a="http://schemas.openxmlformats.org/drawingml/2006/main">
              <a:ext uri="{FF2B5EF4-FFF2-40B4-BE49-F238E27FC236}">
                <a16:creationId xmlns:a16="http://schemas.microsoft.com/office/drawing/2014/main" id="{1D813A45-F06A-4A3D-A2B6-1C2F25BAC01D}"/>
              </a:ext>
            </a:extLst>
          </p:cNvPr>
          <p:cNvSpPr>
            <a:spLocks xmlns:a="http://schemas.openxmlformats.org/drawingml/2006/main" noGrp="1"/>
          </p:cNvSpPr>
          <p:nvPr/>
        </p:nvSpPr>
        <p:spPr>
          <a:xfrm xmlns:a="http://schemas.openxmlformats.org/drawingml/2006/main">
            <a:off x="1781175" y="2990850"/>
            <a:ext cx="97250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9474DB8-AF56-4C44-AC23-1DD4C6815EE2}"/>
              </a:ext>
            </a:extLst>
          </p:cNvPr>
          <p:cNvSpPr>
            <a:spLocks xmlns:a="http://schemas.openxmlformats.org/drawingml/2006/main" noGrp="1"/>
          </p:cNvSpPr>
          <p:nvPr/>
        </p:nvSpPr>
        <p:spPr>
          <a:xfrm xmlns:a="http://schemas.openxmlformats.org/drawingml/2006/main">
            <a:off x="685800" y="3152775"/>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9E1EC07-9704-4643-9BDF-766BF02DBC72}"/>
              </a:ext>
            </a:extLst>
          </p:cNvPr>
          <p:cNvSpPr>
            <a:spLocks xmlns:a="http://schemas.openxmlformats.org/drawingml/2006/main" noGrp="1"/>
          </p:cNvSpPr>
          <p:nvPr/>
        </p:nvSpPr>
        <p:spPr>
          <a:xfrm xmlns:a="http://schemas.openxmlformats.org/drawingml/2006/main">
            <a:off x="1781175" y="3152775"/>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Bring first buyers</a:t>
            </a:r>
          </a:p>
        </p:txBody>
      </p:sp>
      <p:sp>
        <p:nvSpPr>
          <p:cNvPr id="8" name="">
            <a:extLst xmlns:a="http://schemas.openxmlformats.org/drawingml/2006/main">
              <a:ext uri="{FF2B5EF4-FFF2-40B4-BE49-F238E27FC236}">
                <a16:creationId xmlns:a16="http://schemas.microsoft.com/office/drawing/2014/main" id="{9E405BC6-93BC-44B1-9E1A-3EC18CB2D228}"/>
              </a:ext>
            </a:extLst>
          </p:cNvPr>
          <p:cNvSpPr>
            <a:spLocks xmlns:a="http://schemas.openxmlformats.org/drawingml/2006/main" noGrp="1"/>
          </p:cNvSpPr>
          <p:nvPr/>
        </p:nvSpPr>
        <p:spPr>
          <a:xfrm xmlns:a="http://schemas.openxmlformats.org/drawingml/2006/main">
            <a:off x="1781175" y="3686175"/>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Merchant-shared store links and social posts</a:t>
            </a:r>
          </a:p>
        </p:txBody>
      </p:sp>
      <p:sp>
        <p:nvSpPr>
          <p:cNvPr id="9" name="">
            <a:extLst xmlns:a="http://schemas.openxmlformats.org/drawingml/2006/main">
              <a:ext uri="{FF2B5EF4-FFF2-40B4-BE49-F238E27FC236}">
                <a16:creationId xmlns:a16="http://schemas.microsoft.com/office/drawing/2014/main" id="{C5FDF6DF-39C3-4178-B064-55D53BFEE47A}"/>
              </a:ext>
            </a:extLst>
          </p:cNvPr>
          <p:cNvSpPr>
            <a:spLocks xmlns:a="http://schemas.openxmlformats.org/drawingml/2006/main" noGrp="1"/>
          </p:cNvSpPr>
          <p:nvPr/>
        </p:nvSpPr>
        <p:spPr>
          <a:xfrm xmlns:a="http://schemas.openxmlformats.org/drawingml/2006/main">
            <a:off x="1781175" y="4352925"/>
            <a:ext cx="9725025"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C34F02-06C5-48D9-B944-DE2059051579}"/>
              </a:ext>
            </a:extLst>
          </p:cNvPr>
          <p:cNvSpPr>
            <a:spLocks xmlns:a="http://schemas.openxmlformats.org/drawingml/2006/main" noGrp="1"/>
          </p:cNvSpPr>
          <p:nvPr/>
        </p:nvSpPr>
        <p:spPr>
          <a:xfrm xmlns:a="http://schemas.openxmlformats.org/drawingml/2006/main">
            <a:off x="685800" y="4514850"/>
            <a:ext cx="876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2463E8"/>
                </a:solidFill>
                <a:latin typeface="Arial"/>
                <a:ea typeface="Arial"/>
                <a:cs typeface="Arial"/>
              </a:defRPr>
            </a:pPr>
            <a:r>
              <a:rPr sz="3450" b="1">
                <a:solidFill>
                  <a:srgbClr val="2463E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A1CDC62-91D7-477E-8FAC-5439CD692764}"/>
              </a:ext>
            </a:extLst>
          </p:cNvPr>
          <p:cNvSpPr>
            <a:spLocks xmlns:a="http://schemas.openxmlformats.org/drawingml/2006/main" noGrp="1"/>
          </p:cNvSpPr>
          <p:nvPr/>
        </p:nvSpPr>
        <p:spPr>
          <a:xfrm xmlns:a="http://schemas.openxmlformats.org/drawingml/2006/main">
            <a:off x="1781175" y="4514850"/>
            <a:ext cx="923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5243A"/>
                </a:solidFill>
                <a:latin typeface="Arial"/>
                <a:ea typeface="Arial"/>
                <a:cs typeface="Arial"/>
              </a:defRPr>
            </a:pPr>
            <a:r>
              <a:rPr sz="2400" b="1">
                <a:solidFill>
                  <a:srgbClr val="15243A"/>
                </a:solidFill>
                <a:latin typeface="Arial"/>
                <a:ea typeface="Arial"/>
                <a:cs typeface="Arial"/>
              </a:rPr>
              <a:t>Earn repeat use</a:t>
            </a:r>
          </a:p>
        </p:txBody>
      </p:sp>
      <p:sp>
        <p:nvSpPr>
          <p:cNvPr id="12" name="">
            <a:extLst xmlns:a="http://schemas.openxmlformats.org/drawingml/2006/main">
              <a:ext uri="{FF2B5EF4-FFF2-40B4-BE49-F238E27FC236}">
                <a16:creationId xmlns:a16="http://schemas.microsoft.com/office/drawing/2014/main" id="{FCB50B3A-C081-4610-9E52-96971624B5A5}"/>
              </a:ext>
            </a:extLst>
          </p:cNvPr>
          <p:cNvSpPr>
            <a:spLocks xmlns:a="http://schemas.openxmlformats.org/drawingml/2006/main" noGrp="1"/>
          </p:cNvSpPr>
          <p:nvPr/>
        </p:nvSpPr>
        <p:spPr>
          <a:xfrm xmlns:a="http://schemas.openxmlformats.org/drawingml/2006/main">
            <a:off x="1781175" y="5048250"/>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37A"/>
                </a:solidFill>
                <a:latin typeface="Arial"/>
                <a:ea typeface="Arial"/>
                <a:cs typeface="Arial"/>
              </a:defRPr>
            </a:pPr>
            <a:r>
              <a:rPr sz="2025" b="0">
                <a:solidFill>
                  <a:srgbClr val="52637A"/>
                </a:solidFill>
                <a:latin typeface="Arial"/>
                <a:ea typeface="Arial"/>
                <a:cs typeface="Arial"/>
              </a:rPr>
              <a:t>Track orders, stock accuracy and willingness to pay</a:t>
            </a:r>
          </a:p>
        </p:txBody>
      </p:sp>
      <p:sp>
        <p:nvSpPr>
          <p:cNvPr id="13" name="">
            <a:extLst xmlns:a="http://schemas.openxmlformats.org/drawingml/2006/main">
              <a:ext uri="{FF2B5EF4-FFF2-40B4-BE49-F238E27FC236}">
                <a16:creationId xmlns:a16="http://schemas.microsoft.com/office/drawing/2014/main" id="{2447EA8D-9DFA-4F7A-B386-2A2C7ED3052C}"/>
              </a:ext>
            </a:extLst>
          </p:cNvPr>
          <p:cNvSpPr>
            <a:spLocks xmlns:a="http://schemas.openxmlformats.org/drawingml/2006/main" noGrp="1"/>
          </p:cNvSpPr>
          <p:nvPr/>
        </p:nvSpPr>
        <p:spPr>
          <a:xfrm xmlns:a="http://schemas.openxmlformats.org/drawingml/2006/main">
            <a:off x="685800" y="62007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Proposed pilot plan. Merchant traction has not yet been verified.</a:t>
            </a:r>
          </a:p>
        </p:txBody>
      </p:sp>
      <p:sp>
        <p:nvSpPr>
          <p:cNvPr id="14" name="">
            <a:extLst xmlns:a="http://schemas.openxmlformats.org/drawingml/2006/main">
              <a:ext uri="{FF2B5EF4-FFF2-40B4-BE49-F238E27FC236}">
                <a16:creationId xmlns:a16="http://schemas.microsoft.com/office/drawing/2014/main" id="{68169FE4-64FD-4FC0-ACA3-D22AA458E13B}"/>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08</a:t>
            </a:r>
          </a:p>
        </p:txBody>
      </p:sp>
    </p:spTree>
    <p:extLst>
      <p:ext uri="{BB962C8B-B14F-4D97-AF65-F5344CB8AC3E}">
        <p14:creationId xmlns:p14="http://schemas.microsoft.com/office/powerpoint/2010/main" val="877341918"/>
      </p:ext>
    </p:extLst>
  </p:cSld>
</p:sld>
</file>

<file path=ppt/slides/slide9.xml><?xml version="1.0" encoding="utf-8"?>
<p:sld xmlns:p="http://schemas.openxmlformats.org/presentationml/2006/main">
  <p:cSld>
    <p:bg>
      <p:bgPr>
        <a:solidFill xmlns:a="http://schemas.openxmlformats.org/drawingml/2006/main">
          <a:srgbClr val="111D3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90EDBF-7CE8-4A67-8F52-9511C6700329}"/>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team behind Rentify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2a0c969f69e41c9"/>
          <a:stretch xmlns:a="http://schemas.openxmlformats.org/drawingml/2006/main"/>
        </p:blipFill>
        <p:spPr>
          <a:xfrm xmlns:a="http://schemas.openxmlformats.org/drawingml/2006/main">
            <a:off x="687617" y="1485900"/>
            <a:ext cx="1844216" cy="2019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B4B806-1977-4C70-8BA4-8696594D7A7A}"/>
              </a:ext>
            </a:extLst>
          </p:cNvPr>
          <p:cNvSpPr>
            <a:spLocks xmlns:a="http://schemas.openxmlformats.org/drawingml/2006/main" noGrp="1"/>
          </p:cNvSpPr>
          <p:nvPr/>
        </p:nvSpPr>
        <p:spPr>
          <a:xfrm xmlns:a="http://schemas.openxmlformats.org/drawingml/2006/main">
            <a:off x="68580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Long</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Mengchheng</a:t>
            </a:r>
          </a:p>
        </p:txBody>
      </p:sp>
      <p:sp>
        <p:nvSpPr>
          <p:cNvPr id="4" name="">
            <a:extLst xmlns:a="http://schemas.openxmlformats.org/drawingml/2006/main">
              <a:ext uri="{FF2B5EF4-FFF2-40B4-BE49-F238E27FC236}">
                <a16:creationId xmlns:a16="http://schemas.microsoft.com/office/drawing/2014/main" id="{CFC2AE1A-7B4B-43A7-949B-E216CCD1555C}"/>
              </a:ext>
            </a:extLst>
          </p:cNvPr>
          <p:cNvSpPr>
            <a:spLocks xmlns:a="http://schemas.openxmlformats.org/drawingml/2006/main" noGrp="1"/>
          </p:cNvSpPr>
          <p:nvPr/>
        </p:nvSpPr>
        <p:spPr>
          <a:xfrm xmlns:a="http://schemas.openxmlformats.org/drawingml/2006/main">
            <a:off x="68580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Team / Product lead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033f15e7136404d"/>
          <a:stretch xmlns:a="http://schemas.openxmlformats.org/drawingml/2006/main"/>
        </p:blipFill>
        <p:spPr>
          <a:xfrm xmlns:a="http://schemas.openxmlformats.org/drawingml/2006/main">
            <a:off x="2901820" y="1485900"/>
            <a:ext cx="1854459" cy="2019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5798FA-C107-467C-A00C-2B6EB0BFFBED}"/>
              </a:ext>
            </a:extLst>
          </p:cNvPr>
          <p:cNvSpPr>
            <a:spLocks xmlns:a="http://schemas.openxmlformats.org/drawingml/2006/main" noGrp="1"/>
          </p:cNvSpPr>
          <p:nvPr/>
        </p:nvSpPr>
        <p:spPr>
          <a:xfrm xmlns:a="http://schemas.openxmlformats.org/drawingml/2006/main">
            <a:off x="2905125"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Hong</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Thanbrathna</a:t>
            </a:r>
          </a:p>
        </p:txBody>
      </p:sp>
      <p:sp>
        <p:nvSpPr>
          <p:cNvPr id="7" name="">
            <a:extLst xmlns:a="http://schemas.openxmlformats.org/drawingml/2006/main">
              <a:ext uri="{FF2B5EF4-FFF2-40B4-BE49-F238E27FC236}">
                <a16:creationId xmlns:a16="http://schemas.microsoft.com/office/drawing/2014/main" id="{D4D9C2B2-0115-40D7-97E6-552D83106C75}"/>
              </a:ext>
            </a:extLst>
          </p:cNvPr>
          <p:cNvSpPr>
            <a:spLocks xmlns:a="http://schemas.openxmlformats.org/drawingml/2006/main" noGrp="1"/>
          </p:cNvSpPr>
          <p:nvPr/>
        </p:nvSpPr>
        <p:spPr>
          <a:xfrm xmlns:a="http://schemas.openxmlformats.org/drawingml/2006/main">
            <a:off x="2905125"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Idea founder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55028e479a2406a"/>
          <a:stretch xmlns:a="http://schemas.openxmlformats.org/drawingml/2006/main"/>
        </p:blipFill>
        <p:spPr>
          <a:xfrm xmlns:a="http://schemas.openxmlformats.org/drawingml/2006/main">
            <a:off x="5162127" y="1485900"/>
            <a:ext cx="1772497" cy="20193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BF5C437-16E7-4647-9259-A596E703ED63}"/>
              </a:ext>
            </a:extLst>
          </p:cNvPr>
          <p:cNvSpPr>
            <a:spLocks xmlns:a="http://schemas.openxmlformats.org/drawingml/2006/main" noGrp="1"/>
          </p:cNvSpPr>
          <p:nvPr/>
        </p:nvSpPr>
        <p:spPr>
          <a:xfrm xmlns:a="http://schemas.openxmlformats.org/drawingml/2006/main">
            <a:off x="512445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Khemrak Pasey</a:t>
            </a:r>
          </a:p>
        </p:txBody>
      </p:sp>
      <p:sp>
        <p:nvSpPr>
          <p:cNvPr id="10" name="">
            <a:extLst xmlns:a="http://schemas.openxmlformats.org/drawingml/2006/main">
              <a:ext uri="{FF2B5EF4-FFF2-40B4-BE49-F238E27FC236}">
                <a16:creationId xmlns:a16="http://schemas.microsoft.com/office/drawing/2014/main" id="{06392506-7CDB-494F-93F8-0BF92039985C}"/>
              </a:ext>
            </a:extLst>
          </p:cNvPr>
          <p:cNvSpPr>
            <a:spLocks xmlns:a="http://schemas.openxmlformats.org/drawingml/2006/main" noGrp="1"/>
          </p:cNvSpPr>
          <p:nvPr/>
        </p:nvSpPr>
        <p:spPr>
          <a:xfrm xmlns:a="http://schemas.openxmlformats.org/drawingml/2006/main">
            <a:off x="512445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Business lead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a17ea894a114a5e"/>
          <a:stretch xmlns:a="http://schemas.openxmlformats.org/drawingml/2006/main"/>
        </p:blipFill>
        <p:spPr>
          <a:xfrm xmlns:a="http://schemas.openxmlformats.org/drawingml/2006/main">
            <a:off x="7371494" y="1485900"/>
            <a:ext cx="1792412" cy="2019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DBBC21E-93B3-4EB4-A51D-72A23D2AD04A}"/>
              </a:ext>
            </a:extLst>
          </p:cNvPr>
          <p:cNvSpPr>
            <a:spLocks xmlns:a="http://schemas.openxmlformats.org/drawingml/2006/main" noGrp="1"/>
          </p:cNvSpPr>
          <p:nvPr/>
        </p:nvSpPr>
        <p:spPr>
          <a:xfrm xmlns:a="http://schemas.openxmlformats.org/drawingml/2006/main">
            <a:off x="7343775"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Mom Sothireak</a:t>
            </a:r>
          </a:p>
        </p:txBody>
      </p:sp>
      <p:sp>
        <p:nvSpPr>
          <p:cNvPr id="13" name="">
            <a:extLst xmlns:a="http://schemas.openxmlformats.org/drawingml/2006/main">
              <a:ext uri="{FF2B5EF4-FFF2-40B4-BE49-F238E27FC236}">
                <a16:creationId xmlns:a16="http://schemas.microsoft.com/office/drawing/2014/main" id="{B1166FC3-1567-48DC-B173-E9477D199E61}"/>
              </a:ext>
            </a:extLst>
          </p:cNvPr>
          <p:cNvSpPr>
            <a:spLocks xmlns:a="http://schemas.openxmlformats.org/drawingml/2006/main" noGrp="1"/>
          </p:cNvSpPr>
          <p:nvPr/>
        </p:nvSpPr>
        <p:spPr>
          <a:xfrm xmlns:a="http://schemas.openxmlformats.org/drawingml/2006/main">
            <a:off x="7343775"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Pitch lead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e345a91f6c841c4"/>
          <a:stretch xmlns:a="http://schemas.openxmlformats.org/drawingml/2006/main"/>
        </p:blipFill>
        <p:spPr>
          <a:xfrm xmlns:a="http://schemas.openxmlformats.org/drawingml/2006/main">
            <a:off x="9625129" y="1485900"/>
            <a:ext cx="1723793" cy="2019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3845194-0D96-44A4-BE61-37A20FA7D513}"/>
              </a:ext>
            </a:extLst>
          </p:cNvPr>
          <p:cNvSpPr>
            <a:spLocks xmlns:a="http://schemas.openxmlformats.org/drawingml/2006/main" noGrp="1"/>
          </p:cNvSpPr>
          <p:nvPr/>
        </p:nvSpPr>
        <p:spPr>
          <a:xfrm xmlns:a="http://schemas.openxmlformats.org/drawingml/2006/main">
            <a:off x="9563100" y="36195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Vy Seoul</a:t>
            </a:r>
          </a:p>
        </p:txBody>
      </p:sp>
      <p:sp>
        <p:nvSpPr>
          <p:cNvPr id="16" name="">
            <a:extLst xmlns:a="http://schemas.openxmlformats.org/drawingml/2006/main">
              <a:ext uri="{FF2B5EF4-FFF2-40B4-BE49-F238E27FC236}">
                <a16:creationId xmlns:a16="http://schemas.microsoft.com/office/drawing/2014/main" id="{9FBC61A5-9027-4A03-B8FD-3368CC0187E7}"/>
              </a:ext>
            </a:extLst>
          </p:cNvPr>
          <p:cNvSpPr>
            <a:spLocks xmlns:a="http://schemas.openxmlformats.org/drawingml/2006/main" noGrp="1"/>
          </p:cNvSpPr>
          <p:nvPr/>
        </p:nvSpPr>
        <p:spPr>
          <a:xfrm xmlns:a="http://schemas.openxmlformats.org/drawingml/2006/main">
            <a:off x="9563100" y="43243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D6F4F0"/>
                </a:solidFill>
                <a:latin typeface="Arial"/>
                <a:ea typeface="Arial"/>
                <a:cs typeface="Arial"/>
              </a:defRPr>
            </a:pPr>
            <a:r>
              <a:rPr sz="1500" b="0">
                <a:solidFill>
                  <a:srgbClr val="D6F4F0"/>
                </a:solidFill>
                <a:latin typeface="Arial"/>
                <a:ea typeface="Arial"/>
                <a:cs typeface="Arial"/>
              </a:rPr>
              <a:t>Team operations</a:t>
            </a:r>
          </a:p>
        </p:txBody>
      </p:sp>
      <p:sp>
        <p:nvSpPr>
          <p:cNvPr id="17" name="">
            <a:extLst xmlns:a="http://schemas.openxmlformats.org/drawingml/2006/main">
              <a:ext uri="{FF2B5EF4-FFF2-40B4-BE49-F238E27FC236}">
                <a16:creationId xmlns:a16="http://schemas.microsoft.com/office/drawing/2014/main" id="{EFC5C048-60F3-44DD-868C-999C542BDFE4}"/>
              </a:ext>
            </a:extLst>
          </p:cNvPr>
          <p:cNvSpPr>
            <a:spLocks xmlns:a="http://schemas.openxmlformats.org/drawingml/2006/main" noGrp="1"/>
          </p:cNvSpPr>
          <p:nvPr/>
        </p:nvSpPr>
        <p:spPr>
          <a:xfrm xmlns:a="http://schemas.openxmlformats.org/drawingml/2006/main">
            <a:off x="685800" y="5010150"/>
            <a:ext cx="10820400" cy="19050"/>
          </a:xfrm>
          <a:prstGeom xmlns:a="http://schemas.openxmlformats.org/drawingml/2006/main" prst="rect">
            <a:avLst/>
          </a:prstGeom>
          <a:solidFill xmlns:a="http://schemas.openxmlformats.org/drawingml/2006/main">
            <a:srgbClr val="0AA7A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0317CE9-B101-491D-AD6D-1105E46D01EC}"/>
              </a:ext>
            </a:extLst>
          </p:cNvPr>
          <p:cNvSpPr>
            <a:spLocks xmlns:a="http://schemas.openxmlformats.org/drawingml/2006/main" noGrp="1"/>
          </p:cNvSpPr>
          <p:nvPr/>
        </p:nvSpPr>
        <p:spPr>
          <a:xfrm xmlns:a="http://schemas.openxmlformats.org/drawingml/2006/main">
            <a:off x="685800" y="52387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Help us meet 10 pilot retailers.</a:t>
            </a:r>
          </a:p>
        </p:txBody>
      </p:sp>
      <p:sp>
        <p:nvSpPr>
          <p:cNvPr id="19" name="">
            <a:extLst xmlns:a="http://schemas.openxmlformats.org/drawingml/2006/main">
              <a:ext uri="{FF2B5EF4-FFF2-40B4-BE49-F238E27FC236}">
                <a16:creationId xmlns:a16="http://schemas.microsoft.com/office/drawing/2014/main" id="{E86DB4F4-3CF3-4561-8838-5822A22F7D75}"/>
              </a:ext>
            </a:extLst>
          </p:cNvPr>
          <p:cNvSpPr>
            <a:spLocks xmlns:a="http://schemas.openxmlformats.org/drawingml/2006/main" noGrp="1"/>
          </p:cNvSpPr>
          <p:nvPr/>
        </p:nvSpPr>
        <p:spPr>
          <a:xfrm xmlns:a="http://schemas.openxmlformats.org/drawingml/2006/main">
            <a:off x="685800" y="60483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D6F4F0"/>
                </a:solidFill>
                <a:latin typeface="Arial"/>
                <a:ea typeface="Arial"/>
                <a:cs typeface="Arial"/>
              </a:defRPr>
            </a:pPr>
            <a:r>
              <a:rPr sz="2100" b="0">
                <a:solidFill>
                  <a:srgbClr val="D6F4F0"/>
                </a:solidFill>
                <a:latin typeface="Arial"/>
                <a:ea typeface="Arial"/>
                <a:cs typeface="Arial"/>
              </a:rPr>
              <a:t>One catalog. Three ways to sell.</a:t>
            </a:r>
          </a:p>
        </p:txBody>
      </p:sp>
      <p:sp>
        <p:nvSpPr>
          <p:cNvPr id="20" name="">
            <a:extLst xmlns:a="http://schemas.openxmlformats.org/drawingml/2006/main">
              <a:ext uri="{FF2B5EF4-FFF2-40B4-BE49-F238E27FC236}">
                <a16:creationId xmlns:a16="http://schemas.microsoft.com/office/drawing/2014/main" id="{EFB1CDF0-8F4E-41CF-9C4E-9AEF76FA3FA9}"/>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D6F4F0"/>
                </a:solidFill>
                <a:latin typeface="Arial"/>
                <a:ea typeface="Arial"/>
                <a:cs typeface="Arial"/>
              </a:defRPr>
            </a:pPr>
            <a:r>
              <a:rPr sz="975" b="0">
                <a:solidFill>
                  <a:srgbClr val="D6F4F0"/>
                </a:solidFill>
                <a:latin typeface="Arial"/>
                <a:ea typeface="Arial"/>
                <a:cs typeface="Arial"/>
              </a:rPr>
              <a:t>09</a:t>
            </a:r>
          </a:p>
        </p:txBody>
      </p:sp>
    </p:spTree>
    <p:extLst>
      <p:ext uri="{BB962C8B-B14F-4D97-AF65-F5344CB8AC3E}">
        <p14:creationId xmlns:p14="http://schemas.microsoft.com/office/powerpoint/2010/main" val="9047918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D0AECF-C9E4-463A-A328-0616CFDCDA0C}"/>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market sizing approach</a:t>
            </a:r>
          </a:p>
        </p:txBody>
      </p:sp>
      <p:sp>
        <p:nvSpPr>
          <p:cNvPr id="2" name="">
            <a:extLst xmlns:a="http://schemas.openxmlformats.org/drawingml/2006/main">
              <a:ext uri="{FF2B5EF4-FFF2-40B4-BE49-F238E27FC236}">
                <a16:creationId xmlns:a16="http://schemas.microsoft.com/office/drawing/2014/main" id="{4077A597-D6E4-4992-974D-73CB2992FBB0}"/>
              </a:ext>
            </a:extLst>
          </p:cNvPr>
          <p:cNvSpPr>
            <a:spLocks xmlns:a="http://schemas.openxmlformats.org/drawingml/2006/main" noGrp="1"/>
          </p:cNvSpPr>
          <p:nvPr/>
        </p:nvSpPr>
        <p:spPr>
          <a:xfrm xmlns:a="http://schemas.openxmlformats.org/drawingml/2006/main">
            <a:off x="685800" y="178117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463E8"/>
                </a:solidFill>
                <a:latin typeface="Arial"/>
                <a:ea typeface="Arial"/>
                <a:cs typeface="Arial"/>
              </a:defRPr>
            </a:pPr>
            <a:r>
              <a:rPr sz="3000" b="1">
                <a:solidFill>
                  <a:srgbClr val="2463E8"/>
                </a:solidFill>
                <a:latin typeface="Arial"/>
                <a:ea typeface="Arial"/>
                <a:cs typeface="Arial"/>
              </a:rPr>
              <a:t>TAM</a:t>
            </a:r>
          </a:p>
        </p:txBody>
      </p:sp>
      <p:sp>
        <p:nvSpPr>
          <p:cNvPr id="3" name="">
            <a:extLst xmlns:a="http://schemas.openxmlformats.org/drawingml/2006/main">
              <a:ext uri="{FF2B5EF4-FFF2-40B4-BE49-F238E27FC236}">
                <a16:creationId xmlns:a16="http://schemas.microsoft.com/office/drawing/2014/main" id="{A5150F66-5125-4AE6-92AF-09B2456F1856}"/>
              </a:ext>
            </a:extLst>
          </p:cNvPr>
          <p:cNvSpPr>
            <a:spLocks xmlns:a="http://schemas.openxmlformats.org/drawingml/2006/main" noGrp="1"/>
          </p:cNvSpPr>
          <p:nvPr/>
        </p:nvSpPr>
        <p:spPr>
          <a:xfrm xmlns:a="http://schemas.openxmlformats.org/drawingml/2006/main">
            <a:off x="2457450" y="178117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Eligible Cambodian retailers</a:t>
            </a:r>
          </a:p>
        </p:txBody>
      </p:sp>
      <p:sp>
        <p:nvSpPr>
          <p:cNvPr id="4" name="">
            <a:extLst xmlns:a="http://schemas.openxmlformats.org/drawingml/2006/main">
              <a:ext uri="{FF2B5EF4-FFF2-40B4-BE49-F238E27FC236}">
                <a16:creationId xmlns:a16="http://schemas.microsoft.com/office/drawing/2014/main" id="{3CE24AB6-3E63-4E88-8EB2-A3A1A75C01CD}"/>
              </a:ext>
            </a:extLst>
          </p:cNvPr>
          <p:cNvSpPr>
            <a:spLocks xmlns:a="http://schemas.openxmlformats.org/drawingml/2006/main" noGrp="1"/>
          </p:cNvSpPr>
          <p:nvPr/>
        </p:nvSpPr>
        <p:spPr>
          <a:xfrm xmlns:a="http://schemas.openxmlformats.org/drawingml/2006/main">
            <a:off x="2457450" y="234315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Annual subscription opportunity + commission on relevant order value</a:t>
            </a:r>
          </a:p>
        </p:txBody>
      </p:sp>
      <p:sp>
        <p:nvSpPr>
          <p:cNvPr id="5" name="">
            <a:extLst xmlns:a="http://schemas.openxmlformats.org/drawingml/2006/main">
              <a:ext uri="{FF2B5EF4-FFF2-40B4-BE49-F238E27FC236}">
                <a16:creationId xmlns:a16="http://schemas.microsoft.com/office/drawing/2014/main" id="{47DD6889-9C26-441D-BDDB-AAD58E49E2CE}"/>
              </a:ext>
            </a:extLst>
          </p:cNvPr>
          <p:cNvSpPr>
            <a:spLocks xmlns:a="http://schemas.openxmlformats.org/drawingml/2006/main" noGrp="1"/>
          </p:cNvSpPr>
          <p:nvPr/>
        </p:nvSpPr>
        <p:spPr>
          <a:xfrm xmlns:a="http://schemas.openxmlformats.org/drawingml/2006/main">
            <a:off x="685800" y="2990850"/>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F9B451-40B7-4C39-A354-7B3A699D9E96}"/>
              </a:ext>
            </a:extLst>
          </p:cNvPr>
          <p:cNvSpPr>
            <a:spLocks xmlns:a="http://schemas.openxmlformats.org/drawingml/2006/main" noGrp="1"/>
          </p:cNvSpPr>
          <p:nvPr/>
        </p:nvSpPr>
        <p:spPr>
          <a:xfrm xmlns:a="http://schemas.openxmlformats.org/drawingml/2006/main">
            <a:off x="685800" y="313372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0AA7A2"/>
                </a:solidFill>
                <a:latin typeface="Arial"/>
                <a:ea typeface="Arial"/>
                <a:cs typeface="Arial"/>
              </a:defRPr>
            </a:pPr>
            <a:r>
              <a:rPr sz="3000" b="1">
                <a:solidFill>
                  <a:srgbClr val="0AA7A2"/>
                </a:solidFill>
                <a:latin typeface="Arial"/>
                <a:ea typeface="Arial"/>
                <a:cs typeface="Arial"/>
              </a:rPr>
              <a:t>SAM</a:t>
            </a:r>
          </a:p>
        </p:txBody>
      </p:sp>
      <p:sp>
        <p:nvSpPr>
          <p:cNvPr id="7" name="">
            <a:extLst xmlns:a="http://schemas.openxmlformats.org/drawingml/2006/main">
              <a:ext uri="{FF2B5EF4-FFF2-40B4-BE49-F238E27FC236}">
                <a16:creationId xmlns:a16="http://schemas.microsoft.com/office/drawing/2014/main" id="{BD4D5C83-660A-45D6-A42B-CB4D4343F8CE}"/>
              </a:ext>
            </a:extLst>
          </p:cNvPr>
          <p:cNvSpPr>
            <a:spLocks xmlns:a="http://schemas.openxmlformats.org/drawingml/2006/main" noGrp="1"/>
          </p:cNvSpPr>
          <p:nvPr/>
        </p:nvSpPr>
        <p:spPr>
          <a:xfrm xmlns:a="http://schemas.openxmlformats.org/drawingml/2006/main">
            <a:off x="2457450" y="313372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Launch segment and service area</a:t>
            </a:r>
          </a:p>
        </p:txBody>
      </p:sp>
      <p:sp>
        <p:nvSpPr>
          <p:cNvPr id="8" name="">
            <a:extLst xmlns:a="http://schemas.openxmlformats.org/drawingml/2006/main">
              <a:ext uri="{FF2B5EF4-FFF2-40B4-BE49-F238E27FC236}">
                <a16:creationId xmlns:a16="http://schemas.microsoft.com/office/drawing/2014/main" id="{6ABC2F39-AFFD-47CC-BD4B-CAE164C54F60}"/>
              </a:ext>
            </a:extLst>
          </p:cNvPr>
          <p:cNvSpPr>
            <a:spLocks xmlns:a="http://schemas.openxmlformats.org/drawingml/2006/main" noGrp="1"/>
          </p:cNvSpPr>
          <p:nvPr/>
        </p:nvSpPr>
        <p:spPr>
          <a:xfrm xmlns:a="http://schemas.openxmlformats.org/drawingml/2006/main">
            <a:off x="2457450" y="369570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Apply the same model to the retailers we can serve</a:t>
            </a:r>
          </a:p>
        </p:txBody>
      </p:sp>
      <p:sp>
        <p:nvSpPr>
          <p:cNvPr id="9" name="">
            <a:extLst xmlns:a="http://schemas.openxmlformats.org/drawingml/2006/main">
              <a:ext uri="{FF2B5EF4-FFF2-40B4-BE49-F238E27FC236}">
                <a16:creationId xmlns:a16="http://schemas.microsoft.com/office/drawing/2014/main" id="{D46DB360-F738-4060-B914-5B18AEB36395}"/>
              </a:ext>
            </a:extLst>
          </p:cNvPr>
          <p:cNvSpPr>
            <a:spLocks xmlns:a="http://schemas.openxmlformats.org/drawingml/2006/main" noGrp="1"/>
          </p:cNvSpPr>
          <p:nvPr/>
        </p:nvSpPr>
        <p:spPr>
          <a:xfrm xmlns:a="http://schemas.openxmlformats.org/drawingml/2006/main">
            <a:off x="685800" y="4343400"/>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08D75C-30A6-4BE4-97C2-14A1FFE478D2}"/>
              </a:ext>
            </a:extLst>
          </p:cNvPr>
          <p:cNvSpPr>
            <a:spLocks xmlns:a="http://schemas.openxmlformats.org/drawingml/2006/main" noGrp="1"/>
          </p:cNvSpPr>
          <p:nvPr/>
        </p:nvSpPr>
        <p:spPr>
          <a:xfrm xmlns:a="http://schemas.openxmlformats.org/drawingml/2006/main">
            <a:off x="685800" y="4486275"/>
            <a:ext cx="152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463E8"/>
                </a:solidFill>
                <a:latin typeface="Arial"/>
                <a:ea typeface="Arial"/>
                <a:cs typeface="Arial"/>
              </a:defRPr>
            </a:pPr>
            <a:r>
              <a:rPr sz="3000" b="1">
                <a:solidFill>
                  <a:srgbClr val="2463E8"/>
                </a:solidFill>
                <a:latin typeface="Arial"/>
                <a:ea typeface="Arial"/>
                <a:cs typeface="Arial"/>
              </a:rPr>
              <a:t>SOM</a:t>
            </a:r>
          </a:p>
        </p:txBody>
      </p:sp>
      <p:sp>
        <p:nvSpPr>
          <p:cNvPr id="11" name="">
            <a:extLst xmlns:a="http://schemas.openxmlformats.org/drawingml/2006/main">
              <a:ext uri="{FF2B5EF4-FFF2-40B4-BE49-F238E27FC236}">
                <a16:creationId xmlns:a16="http://schemas.microsoft.com/office/drawing/2014/main" id="{ADA45604-8D8B-4559-8D11-1124956FC7F9}"/>
              </a:ext>
            </a:extLst>
          </p:cNvPr>
          <p:cNvSpPr>
            <a:spLocks xmlns:a="http://schemas.openxmlformats.org/drawingml/2006/main" noGrp="1"/>
          </p:cNvSpPr>
          <p:nvPr/>
        </p:nvSpPr>
        <p:spPr>
          <a:xfrm xmlns:a="http://schemas.openxmlformats.org/drawingml/2006/main">
            <a:off x="2457450" y="4486275"/>
            <a:ext cx="904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Merchants we can acquire and retain</a:t>
            </a:r>
          </a:p>
        </p:txBody>
      </p:sp>
      <p:sp>
        <p:nvSpPr>
          <p:cNvPr id="12" name="">
            <a:extLst xmlns:a="http://schemas.openxmlformats.org/drawingml/2006/main">
              <a:ext uri="{FF2B5EF4-FFF2-40B4-BE49-F238E27FC236}">
                <a16:creationId xmlns:a16="http://schemas.microsoft.com/office/drawing/2014/main" id="{9B61658C-7946-4FE9-8EE8-E4F96A0363FC}"/>
              </a:ext>
            </a:extLst>
          </p:cNvPr>
          <p:cNvSpPr>
            <a:spLocks xmlns:a="http://schemas.openxmlformats.org/drawingml/2006/main" noGrp="1"/>
          </p:cNvSpPr>
          <p:nvPr/>
        </p:nvSpPr>
        <p:spPr>
          <a:xfrm xmlns:a="http://schemas.openxmlformats.org/drawingml/2006/main">
            <a:off x="2457450" y="5048250"/>
            <a:ext cx="904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Build from outreach, conversion, retention and buyer orders</a:t>
            </a:r>
          </a:p>
        </p:txBody>
      </p:sp>
      <p:sp>
        <p:nvSpPr>
          <p:cNvPr id="13" name="">
            <a:extLst xmlns:a="http://schemas.openxmlformats.org/drawingml/2006/main">
              <a:ext uri="{FF2B5EF4-FFF2-40B4-BE49-F238E27FC236}">
                <a16:creationId xmlns:a16="http://schemas.microsoft.com/office/drawing/2014/main" id="{E61F411A-8538-4493-998E-CC3853DA79CE}"/>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Use one annual revenue basis. Eligible merchant counts and pricing remain to be validated.</a:t>
            </a:r>
          </a:p>
        </p:txBody>
      </p:sp>
      <p:sp>
        <p:nvSpPr>
          <p:cNvPr id="14" name="">
            <a:extLst xmlns:a="http://schemas.openxmlformats.org/drawingml/2006/main">
              <a:ext uri="{FF2B5EF4-FFF2-40B4-BE49-F238E27FC236}">
                <a16:creationId xmlns:a16="http://schemas.microsoft.com/office/drawing/2014/main" id="{E0984E77-E902-4899-808C-5E47BD4B04CB}"/>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10</a:t>
            </a:r>
          </a:p>
        </p:txBody>
      </p:sp>
    </p:spTree>
    <p:extLst>
      <p:ext uri="{BB962C8B-B14F-4D97-AF65-F5344CB8AC3E}">
        <p14:creationId xmlns:p14="http://schemas.microsoft.com/office/powerpoint/2010/main" val="1863089628"/>
      </p:ext>
    </p:extLst>
  </p:cSld>
</p:sld>
</file>

<file path=ppt/slides/slide1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01B3E4-3081-4D64-8204-C7D622D7A058}"/>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competitor evidence</a:t>
            </a:r>
          </a:p>
        </p:txBody>
      </p:sp>
      <p:graphicFrame>
        <p:nvGraphicFramePr>
          <p:cNvPr id="6" name=""/>
          <p:cNvGraphicFramePr/>
          <p:nvPr/>
        </p:nvGraphicFramePr>
        <p:xfrm>
          <a:off xmlns:a="http://schemas.openxmlformats.org/drawingml/2006/main" x="685800" y="1790700"/>
          <a:ext xmlns:a="http://schemas.openxmlformats.org/drawingml/2006/main" cx="10820400" cy="3581400"/>
        </p:xfrm>
        <a:graphic xmlns:a="http://schemas.openxmlformats.org/drawingml/2006/main">
          <a:graphicData uri="http://schemas.openxmlformats.org/drawingml/2006/table">
            <a:tbl>
              <a:tblPr firstRow="1" bandRow="1"/>
              <a:tblGrid>
                <a:gridCol w="1952625"/>
                <a:gridCol w="4429125"/>
                <a:gridCol w="4438650"/>
              </a:tblGrid>
              <a:tr h="716280">
                <a:tc>
                  <a:txBody>
                    <a:bodyPr/>
                    <a:lstStyle/>
                    <a:p>
                      <a:r>
                        <a:rPr sz="1650" b="1">
                          <a:solidFill>
                            <a:srgbClr val="FFFFFF"/>
                          </a:solidFill>
                          <a:latin typeface="Arial"/>
                          <a:ea typeface="Arial"/>
                          <a:cs typeface="Arial"/>
                        </a:rPr>
                        <a:t>Alternative</a:t>
                      </a:r>
                    </a:p>
                  </a:txBody>
                  <a:tcPr marL="133350" marR="133350" marT="133350" marB="95250">
                    <a:solidFill>
                      <a:srgbClr val="111D35"/>
                    </a:solidFill>
                  </a:tcPr>
                </a:tc>
                <a:tc>
                  <a:txBody>
                    <a:bodyPr/>
                    <a:lstStyle/>
                    <a:p>
                      <a:r>
                        <a:rPr sz="1650" b="1">
                          <a:solidFill>
                            <a:srgbClr val="FFFFFF"/>
                          </a:solidFill>
                          <a:latin typeface="Arial"/>
                          <a:ea typeface="Arial"/>
                          <a:cs typeface="Arial"/>
                        </a:rPr>
                        <a:t>Publicly described offer</a:t>
                      </a:r>
                    </a:p>
                  </a:txBody>
                  <a:tcPr marL="133350" marR="133350" marT="133350" marB="95250">
                    <a:solidFill>
                      <a:srgbClr val="111D35"/>
                    </a:solidFill>
                  </a:tcPr>
                </a:tc>
                <a:tc>
                  <a:txBody>
                    <a:bodyPr/>
                    <a:lstStyle/>
                    <a:p>
                      <a:r>
                        <a:rPr sz="1650" b="1">
                          <a:solidFill>
                            <a:srgbClr val="FFFFFF"/>
                          </a:solidFill>
                          <a:latin typeface="Arial"/>
                          <a:ea typeface="Arial"/>
                          <a:cs typeface="Arial"/>
                        </a:rPr>
                        <a:t>Rentify comparison to test</a:t>
                      </a:r>
                    </a:p>
                  </a:txBody>
                  <a:tcPr marL="133350" marR="133350" marT="133350" marB="95250">
                    <a:solidFill>
                      <a:srgbClr val="111D35"/>
                    </a:solidFill>
                  </a:tcPr>
                </a:tc>
              </a:tr>
              <a:tr h="716280">
                <a:tc>
                  <a:txBody>
                    <a:bodyPr/>
                    <a:lstStyle/>
                    <a:p>
                      <a:r>
                        <a:rPr sz="1650">
                          <a:solidFill>
                            <a:srgbClr val="15243A"/>
                          </a:solidFill>
                          <a:latin typeface="Arial"/>
                          <a:ea typeface="Arial"/>
                          <a:cs typeface="Arial"/>
                        </a:rPr>
                        <a:t>Khmer24</a:t>
                      </a:r>
                    </a:p>
                  </a:txBody>
                  <a:tcPr marL="133350" marR="133350" marT="133350" marB="95250"/>
                </a:tc>
                <a:tc>
                  <a:txBody>
                    <a:bodyPr/>
                    <a:lstStyle/>
                    <a:p>
                      <a:r>
                        <a:rPr sz="1650">
                          <a:solidFill>
                            <a:srgbClr val="15243A"/>
                          </a:solidFill>
                          <a:latin typeface="Arial"/>
                          <a:ea typeface="Arial"/>
                          <a:cs typeface="Arial"/>
                        </a:rPr>
                        <a:t>Broad listings and product discovery</a:t>
                      </a:r>
                    </a:p>
                  </a:txBody>
                  <a:tcPr marL="133350" marR="133350" marT="133350" marB="95250"/>
                </a:tc>
                <a:tc>
                  <a:txBody>
                    <a:bodyPr/>
                    <a:lstStyle/>
                    <a:p>
                      <a:r>
                        <a:rPr sz="1650">
                          <a:solidFill>
                            <a:srgbClr val="15243A"/>
                          </a:solidFill>
                          <a:latin typeface="Arial"/>
                          <a:ea typeface="Arial"/>
                          <a:cs typeface="Arial"/>
                        </a:rPr>
                        <a:t>Work needed to manage sales</a:t>
                      </a:r>
                    </a:p>
                  </a:txBody>
                  <a:tcPr marL="133350" marR="133350" marT="133350" marB="95250"/>
                </a:tc>
              </a:tr>
              <a:tr h="716280">
                <a:tc>
                  <a:txBody>
                    <a:bodyPr/>
                    <a:lstStyle/>
                    <a:p>
                      <a:r>
                        <a:rPr sz="1650">
                          <a:solidFill>
                            <a:srgbClr val="15243A"/>
                          </a:solidFill>
                          <a:latin typeface="Arial"/>
                          <a:ea typeface="Arial"/>
                          <a:cs typeface="Arial"/>
                        </a:rPr>
                        <a:t>Smile Shop</a:t>
                      </a:r>
                    </a:p>
                  </a:txBody>
                  <a:tcPr marL="133350" marR="133350" marT="133350" marB="95250"/>
                </a:tc>
                <a:tc>
                  <a:txBody>
                    <a:bodyPr/>
                    <a:lstStyle/>
                    <a:p>
                      <a:r>
                        <a:rPr sz="1650">
                          <a:solidFill>
                            <a:srgbClr val="15243A"/>
                          </a:solidFill>
                          <a:latin typeface="Arial"/>
                          <a:ea typeface="Arial"/>
                          <a:cs typeface="Arial"/>
                        </a:rPr>
                        <a:t>Marketplace, delivery and payments</a:t>
                      </a:r>
                    </a:p>
                  </a:txBody>
                  <a:tcPr marL="133350" marR="133350" marT="133350" marB="95250"/>
                </a:tc>
                <a:tc>
                  <a:txBody>
                    <a:bodyPr/>
                    <a:lstStyle/>
                    <a:p>
                      <a:r>
                        <a:rPr sz="1650">
                          <a:solidFill>
                            <a:srgbClr val="15243A"/>
                          </a:solidFill>
                          <a:latin typeface="Arial"/>
                          <a:ea typeface="Arial"/>
                          <a:cs typeface="Arial"/>
                        </a:rPr>
                        <a:t>Brand ownership and buyer reach</a:t>
                      </a:r>
                    </a:p>
                  </a:txBody>
                  <a:tcPr marL="133350" marR="133350" marT="133350" marB="95250"/>
                </a:tc>
              </a:tr>
              <a:tr h="716280">
                <a:tc>
                  <a:txBody>
                    <a:bodyPr/>
                    <a:lstStyle/>
                    <a:p>
                      <a:r>
                        <a:rPr sz="1650">
                          <a:solidFill>
                            <a:srgbClr val="15243A"/>
                          </a:solidFill>
                          <a:latin typeface="Arial"/>
                          <a:ea typeface="Arial"/>
                          <a:cs typeface="Arial"/>
                        </a:rPr>
                        <a:t>Shopify</a:t>
                      </a:r>
                    </a:p>
                  </a:txBody>
                  <a:tcPr marL="133350" marR="133350" marT="133350" marB="95250"/>
                </a:tc>
                <a:tc>
                  <a:txBody>
                    <a:bodyPr/>
                    <a:lstStyle/>
                    <a:p>
                      <a:r>
                        <a:rPr sz="1650">
                          <a:solidFill>
                            <a:srgbClr val="15243A"/>
                          </a:solidFill>
                          <a:latin typeface="Arial"/>
                          <a:ea typeface="Arial"/>
                          <a:cs typeface="Arial"/>
                        </a:rPr>
                        <a:t>Online store and POS inventory sync</a:t>
                      </a:r>
                    </a:p>
                  </a:txBody>
                  <a:tcPr marL="133350" marR="133350" marT="133350" marB="95250"/>
                </a:tc>
                <a:tc>
                  <a:txBody>
                    <a:bodyPr/>
                    <a:lstStyle/>
                    <a:p>
                      <a:r>
                        <a:rPr sz="1650">
                          <a:solidFill>
                            <a:srgbClr val="15243A"/>
                          </a:solidFill>
                          <a:latin typeface="Arial"/>
                          <a:ea typeface="Arial"/>
                          <a:cs typeface="Arial"/>
                        </a:rPr>
                        <a:t>Local fit and total cost</a:t>
                      </a:r>
                    </a:p>
                  </a:txBody>
                  <a:tcPr marL="133350" marR="133350" marT="133350" marB="95250"/>
                </a:tc>
              </a:tr>
              <a:tr h="716280">
                <a:tc>
                  <a:txBody>
                    <a:bodyPr/>
                    <a:lstStyle/>
                    <a:p>
                      <a:r>
                        <a:rPr sz="1650">
                          <a:solidFill>
                            <a:srgbClr val="15243A"/>
                          </a:solidFill>
                          <a:latin typeface="Arial"/>
                          <a:ea typeface="Arial"/>
                          <a:cs typeface="Arial"/>
                        </a:rPr>
                        <a:t>Khmum eShop</a:t>
                      </a:r>
                    </a:p>
                  </a:txBody>
                  <a:tcPr marL="133350" marR="133350" marT="133350" marB="95250"/>
                </a:tc>
                <a:tc>
                  <a:txBody>
                    <a:bodyPr/>
                    <a:lstStyle/>
                    <a:p>
                      <a:r>
                        <a:rPr sz="1650">
                          <a:solidFill>
                            <a:srgbClr val="15243A"/>
                          </a:solidFill>
                          <a:latin typeface="Arial"/>
                          <a:ea typeface="Arial"/>
                          <a:cs typeface="Arial"/>
                        </a:rPr>
                        <a:t>Marketplace, merchant tools and POS</a:t>
                      </a:r>
                    </a:p>
                  </a:txBody>
                  <a:tcPr marL="133350" marR="133350" marT="133350" marB="95250"/>
                </a:tc>
                <a:tc>
                  <a:txBody>
                    <a:bodyPr/>
                    <a:lstStyle/>
                    <a:p>
                      <a:r>
                        <a:rPr sz="1650">
                          <a:solidFill>
                            <a:srgbClr val="15243A"/>
                          </a:solidFill>
                          <a:latin typeface="Arial"/>
                          <a:ea typeface="Arial"/>
                          <a:cs typeface="Arial"/>
                        </a:rPr>
                        <a:t>Setup, storefront and stock workflow</a:t>
                      </a:r>
                    </a:p>
                  </a:txBody>
                  <a:tcPr marL="133350" marR="133350" marT="133350" marB="95250"/>
                </a:tc>
              </a:tr>
            </a:tbl>
          </a:graphicData>
        </a:graphic>
      </p:graphicFrame>
      <p:sp>
        <p:nvSpPr>
          <p:cNvPr id="3" name="">
            <a:extLst xmlns:a="http://schemas.openxmlformats.org/drawingml/2006/main">
              <a:ext uri="{FF2B5EF4-FFF2-40B4-BE49-F238E27FC236}">
                <a16:creationId xmlns:a16="http://schemas.microsoft.com/office/drawing/2014/main" id="{C1B66D3A-37BC-448D-B9EC-E4CFD4BFEE0B}"/>
              </a:ext>
            </a:extLst>
          </p:cNvPr>
          <p:cNvSpPr>
            <a:spLocks xmlns:a="http://schemas.openxmlformats.org/drawingml/2006/main" noGrp="1"/>
          </p:cNvSpPr>
          <p:nvPr/>
        </p:nvSpPr>
        <p:spPr>
          <a:xfrm xmlns:a="http://schemas.openxmlformats.org/drawingml/2006/main">
            <a:off x="685800" y="5695950"/>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Khmum overlaps with the concept. Rentify’s advantage must come from execution and merchant fit.</a:t>
            </a:r>
          </a:p>
        </p:txBody>
      </p:sp>
      <p:sp>
        <p:nvSpPr>
          <p:cNvPr id="4" name="">
            <a:extLst xmlns:a="http://schemas.openxmlformats.org/drawingml/2006/main">
              <a:ext uri="{FF2B5EF4-FFF2-40B4-BE49-F238E27FC236}">
                <a16:creationId xmlns:a16="http://schemas.microsoft.com/office/drawing/2014/main" id="{29834B4F-5E75-448E-82CE-45CC788A7508}"/>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11</a:t>
            </a:r>
          </a:p>
        </p:txBody>
      </p:sp>
    </p:spTree>
    <p:extLst>
      <p:ext uri="{BB962C8B-B14F-4D97-AF65-F5344CB8AC3E}">
        <p14:creationId xmlns:p14="http://schemas.microsoft.com/office/powerpoint/2010/main" val="17013180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EB3DB61-40D4-4995-812D-A6E13B37870C}"/>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illustrative monthly economics</a:t>
            </a:r>
          </a:p>
        </p:txBody>
      </p:sp>
      <p:sp>
        <p:nvSpPr>
          <p:cNvPr id="2" name="">
            <a:extLst xmlns:a="http://schemas.openxmlformats.org/drawingml/2006/main">
              <a:ext uri="{FF2B5EF4-FFF2-40B4-BE49-F238E27FC236}">
                <a16:creationId xmlns:a16="http://schemas.microsoft.com/office/drawing/2014/main" id="{CF7FF95B-54EA-4384-A600-DFB380CC2957}"/>
              </a:ext>
            </a:extLst>
          </p:cNvPr>
          <p:cNvSpPr>
            <a:spLocks xmlns:a="http://schemas.openxmlformats.org/drawingml/2006/main" noGrp="1"/>
          </p:cNvSpPr>
          <p:nvPr/>
        </p:nvSpPr>
        <p:spPr>
          <a:xfrm xmlns:a="http://schemas.openxmlformats.org/drawingml/2006/main">
            <a:off x="685800" y="15144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Scenario only. These are unvalidated inputs, not announced prices or a forecast.</a:t>
            </a:r>
          </a:p>
        </p:txBody>
      </p:sp>
      <p:sp>
        <p:nvSpPr>
          <p:cNvPr id="3" name="">
            <a:extLst xmlns:a="http://schemas.openxmlformats.org/drawingml/2006/main">
              <a:ext uri="{FF2B5EF4-FFF2-40B4-BE49-F238E27FC236}">
                <a16:creationId xmlns:a16="http://schemas.microsoft.com/office/drawing/2014/main" id="{C91FAEF8-A397-4004-B863-BE4EBF6FCBA0}"/>
              </a:ext>
            </a:extLst>
          </p:cNvPr>
          <p:cNvSpPr>
            <a:spLocks xmlns:a="http://schemas.openxmlformats.org/drawingml/2006/main" noGrp="1"/>
          </p:cNvSpPr>
          <p:nvPr/>
        </p:nvSpPr>
        <p:spPr>
          <a:xfrm xmlns:a="http://schemas.openxmlformats.org/drawingml/2006/main">
            <a:off x="685800" y="2190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463E8"/>
                </a:solidFill>
                <a:latin typeface="Arial"/>
                <a:ea typeface="Arial"/>
                <a:cs typeface="Arial"/>
              </a:defRPr>
            </a:pPr>
            <a:r>
              <a:rPr sz="2175" b="1">
                <a:solidFill>
                  <a:srgbClr val="2463E8"/>
                </a:solidFill>
                <a:latin typeface="Arial"/>
                <a:ea typeface="Arial"/>
                <a:cs typeface="Arial"/>
              </a:rPr>
              <a:t>Subscriptions</a:t>
            </a:r>
          </a:p>
        </p:txBody>
      </p:sp>
      <p:sp>
        <p:nvSpPr>
          <p:cNvPr id="4" name="">
            <a:extLst xmlns:a="http://schemas.openxmlformats.org/drawingml/2006/main">
              <a:ext uri="{FF2B5EF4-FFF2-40B4-BE49-F238E27FC236}">
                <a16:creationId xmlns:a16="http://schemas.microsoft.com/office/drawing/2014/main" id="{50EAD4AE-9998-4062-B03B-8FB0EBC12FB2}"/>
              </a:ext>
            </a:extLst>
          </p:cNvPr>
          <p:cNvSpPr>
            <a:spLocks xmlns:a="http://schemas.openxmlformats.org/drawingml/2006/main" noGrp="1"/>
          </p:cNvSpPr>
          <p:nvPr/>
        </p:nvSpPr>
        <p:spPr>
          <a:xfrm xmlns:a="http://schemas.openxmlformats.org/drawingml/2006/main">
            <a:off x="685800" y="2819400"/>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5243A"/>
                </a:solidFill>
                <a:latin typeface="Arial"/>
                <a:ea typeface="Arial"/>
                <a:cs typeface="Arial"/>
              </a:defRPr>
            </a:pPr>
            <a:r>
              <a:rPr sz="2475" b="1">
                <a:solidFill>
                  <a:srgbClr val="15243A"/>
                </a:solidFill>
                <a:latin typeface="Arial"/>
                <a:ea typeface="Arial"/>
                <a:cs typeface="Arial"/>
              </a:rPr>
              <a:t>100 merchants × US$8</a:t>
            </a:r>
          </a:p>
        </p:txBody>
      </p:sp>
      <p:sp>
        <p:nvSpPr>
          <p:cNvPr id="5" name="">
            <a:extLst xmlns:a="http://schemas.openxmlformats.org/drawingml/2006/main">
              <a:ext uri="{FF2B5EF4-FFF2-40B4-BE49-F238E27FC236}">
                <a16:creationId xmlns:a16="http://schemas.microsoft.com/office/drawing/2014/main" id="{C9E0BF37-8790-473D-980F-CC2176A9B8C9}"/>
              </a:ext>
            </a:extLst>
          </p:cNvPr>
          <p:cNvSpPr>
            <a:spLocks xmlns:a="http://schemas.openxmlformats.org/drawingml/2006/main" noGrp="1"/>
          </p:cNvSpPr>
          <p:nvPr/>
        </p:nvSpPr>
        <p:spPr>
          <a:xfrm xmlns:a="http://schemas.openxmlformats.org/drawingml/2006/main">
            <a:off x="685800" y="3476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2463E8"/>
                </a:solidFill>
                <a:latin typeface="Arial"/>
                <a:ea typeface="Arial"/>
                <a:cs typeface="Arial"/>
              </a:defRPr>
            </a:pPr>
            <a:r>
              <a:rPr sz="3225" b="1">
                <a:solidFill>
                  <a:srgbClr val="2463E8"/>
                </a:solidFill>
                <a:latin typeface="Arial"/>
                <a:ea typeface="Arial"/>
                <a:cs typeface="Arial"/>
              </a:rPr>
              <a:t>US$800 / month</a:t>
            </a:r>
          </a:p>
        </p:txBody>
      </p:sp>
      <p:sp>
        <p:nvSpPr>
          <p:cNvPr id="6" name="">
            <a:extLst xmlns:a="http://schemas.openxmlformats.org/drawingml/2006/main">
              <a:ext uri="{FF2B5EF4-FFF2-40B4-BE49-F238E27FC236}">
                <a16:creationId xmlns:a16="http://schemas.microsoft.com/office/drawing/2014/main" id="{A6B37846-682C-4F7F-B189-E38B4B7F4D24}"/>
              </a:ext>
            </a:extLst>
          </p:cNvPr>
          <p:cNvSpPr>
            <a:spLocks xmlns:a="http://schemas.openxmlformats.org/drawingml/2006/main" noGrp="1"/>
          </p:cNvSpPr>
          <p:nvPr/>
        </p:nvSpPr>
        <p:spPr>
          <a:xfrm xmlns:a="http://schemas.openxmlformats.org/drawingml/2006/main">
            <a:off x="6048375" y="2095500"/>
            <a:ext cx="19050" cy="2143125"/>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9FCDB8-8B49-454C-BEFD-3BC28C52370C}"/>
              </a:ext>
            </a:extLst>
          </p:cNvPr>
          <p:cNvSpPr>
            <a:spLocks xmlns:a="http://schemas.openxmlformats.org/drawingml/2006/main" noGrp="1"/>
          </p:cNvSpPr>
          <p:nvPr/>
        </p:nvSpPr>
        <p:spPr>
          <a:xfrm xmlns:a="http://schemas.openxmlformats.org/drawingml/2006/main">
            <a:off x="6581775" y="2190750"/>
            <a:ext cx="4924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AA7A2"/>
                </a:solidFill>
                <a:latin typeface="Arial"/>
                <a:ea typeface="Arial"/>
                <a:cs typeface="Arial"/>
              </a:defRPr>
            </a:pPr>
            <a:r>
              <a:rPr sz="2175" b="1">
                <a:solidFill>
                  <a:srgbClr val="0AA7A2"/>
                </a:solidFill>
                <a:latin typeface="Arial"/>
                <a:ea typeface="Arial"/>
                <a:cs typeface="Arial"/>
              </a:rPr>
              <a:t>Marketplace commissions</a:t>
            </a:r>
          </a:p>
        </p:txBody>
      </p:sp>
      <p:sp>
        <p:nvSpPr>
          <p:cNvPr id="8" name="">
            <a:extLst xmlns:a="http://schemas.openxmlformats.org/drawingml/2006/main">
              <a:ext uri="{FF2B5EF4-FFF2-40B4-BE49-F238E27FC236}">
                <a16:creationId xmlns:a16="http://schemas.microsoft.com/office/drawing/2014/main" id="{93560814-1D0E-4C2A-A811-5256ABA43482}"/>
              </a:ext>
            </a:extLst>
          </p:cNvPr>
          <p:cNvSpPr>
            <a:spLocks xmlns:a="http://schemas.openxmlformats.org/drawingml/2006/main" noGrp="1"/>
          </p:cNvSpPr>
          <p:nvPr/>
        </p:nvSpPr>
        <p:spPr>
          <a:xfrm xmlns:a="http://schemas.openxmlformats.org/drawingml/2006/main">
            <a:off x="6581775" y="2819400"/>
            <a:ext cx="4924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243A"/>
                </a:solidFill>
                <a:latin typeface="Arial"/>
                <a:ea typeface="Arial"/>
                <a:cs typeface="Arial"/>
              </a:defRPr>
            </a:pPr>
            <a:r>
              <a:rPr sz="2325" b="1">
                <a:solidFill>
                  <a:srgbClr val="15243A"/>
                </a:solidFill>
                <a:latin typeface="Arial"/>
                <a:ea typeface="Arial"/>
                <a:cs typeface="Arial"/>
              </a:rPr>
              <a:t>US$20,000 order value × 3%</a:t>
            </a:r>
          </a:p>
        </p:txBody>
      </p:sp>
      <p:sp>
        <p:nvSpPr>
          <p:cNvPr id="9" name="">
            <a:extLst xmlns:a="http://schemas.openxmlformats.org/drawingml/2006/main">
              <a:ext uri="{FF2B5EF4-FFF2-40B4-BE49-F238E27FC236}">
                <a16:creationId xmlns:a16="http://schemas.microsoft.com/office/drawing/2014/main" id="{60A4E7DC-C474-420E-A63A-8CEF1ADB2E32}"/>
              </a:ext>
            </a:extLst>
          </p:cNvPr>
          <p:cNvSpPr>
            <a:spLocks xmlns:a="http://schemas.openxmlformats.org/drawingml/2006/main" noGrp="1"/>
          </p:cNvSpPr>
          <p:nvPr/>
        </p:nvSpPr>
        <p:spPr>
          <a:xfrm xmlns:a="http://schemas.openxmlformats.org/drawingml/2006/main">
            <a:off x="6581775" y="3476625"/>
            <a:ext cx="4924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AA7A2"/>
                </a:solidFill>
                <a:latin typeface="Arial"/>
                <a:ea typeface="Arial"/>
                <a:cs typeface="Arial"/>
              </a:defRPr>
            </a:pPr>
            <a:r>
              <a:rPr sz="3225" b="1">
                <a:solidFill>
                  <a:srgbClr val="0AA7A2"/>
                </a:solidFill>
                <a:latin typeface="Arial"/>
                <a:ea typeface="Arial"/>
                <a:cs typeface="Arial"/>
              </a:rPr>
              <a:t>US$600 / month</a:t>
            </a:r>
          </a:p>
        </p:txBody>
      </p:sp>
      <p:sp>
        <p:nvSpPr>
          <p:cNvPr id="10" name="">
            <a:extLst xmlns:a="http://schemas.openxmlformats.org/drawingml/2006/main">
              <a:ext uri="{FF2B5EF4-FFF2-40B4-BE49-F238E27FC236}">
                <a16:creationId xmlns:a16="http://schemas.microsoft.com/office/drawing/2014/main" id="{B95DD16B-8E2B-4C5C-88CD-965972A9C567}"/>
              </a:ext>
            </a:extLst>
          </p:cNvPr>
          <p:cNvSpPr>
            <a:spLocks xmlns:a="http://schemas.openxmlformats.org/drawingml/2006/main" noGrp="1"/>
          </p:cNvSpPr>
          <p:nvPr/>
        </p:nvSpPr>
        <p:spPr>
          <a:xfrm xmlns:a="http://schemas.openxmlformats.org/drawingml/2006/main">
            <a:off x="685800" y="4505325"/>
            <a:ext cx="10820400" cy="1905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910DF2-0DEB-4AFE-9282-177E0F63CF29}"/>
              </a:ext>
            </a:extLst>
          </p:cNvPr>
          <p:cNvSpPr>
            <a:spLocks xmlns:a="http://schemas.openxmlformats.org/drawingml/2006/main" noGrp="1"/>
          </p:cNvSpPr>
          <p:nvPr/>
        </p:nvSpPr>
        <p:spPr>
          <a:xfrm xmlns:a="http://schemas.openxmlformats.org/drawingml/2006/main">
            <a:off x="685800" y="4791075"/>
            <a:ext cx="367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125" b="1">
                <a:solidFill>
                  <a:srgbClr val="15243A"/>
                </a:solidFill>
                <a:latin typeface="Arial"/>
                <a:ea typeface="Arial"/>
                <a:cs typeface="Arial"/>
              </a:defRPr>
            </a:pPr>
            <a:r>
              <a:rPr sz="4125" b="1">
                <a:solidFill>
                  <a:srgbClr val="15243A"/>
                </a:solidFill>
                <a:latin typeface="Arial"/>
                <a:ea typeface="Arial"/>
                <a:cs typeface="Arial"/>
              </a:rPr>
              <a:t>US$1,400</a:t>
            </a:r>
          </a:p>
        </p:txBody>
      </p:sp>
      <p:sp>
        <p:nvSpPr>
          <p:cNvPr id="12" name="">
            <a:extLst xmlns:a="http://schemas.openxmlformats.org/drawingml/2006/main">
              <a:ext uri="{FF2B5EF4-FFF2-40B4-BE49-F238E27FC236}">
                <a16:creationId xmlns:a16="http://schemas.microsoft.com/office/drawing/2014/main" id="{2D3F118C-3937-49AF-AE5B-859131561954}"/>
              </a:ext>
            </a:extLst>
          </p:cNvPr>
          <p:cNvSpPr>
            <a:spLocks xmlns:a="http://schemas.openxmlformats.org/drawingml/2006/main" noGrp="1"/>
          </p:cNvSpPr>
          <p:nvPr/>
        </p:nvSpPr>
        <p:spPr>
          <a:xfrm xmlns:a="http://schemas.openxmlformats.org/drawingml/2006/main">
            <a:off x="4552950" y="498157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5243A"/>
                </a:solidFill>
                <a:latin typeface="Arial"/>
                <a:ea typeface="Arial"/>
                <a:cs typeface="Arial"/>
              </a:defRPr>
            </a:pPr>
            <a:r>
              <a:rPr sz="2250" b="0">
                <a:solidFill>
                  <a:srgbClr val="15243A"/>
                </a:solidFill>
                <a:latin typeface="Arial"/>
                <a:ea typeface="Arial"/>
                <a:cs typeface="Arial"/>
              </a:rPr>
              <a:t>Monthly revenue before costs</a:t>
            </a:r>
          </a:p>
        </p:txBody>
      </p:sp>
      <p:sp>
        <p:nvSpPr>
          <p:cNvPr id="13" name="">
            <a:extLst xmlns:a="http://schemas.openxmlformats.org/drawingml/2006/main">
              <a:ext uri="{FF2B5EF4-FFF2-40B4-BE49-F238E27FC236}">
                <a16:creationId xmlns:a16="http://schemas.microsoft.com/office/drawing/2014/main" id="{73F94C89-1E4D-4142-9884-2B12281BE13C}"/>
              </a:ext>
            </a:extLst>
          </p:cNvPr>
          <p:cNvSpPr>
            <a:spLocks xmlns:a="http://schemas.openxmlformats.org/drawingml/2006/main" noGrp="1"/>
          </p:cNvSpPr>
          <p:nvPr/>
        </p:nvSpPr>
        <p:spPr>
          <a:xfrm xmlns:a="http://schemas.openxmlformats.org/drawingml/2006/main">
            <a:off x="685800" y="59245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37A"/>
                </a:solidFill>
                <a:latin typeface="Arial"/>
                <a:ea typeface="Arial"/>
                <a:cs typeface="Arial"/>
              </a:defRPr>
            </a:pPr>
            <a:r>
              <a:rPr sz="1800" b="0">
                <a:solidFill>
                  <a:srgbClr val="52637A"/>
                </a:solidFill>
                <a:latin typeface="Arial"/>
                <a:ea typeface="Arial"/>
                <a:cs typeface="Arial"/>
              </a:rPr>
              <a:t>Deduct support, hosting, payment costs and acquisition. Test retention before scaling.</a:t>
            </a:r>
          </a:p>
        </p:txBody>
      </p:sp>
      <p:sp>
        <p:nvSpPr>
          <p:cNvPr id="14" name="">
            <a:extLst xmlns:a="http://schemas.openxmlformats.org/drawingml/2006/main">
              <a:ext uri="{FF2B5EF4-FFF2-40B4-BE49-F238E27FC236}">
                <a16:creationId xmlns:a16="http://schemas.microsoft.com/office/drawing/2014/main" id="{5EE87ADA-A75D-4079-A792-72F67B168D9F}"/>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12</a:t>
            </a:r>
          </a:p>
        </p:txBody>
      </p:sp>
    </p:spTree>
    <p:extLst>
      <p:ext uri="{BB962C8B-B14F-4D97-AF65-F5344CB8AC3E}">
        <p14:creationId xmlns:p14="http://schemas.microsoft.com/office/powerpoint/2010/main" val="931666555"/>
      </p:ext>
    </p:extLst>
  </p:cSld>
</p:sld>
</file>

<file path=ppt/slides/slide1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034C92-A564-46CF-8899-F271F4A355CE}"/>
              </a:ext>
            </a:extLst>
          </p:cNvPr>
          <p:cNvSpPr>
            <a:spLocks xmlns:a="http://schemas.openxmlformats.org/drawingml/2006/main" noGrp="1"/>
          </p:cNvSpPr>
          <p:nvPr/>
        </p:nvSpPr>
        <p:spPr>
          <a:xfrm xmlns:a="http://schemas.openxmlformats.org/drawingml/2006/main">
            <a:off x="685800" y="5334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5243A"/>
                </a:solidFill>
                <a:latin typeface="Arial"/>
                <a:ea typeface="Arial"/>
                <a:cs typeface="Arial"/>
              </a:defRPr>
            </a:pPr>
            <a:r>
              <a:rPr sz="3300" b="1">
                <a:solidFill>
                  <a:srgbClr val="15243A"/>
                </a:solidFill>
                <a:latin typeface="Arial"/>
                <a:ea typeface="Arial"/>
                <a:cs typeface="Arial"/>
              </a:rPr>
              <a:t>Appendix: product status and next proof</a:t>
            </a:r>
          </a:p>
        </p:txBody>
      </p:sp>
      <p:sp>
        <p:nvSpPr>
          <p:cNvPr id="2" name="">
            <a:extLst xmlns:a="http://schemas.openxmlformats.org/drawingml/2006/main">
              <a:ext uri="{FF2B5EF4-FFF2-40B4-BE49-F238E27FC236}">
                <a16:creationId xmlns:a16="http://schemas.microsoft.com/office/drawing/2014/main" id="{DF8B2224-6FEF-42F7-949A-AAC0E446AE1D}"/>
              </a:ext>
            </a:extLst>
          </p:cNvPr>
          <p:cNvSpPr>
            <a:spLocks xmlns:a="http://schemas.openxmlformats.org/drawingml/2006/main" noGrp="1"/>
          </p:cNvSpPr>
          <p:nvPr/>
        </p:nvSpPr>
        <p:spPr>
          <a:xfrm xmlns:a="http://schemas.openxmlformats.org/drawingml/2006/main">
            <a:off x="685800" y="17526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2463E8"/>
                </a:solidFill>
                <a:latin typeface="Arial"/>
                <a:ea typeface="Arial"/>
                <a:cs typeface="Arial"/>
              </a:defRPr>
            </a:pPr>
            <a:r>
              <a:rPr sz="1875" b="1">
                <a:solidFill>
                  <a:srgbClr val="2463E8"/>
                </a:solidFill>
                <a:latin typeface="Arial"/>
                <a:ea typeface="Arial"/>
                <a:cs typeface="Arial"/>
              </a:rPr>
              <a:t>DEVELOPMENT TODAY</a:t>
            </a:r>
          </a:p>
        </p:txBody>
      </p:sp>
      <p:sp>
        <p:nvSpPr>
          <p:cNvPr id="3" name="">
            <a:extLst xmlns:a="http://schemas.openxmlformats.org/drawingml/2006/main">
              <a:ext uri="{FF2B5EF4-FFF2-40B4-BE49-F238E27FC236}">
                <a16:creationId xmlns:a16="http://schemas.microsoft.com/office/drawing/2014/main" id="{A16E9658-409C-47A7-9194-DC5E1ECB3E3E}"/>
              </a:ext>
            </a:extLst>
          </p:cNvPr>
          <p:cNvSpPr>
            <a:spLocks xmlns:a="http://schemas.openxmlformats.org/drawingml/2006/main" noGrp="1"/>
          </p:cNvSpPr>
          <p:nvPr/>
        </p:nvSpPr>
        <p:spPr>
          <a:xfrm xmlns:a="http://schemas.openxmlformats.org/drawingml/2006/main">
            <a:off x="685800" y="2590800"/>
            <a:ext cx="48863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Merchant dashboard and catalog</a:t>
            </a:r>
          </a:p>
        </p:txBody>
      </p:sp>
      <p:sp>
        <p:nvSpPr>
          <p:cNvPr id="4" name="">
            <a:extLst xmlns:a="http://schemas.openxmlformats.org/drawingml/2006/main">
              <a:ext uri="{FF2B5EF4-FFF2-40B4-BE49-F238E27FC236}">
                <a16:creationId xmlns:a16="http://schemas.microsoft.com/office/drawing/2014/main" id="{72640581-4A47-46E7-8A68-627F5A818045}"/>
              </a:ext>
            </a:extLst>
          </p:cNvPr>
          <p:cNvSpPr>
            <a:spLocks xmlns:a="http://schemas.openxmlformats.org/drawingml/2006/main" noGrp="1"/>
          </p:cNvSpPr>
          <p:nvPr/>
        </p:nvSpPr>
        <p:spPr>
          <a:xfrm xmlns:a="http://schemas.openxmlformats.org/drawingml/2006/main">
            <a:off x="685800" y="3609975"/>
            <a:ext cx="4886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Storefront and marketplace interfaces</a:t>
            </a:r>
          </a:p>
        </p:txBody>
      </p:sp>
      <p:sp>
        <p:nvSpPr>
          <p:cNvPr id="5" name="">
            <a:extLst xmlns:a="http://schemas.openxmlformats.org/drawingml/2006/main">
              <a:ext uri="{FF2B5EF4-FFF2-40B4-BE49-F238E27FC236}">
                <a16:creationId xmlns:a16="http://schemas.microsoft.com/office/drawing/2014/main" id="{5D6F8C9C-F5F3-4059-BB7B-E52FB97C6210}"/>
              </a:ext>
            </a:extLst>
          </p:cNvPr>
          <p:cNvSpPr>
            <a:spLocks xmlns:a="http://schemas.openxmlformats.org/drawingml/2006/main" noGrp="1"/>
          </p:cNvSpPr>
          <p:nvPr/>
        </p:nvSpPr>
        <p:spPr>
          <a:xfrm xmlns:a="http://schemas.openxmlformats.org/drawingml/2006/main">
            <a:off x="685800" y="4705350"/>
            <a:ext cx="48863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POS interface and order modules</a:t>
            </a:r>
          </a:p>
        </p:txBody>
      </p:sp>
      <p:sp>
        <p:nvSpPr>
          <p:cNvPr id="6" name="">
            <a:extLst xmlns:a="http://schemas.openxmlformats.org/drawingml/2006/main">
              <a:ext uri="{FF2B5EF4-FFF2-40B4-BE49-F238E27FC236}">
                <a16:creationId xmlns:a16="http://schemas.microsoft.com/office/drawing/2014/main" id="{54D7E63C-AD1F-44E5-B4B8-3C17B507318F}"/>
              </a:ext>
            </a:extLst>
          </p:cNvPr>
          <p:cNvSpPr>
            <a:spLocks xmlns:a="http://schemas.openxmlformats.org/drawingml/2006/main" noGrp="1"/>
          </p:cNvSpPr>
          <p:nvPr/>
        </p:nvSpPr>
        <p:spPr>
          <a:xfrm xmlns:a="http://schemas.openxmlformats.org/drawingml/2006/main">
            <a:off x="6048375" y="1733550"/>
            <a:ext cx="19050" cy="3924300"/>
          </a:xfrm>
          <a:prstGeom xmlns:a="http://schemas.openxmlformats.org/drawingml/2006/main" prst="rect">
            <a:avLst/>
          </a:prstGeom>
          <a:solidFill xmlns:a="http://schemas.openxmlformats.org/drawingml/2006/main">
            <a:srgbClr val="D7E1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F09506-8E58-4D5C-AA70-D2C87CFDD70A}"/>
              </a:ext>
            </a:extLst>
          </p:cNvPr>
          <p:cNvSpPr>
            <a:spLocks xmlns:a="http://schemas.openxmlformats.org/drawingml/2006/main" noGrp="1"/>
          </p:cNvSpPr>
          <p:nvPr/>
        </p:nvSpPr>
        <p:spPr>
          <a:xfrm xmlns:a="http://schemas.openxmlformats.org/drawingml/2006/main">
            <a:off x="6572250" y="17526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AA7A2"/>
                </a:solidFill>
                <a:latin typeface="Arial"/>
                <a:ea typeface="Arial"/>
                <a:cs typeface="Arial"/>
              </a:defRPr>
            </a:pPr>
            <a:r>
              <a:rPr sz="1875" b="1">
                <a:solidFill>
                  <a:srgbClr val="0AA7A2"/>
                </a:solidFill>
                <a:latin typeface="Arial"/>
                <a:ea typeface="Arial"/>
                <a:cs typeface="Arial"/>
              </a:rPr>
              <a:t>NEXT PROOF</a:t>
            </a:r>
          </a:p>
        </p:txBody>
      </p:sp>
      <p:sp>
        <p:nvSpPr>
          <p:cNvPr id="8" name="">
            <a:extLst xmlns:a="http://schemas.openxmlformats.org/drawingml/2006/main">
              <a:ext uri="{FF2B5EF4-FFF2-40B4-BE49-F238E27FC236}">
                <a16:creationId xmlns:a16="http://schemas.microsoft.com/office/drawing/2014/main" id="{8D2EBDE3-17C8-433A-BAFC-168F80C90452}"/>
              </a:ext>
            </a:extLst>
          </p:cNvPr>
          <p:cNvSpPr>
            <a:spLocks xmlns:a="http://schemas.openxmlformats.org/drawingml/2006/main" noGrp="1"/>
          </p:cNvSpPr>
          <p:nvPr/>
        </p:nvSpPr>
        <p:spPr>
          <a:xfrm xmlns:a="http://schemas.openxmlformats.org/drawingml/2006/main">
            <a:off x="6572250" y="2590800"/>
            <a:ext cx="4933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One complete sale with correct shared stock</a:t>
            </a:r>
          </a:p>
        </p:txBody>
      </p:sp>
      <p:sp>
        <p:nvSpPr>
          <p:cNvPr id="9" name="">
            <a:extLst xmlns:a="http://schemas.openxmlformats.org/drawingml/2006/main">
              <a:ext uri="{FF2B5EF4-FFF2-40B4-BE49-F238E27FC236}">
                <a16:creationId xmlns:a16="http://schemas.microsoft.com/office/drawing/2014/main" id="{43EC268D-E175-4C22-A9D0-3521E92E4827}"/>
              </a:ext>
            </a:extLst>
          </p:cNvPr>
          <p:cNvSpPr>
            <a:spLocks xmlns:a="http://schemas.openxmlformats.org/drawingml/2006/main" noGrp="1"/>
          </p:cNvSpPr>
          <p:nvPr/>
        </p:nvSpPr>
        <p:spPr>
          <a:xfrm xmlns:a="http://schemas.openxmlformats.org/drawingml/2006/main">
            <a:off x="6572250" y="3609975"/>
            <a:ext cx="4933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Merchant repeat use and paid conversion</a:t>
            </a:r>
          </a:p>
        </p:txBody>
      </p:sp>
      <p:sp>
        <p:nvSpPr>
          <p:cNvPr id="10" name="">
            <a:extLst xmlns:a="http://schemas.openxmlformats.org/drawingml/2006/main">
              <a:ext uri="{FF2B5EF4-FFF2-40B4-BE49-F238E27FC236}">
                <a16:creationId xmlns:a16="http://schemas.microsoft.com/office/drawing/2014/main" id="{12C8DE64-3933-4855-BD33-F32D097752A7}"/>
              </a:ext>
            </a:extLst>
          </p:cNvPr>
          <p:cNvSpPr>
            <a:spLocks xmlns:a="http://schemas.openxmlformats.org/drawingml/2006/main" noGrp="1"/>
          </p:cNvSpPr>
          <p:nvPr/>
        </p:nvSpPr>
        <p:spPr>
          <a:xfrm xmlns:a="http://schemas.openxmlformats.org/drawingml/2006/main">
            <a:off x="6572250" y="47053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5243A"/>
                </a:solidFill>
                <a:latin typeface="Arial"/>
                <a:ea typeface="Arial"/>
                <a:cs typeface="Arial"/>
              </a:defRPr>
            </a:pPr>
            <a:r>
              <a:rPr sz="2175" b="0">
                <a:solidFill>
                  <a:srgbClr val="15243A"/>
                </a:solidFill>
                <a:latin typeface="Arial"/>
                <a:ea typeface="Arial"/>
                <a:cs typeface="Arial"/>
              </a:rPr>
              <a:t>Reliable payments, refunds and settlement</a:t>
            </a:r>
          </a:p>
        </p:txBody>
      </p:sp>
      <p:sp>
        <p:nvSpPr>
          <p:cNvPr id="11" name="">
            <a:extLst xmlns:a="http://schemas.openxmlformats.org/drawingml/2006/main">
              <a:ext uri="{FF2B5EF4-FFF2-40B4-BE49-F238E27FC236}">
                <a16:creationId xmlns:a16="http://schemas.microsoft.com/office/drawing/2014/main" id="{46259371-5D31-468D-A967-D4896E14B983}"/>
              </a:ext>
            </a:extLst>
          </p:cNvPr>
          <p:cNvSpPr>
            <a:spLocks xmlns:a="http://schemas.openxmlformats.org/drawingml/2006/main" noGrp="1"/>
          </p:cNvSpPr>
          <p:nvPr/>
        </p:nvSpPr>
        <p:spPr>
          <a:xfrm xmlns:a="http://schemas.openxmlformats.org/drawingml/2006/main">
            <a:off x="685800" y="61626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52637A"/>
                </a:solidFill>
                <a:latin typeface="Arial"/>
                <a:ea typeface="Arial"/>
                <a:cs typeface="Arial"/>
              </a:defRPr>
            </a:pPr>
            <a:r>
              <a:rPr sz="1275" b="0">
                <a:solidFill>
                  <a:srgbClr val="52637A"/>
                </a:solidFill>
                <a:latin typeface="Arial"/>
                <a:ea typeface="Arial"/>
                <a:cs typeface="Arial"/>
              </a:rPr>
              <a:t>Pre-pilot stage. POS visual on slide 4 is a product preview.</a:t>
            </a:r>
          </a:p>
        </p:txBody>
      </p:sp>
      <p:sp>
        <p:nvSpPr>
          <p:cNvPr id="12" name="">
            <a:extLst xmlns:a="http://schemas.openxmlformats.org/drawingml/2006/main">
              <a:ext uri="{FF2B5EF4-FFF2-40B4-BE49-F238E27FC236}">
                <a16:creationId xmlns:a16="http://schemas.microsoft.com/office/drawing/2014/main" id="{0B391319-4486-4036-87AE-36033CC78C0B}"/>
              </a:ext>
            </a:extLst>
          </p:cNvPr>
          <p:cNvSpPr>
            <a:spLocks xmlns:a="http://schemas.openxmlformats.org/drawingml/2006/main" noGrp="1"/>
          </p:cNvSpPr>
          <p:nvPr/>
        </p:nvSpPr>
        <p:spPr>
          <a:xfrm xmlns:a="http://schemas.openxmlformats.org/drawingml/2006/main">
            <a:off x="11553825" y="65436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52637A"/>
                </a:solidFill>
                <a:latin typeface="Arial"/>
                <a:ea typeface="Arial"/>
                <a:cs typeface="Arial"/>
              </a:defRPr>
            </a:pPr>
            <a:r>
              <a:rPr sz="975" b="0">
                <a:solidFill>
                  <a:srgbClr val="52637A"/>
                </a:solidFill>
                <a:latin typeface="Arial"/>
                <a:ea typeface="Arial"/>
                <a:cs typeface="Arial"/>
              </a:rPr>
              <a:t>13</a:t>
            </a:r>
          </a:p>
        </p:txBody>
      </p:sp>
    </p:spTree>
    <p:extLst>
      <p:ext uri="{BB962C8B-B14F-4D97-AF65-F5344CB8AC3E}">
        <p14:creationId xmlns:p14="http://schemas.microsoft.com/office/powerpoint/2010/main" val="1362269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2026-09-24T09:39:30.8570000Z</dcterms:created>
  <dcterms:modified xsi:type="dcterms:W3CDTF">2026-09-24T09:39:30.8570000Z</dcterms:modified>
</coreProperties>
</file>