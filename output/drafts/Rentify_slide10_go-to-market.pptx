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[3:20–3:45]
Our first step is simple: ten pilot shops in Phnom Penh. We'll find them the way we found our first ones — visiting shops in person, Facebook seller groups, and referrals from shop owners we already know. Each shop brings its own customers through its storefront link. Those customers discover other shops on the marketplace — and every new shop brings more buyers for everyone.
(Q&amp;A: the pilot passes if 7 of 10 shops stay active after a month, stock stays at least 99% accurate, and 6 of 10 are willing to pay.)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image" Target="../media/image-1-11.png"/><Relationship Id="rId12" Type="http://schemas.openxmlformats.org/officeDocument/2006/relationships/image" Target="../media/image-1-12.png"/><Relationship Id="rId13" Type="http://schemas.openxmlformats.org/officeDocument/2006/relationships/image" Target="../media/image-1-13.png"/><Relationship Id="rId14" Type="http://schemas.openxmlformats.org/officeDocument/2006/relationships/image" Target="../media/image-1-14.png"/><Relationship Id="rId15" Type="http://schemas.openxmlformats.org/officeDocument/2006/relationships/image" Target="../media/image-1-15.png"/><Relationship Id="rId16" Type="http://schemas.openxmlformats.org/officeDocument/2006/relationships/slideLayout" Target="../slideLayouts/slideLayout1.xml"/><Relationship Id="rId17"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640080"/>
          </a:xfrm>
          <a:prstGeom prst="rect">
            <a:avLst/>
          </a:prstGeom>
          <a:noFill/>
          <a:ln/>
        </p:spPr>
        <p:txBody>
          <a:bodyPr wrap="square" lIns="0" tIns="0" rIns="0" bIns="0" rtlCol="0" anchor="ctr"/>
          <a:lstStyle/>
          <a:p>
            <a:pPr algn="ctr" indent="0" marL="0">
              <a:buNone/>
            </a:pPr>
            <a:r>
              <a:rPr lang="en-US" sz="3000" b="1" dirty="0">
                <a:solidFill>
                  <a:srgbClr val="15243A"/>
                </a:solidFill>
                <a:latin typeface="Arial" pitchFamily="34" charset="0"/>
                <a:ea typeface="Arial" pitchFamily="34" charset="-122"/>
                <a:cs typeface="Arial" pitchFamily="34" charset="-120"/>
              </a:rPr>
              <a:t>Go-to-market: merchants first, buyers follow</a:t>
            </a:r>
            <a:endParaRPr lang="en-US" sz="3000" dirty="0"/>
          </a:p>
        </p:txBody>
      </p:sp>
      <p:sp>
        <p:nvSpPr>
          <p:cNvPr id="3" name="Shape 1"/>
          <p:cNvSpPr/>
          <p:nvPr/>
        </p:nvSpPr>
        <p:spPr>
          <a:xfrm>
            <a:off x="586588" y="1828800"/>
            <a:ext cx="3337560" cy="3429000"/>
          </a:xfrm>
          <a:prstGeom prst="roundRect">
            <a:avLst>
              <a:gd name="adj" fmla="val 5479"/>
            </a:avLst>
          </a:prstGeom>
          <a:solidFill>
            <a:srgbClr val="FFFFFF"/>
          </a:solidFill>
          <a:ln w="12700">
            <a:solidFill>
              <a:srgbClr val="E2E8F0"/>
            </a:solidFill>
            <a:prstDash val="solid"/>
          </a:ln>
        </p:spPr>
      </p:sp>
      <p:sp>
        <p:nvSpPr>
          <p:cNvPr id="4" name="Text 2"/>
          <p:cNvSpPr txBox="1"/>
          <p:nvPr/>
        </p:nvSpPr>
        <p:spPr>
          <a:xfrm>
            <a:off x="860908" y="2084832"/>
            <a:ext cx="548640" cy="274320"/>
          </a:xfrm>
          <a:prstGeom prst="rect">
            <a:avLst/>
          </a:prstGeom>
          <a:noFill/>
          <a:ln/>
        </p:spPr>
        <p:txBody>
          <a:bodyPr wrap="square" lIns="0" tIns="0" rIns="0" bIns="0" rtlCol="0" anchor="ctr"/>
          <a:lstStyle/>
          <a:p>
            <a:pPr algn="l" indent="0" marL="0">
              <a:buNone/>
            </a:pPr>
            <a:r>
              <a:rPr lang="en-US" sz="1300" b="1" spc="200" kern="0" dirty="0">
                <a:solidFill>
                  <a:srgbClr val="52637A"/>
                </a:solidFill>
                <a:latin typeface="Arial" pitchFamily="34" charset="0"/>
                <a:ea typeface="Arial" pitchFamily="34" charset="-122"/>
                <a:cs typeface="Arial" pitchFamily="34" charset="-120"/>
              </a:rPr>
              <a:t>01</a:t>
            </a:r>
            <a:endParaRPr lang="en-US" sz="1300" dirty="0"/>
          </a:p>
        </p:txBody>
      </p:sp>
      <p:sp>
        <p:nvSpPr>
          <p:cNvPr id="5" name="Text 3"/>
          <p:cNvSpPr txBox="1"/>
          <p:nvPr/>
        </p:nvSpPr>
        <p:spPr>
          <a:xfrm>
            <a:off x="1821028" y="2084832"/>
            <a:ext cx="1828800" cy="274320"/>
          </a:xfrm>
          <a:prstGeom prst="rect">
            <a:avLst/>
          </a:prstGeom>
          <a:noFill/>
          <a:ln/>
        </p:spPr>
        <p:txBody>
          <a:bodyPr wrap="square" lIns="0" tIns="0" rIns="0" bIns="0" rtlCol="0" anchor="ctr"/>
          <a:lstStyle/>
          <a:p>
            <a:pPr algn="r" indent="0" marL="0">
              <a:buNone/>
            </a:pPr>
            <a:r>
              <a:rPr lang="en-US" sz="1100" b="1" spc="100" kern="0" dirty="0">
                <a:solidFill>
                  <a:srgbClr val="0AA7A2"/>
                </a:solidFill>
                <a:latin typeface="Arial" pitchFamily="34" charset="0"/>
                <a:ea typeface="Arial" pitchFamily="34" charset="-122"/>
                <a:cs typeface="Arial" pitchFamily="34" charset="-120"/>
              </a:rPr>
              <a:t>NOW · Q4 2026</a:t>
            </a:r>
            <a:endParaRPr lang="en-US" sz="1100" dirty="0"/>
          </a:p>
        </p:txBody>
      </p:sp>
      <p:sp>
        <p:nvSpPr>
          <p:cNvPr id="6" name="Text 4"/>
          <p:cNvSpPr txBox="1"/>
          <p:nvPr/>
        </p:nvSpPr>
        <p:spPr>
          <a:xfrm>
            <a:off x="586588" y="3977640"/>
            <a:ext cx="3337560" cy="457200"/>
          </a:xfrm>
          <a:prstGeom prst="rect">
            <a:avLst/>
          </a:prstGeom>
          <a:noFill/>
          <a:ln/>
        </p:spPr>
        <p:txBody>
          <a:bodyPr wrap="square" lIns="0" tIns="0" rIns="0" bIns="0" rtlCol="0" anchor="ctr"/>
          <a:lstStyle/>
          <a:p>
            <a:pPr algn="ctr" indent="0" marL="0">
              <a:buNone/>
            </a:pPr>
            <a:r>
              <a:rPr lang="en-US" sz="2000" b="1" dirty="0">
                <a:solidFill>
                  <a:srgbClr val="15243A"/>
                </a:solidFill>
                <a:latin typeface="Arial" pitchFamily="34" charset="0"/>
                <a:ea typeface="Arial" pitchFamily="34" charset="-122"/>
                <a:cs typeface="Arial" pitchFamily="34" charset="-120"/>
              </a:rPr>
              <a:t>We bring shops</a:t>
            </a:r>
            <a:endParaRPr lang="en-US" sz="2000" dirty="0"/>
          </a:p>
        </p:txBody>
      </p:sp>
      <p:sp>
        <p:nvSpPr>
          <p:cNvPr id="7" name="Text 5"/>
          <p:cNvSpPr txBox="1"/>
          <p:nvPr/>
        </p:nvSpPr>
        <p:spPr>
          <a:xfrm>
            <a:off x="860908" y="4572000"/>
            <a:ext cx="2788920" cy="384048"/>
          </a:xfrm>
          <a:prstGeom prst="roundRect">
            <a:avLst>
              <a:gd name="adj" fmla="val 50000"/>
            </a:avLst>
          </a:prstGeom>
          <a:solidFill>
            <a:srgbClr val="CCFBF1"/>
          </a:solidFill>
          <a:ln/>
        </p:spPr>
        <p:txBody>
          <a:bodyPr wrap="square" lIns="0" tIns="0" rIns="0" bIns="0" rtlCol="0" anchor="ctr"/>
          <a:lstStyle/>
          <a:p>
            <a:pPr algn="ctr" indent="0" marL="0">
              <a:buNone/>
            </a:pPr>
            <a:r>
              <a:rPr lang="en-US" sz="1300" b="1" dirty="0">
                <a:solidFill>
                  <a:srgbClr val="0F766E"/>
                </a:solidFill>
                <a:latin typeface="Arial" pitchFamily="34" charset="0"/>
                <a:ea typeface="Arial" pitchFamily="34" charset="-122"/>
                <a:cs typeface="Arial" pitchFamily="34" charset="-120"/>
              </a:rPr>
              <a:t>Goal: 10 pilot shops</a:t>
            </a:r>
            <a:endParaRPr lang="en-US" sz="1300" dirty="0"/>
          </a:p>
        </p:txBody>
      </p:sp>
      <p:pic>
        <p:nvPicPr>
          <p:cNvPr id="8" name="Image 0" descr="preencoded.png">    </p:cNvPr>
          <p:cNvPicPr>
            <a:picLocks noChangeAspect="1"/>
          </p:cNvPicPr>
          <p:nvPr/>
        </p:nvPicPr>
        <p:blipFill>
          <a:blip r:embed="rId1"/>
          <a:stretch>
            <a:fillRect/>
          </a:stretch>
        </p:blipFill>
        <p:spPr>
          <a:xfrm>
            <a:off x="4052164" y="3360420"/>
            <a:ext cx="256032" cy="256032"/>
          </a:xfrm>
          <a:prstGeom prst="rect">
            <a:avLst/>
          </a:prstGeom>
        </p:spPr>
      </p:pic>
      <p:sp>
        <p:nvSpPr>
          <p:cNvPr id="9" name="Shape 6"/>
          <p:cNvSpPr/>
          <p:nvPr/>
        </p:nvSpPr>
        <p:spPr>
          <a:xfrm>
            <a:off x="4427068" y="1828800"/>
            <a:ext cx="3337560" cy="3429000"/>
          </a:xfrm>
          <a:prstGeom prst="roundRect">
            <a:avLst>
              <a:gd name="adj" fmla="val 5479"/>
            </a:avLst>
          </a:prstGeom>
          <a:solidFill>
            <a:srgbClr val="FFFFFF"/>
          </a:solidFill>
          <a:ln w="12700">
            <a:solidFill>
              <a:srgbClr val="E2E8F0"/>
            </a:solidFill>
            <a:prstDash val="solid"/>
          </a:ln>
        </p:spPr>
      </p:sp>
      <p:sp>
        <p:nvSpPr>
          <p:cNvPr id="10" name="Text 7"/>
          <p:cNvSpPr txBox="1"/>
          <p:nvPr/>
        </p:nvSpPr>
        <p:spPr>
          <a:xfrm>
            <a:off x="4701388" y="2084832"/>
            <a:ext cx="548640" cy="274320"/>
          </a:xfrm>
          <a:prstGeom prst="rect">
            <a:avLst/>
          </a:prstGeom>
          <a:noFill/>
          <a:ln/>
        </p:spPr>
        <p:txBody>
          <a:bodyPr wrap="square" lIns="0" tIns="0" rIns="0" bIns="0" rtlCol="0" anchor="ctr"/>
          <a:lstStyle/>
          <a:p>
            <a:pPr algn="l" indent="0" marL="0">
              <a:buNone/>
            </a:pPr>
            <a:r>
              <a:rPr lang="en-US" sz="1300" b="1" spc="200" kern="0" dirty="0">
                <a:solidFill>
                  <a:srgbClr val="52637A"/>
                </a:solidFill>
                <a:latin typeface="Arial" pitchFamily="34" charset="0"/>
                <a:ea typeface="Arial" pitchFamily="34" charset="-122"/>
                <a:cs typeface="Arial" pitchFamily="34" charset="-120"/>
              </a:rPr>
              <a:t>02</a:t>
            </a:r>
            <a:endParaRPr lang="en-US" sz="1300" dirty="0"/>
          </a:p>
        </p:txBody>
      </p:sp>
      <p:sp>
        <p:nvSpPr>
          <p:cNvPr id="11" name="Text 8"/>
          <p:cNvSpPr txBox="1"/>
          <p:nvPr/>
        </p:nvSpPr>
        <p:spPr>
          <a:xfrm>
            <a:off x="5661508" y="2084832"/>
            <a:ext cx="1828800" cy="274320"/>
          </a:xfrm>
          <a:prstGeom prst="rect">
            <a:avLst/>
          </a:prstGeom>
          <a:noFill/>
          <a:ln/>
        </p:spPr>
        <p:txBody>
          <a:bodyPr wrap="square" lIns="0" tIns="0" rIns="0" bIns="0" rtlCol="0" anchor="ctr"/>
          <a:lstStyle/>
          <a:p>
            <a:pPr algn="r" indent="0" marL="0">
              <a:buNone/>
            </a:pPr>
            <a:r>
              <a:rPr lang="en-US" sz="1100" b="1" spc="100" kern="0" dirty="0">
                <a:solidFill>
                  <a:srgbClr val="2463E8"/>
                </a:solidFill>
                <a:latin typeface="Arial" pitchFamily="34" charset="0"/>
                <a:ea typeface="Arial" pitchFamily="34" charset="-122"/>
                <a:cs typeface="Arial" pitchFamily="34" charset="-120"/>
              </a:rPr>
              <a:t>2027</a:t>
            </a:r>
            <a:endParaRPr lang="en-US" sz="1100" dirty="0"/>
          </a:p>
        </p:txBody>
      </p:sp>
      <p:sp>
        <p:nvSpPr>
          <p:cNvPr id="12" name="Text 9"/>
          <p:cNvSpPr txBox="1"/>
          <p:nvPr/>
        </p:nvSpPr>
        <p:spPr>
          <a:xfrm>
            <a:off x="4427068" y="3977640"/>
            <a:ext cx="3337560" cy="457200"/>
          </a:xfrm>
          <a:prstGeom prst="rect">
            <a:avLst/>
          </a:prstGeom>
          <a:noFill/>
          <a:ln/>
        </p:spPr>
        <p:txBody>
          <a:bodyPr wrap="square" lIns="0" tIns="0" rIns="0" bIns="0" rtlCol="0" anchor="ctr"/>
          <a:lstStyle/>
          <a:p>
            <a:pPr algn="ctr" indent="0" marL="0">
              <a:buNone/>
            </a:pPr>
            <a:r>
              <a:rPr lang="en-US" sz="2000" b="1" dirty="0">
                <a:solidFill>
                  <a:srgbClr val="15243A"/>
                </a:solidFill>
                <a:latin typeface="Arial" pitchFamily="34" charset="0"/>
                <a:ea typeface="Arial" pitchFamily="34" charset="-122"/>
                <a:cs typeface="Arial" pitchFamily="34" charset="-120"/>
              </a:rPr>
              <a:t>Shops bring customers</a:t>
            </a:r>
            <a:endParaRPr lang="en-US" sz="2000" dirty="0"/>
          </a:p>
        </p:txBody>
      </p:sp>
      <p:sp>
        <p:nvSpPr>
          <p:cNvPr id="13" name="Text 10"/>
          <p:cNvSpPr txBox="1"/>
          <p:nvPr/>
        </p:nvSpPr>
        <p:spPr>
          <a:xfrm>
            <a:off x="4701388" y="4572000"/>
            <a:ext cx="2788920" cy="384048"/>
          </a:xfrm>
          <a:prstGeom prst="roundRect">
            <a:avLst>
              <a:gd name="adj" fmla="val 50000"/>
            </a:avLst>
          </a:prstGeom>
          <a:solidFill>
            <a:srgbClr val="DCFCE7"/>
          </a:solidFill>
          <a:ln/>
        </p:spPr>
        <p:txBody>
          <a:bodyPr wrap="square" lIns="0" tIns="0" rIns="0" bIns="0" rtlCol="0" anchor="ctr"/>
          <a:lstStyle/>
          <a:p>
            <a:pPr algn="ctr" indent="0" marL="0">
              <a:buNone/>
            </a:pPr>
            <a:r>
              <a:rPr lang="en-US" sz="1300" b="1" dirty="0">
                <a:solidFill>
                  <a:srgbClr val="16A34A"/>
                </a:solidFill>
                <a:latin typeface="Arial" pitchFamily="34" charset="0"/>
                <a:ea typeface="Arial" pitchFamily="34" charset="-122"/>
                <a:cs typeface="Arial" pitchFamily="34" charset="-120"/>
              </a:rPr>
              <a:t>0% on their own sales</a:t>
            </a:r>
            <a:endParaRPr lang="en-US" sz="1300" dirty="0"/>
          </a:p>
        </p:txBody>
      </p:sp>
      <p:pic>
        <p:nvPicPr>
          <p:cNvPr id="14" name="Image 1" descr="preencoded.png">    </p:cNvPr>
          <p:cNvPicPr>
            <a:picLocks noChangeAspect="1"/>
          </p:cNvPicPr>
          <p:nvPr/>
        </p:nvPicPr>
        <p:blipFill>
          <a:blip r:embed="rId2"/>
          <a:stretch>
            <a:fillRect/>
          </a:stretch>
        </p:blipFill>
        <p:spPr>
          <a:xfrm>
            <a:off x="7892644" y="3360420"/>
            <a:ext cx="256032" cy="256032"/>
          </a:xfrm>
          <a:prstGeom prst="rect">
            <a:avLst/>
          </a:prstGeom>
        </p:spPr>
      </p:pic>
      <p:sp>
        <p:nvSpPr>
          <p:cNvPr id="15" name="Shape 11"/>
          <p:cNvSpPr/>
          <p:nvPr/>
        </p:nvSpPr>
        <p:spPr>
          <a:xfrm>
            <a:off x="8267548" y="1828800"/>
            <a:ext cx="3337560" cy="3429000"/>
          </a:xfrm>
          <a:prstGeom prst="roundRect">
            <a:avLst>
              <a:gd name="adj" fmla="val 5479"/>
            </a:avLst>
          </a:prstGeom>
          <a:solidFill>
            <a:srgbClr val="FFFFFF"/>
          </a:solidFill>
          <a:ln w="12700">
            <a:solidFill>
              <a:srgbClr val="E2E8F0"/>
            </a:solidFill>
            <a:prstDash val="solid"/>
          </a:ln>
        </p:spPr>
      </p:sp>
      <p:sp>
        <p:nvSpPr>
          <p:cNvPr id="16" name="Text 12"/>
          <p:cNvSpPr txBox="1"/>
          <p:nvPr/>
        </p:nvSpPr>
        <p:spPr>
          <a:xfrm>
            <a:off x="8541868" y="2084832"/>
            <a:ext cx="548640" cy="274320"/>
          </a:xfrm>
          <a:prstGeom prst="rect">
            <a:avLst/>
          </a:prstGeom>
          <a:noFill/>
          <a:ln/>
        </p:spPr>
        <p:txBody>
          <a:bodyPr wrap="square" lIns="0" tIns="0" rIns="0" bIns="0" rtlCol="0" anchor="ctr"/>
          <a:lstStyle/>
          <a:p>
            <a:pPr algn="l" indent="0" marL="0">
              <a:buNone/>
            </a:pPr>
            <a:r>
              <a:rPr lang="en-US" sz="1300" b="1" spc="200" kern="0" dirty="0">
                <a:solidFill>
                  <a:srgbClr val="52637A"/>
                </a:solidFill>
                <a:latin typeface="Arial" pitchFamily="34" charset="0"/>
                <a:ea typeface="Arial" pitchFamily="34" charset="-122"/>
                <a:cs typeface="Arial" pitchFamily="34" charset="-120"/>
              </a:rPr>
              <a:t>03</a:t>
            </a:r>
            <a:endParaRPr lang="en-US" sz="1300" dirty="0"/>
          </a:p>
        </p:txBody>
      </p:sp>
      <p:sp>
        <p:nvSpPr>
          <p:cNvPr id="17" name="Text 13"/>
          <p:cNvSpPr txBox="1"/>
          <p:nvPr/>
        </p:nvSpPr>
        <p:spPr>
          <a:xfrm>
            <a:off x="9501988" y="2084832"/>
            <a:ext cx="1828800" cy="274320"/>
          </a:xfrm>
          <a:prstGeom prst="rect">
            <a:avLst/>
          </a:prstGeom>
          <a:noFill/>
          <a:ln/>
        </p:spPr>
        <p:txBody>
          <a:bodyPr wrap="square" lIns="0" tIns="0" rIns="0" bIns="0" rtlCol="0" anchor="ctr"/>
          <a:lstStyle/>
          <a:p>
            <a:pPr algn="r" indent="0" marL="0">
              <a:buNone/>
            </a:pPr>
            <a:r>
              <a:rPr lang="en-US" sz="1100" b="1" spc="100" kern="0" dirty="0">
                <a:solidFill>
                  <a:srgbClr val="F97316"/>
                </a:solidFill>
                <a:latin typeface="Arial" pitchFamily="34" charset="0"/>
                <a:ea typeface="Arial" pitchFamily="34" charset="-122"/>
                <a:cs typeface="Arial" pitchFamily="34" charset="-120"/>
              </a:rPr>
              <a:t>2027+</a:t>
            </a:r>
            <a:endParaRPr lang="en-US" sz="1100" dirty="0"/>
          </a:p>
        </p:txBody>
      </p:sp>
      <p:sp>
        <p:nvSpPr>
          <p:cNvPr id="18" name="Text 14"/>
          <p:cNvSpPr txBox="1"/>
          <p:nvPr/>
        </p:nvSpPr>
        <p:spPr>
          <a:xfrm>
            <a:off x="8267548" y="3977640"/>
            <a:ext cx="3337560" cy="457200"/>
          </a:xfrm>
          <a:prstGeom prst="rect">
            <a:avLst/>
          </a:prstGeom>
          <a:noFill/>
          <a:ln/>
        </p:spPr>
        <p:txBody>
          <a:bodyPr wrap="square" lIns="0" tIns="0" rIns="0" bIns="0" rtlCol="0" anchor="ctr"/>
          <a:lstStyle/>
          <a:p>
            <a:pPr algn="ctr" indent="0" marL="0">
              <a:buNone/>
            </a:pPr>
            <a:r>
              <a:rPr lang="en-US" sz="2000" b="1" dirty="0">
                <a:solidFill>
                  <a:srgbClr val="15243A"/>
                </a:solidFill>
                <a:latin typeface="Arial" pitchFamily="34" charset="0"/>
                <a:ea typeface="Arial" pitchFamily="34" charset="-122"/>
                <a:cs typeface="Arial" pitchFamily="34" charset="-120"/>
              </a:rPr>
              <a:t>Buyers find more shops</a:t>
            </a:r>
            <a:endParaRPr lang="en-US" sz="2000" dirty="0"/>
          </a:p>
        </p:txBody>
      </p:sp>
      <p:sp>
        <p:nvSpPr>
          <p:cNvPr id="19" name="Text 15"/>
          <p:cNvSpPr txBox="1"/>
          <p:nvPr/>
        </p:nvSpPr>
        <p:spPr>
          <a:xfrm>
            <a:off x="8541868" y="4572000"/>
            <a:ext cx="2788920" cy="384048"/>
          </a:xfrm>
          <a:prstGeom prst="roundRect">
            <a:avLst>
              <a:gd name="adj" fmla="val 50000"/>
            </a:avLst>
          </a:prstGeom>
          <a:solidFill>
            <a:srgbClr val="FFEDD5"/>
          </a:solidFill>
          <a:ln/>
        </p:spPr>
        <p:txBody>
          <a:bodyPr wrap="square" lIns="0" tIns="0" rIns="0" bIns="0" rtlCol="0" anchor="ctr"/>
          <a:lstStyle/>
          <a:p>
            <a:pPr algn="ctr" indent="0" marL="0">
              <a:buNone/>
            </a:pPr>
            <a:r>
              <a:rPr lang="en-US" sz="1300" b="1" dirty="0">
                <a:solidFill>
                  <a:srgbClr val="C2410C"/>
                </a:solidFill>
                <a:latin typeface="Arial" pitchFamily="34" charset="0"/>
                <a:ea typeface="Arial" pitchFamily="34" charset="-122"/>
                <a:cs typeface="Arial" pitchFamily="34" charset="-120"/>
              </a:rPr>
              <a:t>3% on marketplace sales</a:t>
            </a:r>
            <a:endParaRPr lang="en-US" sz="1300" dirty="0"/>
          </a:p>
        </p:txBody>
      </p:sp>
      <p:sp>
        <p:nvSpPr>
          <p:cNvPr id="20" name="Shape 16"/>
          <p:cNvSpPr/>
          <p:nvPr/>
        </p:nvSpPr>
        <p:spPr>
          <a:xfrm>
            <a:off x="998068" y="2487168"/>
            <a:ext cx="475488" cy="475488"/>
          </a:xfrm>
          <a:prstGeom prst="ellipse">
            <a:avLst/>
          </a:prstGeom>
          <a:solidFill>
            <a:srgbClr val="0AA7A2"/>
          </a:solidFill>
          <a:ln/>
        </p:spPr>
      </p:sp>
      <p:pic>
        <p:nvPicPr>
          <p:cNvPr id="21" name="Image 2" descr="preencoded.png">    </p:cNvPr>
          <p:cNvPicPr>
            <a:picLocks noChangeAspect="1"/>
          </p:cNvPicPr>
          <p:nvPr/>
        </p:nvPicPr>
        <p:blipFill>
          <a:blip r:embed="rId3"/>
          <a:stretch>
            <a:fillRect/>
          </a:stretch>
        </p:blipFill>
        <p:spPr>
          <a:xfrm>
            <a:off x="1121694" y="2610795"/>
            <a:ext cx="228234" cy="228234"/>
          </a:xfrm>
          <a:prstGeom prst="rect">
            <a:avLst/>
          </a:prstGeom>
        </p:spPr>
      </p:pic>
      <p:sp>
        <p:nvSpPr>
          <p:cNvPr id="22" name="Text 17"/>
          <p:cNvSpPr txBox="1"/>
          <p:nvPr/>
        </p:nvSpPr>
        <p:spPr>
          <a:xfrm>
            <a:off x="678028" y="2999232"/>
            <a:ext cx="1115568" cy="237744"/>
          </a:xfrm>
          <a:prstGeom prst="rect">
            <a:avLst/>
          </a:prstGeom>
          <a:noFill/>
          <a:ln/>
        </p:spPr>
        <p:txBody>
          <a:bodyPr wrap="square" lIns="0" tIns="0" rIns="0" bIns="0" rtlCol="0" anchor="ctr"/>
          <a:lstStyle/>
          <a:p>
            <a:pPr algn="ctr" indent="0" marL="0">
              <a:buNone/>
            </a:pPr>
            <a:r>
              <a:rPr lang="en-US" sz="1100" b="1" dirty="0">
                <a:solidFill>
                  <a:srgbClr val="52637A"/>
                </a:solidFill>
                <a:latin typeface="Arial" pitchFamily="34" charset="0"/>
                <a:ea typeface="Arial" pitchFamily="34" charset="-122"/>
                <a:cs typeface="Arial" pitchFamily="34" charset="-120"/>
              </a:rPr>
              <a:t>Markets</a:t>
            </a:r>
            <a:endParaRPr lang="en-US" sz="1100" dirty="0"/>
          </a:p>
        </p:txBody>
      </p:sp>
      <p:sp>
        <p:nvSpPr>
          <p:cNvPr id="23" name="Shape 18"/>
          <p:cNvSpPr/>
          <p:nvPr/>
        </p:nvSpPr>
        <p:spPr>
          <a:xfrm>
            <a:off x="1235812" y="3255264"/>
            <a:ext cx="1019556" cy="182880"/>
          </a:xfrm>
          <a:prstGeom prst="line">
            <a:avLst/>
          </a:prstGeom>
          <a:noFill/>
          <a:ln w="12700">
            <a:solidFill>
              <a:srgbClr val="CBD5E1"/>
            </a:solidFill>
            <a:prstDash val="solid"/>
          </a:ln>
        </p:spPr>
      </p:sp>
      <p:sp>
        <p:nvSpPr>
          <p:cNvPr id="24" name="Shape 19"/>
          <p:cNvSpPr/>
          <p:nvPr/>
        </p:nvSpPr>
        <p:spPr>
          <a:xfrm>
            <a:off x="2049628" y="2487168"/>
            <a:ext cx="475488" cy="475488"/>
          </a:xfrm>
          <a:prstGeom prst="ellipse">
            <a:avLst/>
          </a:prstGeom>
          <a:solidFill>
            <a:srgbClr val="1877F2"/>
          </a:solidFill>
          <a:ln/>
        </p:spPr>
      </p:sp>
      <p:sp>
        <p:nvSpPr>
          <p:cNvPr id="25" name="Text 20"/>
          <p:cNvSpPr txBox="1"/>
          <p:nvPr/>
        </p:nvSpPr>
        <p:spPr>
          <a:xfrm>
            <a:off x="2049628" y="2506188"/>
            <a:ext cx="475488" cy="475488"/>
          </a:xfrm>
          <a:prstGeom prst="rect">
            <a:avLst/>
          </a:prstGeom>
          <a:noFill/>
          <a:ln/>
        </p:spPr>
        <p:txBody>
          <a:bodyPr wrap="square" lIns="0" tIns="0" rIns="0" bIns="0" rtlCol="0" anchor="ctr"/>
          <a:lstStyle/>
          <a:p>
            <a:pPr algn="ctr" indent="0" marL="0">
              <a:buNone/>
            </a:pPr>
            <a:r>
              <a:rPr lang="en-US" sz="2100" b="1" dirty="0">
                <a:solidFill>
                  <a:srgbClr val="FFFFFF"/>
                </a:solidFill>
                <a:latin typeface="Arial" pitchFamily="34" charset="0"/>
                <a:ea typeface="Arial" pitchFamily="34" charset="-122"/>
                <a:cs typeface="Arial" pitchFamily="34" charset="-120"/>
              </a:rPr>
              <a:t>f</a:t>
            </a:r>
            <a:endParaRPr lang="en-US" sz="2100" dirty="0"/>
          </a:p>
        </p:txBody>
      </p:sp>
      <p:sp>
        <p:nvSpPr>
          <p:cNvPr id="26" name="Text 21"/>
          <p:cNvSpPr txBox="1"/>
          <p:nvPr/>
        </p:nvSpPr>
        <p:spPr>
          <a:xfrm>
            <a:off x="1729588" y="2999232"/>
            <a:ext cx="1115568" cy="237744"/>
          </a:xfrm>
          <a:prstGeom prst="rect">
            <a:avLst/>
          </a:prstGeom>
          <a:noFill/>
          <a:ln/>
        </p:spPr>
        <p:txBody>
          <a:bodyPr wrap="square" lIns="0" tIns="0" rIns="0" bIns="0" rtlCol="0" anchor="ctr"/>
          <a:lstStyle/>
          <a:p>
            <a:pPr algn="ctr" indent="0" marL="0">
              <a:buNone/>
            </a:pPr>
            <a:r>
              <a:rPr lang="en-US" sz="1100" b="1" dirty="0">
                <a:solidFill>
                  <a:srgbClr val="52637A"/>
                </a:solidFill>
                <a:latin typeface="Arial" pitchFamily="34" charset="0"/>
                <a:ea typeface="Arial" pitchFamily="34" charset="-122"/>
                <a:cs typeface="Arial" pitchFamily="34" charset="-120"/>
              </a:rPr>
              <a:t>FB groups</a:t>
            </a:r>
            <a:endParaRPr lang="en-US" sz="1100" dirty="0"/>
          </a:p>
        </p:txBody>
      </p:sp>
      <p:sp>
        <p:nvSpPr>
          <p:cNvPr id="27" name="Shape 22"/>
          <p:cNvSpPr/>
          <p:nvPr/>
        </p:nvSpPr>
        <p:spPr>
          <a:xfrm flipH="1">
            <a:off x="2255368" y="3255264"/>
            <a:ext cx="32004" cy="182880"/>
          </a:xfrm>
          <a:prstGeom prst="line">
            <a:avLst/>
          </a:prstGeom>
          <a:noFill/>
          <a:ln w="12700">
            <a:solidFill>
              <a:srgbClr val="CBD5E1"/>
            </a:solidFill>
            <a:prstDash val="solid"/>
          </a:ln>
        </p:spPr>
      </p:sp>
      <p:sp>
        <p:nvSpPr>
          <p:cNvPr id="28" name="Shape 23"/>
          <p:cNvSpPr/>
          <p:nvPr/>
        </p:nvSpPr>
        <p:spPr>
          <a:xfrm>
            <a:off x="3101188" y="2487168"/>
            <a:ext cx="475488" cy="475488"/>
          </a:xfrm>
          <a:prstGeom prst="ellipse">
            <a:avLst/>
          </a:prstGeom>
          <a:solidFill>
            <a:srgbClr val="6366F1"/>
          </a:solidFill>
          <a:ln/>
        </p:spPr>
      </p:sp>
      <p:pic>
        <p:nvPicPr>
          <p:cNvPr id="29" name="Image 3" descr="preencoded.png">    </p:cNvPr>
          <p:cNvPicPr>
            <a:picLocks noChangeAspect="1"/>
          </p:cNvPicPr>
          <p:nvPr/>
        </p:nvPicPr>
        <p:blipFill>
          <a:blip r:embed="rId4"/>
          <a:stretch>
            <a:fillRect/>
          </a:stretch>
        </p:blipFill>
        <p:spPr>
          <a:xfrm>
            <a:off x="3224814" y="2610795"/>
            <a:ext cx="228234" cy="228234"/>
          </a:xfrm>
          <a:prstGeom prst="rect">
            <a:avLst/>
          </a:prstGeom>
        </p:spPr>
      </p:pic>
      <p:sp>
        <p:nvSpPr>
          <p:cNvPr id="30" name="Text 24"/>
          <p:cNvSpPr txBox="1"/>
          <p:nvPr/>
        </p:nvSpPr>
        <p:spPr>
          <a:xfrm>
            <a:off x="2781148" y="2999232"/>
            <a:ext cx="1115568" cy="237744"/>
          </a:xfrm>
          <a:prstGeom prst="rect">
            <a:avLst/>
          </a:prstGeom>
          <a:noFill/>
          <a:ln/>
        </p:spPr>
        <p:txBody>
          <a:bodyPr wrap="square" lIns="0" tIns="0" rIns="0" bIns="0" rtlCol="0" anchor="ctr"/>
          <a:lstStyle/>
          <a:p>
            <a:pPr algn="ctr" indent="0" marL="0">
              <a:buNone/>
            </a:pPr>
            <a:r>
              <a:rPr lang="en-US" sz="1100" b="1" dirty="0">
                <a:solidFill>
                  <a:srgbClr val="52637A"/>
                </a:solidFill>
                <a:latin typeface="Arial" pitchFamily="34" charset="0"/>
                <a:ea typeface="Arial" pitchFamily="34" charset="-122"/>
                <a:cs typeface="Arial" pitchFamily="34" charset="-120"/>
              </a:rPr>
              <a:t>Referrals</a:t>
            </a:r>
            <a:endParaRPr lang="en-US" sz="1100" dirty="0"/>
          </a:p>
        </p:txBody>
      </p:sp>
      <p:sp>
        <p:nvSpPr>
          <p:cNvPr id="31" name="Shape 25"/>
          <p:cNvSpPr/>
          <p:nvPr/>
        </p:nvSpPr>
        <p:spPr>
          <a:xfrm flipH="1">
            <a:off x="2255368" y="3255264"/>
            <a:ext cx="1083564" cy="182880"/>
          </a:xfrm>
          <a:prstGeom prst="line">
            <a:avLst/>
          </a:prstGeom>
          <a:noFill/>
          <a:ln w="12700">
            <a:solidFill>
              <a:srgbClr val="CBD5E1"/>
            </a:solidFill>
            <a:prstDash val="solid"/>
          </a:ln>
        </p:spPr>
      </p:sp>
      <p:sp>
        <p:nvSpPr>
          <p:cNvPr id="32" name="Shape 26"/>
          <p:cNvSpPr/>
          <p:nvPr/>
        </p:nvSpPr>
        <p:spPr>
          <a:xfrm>
            <a:off x="1944472" y="3310128"/>
            <a:ext cx="621792" cy="621792"/>
          </a:xfrm>
          <a:prstGeom prst="roundRect">
            <a:avLst>
              <a:gd name="adj" fmla="val 20000"/>
            </a:avLst>
          </a:prstGeom>
          <a:solidFill>
            <a:srgbClr val="0AA7A2"/>
          </a:solidFill>
          <a:ln/>
        </p:spPr>
      </p:sp>
      <p:pic>
        <p:nvPicPr>
          <p:cNvPr id="33" name="Image 4" descr="preencoded.png">    </p:cNvPr>
          <p:cNvPicPr>
            <a:picLocks noChangeAspect="1"/>
          </p:cNvPicPr>
          <p:nvPr/>
        </p:nvPicPr>
        <p:blipFill>
          <a:blip r:embed="rId5"/>
          <a:stretch>
            <a:fillRect/>
          </a:stretch>
        </p:blipFill>
        <p:spPr>
          <a:xfrm>
            <a:off x="2099920" y="3465576"/>
            <a:ext cx="310896" cy="310896"/>
          </a:xfrm>
          <a:prstGeom prst="rect">
            <a:avLst/>
          </a:prstGeom>
        </p:spPr>
      </p:pic>
      <p:sp>
        <p:nvSpPr>
          <p:cNvPr id="34" name="Text 27"/>
          <p:cNvSpPr txBox="1"/>
          <p:nvPr/>
        </p:nvSpPr>
        <p:spPr>
          <a:xfrm>
            <a:off x="2419960" y="3200400"/>
            <a:ext cx="402336" cy="402336"/>
          </a:xfrm>
          <a:prstGeom prst="ellipse">
            <a:avLst/>
          </a:prstGeom>
          <a:solidFill>
            <a:srgbClr val="FFFFFF"/>
          </a:solidFill>
          <a:ln w="25400">
            <a:solidFill>
              <a:srgbClr val="0AA7A2"/>
            </a:solidFill>
          </a:ln>
        </p:spPr>
        <p:txBody>
          <a:bodyPr wrap="square" lIns="0" tIns="0" rIns="0" bIns="0" rtlCol="0" anchor="ctr"/>
          <a:lstStyle/>
          <a:p>
            <a:pPr algn="ctr" indent="0" marL="0">
              <a:buNone/>
            </a:pPr>
            <a:r>
              <a:rPr lang="en-US" sz="1200" b="1" dirty="0">
                <a:solidFill>
                  <a:srgbClr val="0AA7A2"/>
                </a:solidFill>
                <a:latin typeface="Arial" pitchFamily="34" charset="0"/>
                <a:ea typeface="Arial" pitchFamily="34" charset="-122"/>
                <a:cs typeface="Arial" pitchFamily="34" charset="-120"/>
              </a:rPr>
              <a:t>10</a:t>
            </a:r>
            <a:endParaRPr lang="en-US" sz="1200" dirty="0"/>
          </a:p>
        </p:txBody>
      </p:sp>
      <p:sp>
        <p:nvSpPr>
          <p:cNvPr id="35" name="Shape 28"/>
          <p:cNvSpPr/>
          <p:nvPr/>
        </p:nvSpPr>
        <p:spPr>
          <a:xfrm>
            <a:off x="4701388" y="2697480"/>
            <a:ext cx="731520" cy="731520"/>
          </a:xfrm>
          <a:prstGeom prst="roundRect">
            <a:avLst>
              <a:gd name="adj" fmla="val 20000"/>
            </a:avLst>
          </a:prstGeom>
          <a:solidFill>
            <a:srgbClr val="0AA7A2"/>
          </a:solidFill>
          <a:ln/>
        </p:spPr>
      </p:sp>
      <p:pic>
        <p:nvPicPr>
          <p:cNvPr id="36" name="Image 5" descr="preencoded.png">    </p:cNvPr>
          <p:cNvPicPr>
            <a:picLocks noChangeAspect="1"/>
          </p:cNvPicPr>
          <p:nvPr/>
        </p:nvPicPr>
        <p:blipFill>
          <a:blip r:embed="rId6"/>
          <a:stretch>
            <a:fillRect/>
          </a:stretch>
        </p:blipFill>
        <p:spPr>
          <a:xfrm>
            <a:off x="4884268" y="2880360"/>
            <a:ext cx="365760" cy="365760"/>
          </a:xfrm>
          <a:prstGeom prst="rect">
            <a:avLst/>
          </a:prstGeom>
        </p:spPr>
      </p:pic>
      <p:pic>
        <p:nvPicPr>
          <p:cNvPr id="37" name="Image 6" descr="preencoded.png">    </p:cNvPr>
          <p:cNvPicPr>
            <a:picLocks noChangeAspect="1"/>
          </p:cNvPicPr>
          <p:nvPr/>
        </p:nvPicPr>
        <p:blipFill>
          <a:blip r:embed="rId7"/>
          <a:stretch>
            <a:fillRect/>
          </a:stretch>
        </p:blipFill>
        <p:spPr>
          <a:xfrm>
            <a:off x="5506060" y="2953512"/>
            <a:ext cx="219456" cy="219456"/>
          </a:xfrm>
          <a:prstGeom prst="rect">
            <a:avLst/>
          </a:prstGeom>
        </p:spPr>
      </p:pic>
      <p:sp>
        <p:nvSpPr>
          <p:cNvPr id="38" name="Shape 29"/>
          <p:cNvSpPr/>
          <p:nvPr/>
        </p:nvSpPr>
        <p:spPr>
          <a:xfrm>
            <a:off x="5798668" y="2514600"/>
            <a:ext cx="420624" cy="420624"/>
          </a:xfrm>
          <a:prstGeom prst="ellipse">
            <a:avLst/>
          </a:prstGeom>
          <a:solidFill>
            <a:srgbClr val="1877F2"/>
          </a:solidFill>
          <a:ln/>
        </p:spPr>
      </p:sp>
      <p:sp>
        <p:nvSpPr>
          <p:cNvPr id="39" name="Text 30"/>
          <p:cNvSpPr txBox="1"/>
          <p:nvPr/>
        </p:nvSpPr>
        <p:spPr>
          <a:xfrm>
            <a:off x="5798668" y="2531425"/>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f</a:t>
            </a:r>
            <a:endParaRPr lang="en-US" sz="1800" dirty="0"/>
          </a:p>
        </p:txBody>
      </p:sp>
      <p:sp>
        <p:nvSpPr>
          <p:cNvPr id="40" name="Shape 31"/>
          <p:cNvSpPr/>
          <p:nvPr/>
        </p:nvSpPr>
        <p:spPr>
          <a:xfrm>
            <a:off x="5798668" y="3026664"/>
            <a:ext cx="420624" cy="420624"/>
          </a:xfrm>
          <a:prstGeom prst="ellipse">
            <a:avLst/>
          </a:prstGeom>
          <a:solidFill>
            <a:srgbClr val="27A7E7"/>
          </a:solidFill>
          <a:ln/>
        </p:spPr>
      </p:sp>
      <p:pic>
        <p:nvPicPr>
          <p:cNvPr id="41" name="Image 7" descr="preencoded.png">    </p:cNvPr>
          <p:cNvPicPr>
            <a:picLocks noChangeAspect="1"/>
          </p:cNvPicPr>
          <p:nvPr/>
        </p:nvPicPr>
        <p:blipFill>
          <a:blip r:embed="rId8"/>
          <a:stretch>
            <a:fillRect/>
          </a:stretch>
        </p:blipFill>
        <p:spPr>
          <a:xfrm>
            <a:off x="5908030" y="3136026"/>
            <a:ext cx="201900" cy="201900"/>
          </a:xfrm>
          <a:prstGeom prst="rect">
            <a:avLst/>
          </a:prstGeom>
        </p:spPr>
      </p:pic>
      <p:sp>
        <p:nvSpPr>
          <p:cNvPr id="42" name="Text 32"/>
          <p:cNvSpPr txBox="1"/>
          <p:nvPr/>
        </p:nvSpPr>
        <p:spPr>
          <a:xfrm>
            <a:off x="5478628" y="3502152"/>
            <a:ext cx="1097280" cy="237744"/>
          </a:xfrm>
          <a:prstGeom prst="rect">
            <a:avLst/>
          </a:prstGeom>
          <a:noFill/>
          <a:ln/>
        </p:spPr>
        <p:txBody>
          <a:bodyPr wrap="square" lIns="0" tIns="0" rIns="0" bIns="0" rtlCol="0" anchor="ctr"/>
          <a:lstStyle/>
          <a:p>
            <a:pPr algn="ctr" indent="0" marL="0">
              <a:buNone/>
            </a:pPr>
            <a:r>
              <a:rPr lang="en-US" sz="1100" b="1" dirty="0">
                <a:solidFill>
                  <a:srgbClr val="52637A"/>
                </a:solidFill>
                <a:latin typeface="Arial" pitchFamily="34" charset="0"/>
                <a:ea typeface="Arial" pitchFamily="34" charset="-122"/>
                <a:cs typeface="Arial" pitchFamily="34" charset="-120"/>
              </a:rPr>
              <a:t>Store link</a:t>
            </a:r>
            <a:endParaRPr lang="en-US" sz="1100" dirty="0"/>
          </a:p>
        </p:txBody>
      </p:sp>
      <p:pic>
        <p:nvPicPr>
          <p:cNvPr id="43" name="Image 8" descr="preencoded.png">    </p:cNvPr>
          <p:cNvPicPr>
            <a:picLocks noChangeAspect="1"/>
          </p:cNvPicPr>
          <p:nvPr/>
        </p:nvPicPr>
        <p:blipFill>
          <a:blip r:embed="rId9"/>
          <a:stretch>
            <a:fillRect/>
          </a:stretch>
        </p:blipFill>
        <p:spPr>
          <a:xfrm>
            <a:off x="6301588" y="2953512"/>
            <a:ext cx="219456" cy="219456"/>
          </a:xfrm>
          <a:prstGeom prst="rect">
            <a:avLst/>
          </a:prstGeom>
        </p:spPr>
      </p:pic>
      <p:sp>
        <p:nvSpPr>
          <p:cNvPr id="44" name="Shape 33"/>
          <p:cNvSpPr/>
          <p:nvPr/>
        </p:nvSpPr>
        <p:spPr>
          <a:xfrm>
            <a:off x="6621628" y="2697480"/>
            <a:ext cx="731520" cy="731520"/>
          </a:xfrm>
          <a:prstGeom prst="roundRect">
            <a:avLst>
              <a:gd name="adj" fmla="val 20000"/>
            </a:avLst>
          </a:prstGeom>
          <a:solidFill>
            <a:srgbClr val="2463E8"/>
          </a:solidFill>
          <a:ln/>
        </p:spPr>
      </p:sp>
      <p:pic>
        <p:nvPicPr>
          <p:cNvPr id="45" name="Image 9" descr="preencoded.png">    </p:cNvPr>
          <p:cNvPicPr>
            <a:picLocks noChangeAspect="1"/>
          </p:cNvPicPr>
          <p:nvPr/>
        </p:nvPicPr>
        <p:blipFill>
          <a:blip r:embed="rId10"/>
          <a:stretch>
            <a:fillRect/>
          </a:stretch>
        </p:blipFill>
        <p:spPr>
          <a:xfrm>
            <a:off x="6804508" y="2880360"/>
            <a:ext cx="365760" cy="365760"/>
          </a:xfrm>
          <a:prstGeom prst="rect">
            <a:avLst/>
          </a:prstGeom>
        </p:spPr>
      </p:pic>
      <p:sp>
        <p:nvSpPr>
          <p:cNvPr id="46" name="Text 34"/>
          <p:cNvSpPr txBox="1"/>
          <p:nvPr/>
        </p:nvSpPr>
        <p:spPr>
          <a:xfrm>
            <a:off x="6438748" y="3502152"/>
            <a:ext cx="1097280" cy="237744"/>
          </a:xfrm>
          <a:prstGeom prst="rect">
            <a:avLst/>
          </a:prstGeom>
          <a:noFill/>
          <a:ln/>
        </p:spPr>
        <p:txBody>
          <a:bodyPr wrap="square" lIns="0" tIns="0" rIns="0" bIns="0" rtlCol="0" anchor="ctr"/>
          <a:lstStyle/>
          <a:p>
            <a:pPr algn="ctr" indent="0" marL="0">
              <a:buNone/>
            </a:pPr>
            <a:r>
              <a:rPr lang="en-US" sz="1100" b="1" dirty="0">
                <a:solidFill>
                  <a:srgbClr val="2463E8"/>
                </a:solidFill>
                <a:latin typeface="Arial" pitchFamily="34" charset="0"/>
                <a:ea typeface="Arial" pitchFamily="34" charset="-122"/>
                <a:cs typeface="Arial" pitchFamily="34" charset="-120"/>
              </a:rPr>
              <a:t>Customers</a:t>
            </a:r>
            <a:endParaRPr lang="en-US" sz="1100" dirty="0"/>
          </a:p>
        </p:txBody>
      </p:sp>
      <p:sp>
        <p:nvSpPr>
          <p:cNvPr id="47" name="Shape 35"/>
          <p:cNvSpPr/>
          <p:nvPr/>
        </p:nvSpPr>
        <p:spPr>
          <a:xfrm>
            <a:off x="9570568" y="2377440"/>
            <a:ext cx="731520" cy="731520"/>
          </a:xfrm>
          <a:prstGeom prst="roundRect">
            <a:avLst>
              <a:gd name="adj" fmla="val 20000"/>
            </a:avLst>
          </a:prstGeom>
          <a:solidFill>
            <a:srgbClr val="F97316"/>
          </a:solidFill>
          <a:ln/>
        </p:spPr>
      </p:sp>
      <p:pic>
        <p:nvPicPr>
          <p:cNvPr id="48" name="Image 10" descr="preencoded.png">    </p:cNvPr>
          <p:cNvPicPr>
            <a:picLocks noChangeAspect="1"/>
          </p:cNvPicPr>
          <p:nvPr/>
        </p:nvPicPr>
        <p:blipFill>
          <a:blip r:embed="rId11"/>
          <a:stretch>
            <a:fillRect/>
          </a:stretch>
        </p:blipFill>
        <p:spPr>
          <a:xfrm>
            <a:off x="9753448" y="2560320"/>
            <a:ext cx="365760" cy="365760"/>
          </a:xfrm>
          <a:prstGeom prst="rect">
            <a:avLst/>
          </a:prstGeom>
        </p:spPr>
      </p:pic>
      <p:sp>
        <p:nvSpPr>
          <p:cNvPr id="49" name="Shape 36"/>
          <p:cNvSpPr/>
          <p:nvPr/>
        </p:nvSpPr>
        <p:spPr>
          <a:xfrm flipH="1">
            <a:off x="8907628" y="3127248"/>
            <a:ext cx="1028700" cy="256032"/>
          </a:xfrm>
          <a:prstGeom prst="line">
            <a:avLst/>
          </a:prstGeom>
          <a:noFill/>
          <a:ln w="12700">
            <a:solidFill>
              <a:srgbClr val="FDBA74"/>
            </a:solidFill>
            <a:prstDash val="solid"/>
          </a:ln>
        </p:spPr>
      </p:sp>
      <p:sp>
        <p:nvSpPr>
          <p:cNvPr id="50" name="Shape 37"/>
          <p:cNvSpPr/>
          <p:nvPr/>
        </p:nvSpPr>
        <p:spPr>
          <a:xfrm>
            <a:off x="8679028" y="3401568"/>
            <a:ext cx="457200" cy="457200"/>
          </a:xfrm>
          <a:prstGeom prst="roundRect">
            <a:avLst>
              <a:gd name="adj" fmla="val 20000"/>
            </a:avLst>
          </a:prstGeom>
          <a:solidFill>
            <a:srgbClr val="CBD5E1"/>
          </a:solidFill>
          <a:ln/>
        </p:spPr>
      </p:sp>
      <p:pic>
        <p:nvPicPr>
          <p:cNvPr id="51" name="Image 11" descr="preencoded.png">    </p:cNvPr>
          <p:cNvPicPr>
            <a:picLocks noChangeAspect="1"/>
          </p:cNvPicPr>
          <p:nvPr/>
        </p:nvPicPr>
        <p:blipFill>
          <a:blip r:embed="rId12"/>
          <a:stretch>
            <a:fillRect/>
          </a:stretch>
        </p:blipFill>
        <p:spPr>
          <a:xfrm>
            <a:off x="8793328" y="3515868"/>
            <a:ext cx="228600" cy="228600"/>
          </a:xfrm>
          <a:prstGeom prst="rect">
            <a:avLst/>
          </a:prstGeom>
        </p:spPr>
      </p:pic>
      <p:sp>
        <p:nvSpPr>
          <p:cNvPr id="52" name="Shape 38"/>
          <p:cNvSpPr/>
          <p:nvPr/>
        </p:nvSpPr>
        <p:spPr>
          <a:xfrm flipH="1">
            <a:off x="9565996" y="3127248"/>
            <a:ext cx="370332" cy="256032"/>
          </a:xfrm>
          <a:prstGeom prst="line">
            <a:avLst/>
          </a:prstGeom>
          <a:noFill/>
          <a:ln w="12700">
            <a:solidFill>
              <a:srgbClr val="FDBA74"/>
            </a:solidFill>
            <a:prstDash val="solid"/>
          </a:ln>
        </p:spPr>
      </p:sp>
      <p:sp>
        <p:nvSpPr>
          <p:cNvPr id="53" name="Shape 39"/>
          <p:cNvSpPr/>
          <p:nvPr/>
        </p:nvSpPr>
        <p:spPr>
          <a:xfrm>
            <a:off x="9337396" y="3401568"/>
            <a:ext cx="457200" cy="457200"/>
          </a:xfrm>
          <a:prstGeom prst="roundRect">
            <a:avLst>
              <a:gd name="adj" fmla="val 20000"/>
            </a:avLst>
          </a:prstGeom>
          <a:solidFill>
            <a:srgbClr val="0AA7A2"/>
          </a:solidFill>
          <a:ln/>
        </p:spPr>
      </p:sp>
      <p:pic>
        <p:nvPicPr>
          <p:cNvPr id="54" name="Image 12" descr="preencoded.png">    </p:cNvPr>
          <p:cNvPicPr>
            <a:picLocks noChangeAspect="1"/>
          </p:cNvPicPr>
          <p:nvPr/>
        </p:nvPicPr>
        <p:blipFill>
          <a:blip r:embed="rId13"/>
          <a:stretch>
            <a:fillRect/>
          </a:stretch>
        </p:blipFill>
        <p:spPr>
          <a:xfrm>
            <a:off x="9451696" y="3515868"/>
            <a:ext cx="228600" cy="228600"/>
          </a:xfrm>
          <a:prstGeom prst="rect">
            <a:avLst/>
          </a:prstGeom>
        </p:spPr>
      </p:pic>
      <p:sp>
        <p:nvSpPr>
          <p:cNvPr id="55" name="Shape 40"/>
          <p:cNvSpPr/>
          <p:nvPr/>
        </p:nvSpPr>
        <p:spPr>
          <a:xfrm>
            <a:off x="9936328" y="3127248"/>
            <a:ext cx="288036" cy="256032"/>
          </a:xfrm>
          <a:prstGeom prst="line">
            <a:avLst/>
          </a:prstGeom>
          <a:noFill/>
          <a:ln w="12700">
            <a:solidFill>
              <a:srgbClr val="FDBA74"/>
            </a:solidFill>
            <a:prstDash val="solid"/>
          </a:ln>
        </p:spPr>
      </p:sp>
      <p:sp>
        <p:nvSpPr>
          <p:cNvPr id="56" name="Shape 41"/>
          <p:cNvSpPr/>
          <p:nvPr/>
        </p:nvSpPr>
        <p:spPr>
          <a:xfrm>
            <a:off x="9995764" y="3401568"/>
            <a:ext cx="457200" cy="457200"/>
          </a:xfrm>
          <a:prstGeom prst="roundRect">
            <a:avLst>
              <a:gd name="adj" fmla="val 20000"/>
            </a:avLst>
          </a:prstGeom>
          <a:solidFill>
            <a:srgbClr val="CBD5E1"/>
          </a:solidFill>
          <a:ln/>
        </p:spPr>
      </p:sp>
      <p:pic>
        <p:nvPicPr>
          <p:cNvPr id="57" name="Image 13" descr="preencoded.png">    </p:cNvPr>
          <p:cNvPicPr>
            <a:picLocks noChangeAspect="1"/>
          </p:cNvPicPr>
          <p:nvPr/>
        </p:nvPicPr>
        <p:blipFill>
          <a:blip r:embed="rId14"/>
          <a:stretch>
            <a:fillRect/>
          </a:stretch>
        </p:blipFill>
        <p:spPr>
          <a:xfrm>
            <a:off x="10110064" y="3515868"/>
            <a:ext cx="228600" cy="228600"/>
          </a:xfrm>
          <a:prstGeom prst="rect">
            <a:avLst/>
          </a:prstGeom>
        </p:spPr>
      </p:pic>
      <p:sp>
        <p:nvSpPr>
          <p:cNvPr id="58" name="Shape 42"/>
          <p:cNvSpPr/>
          <p:nvPr/>
        </p:nvSpPr>
        <p:spPr>
          <a:xfrm>
            <a:off x="9936328" y="3127248"/>
            <a:ext cx="946404" cy="256032"/>
          </a:xfrm>
          <a:prstGeom prst="line">
            <a:avLst/>
          </a:prstGeom>
          <a:noFill/>
          <a:ln w="12700">
            <a:solidFill>
              <a:srgbClr val="FDBA74"/>
            </a:solidFill>
            <a:prstDash val="solid"/>
          </a:ln>
        </p:spPr>
      </p:sp>
      <p:sp>
        <p:nvSpPr>
          <p:cNvPr id="59" name="Shape 43"/>
          <p:cNvSpPr/>
          <p:nvPr/>
        </p:nvSpPr>
        <p:spPr>
          <a:xfrm>
            <a:off x="10654132" y="3401568"/>
            <a:ext cx="457200" cy="457200"/>
          </a:xfrm>
          <a:prstGeom prst="roundRect">
            <a:avLst>
              <a:gd name="adj" fmla="val 20000"/>
            </a:avLst>
          </a:prstGeom>
          <a:solidFill>
            <a:srgbClr val="CBD5E1"/>
          </a:solidFill>
          <a:ln/>
        </p:spPr>
      </p:sp>
      <p:pic>
        <p:nvPicPr>
          <p:cNvPr id="60" name="Image 14" descr="preencoded.png">    </p:cNvPr>
          <p:cNvPicPr>
            <a:picLocks noChangeAspect="1"/>
          </p:cNvPicPr>
          <p:nvPr/>
        </p:nvPicPr>
        <p:blipFill>
          <a:blip r:embed="rId15"/>
          <a:stretch>
            <a:fillRect/>
          </a:stretch>
        </p:blipFill>
        <p:spPr>
          <a:xfrm>
            <a:off x="10768432" y="3515868"/>
            <a:ext cx="228600" cy="228600"/>
          </a:xfrm>
          <a:prstGeom prst="rect">
            <a:avLst/>
          </a:prstGeom>
        </p:spPr>
      </p:pic>
      <p:sp>
        <p:nvSpPr>
          <p:cNvPr id="61" name="Shape 44"/>
          <p:cNvSpPr/>
          <p:nvPr/>
        </p:nvSpPr>
        <p:spPr>
          <a:xfrm>
            <a:off x="2255368" y="5257800"/>
            <a:ext cx="0" cy="512064"/>
          </a:xfrm>
          <a:prstGeom prst="line">
            <a:avLst/>
          </a:prstGeom>
          <a:noFill/>
          <a:ln w="15875">
            <a:solidFill>
              <a:srgbClr val="6366F1"/>
            </a:solidFill>
            <a:prstDash val="dash"/>
            <a:headEnd type="triangle"/>
          </a:ln>
        </p:spPr>
      </p:sp>
      <p:sp>
        <p:nvSpPr>
          <p:cNvPr id="62" name="Shape 45"/>
          <p:cNvSpPr/>
          <p:nvPr/>
        </p:nvSpPr>
        <p:spPr>
          <a:xfrm>
            <a:off x="9936328" y="5257800"/>
            <a:ext cx="0" cy="512064"/>
          </a:xfrm>
          <a:prstGeom prst="line">
            <a:avLst/>
          </a:prstGeom>
          <a:noFill/>
          <a:ln w="15875">
            <a:solidFill>
              <a:srgbClr val="6366F1"/>
            </a:solidFill>
            <a:prstDash val="dash"/>
          </a:ln>
        </p:spPr>
      </p:sp>
      <p:sp>
        <p:nvSpPr>
          <p:cNvPr id="63" name="Shape 46"/>
          <p:cNvSpPr/>
          <p:nvPr/>
        </p:nvSpPr>
        <p:spPr>
          <a:xfrm>
            <a:off x="2255368" y="5769864"/>
            <a:ext cx="7680960" cy="0"/>
          </a:xfrm>
          <a:prstGeom prst="line">
            <a:avLst/>
          </a:prstGeom>
          <a:noFill/>
          <a:ln w="15875">
            <a:solidFill>
              <a:srgbClr val="6366F1"/>
            </a:solidFill>
            <a:prstDash val="dash"/>
          </a:ln>
        </p:spPr>
      </p:sp>
      <p:sp>
        <p:nvSpPr>
          <p:cNvPr id="64" name="Text 47"/>
          <p:cNvSpPr txBox="1"/>
          <p:nvPr/>
        </p:nvSpPr>
        <p:spPr>
          <a:xfrm>
            <a:off x="4495648" y="5577840"/>
            <a:ext cx="3200400" cy="384048"/>
          </a:xfrm>
          <a:prstGeom prst="roundRect">
            <a:avLst>
              <a:gd name="adj" fmla="val 50000"/>
            </a:avLst>
          </a:prstGeom>
          <a:solidFill>
            <a:srgbClr val="EEF2FF"/>
          </a:solidFill>
          <a:ln w="12700">
            <a:solidFill>
              <a:srgbClr val="6366F1"/>
            </a:solidFill>
          </a:ln>
        </p:spPr>
        <p:txBody>
          <a:bodyPr wrap="square" lIns="0" tIns="0" rIns="0" bIns="0" rtlCol="0" anchor="ctr"/>
          <a:lstStyle/>
          <a:p>
            <a:pPr algn="ctr" indent="0" marL="0">
              <a:buNone/>
            </a:pPr>
            <a:r>
              <a:rPr lang="en-US" sz="1300" b="1" dirty="0">
                <a:solidFill>
                  <a:srgbClr val="4338CA"/>
                </a:solidFill>
                <a:latin typeface="Arial" pitchFamily="34" charset="0"/>
                <a:ea typeface="Arial" pitchFamily="34" charset="-122"/>
                <a:cs typeface="Arial" pitchFamily="34" charset="-120"/>
              </a:rPr>
              <a:t>More buyers bring more shops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2026-09-26T02:42:01Z</dcterms:created>
  <dcterms:modified xsi:type="dcterms:W3CDTF">2026-09-26T02:42:01Z</dcterms:modified>
</cp:coreProperties>
</file>