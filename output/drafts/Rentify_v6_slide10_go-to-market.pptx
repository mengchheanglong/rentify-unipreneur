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[3:20–3:45]
How do we start a marketplace with no buyers? Merchants first. This quarter we sign ten pilot shops in Phnom Penh through market visits, Facebook seller groups and UniPreneur introductions. They join for the tools. Each shop then shares its Rentify link with its own customers, who become our first buyers. On the marketplace, those buyers discover other shops, and that brings more shops in. The pilot passes if seven of ten shops stay active, stock stays 99% accurate, and six of ten will pay.
(Q&amp;A: targets are proposals agreed before the pilot. We count marketplace-discovered orders separately from each shop's own customers, because only those earn commission. Later growth channels: festival campaigns, SME associations, delivery partners, referral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slideLayout" Target="../slideLayouts/slideLayout1.xml"/><Relationship Id="rId2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algn="ctr" indent="0" marL="0">
              <a:buNone/>
            </a:pPr>
            <a:r>
              <a:rPr lang="en-US" sz="3200" b="1" dirty="0">
                <a:solidFill>
                  <a:srgbClr val="15243A"/>
                </a:solidFill>
                <a:latin typeface="Arial" pitchFamily="34" charset="0"/>
                <a:ea typeface="Arial" pitchFamily="34" charset="-122"/>
                <a:cs typeface="Arial" pitchFamily="34" charset="-120"/>
              </a:rPr>
              <a:t>Merchants first. Their customers become our buyers.</a:t>
            </a:r>
            <a:endParaRPr lang="en-US" sz="3200" dirty="0"/>
          </a:p>
        </p:txBody>
      </p:sp>
      <p:sp>
        <p:nvSpPr>
          <p:cNvPr id="3" name="Shape 1"/>
          <p:cNvSpPr/>
          <p:nvPr/>
        </p:nvSpPr>
        <p:spPr>
          <a:xfrm>
            <a:off x="449428" y="1234440"/>
            <a:ext cx="3429000" cy="374904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38100" dir="5400000">
              <a:srgbClr val="1A2A4A">
                <a:alpha val="14000"/>
              </a:srgbClr>
            </a:outerShdw>
          </a:effectLst>
        </p:spPr>
      </p:sp>
      <p:sp>
        <p:nvSpPr>
          <p:cNvPr id="4" name="Text 2"/>
          <p:cNvSpPr txBox="1"/>
          <p:nvPr/>
        </p:nvSpPr>
        <p:spPr>
          <a:xfrm>
            <a:off x="723748" y="1463040"/>
            <a:ext cx="914400" cy="365760"/>
          </a:xfrm>
          <a:prstGeom prst="rect">
            <a:avLst/>
          </a:prstGeom>
          <a:noFill/>
          <a:ln/>
        </p:spPr>
        <p:txBody>
          <a:bodyPr wrap="square" lIns="0" tIns="0" rIns="0" bIns="0" rtlCol="0" anchor="ctr"/>
          <a:lstStyle/>
          <a:p>
            <a:pPr algn="l" indent="0" marL="0">
              <a:buNone/>
            </a:pPr>
            <a:r>
              <a:rPr lang="en-US" sz="1400" b="1" spc="200" kern="0" dirty="0">
                <a:solidFill>
                  <a:srgbClr val="52637A"/>
                </a:solidFill>
                <a:latin typeface="Arial" pitchFamily="34" charset="0"/>
                <a:ea typeface="Arial" pitchFamily="34" charset="-122"/>
                <a:cs typeface="Arial" pitchFamily="34" charset="-120"/>
              </a:rPr>
              <a:t>01</a:t>
            </a:r>
            <a:endParaRPr lang="en-US" sz="1400" dirty="0"/>
          </a:p>
        </p:txBody>
      </p:sp>
      <p:sp>
        <p:nvSpPr>
          <p:cNvPr id="5" name="Text 3"/>
          <p:cNvSpPr txBox="1"/>
          <p:nvPr/>
        </p:nvSpPr>
        <p:spPr>
          <a:xfrm>
            <a:off x="1775308" y="1463040"/>
            <a:ext cx="1828800" cy="365760"/>
          </a:xfrm>
          <a:prstGeom prst="rect">
            <a:avLst/>
          </a:prstGeom>
          <a:noFill/>
          <a:ln/>
        </p:spPr>
        <p:txBody>
          <a:bodyPr wrap="square" lIns="0" tIns="0" rIns="0" bIns="0" rtlCol="0" anchor="ctr"/>
          <a:lstStyle/>
          <a:p>
            <a:pPr algn="r" indent="0" marL="0">
              <a:buNone/>
            </a:pPr>
            <a:r>
              <a:rPr lang="en-US" sz="1100" b="1" spc="100" kern="0" dirty="0">
                <a:solidFill>
                  <a:srgbClr val="0AA7A2"/>
                </a:solidFill>
                <a:latin typeface="Arial" pitchFamily="34" charset="0"/>
                <a:ea typeface="Arial" pitchFamily="34" charset="-122"/>
                <a:cs typeface="Arial" pitchFamily="34" charset="-120"/>
              </a:rPr>
              <a:t>NOW · Q4 2026</a:t>
            </a:r>
            <a:endParaRPr lang="en-US" sz="1100" dirty="0"/>
          </a:p>
        </p:txBody>
      </p:sp>
      <p:sp>
        <p:nvSpPr>
          <p:cNvPr id="6" name="Text 4"/>
          <p:cNvSpPr txBox="1"/>
          <p:nvPr/>
        </p:nvSpPr>
        <p:spPr>
          <a:xfrm>
            <a:off x="632308" y="3611880"/>
            <a:ext cx="3063240" cy="457200"/>
          </a:xfrm>
          <a:prstGeom prst="rect">
            <a:avLst/>
          </a:prstGeom>
          <a:noFill/>
          <a:ln/>
        </p:spPr>
        <p:txBody>
          <a:bodyPr wrap="square" lIns="0" tIns="0" rIns="0" bIns="0" rtlCol="0" anchor="ctr"/>
          <a:lstStyle/>
          <a:p>
            <a:pPr algn="ctr" indent="0" marL="0">
              <a:buNone/>
            </a:pPr>
            <a:r>
              <a:rPr lang="en-US" sz="2000" b="1" dirty="0">
                <a:solidFill>
                  <a:srgbClr val="15243A"/>
                </a:solidFill>
                <a:latin typeface="Arial" pitchFamily="34" charset="0"/>
                <a:ea typeface="Arial" pitchFamily="34" charset="-122"/>
                <a:cs typeface="Arial" pitchFamily="34" charset="-120"/>
              </a:rPr>
              <a:t>We bring shops</a:t>
            </a:r>
            <a:endParaRPr lang="en-US" sz="2000" dirty="0"/>
          </a:p>
        </p:txBody>
      </p:sp>
      <p:sp>
        <p:nvSpPr>
          <p:cNvPr id="7" name="Text 5"/>
          <p:cNvSpPr txBox="1"/>
          <p:nvPr/>
        </p:nvSpPr>
        <p:spPr>
          <a:xfrm>
            <a:off x="769468" y="4251960"/>
            <a:ext cx="2788920" cy="402336"/>
          </a:xfrm>
          <a:prstGeom prst="roundRect">
            <a:avLst>
              <a:gd name="adj" fmla="val 50000"/>
            </a:avLst>
          </a:prstGeom>
          <a:solidFill>
            <a:srgbClr val="CCFBF1"/>
          </a:solidFill>
          <a:ln/>
        </p:spPr>
        <p:txBody>
          <a:bodyPr wrap="square" lIns="0" tIns="0" rIns="0" bIns="0" rtlCol="0" anchor="ctr"/>
          <a:lstStyle/>
          <a:p>
            <a:pPr algn="ctr" indent="0" marL="0">
              <a:buNone/>
            </a:pPr>
            <a:r>
              <a:rPr lang="en-US" sz="1250" b="1" dirty="0">
                <a:solidFill>
                  <a:srgbClr val="0F766E"/>
                </a:solidFill>
                <a:latin typeface="Arial" pitchFamily="34" charset="0"/>
                <a:ea typeface="Arial" pitchFamily="34" charset="-122"/>
                <a:cs typeface="Arial" pitchFamily="34" charset="-120"/>
              </a:rPr>
              <a:t>Goal: 10 pilot shops</a:t>
            </a:r>
            <a:endParaRPr lang="en-US" sz="1250" dirty="0"/>
          </a:p>
        </p:txBody>
      </p:sp>
      <p:pic>
        <p:nvPicPr>
          <p:cNvPr id="8" name="Image 0" descr="preencoded.png">    </p:cNvPr>
          <p:cNvPicPr>
            <a:picLocks noChangeAspect="1"/>
          </p:cNvPicPr>
          <p:nvPr/>
        </p:nvPicPr>
        <p:blipFill>
          <a:blip r:embed="rId1"/>
          <a:stretch>
            <a:fillRect/>
          </a:stretch>
        </p:blipFill>
        <p:spPr>
          <a:xfrm>
            <a:off x="3974440" y="2953512"/>
            <a:ext cx="310896" cy="310896"/>
          </a:xfrm>
          <a:prstGeom prst="rect">
            <a:avLst/>
          </a:prstGeom>
        </p:spPr>
      </p:pic>
      <p:sp>
        <p:nvSpPr>
          <p:cNvPr id="9" name="Shape 6"/>
          <p:cNvSpPr/>
          <p:nvPr/>
        </p:nvSpPr>
        <p:spPr>
          <a:xfrm>
            <a:off x="4381348" y="1234440"/>
            <a:ext cx="3429000" cy="374904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38100" dir="5400000">
              <a:srgbClr val="1A2A4A">
                <a:alpha val="14000"/>
              </a:srgbClr>
            </a:outerShdw>
          </a:effectLst>
        </p:spPr>
      </p:sp>
      <p:sp>
        <p:nvSpPr>
          <p:cNvPr id="10" name="Text 7"/>
          <p:cNvSpPr txBox="1"/>
          <p:nvPr/>
        </p:nvSpPr>
        <p:spPr>
          <a:xfrm>
            <a:off x="4655668" y="1463040"/>
            <a:ext cx="914400" cy="365760"/>
          </a:xfrm>
          <a:prstGeom prst="rect">
            <a:avLst/>
          </a:prstGeom>
          <a:noFill/>
          <a:ln/>
        </p:spPr>
        <p:txBody>
          <a:bodyPr wrap="square" lIns="0" tIns="0" rIns="0" bIns="0" rtlCol="0" anchor="ctr"/>
          <a:lstStyle/>
          <a:p>
            <a:pPr algn="l" indent="0" marL="0">
              <a:buNone/>
            </a:pPr>
            <a:r>
              <a:rPr lang="en-US" sz="1400" b="1" spc="200" kern="0" dirty="0">
                <a:solidFill>
                  <a:srgbClr val="52637A"/>
                </a:solidFill>
                <a:latin typeface="Arial" pitchFamily="34" charset="0"/>
                <a:ea typeface="Arial" pitchFamily="34" charset="-122"/>
                <a:cs typeface="Arial" pitchFamily="34" charset="-120"/>
              </a:rPr>
              <a:t>02</a:t>
            </a:r>
            <a:endParaRPr lang="en-US" sz="1400" dirty="0"/>
          </a:p>
        </p:txBody>
      </p:sp>
      <p:sp>
        <p:nvSpPr>
          <p:cNvPr id="11" name="Text 8"/>
          <p:cNvSpPr txBox="1"/>
          <p:nvPr/>
        </p:nvSpPr>
        <p:spPr>
          <a:xfrm>
            <a:off x="5707228" y="1463040"/>
            <a:ext cx="1828800" cy="365760"/>
          </a:xfrm>
          <a:prstGeom prst="rect">
            <a:avLst/>
          </a:prstGeom>
          <a:noFill/>
          <a:ln/>
        </p:spPr>
        <p:txBody>
          <a:bodyPr wrap="square" lIns="0" tIns="0" rIns="0" bIns="0" rtlCol="0" anchor="ctr"/>
          <a:lstStyle/>
          <a:p>
            <a:pPr algn="r" indent="0" marL="0">
              <a:buNone/>
            </a:pPr>
            <a:r>
              <a:rPr lang="en-US" sz="1100" b="1" spc="100" kern="0" dirty="0">
                <a:solidFill>
                  <a:srgbClr val="2463E8"/>
                </a:solidFill>
                <a:latin typeface="Arial" pitchFamily="34" charset="0"/>
                <a:ea typeface="Arial" pitchFamily="34" charset="-122"/>
                <a:cs typeface="Arial" pitchFamily="34" charset="-120"/>
              </a:rPr>
              <a:t>2027</a:t>
            </a:r>
            <a:endParaRPr lang="en-US" sz="1100" dirty="0"/>
          </a:p>
        </p:txBody>
      </p:sp>
      <p:sp>
        <p:nvSpPr>
          <p:cNvPr id="12" name="Text 9"/>
          <p:cNvSpPr txBox="1"/>
          <p:nvPr/>
        </p:nvSpPr>
        <p:spPr>
          <a:xfrm>
            <a:off x="4564228" y="3611880"/>
            <a:ext cx="3063240" cy="457200"/>
          </a:xfrm>
          <a:prstGeom prst="rect">
            <a:avLst/>
          </a:prstGeom>
          <a:noFill/>
          <a:ln/>
        </p:spPr>
        <p:txBody>
          <a:bodyPr wrap="square" lIns="0" tIns="0" rIns="0" bIns="0" rtlCol="0" anchor="ctr"/>
          <a:lstStyle/>
          <a:p>
            <a:pPr algn="ctr" indent="0" marL="0">
              <a:buNone/>
            </a:pPr>
            <a:r>
              <a:rPr lang="en-US" sz="2000" b="1" dirty="0">
                <a:solidFill>
                  <a:srgbClr val="15243A"/>
                </a:solidFill>
                <a:latin typeface="Arial" pitchFamily="34" charset="0"/>
                <a:ea typeface="Arial" pitchFamily="34" charset="-122"/>
                <a:cs typeface="Arial" pitchFamily="34" charset="-120"/>
              </a:rPr>
              <a:t>Shops bring customers</a:t>
            </a:r>
            <a:endParaRPr lang="en-US" sz="2000" dirty="0"/>
          </a:p>
        </p:txBody>
      </p:sp>
      <p:sp>
        <p:nvSpPr>
          <p:cNvPr id="13" name="Text 10"/>
          <p:cNvSpPr txBox="1"/>
          <p:nvPr/>
        </p:nvSpPr>
        <p:spPr>
          <a:xfrm>
            <a:off x="4701388" y="4251960"/>
            <a:ext cx="2788920" cy="402336"/>
          </a:xfrm>
          <a:prstGeom prst="roundRect">
            <a:avLst>
              <a:gd name="adj" fmla="val 50000"/>
            </a:avLst>
          </a:prstGeom>
          <a:solidFill>
            <a:srgbClr val="DCFCE7"/>
          </a:solidFill>
          <a:ln/>
        </p:spPr>
        <p:txBody>
          <a:bodyPr wrap="square" lIns="0" tIns="0" rIns="0" bIns="0" rtlCol="0" anchor="ctr"/>
          <a:lstStyle/>
          <a:p>
            <a:pPr algn="ctr" indent="0" marL="0">
              <a:buNone/>
            </a:pPr>
            <a:r>
              <a:rPr lang="en-US" sz="1250" b="1" dirty="0">
                <a:solidFill>
                  <a:srgbClr val="16A34A"/>
                </a:solidFill>
                <a:latin typeface="Arial" pitchFamily="34" charset="0"/>
                <a:ea typeface="Arial" pitchFamily="34" charset="-122"/>
                <a:cs typeface="Arial" pitchFamily="34" charset="-120"/>
              </a:rPr>
              <a:t>0% on their own sales</a:t>
            </a:r>
            <a:endParaRPr lang="en-US" sz="1250" dirty="0"/>
          </a:p>
        </p:txBody>
      </p:sp>
      <p:pic>
        <p:nvPicPr>
          <p:cNvPr id="14" name="Image 1" descr="preencoded.png">    </p:cNvPr>
          <p:cNvPicPr>
            <a:picLocks noChangeAspect="1"/>
          </p:cNvPicPr>
          <p:nvPr/>
        </p:nvPicPr>
        <p:blipFill>
          <a:blip r:embed="rId2"/>
          <a:stretch>
            <a:fillRect/>
          </a:stretch>
        </p:blipFill>
        <p:spPr>
          <a:xfrm>
            <a:off x="7906360" y="2953512"/>
            <a:ext cx="310896" cy="310896"/>
          </a:xfrm>
          <a:prstGeom prst="rect">
            <a:avLst/>
          </a:prstGeom>
        </p:spPr>
      </p:pic>
      <p:sp>
        <p:nvSpPr>
          <p:cNvPr id="15" name="Shape 11"/>
          <p:cNvSpPr/>
          <p:nvPr/>
        </p:nvSpPr>
        <p:spPr>
          <a:xfrm>
            <a:off x="8313268" y="1234440"/>
            <a:ext cx="3429000" cy="374904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38100" dir="5400000">
              <a:srgbClr val="1A2A4A">
                <a:alpha val="14000"/>
              </a:srgbClr>
            </a:outerShdw>
          </a:effectLst>
        </p:spPr>
      </p:sp>
      <p:sp>
        <p:nvSpPr>
          <p:cNvPr id="16" name="Text 12"/>
          <p:cNvSpPr txBox="1"/>
          <p:nvPr/>
        </p:nvSpPr>
        <p:spPr>
          <a:xfrm>
            <a:off x="8587588" y="1463040"/>
            <a:ext cx="914400" cy="365760"/>
          </a:xfrm>
          <a:prstGeom prst="rect">
            <a:avLst/>
          </a:prstGeom>
          <a:noFill/>
          <a:ln/>
        </p:spPr>
        <p:txBody>
          <a:bodyPr wrap="square" lIns="0" tIns="0" rIns="0" bIns="0" rtlCol="0" anchor="ctr"/>
          <a:lstStyle/>
          <a:p>
            <a:pPr algn="l" indent="0" marL="0">
              <a:buNone/>
            </a:pPr>
            <a:r>
              <a:rPr lang="en-US" sz="1400" b="1" spc="200" kern="0" dirty="0">
                <a:solidFill>
                  <a:srgbClr val="52637A"/>
                </a:solidFill>
                <a:latin typeface="Arial" pitchFamily="34" charset="0"/>
                <a:ea typeface="Arial" pitchFamily="34" charset="-122"/>
                <a:cs typeface="Arial" pitchFamily="34" charset="-120"/>
              </a:rPr>
              <a:t>03</a:t>
            </a:r>
            <a:endParaRPr lang="en-US" sz="1400" dirty="0"/>
          </a:p>
        </p:txBody>
      </p:sp>
      <p:sp>
        <p:nvSpPr>
          <p:cNvPr id="17" name="Text 13"/>
          <p:cNvSpPr txBox="1"/>
          <p:nvPr/>
        </p:nvSpPr>
        <p:spPr>
          <a:xfrm>
            <a:off x="9639148" y="1463040"/>
            <a:ext cx="1828800" cy="365760"/>
          </a:xfrm>
          <a:prstGeom prst="rect">
            <a:avLst/>
          </a:prstGeom>
          <a:noFill/>
          <a:ln/>
        </p:spPr>
        <p:txBody>
          <a:bodyPr wrap="square" lIns="0" tIns="0" rIns="0" bIns="0" rtlCol="0" anchor="ctr"/>
          <a:lstStyle/>
          <a:p>
            <a:pPr algn="r" indent="0" marL="0">
              <a:buNone/>
            </a:pPr>
            <a:r>
              <a:rPr lang="en-US" sz="1100" b="1" spc="100" kern="0" dirty="0">
                <a:solidFill>
                  <a:srgbClr val="F97316"/>
                </a:solidFill>
                <a:latin typeface="Arial" pitchFamily="34" charset="0"/>
                <a:ea typeface="Arial" pitchFamily="34" charset="-122"/>
                <a:cs typeface="Arial" pitchFamily="34" charset="-120"/>
              </a:rPr>
              <a:t>2027+</a:t>
            </a:r>
            <a:endParaRPr lang="en-US" sz="1100" dirty="0"/>
          </a:p>
        </p:txBody>
      </p:sp>
      <p:sp>
        <p:nvSpPr>
          <p:cNvPr id="18" name="Text 14"/>
          <p:cNvSpPr txBox="1"/>
          <p:nvPr/>
        </p:nvSpPr>
        <p:spPr>
          <a:xfrm>
            <a:off x="8496148" y="3611880"/>
            <a:ext cx="3063240" cy="457200"/>
          </a:xfrm>
          <a:prstGeom prst="rect">
            <a:avLst/>
          </a:prstGeom>
          <a:noFill/>
          <a:ln/>
        </p:spPr>
        <p:txBody>
          <a:bodyPr wrap="square" lIns="0" tIns="0" rIns="0" bIns="0" rtlCol="0" anchor="ctr"/>
          <a:lstStyle/>
          <a:p>
            <a:pPr algn="ctr" indent="0" marL="0">
              <a:buNone/>
            </a:pPr>
            <a:r>
              <a:rPr lang="en-US" sz="2000" b="1" dirty="0">
                <a:solidFill>
                  <a:srgbClr val="15243A"/>
                </a:solidFill>
                <a:latin typeface="Arial" pitchFamily="34" charset="0"/>
                <a:ea typeface="Arial" pitchFamily="34" charset="-122"/>
                <a:cs typeface="Arial" pitchFamily="34" charset="-120"/>
              </a:rPr>
              <a:t>Buyers find more shops</a:t>
            </a:r>
            <a:endParaRPr lang="en-US" sz="2000" dirty="0"/>
          </a:p>
        </p:txBody>
      </p:sp>
      <p:sp>
        <p:nvSpPr>
          <p:cNvPr id="19" name="Text 15"/>
          <p:cNvSpPr txBox="1"/>
          <p:nvPr/>
        </p:nvSpPr>
        <p:spPr>
          <a:xfrm>
            <a:off x="8633308" y="4251960"/>
            <a:ext cx="2788920" cy="402336"/>
          </a:xfrm>
          <a:prstGeom prst="roundRect">
            <a:avLst>
              <a:gd name="adj" fmla="val 50000"/>
            </a:avLst>
          </a:prstGeom>
          <a:solidFill>
            <a:srgbClr val="FFEDD5"/>
          </a:solidFill>
          <a:ln/>
        </p:spPr>
        <p:txBody>
          <a:bodyPr wrap="square" lIns="0" tIns="0" rIns="0" bIns="0" rtlCol="0" anchor="ctr"/>
          <a:lstStyle/>
          <a:p>
            <a:pPr algn="ctr" indent="0" marL="0">
              <a:buNone/>
            </a:pPr>
            <a:r>
              <a:rPr lang="en-US" sz="1250" b="1" dirty="0">
                <a:solidFill>
                  <a:srgbClr val="C2410C"/>
                </a:solidFill>
                <a:latin typeface="Arial" pitchFamily="34" charset="0"/>
                <a:ea typeface="Arial" pitchFamily="34" charset="-122"/>
                <a:cs typeface="Arial" pitchFamily="34" charset="-120"/>
              </a:rPr>
              <a:t>Commission on marketplace sales</a:t>
            </a:r>
            <a:endParaRPr lang="en-US" sz="1250" dirty="0"/>
          </a:p>
        </p:txBody>
      </p:sp>
      <p:sp>
        <p:nvSpPr>
          <p:cNvPr id="20" name="Shape 16"/>
          <p:cNvSpPr/>
          <p:nvPr/>
        </p:nvSpPr>
        <p:spPr>
          <a:xfrm>
            <a:off x="860908" y="1965960"/>
            <a:ext cx="457200" cy="457200"/>
          </a:xfrm>
          <a:prstGeom prst="ellipse">
            <a:avLst/>
          </a:prstGeom>
          <a:solidFill>
            <a:srgbClr val="0AA7A2"/>
          </a:solidFill>
          <a:ln/>
        </p:spPr>
      </p:sp>
      <p:pic>
        <p:nvPicPr>
          <p:cNvPr id="21" name="Image 2" descr="preencoded.png">    </p:cNvPr>
          <p:cNvPicPr>
            <a:picLocks noChangeAspect="1"/>
          </p:cNvPicPr>
          <p:nvPr/>
        </p:nvPicPr>
        <p:blipFill>
          <a:blip r:embed="rId3"/>
          <a:stretch>
            <a:fillRect/>
          </a:stretch>
        </p:blipFill>
        <p:spPr>
          <a:xfrm>
            <a:off x="975208" y="2080260"/>
            <a:ext cx="228600" cy="228600"/>
          </a:xfrm>
          <a:prstGeom prst="rect">
            <a:avLst/>
          </a:prstGeom>
        </p:spPr>
      </p:pic>
      <p:sp>
        <p:nvSpPr>
          <p:cNvPr id="22" name="Text 17"/>
          <p:cNvSpPr txBox="1"/>
          <p:nvPr/>
        </p:nvSpPr>
        <p:spPr>
          <a:xfrm>
            <a:off x="586588" y="2450592"/>
            <a:ext cx="1005840" cy="237744"/>
          </a:xfrm>
          <a:prstGeom prst="rect">
            <a:avLst/>
          </a:prstGeom>
          <a:noFill/>
          <a:ln/>
        </p:spPr>
        <p:txBody>
          <a:bodyPr wrap="square" lIns="0" tIns="0" rIns="0" bIns="0"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Markets</a:t>
            </a:r>
            <a:endParaRPr lang="en-US" sz="1050" dirty="0"/>
          </a:p>
        </p:txBody>
      </p:sp>
      <p:sp>
        <p:nvSpPr>
          <p:cNvPr id="23" name="Shape 18"/>
          <p:cNvSpPr/>
          <p:nvPr/>
        </p:nvSpPr>
        <p:spPr>
          <a:xfrm>
            <a:off x="1089508" y="2715768"/>
            <a:ext cx="1074420" cy="182880"/>
          </a:xfrm>
          <a:prstGeom prst="line">
            <a:avLst/>
          </a:prstGeom>
          <a:noFill/>
          <a:ln w="19050">
            <a:solidFill>
              <a:srgbClr val="E2E8F0"/>
            </a:solidFill>
            <a:prstDash val="solid"/>
          </a:ln>
        </p:spPr>
      </p:sp>
      <p:sp>
        <p:nvSpPr>
          <p:cNvPr id="24" name="Shape 19"/>
          <p:cNvSpPr/>
          <p:nvPr/>
        </p:nvSpPr>
        <p:spPr>
          <a:xfrm>
            <a:off x="1866748" y="1965960"/>
            <a:ext cx="457200" cy="457200"/>
          </a:xfrm>
          <a:prstGeom prst="ellipse">
            <a:avLst/>
          </a:prstGeom>
          <a:solidFill>
            <a:srgbClr val="1877F2"/>
          </a:solidFill>
          <a:ln/>
        </p:spPr>
      </p:sp>
      <p:sp>
        <p:nvSpPr>
          <p:cNvPr id="25" name="Text 20"/>
          <p:cNvSpPr txBox="1"/>
          <p:nvPr/>
        </p:nvSpPr>
        <p:spPr>
          <a:xfrm>
            <a:off x="1866748" y="198882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f</a:t>
            </a:r>
            <a:endParaRPr lang="en-US" sz="2200" dirty="0"/>
          </a:p>
        </p:txBody>
      </p:sp>
      <p:sp>
        <p:nvSpPr>
          <p:cNvPr id="26" name="Text 21"/>
          <p:cNvSpPr txBox="1"/>
          <p:nvPr/>
        </p:nvSpPr>
        <p:spPr>
          <a:xfrm>
            <a:off x="1592428" y="2450592"/>
            <a:ext cx="1005840" cy="237744"/>
          </a:xfrm>
          <a:prstGeom prst="rect">
            <a:avLst/>
          </a:prstGeom>
          <a:noFill/>
          <a:ln/>
        </p:spPr>
        <p:txBody>
          <a:bodyPr wrap="square" lIns="0" tIns="0" rIns="0" bIns="0"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FB groups</a:t>
            </a:r>
            <a:endParaRPr lang="en-US" sz="1050" dirty="0"/>
          </a:p>
        </p:txBody>
      </p:sp>
      <p:sp>
        <p:nvSpPr>
          <p:cNvPr id="27" name="Shape 22"/>
          <p:cNvSpPr/>
          <p:nvPr/>
        </p:nvSpPr>
        <p:spPr>
          <a:xfrm>
            <a:off x="2095348" y="2715768"/>
            <a:ext cx="68580" cy="182880"/>
          </a:xfrm>
          <a:prstGeom prst="line">
            <a:avLst/>
          </a:prstGeom>
          <a:noFill/>
          <a:ln w="19050">
            <a:solidFill>
              <a:srgbClr val="E2E8F0"/>
            </a:solidFill>
            <a:prstDash val="solid"/>
          </a:ln>
        </p:spPr>
      </p:sp>
      <p:sp>
        <p:nvSpPr>
          <p:cNvPr id="28" name="Shape 23"/>
          <p:cNvSpPr/>
          <p:nvPr/>
        </p:nvSpPr>
        <p:spPr>
          <a:xfrm>
            <a:off x="2872588" y="1965960"/>
            <a:ext cx="457200" cy="457200"/>
          </a:xfrm>
          <a:prstGeom prst="ellipse">
            <a:avLst/>
          </a:prstGeom>
          <a:solidFill>
            <a:srgbClr val="4F46E5"/>
          </a:solidFill>
          <a:ln/>
        </p:spPr>
      </p:sp>
      <p:pic>
        <p:nvPicPr>
          <p:cNvPr id="29" name="Image 3" descr="preencoded.png">    </p:cNvPr>
          <p:cNvPicPr>
            <a:picLocks noChangeAspect="1"/>
          </p:cNvPicPr>
          <p:nvPr/>
        </p:nvPicPr>
        <p:blipFill>
          <a:blip r:embed="rId4"/>
          <a:stretch>
            <a:fillRect/>
          </a:stretch>
        </p:blipFill>
        <p:spPr>
          <a:xfrm>
            <a:off x="2986888" y="2080260"/>
            <a:ext cx="228600" cy="228600"/>
          </a:xfrm>
          <a:prstGeom prst="rect">
            <a:avLst/>
          </a:prstGeom>
        </p:spPr>
      </p:pic>
      <p:sp>
        <p:nvSpPr>
          <p:cNvPr id="30" name="Text 24"/>
          <p:cNvSpPr txBox="1"/>
          <p:nvPr/>
        </p:nvSpPr>
        <p:spPr>
          <a:xfrm>
            <a:off x="2598268" y="2450592"/>
            <a:ext cx="1005840" cy="237744"/>
          </a:xfrm>
          <a:prstGeom prst="rect">
            <a:avLst/>
          </a:prstGeom>
          <a:noFill/>
          <a:ln/>
        </p:spPr>
        <p:txBody>
          <a:bodyPr wrap="square" lIns="0" tIns="0" rIns="0" bIns="0"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UniPreneur</a:t>
            </a:r>
            <a:endParaRPr lang="en-US" sz="1050" dirty="0"/>
          </a:p>
        </p:txBody>
      </p:sp>
      <p:sp>
        <p:nvSpPr>
          <p:cNvPr id="31" name="Shape 25"/>
          <p:cNvSpPr/>
          <p:nvPr/>
        </p:nvSpPr>
        <p:spPr>
          <a:xfrm flipH="1">
            <a:off x="2163928" y="2715768"/>
            <a:ext cx="937260" cy="182880"/>
          </a:xfrm>
          <a:prstGeom prst="line">
            <a:avLst/>
          </a:prstGeom>
          <a:noFill/>
          <a:ln w="19050">
            <a:solidFill>
              <a:srgbClr val="E2E8F0"/>
            </a:solidFill>
            <a:prstDash val="solid"/>
          </a:ln>
        </p:spPr>
      </p:sp>
      <p:sp>
        <p:nvSpPr>
          <p:cNvPr id="32" name="Shape 26"/>
          <p:cNvSpPr/>
          <p:nvPr/>
        </p:nvSpPr>
        <p:spPr>
          <a:xfrm>
            <a:off x="1834744" y="2907792"/>
            <a:ext cx="658368" cy="658368"/>
          </a:xfrm>
          <a:prstGeom prst="roundRect">
            <a:avLst>
              <a:gd name="adj" fmla="val 22000"/>
            </a:avLst>
          </a:prstGeom>
          <a:solidFill>
            <a:srgbClr val="0AA7A2"/>
          </a:solidFill>
          <a:ln/>
        </p:spPr>
      </p:sp>
      <p:pic>
        <p:nvPicPr>
          <p:cNvPr id="33" name="Image 4" descr="preencoded.png">    </p:cNvPr>
          <p:cNvPicPr>
            <a:picLocks noChangeAspect="1"/>
          </p:cNvPicPr>
          <p:nvPr/>
        </p:nvPicPr>
        <p:blipFill>
          <a:blip r:embed="rId5"/>
          <a:stretch>
            <a:fillRect/>
          </a:stretch>
        </p:blipFill>
        <p:spPr>
          <a:xfrm>
            <a:off x="1999336" y="3072384"/>
            <a:ext cx="329184" cy="329184"/>
          </a:xfrm>
          <a:prstGeom prst="rect">
            <a:avLst/>
          </a:prstGeom>
        </p:spPr>
      </p:pic>
      <p:sp>
        <p:nvSpPr>
          <p:cNvPr id="34" name="Text 27"/>
          <p:cNvSpPr txBox="1"/>
          <p:nvPr/>
        </p:nvSpPr>
        <p:spPr>
          <a:xfrm>
            <a:off x="2328520" y="2752344"/>
            <a:ext cx="420624" cy="420624"/>
          </a:xfrm>
          <a:prstGeom prst="ellipse">
            <a:avLst/>
          </a:prstGeom>
          <a:solidFill>
            <a:srgbClr val="FFFFFF"/>
          </a:solidFill>
          <a:ln w="25400">
            <a:solidFill>
              <a:srgbClr val="0AA7A2"/>
            </a:solidFill>
          </a:ln>
        </p:spPr>
        <p:txBody>
          <a:bodyPr wrap="square" lIns="0" tIns="0" rIns="0" bIns="0" rtlCol="0" anchor="ctr"/>
          <a:lstStyle/>
          <a:p>
            <a:pPr algn="ctr" indent="0" marL="0">
              <a:buNone/>
            </a:pPr>
            <a:r>
              <a:rPr lang="en-US" sz="1200" b="1" dirty="0">
                <a:solidFill>
                  <a:srgbClr val="0AA7A2"/>
                </a:solidFill>
                <a:latin typeface="Arial" pitchFamily="34" charset="0"/>
                <a:ea typeface="Arial" pitchFamily="34" charset="-122"/>
                <a:cs typeface="Arial" pitchFamily="34" charset="-120"/>
              </a:rPr>
              <a:t>10</a:t>
            </a:r>
            <a:endParaRPr lang="en-US" sz="1200" dirty="0"/>
          </a:p>
        </p:txBody>
      </p:sp>
      <p:sp>
        <p:nvSpPr>
          <p:cNvPr id="35" name="Shape 28"/>
          <p:cNvSpPr/>
          <p:nvPr/>
        </p:nvSpPr>
        <p:spPr>
          <a:xfrm>
            <a:off x="4701388" y="2331720"/>
            <a:ext cx="658368" cy="658368"/>
          </a:xfrm>
          <a:prstGeom prst="roundRect">
            <a:avLst>
              <a:gd name="adj" fmla="val 22000"/>
            </a:avLst>
          </a:prstGeom>
          <a:solidFill>
            <a:srgbClr val="0AA7A2"/>
          </a:solidFill>
          <a:ln/>
        </p:spPr>
      </p:sp>
      <p:pic>
        <p:nvPicPr>
          <p:cNvPr id="36" name="Image 5" descr="preencoded.png">    </p:cNvPr>
          <p:cNvPicPr>
            <a:picLocks noChangeAspect="1"/>
          </p:cNvPicPr>
          <p:nvPr/>
        </p:nvPicPr>
        <p:blipFill>
          <a:blip r:embed="rId6"/>
          <a:stretch>
            <a:fillRect/>
          </a:stretch>
        </p:blipFill>
        <p:spPr>
          <a:xfrm>
            <a:off x="4865980" y="2496312"/>
            <a:ext cx="329184" cy="329184"/>
          </a:xfrm>
          <a:prstGeom prst="rect">
            <a:avLst/>
          </a:prstGeom>
        </p:spPr>
      </p:pic>
      <p:pic>
        <p:nvPicPr>
          <p:cNvPr id="37" name="Image 6" descr="preencoded.png">    </p:cNvPr>
          <p:cNvPicPr>
            <a:picLocks noChangeAspect="1"/>
          </p:cNvPicPr>
          <p:nvPr/>
        </p:nvPicPr>
        <p:blipFill>
          <a:blip r:embed="rId7"/>
          <a:stretch>
            <a:fillRect/>
          </a:stretch>
        </p:blipFill>
        <p:spPr>
          <a:xfrm>
            <a:off x="5405476" y="2532888"/>
            <a:ext cx="256032" cy="256032"/>
          </a:xfrm>
          <a:prstGeom prst="rect">
            <a:avLst/>
          </a:prstGeom>
        </p:spPr>
      </p:pic>
      <p:sp>
        <p:nvSpPr>
          <p:cNvPr id="38" name="Shape 29"/>
          <p:cNvSpPr/>
          <p:nvPr/>
        </p:nvSpPr>
        <p:spPr>
          <a:xfrm>
            <a:off x="5707228" y="2221992"/>
            <a:ext cx="402336" cy="402336"/>
          </a:xfrm>
          <a:prstGeom prst="ellipse">
            <a:avLst/>
          </a:prstGeom>
          <a:solidFill>
            <a:srgbClr val="1877F2"/>
          </a:solidFill>
          <a:ln/>
        </p:spPr>
      </p:sp>
      <p:sp>
        <p:nvSpPr>
          <p:cNvPr id="39" name="Text 30"/>
          <p:cNvSpPr txBox="1"/>
          <p:nvPr/>
        </p:nvSpPr>
        <p:spPr>
          <a:xfrm>
            <a:off x="5707228" y="2242109"/>
            <a:ext cx="402336"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f</a:t>
            </a:r>
            <a:endParaRPr lang="en-US" sz="1900" dirty="0"/>
          </a:p>
        </p:txBody>
      </p:sp>
      <p:sp>
        <p:nvSpPr>
          <p:cNvPr id="40" name="Shape 31"/>
          <p:cNvSpPr/>
          <p:nvPr/>
        </p:nvSpPr>
        <p:spPr>
          <a:xfrm>
            <a:off x="5707228" y="2697480"/>
            <a:ext cx="402336" cy="402336"/>
          </a:xfrm>
          <a:prstGeom prst="ellipse">
            <a:avLst/>
          </a:prstGeom>
          <a:solidFill>
            <a:srgbClr val="27A7E7"/>
          </a:solidFill>
          <a:ln/>
        </p:spPr>
      </p:sp>
      <p:pic>
        <p:nvPicPr>
          <p:cNvPr id="41" name="Image 7" descr="preencoded.png">    </p:cNvPr>
          <p:cNvPicPr>
            <a:picLocks noChangeAspect="1"/>
          </p:cNvPicPr>
          <p:nvPr/>
        </p:nvPicPr>
        <p:blipFill>
          <a:blip r:embed="rId8"/>
          <a:stretch>
            <a:fillRect/>
          </a:stretch>
        </p:blipFill>
        <p:spPr>
          <a:xfrm>
            <a:off x="5807812" y="2798064"/>
            <a:ext cx="201168" cy="201168"/>
          </a:xfrm>
          <a:prstGeom prst="rect">
            <a:avLst/>
          </a:prstGeom>
        </p:spPr>
      </p:pic>
      <p:pic>
        <p:nvPicPr>
          <p:cNvPr id="42" name="Image 8" descr="preencoded.png">    </p:cNvPr>
          <p:cNvPicPr>
            <a:picLocks noChangeAspect="1"/>
          </p:cNvPicPr>
          <p:nvPr/>
        </p:nvPicPr>
        <p:blipFill>
          <a:blip r:embed="rId9"/>
          <a:stretch>
            <a:fillRect/>
          </a:stretch>
        </p:blipFill>
        <p:spPr>
          <a:xfrm>
            <a:off x="6182716" y="2532888"/>
            <a:ext cx="256032" cy="256032"/>
          </a:xfrm>
          <a:prstGeom prst="rect">
            <a:avLst/>
          </a:prstGeom>
        </p:spPr>
      </p:pic>
      <p:sp>
        <p:nvSpPr>
          <p:cNvPr id="43" name="Shape 32"/>
          <p:cNvSpPr/>
          <p:nvPr/>
        </p:nvSpPr>
        <p:spPr>
          <a:xfrm>
            <a:off x="6502756" y="2331720"/>
            <a:ext cx="658368" cy="658368"/>
          </a:xfrm>
          <a:prstGeom prst="roundRect">
            <a:avLst>
              <a:gd name="adj" fmla="val 22000"/>
            </a:avLst>
          </a:prstGeom>
          <a:solidFill>
            <a:srgbClr val="2463E8"/>
          </a:solidFill>
          <a:ln/>
        </p:spPr>
      </p:sp>
      <p:pic>
        <p:nvPicPr>
          <p:cNvPr id="44" name="Image 9" descr="preencoded.png">    </p:cNvPr>
          <p:cNvPicPr>
            <a:picLocks noChangeAspect="1"/>
          </p:cNvPicPr>
          <p:nvPr/>
        </p:nvPicPr>
        <p:blipFill>
          <a:blip r:embed="rId10"/>
          <a:stretch>
            <a:fillRect/>
          </a:stretch>
        </p:blipFill>
        <p:spPr>
          <a:xfrm>
            <a:off x="6667348" y="2496312"/>
            <a:ext cx="329184" cy="329184"/>
          </a:xfrm>
          <a:prstGeom prst="rect">
            <a:avLst/>
          </a:prstGeom>
        </p:spPr>
      </p:pic>
      <p:sp>
        <p:nvSpPr>
          <p:cNvPr id="45" name="Text 33"/>
          <p:cNvSpPr txBox="1"/>
          <p:nvPr/>
        </p:nvSpPr>
        <p:spPr>
          <a:xfrm>
            <a:off x="5478628" y="3154680"/>
            <a:ext cx="914400" cy="237744"/>
          </a:xfrm>
          <a:prstGeom prst="rect">
            <a:avLst/>
          </a:prstGeom>
          <a:noFill/>
          <a:ln/>
        </p:spPr>
        <p:txBody>
          <a:bodyPr wrap="square" lIns="0" tIns="0" rIns="0" bIns="0" rtlCol="0" anchor="ctr"/>
          <a:lstStyle/>
          <a:p>
            <a:pPr algn="ctr" indent="0" marL="0">
              <a:buNone/>
            </a:pPr>
            <a:r>
              <a:rPr lang="en-US" sz="1050" b="1" dirty="0">
                <a:solidFill>
                  <a:srgbClr val="64748B"/>
                </a:solidFill>
                <a:latin typeface="Arial" pitchFamily="34" charset="0"/>
                <a:ea typeface="Arial" pitchFamily="34" charset="-122"/>
                <a:cs typeface="Arial" pitchFamily="34" charset="-120"/>
              </a:rPr>
              <a:t>Store link</a:t>
            </a:r>
            <a:endParaRPr lang="en-US" sz="1050" dirty="0"/>
          </a:p>
        </p:txBody>
      </p:sp>
      <p:sp>
        <p:nvSpPr>
          <p:cNvPr id="46" name="Text 34"/>
          <p:cNvSpPr txBox="1"/>
          <p:nvPr/>
        </p:nvSpPr>
        <p:spPr>
          <a:xfrm>
            <a:off x="6319876" y="3154680"/>
            <a:ext cx="1024128" cy="237744"/>
          </a:xfrm>
          <a:prstGeom prst="rect">
            <a:avLst/>
          </a:prstGeom>
          <a:noFill/>
          <a:ln/>
        </p:spPr>
        <p:txBody>
          <a:bodyPr wrap="square" lIns="0" tIns="0" rIns="0" bIns="0" rtlCol="0" anchor="ctr"/>
          <a:lstStyle/>
          <a:p>
            <a:pPr algn="ctr" indent="0" marL="0">
              <a:buNone/>
            </a:pPr>
            <a:r>
              <a:rPr lang="en-US" sz="1050" b="1" dirty="0">
                <a:solidFill>
                  <a:srgbClr val="2463E8"/>
                </a:solidFill>
                <a:latin typeface="Arial" pitchFamily="34" charset="0"/>
                <a:ea typeface="Arial" pitchFamily="34" charset="-122"/>
                <a:cs typeface="Arial" pitchFamily="34" charset="-120"/>
              </a:rPr>
              <a:t>Customers</a:t>
            </a:r>
            <a:endParaRPr lang="en-US" sz="1050" dirty="0"/>
          </a:p>
        </p:txBody>
      </p:sp>
      <p:sp>
        <p:nvSpPr>
          <p:cNvPr id="47" name="Shape 35"/>
          <p:cNvSpPr/>
          <p:nvPr/>
        </p:nvSpPr>
        <p:spPr>
          <a:xfrm>
            <a:off x="9662008" y="1920240"/>
            <a:ext cx="731520" cy="731520"/>
          </a:xfrm>
          <a:prstGeom prst="roundRect">
            <a:avLst>
              <a:gd name="adj" fmla="val 22000"/>
            </a:avLst>
          </a:prstGeom>
          <a:solidFill>
            <a:srgbClr val="F97316"/>
          </a:solidFill>
          <a:ln/>
        </p:spPr>
      </p:sp>
      <p:pic>
        <p:nvPicPr>
          <p:cNvPr id="48" name="Image 10" descr="preencoded.png">    </p:cNvPr>
          <p:cNvPicPr>
            <a:picLocks noChangeAspect="1"/>
          </p:cNvPicPr>
          <p:nvPr/>
        </p:nvPicPr>
        <p:blipFill>
          <a:blip r:embed="rId11"/>
          <a:stretch>
            <a:fillRect/>
          </a:stretch>
        </p:blipFill>
        <p:spPr>
          <a:xfrm>
            <a:off x="9844888" y="2103120"/>
            <a:ext cx="365760" cy="365760"/>
          </a:xfrm>
          <a:prstGeom prst="rect">
            <a:avLst/>
          </a:prstGeom>
        </p:spPr>
      </p:pic>
      <p:sp>
        <p:nvSpPr>
          <p:cNvPr id="49" name="Shape 36"/>
          <p:cNvSpPr/>
          <p:nvPr/>
        </p:nvSpPr>
        <p:spPr>
          <a:xfrm>
            <a:off x="9044788" y="2651760"/>
            <a:ext cx="982980" cy="274320"/>
          </a:xfrm>
          <a:prstGeom prst="line">
            <a:avLst/>
          </a:prstGeom>
          <a:noFill/>
          <a:ln w="19050">
            <a:solidFill>
              <a:srgbClr val="FED7AA"/>
            </a:solidFill>
            <a:prstDash val="solid"/>
          </a:ln>
        </p:spPr>
      </p:sp>
      <p:sp>
        <p:nvSpPr>
          <p:cNvPr id="50" name="Shape 37"/>
          <p:cNvSpPr/>
          <p:nvPr/>
        </p:nvSpPr>
        <p:spPr>
          <a:xfrm>
            <a:off x="8816188" y="2926080"/>
            <a:ext cx="457200" cy="457200"/>
          </a:xfrm>
          <a:prstGeom prst="roundRect">
            <a:avLst>
              <a:gd name="adj" fmla="val 22000"/>
            </a:avLst>
          </a:prstGeom>
          <a:solidFill>
            <a:srgbClr val="CBD5E1"/>
          </a:solidFill>
          <a:ln/>
        </p:spPr>
      </p:sp>
      <p:pic>
        <p:nvPicPr>
          <p:cNvPr id="51" name="Image 11" descr="preencoded.png">    </p:cNvPr>
          <p:cNvPicPr>
            <a:picLocks noChangeAspect="1"/>
          </p:cNvPicPr>
          <p:nvPr/>
        </p:nvPicPr>
        <p:blipFill>
          <a:blip r:embed="rId12"/>
          <a:stretch>
            <a:fillRect/>
          </a:stretch>
        </p:blipFill>
        <p:spPr>
          <a:xfrm>
            <a:off x="8930488" y="3040380"/>
            <a:ext cx="228600" cy="228600"/>
          </a:xfrm>
          <a:prstGeom prst="rect">
            <a:avLst/>
          </a:prstGeom>
        </p:spPr>
      </p:pic>
      <p:sp>
        <p:nvSpPr>
          <p:cNvPr id="52" name="Shape 38"/>
          <p:cNvSpPr/>
          <p:nvPr/>
        </p:nvSpPr>
        <p:spPr>
          <a:xfrm>
            <a:off x="9703156" y="2651760"/>
            <a:ext cx="324612" cy="274320"/>
          </a:xfrm>
          <a:prstGeom prst="line">
            <a:avLst/>
          </a:prstGeom>
          <a:noFill/>
          <a:ln w="19050">
            <a:solidFill>
              <a:srgbClr val="FED7AA"/>
            </a:solidFill>
            <a:prstDash val="solid"/>
          </a:ln>
        </p:spPr>
      </p:sp>
      <p:sp>
        <p:nvSpPr>
          <p:cNvPr id="53" name="Shape 39"/>
          <p:cNvSpPr/>
          <p:nvPr/>
        </p:nvSpPr>
        <p:spPr>
          <a:xfrm>
            <a:off x="9474556" y="2926080"/>
            <a:ext cx="457200" cy="457200"/>
          </a:xfrm>
          <a:prstGeom prst="roundRect">
            <a:avLst>
              <a:gd name="adj" fmla="val 22000"/>
            </a:avLst>
          </a:prstGeom>
          <a:solidFill>
            <a:srgbClr val="0AA7A2"/>
          </a:solidFill>
          <a:ln/>
        </p:spPr>
      </p:sp>
      <p:pic>
        <p:nvPicPr>
          <p:cNvPr id="54" name="Image 12" descr="preencoded.png">    </p:cNvPr>
          <p:cNvPicPr>
            <a:picLocks noChangeAspect="1"/>
          </p:cNvPicPr>
          <p:nvPr/>
        </p:nvPicPr>
        <p:blipFill>
          <a:blip r:embed="rId13"/>
          <a:stretch>
            <a:fillRect/>
          </a:stretch>
        </p:blipFill>
        <p:spPr>
          <a:xfrm>
            <a:off x="9588856" y="3040380"/>
            <a:ext cx="228600" cy="228600"/>
          </a:xfrm>
          <a:prstGeom prst="rect">
            <a:avLst/>
          </a:prstGeom>
        </p:spPr>
      </p:pic>
      <p:sp>
        <p:nvSpPr>
          <p:cNvPr id="55" name="Shape 40"/>
          <p:cNvSpPr/>
          <p:nvPr/>
        </p:nvSpPr>
        <p:spPr>
          <a:xfrm flipH="1">
            <a:off x="10027768" y="2651760"/>
            <a:ext cx="333756" cy="274320"/>
          </a:xfrm>
          <a:prstGeom prst="line">
            <a:avLst/>
          </a:prstGeom>
          <a:noFill/>
          <a:ln w="19050">
            <a:solidFill>
              <a:srgbClr val="FED7AA"/>
            </a:solidFill>
            <a:prstDash val="solid"/>
          </a:ln>
        </p:spPr>
      </p:sp>
      <p:sp>
        <p:nvSpPr>
          <p:cNvPr id="56" name="Shape 41"/>
          <p:cNvSpPr/>
          <p:nvPr/>
        </p:nvSpPr>
        <p:spPr>
          <a:xfrm>
            <a:off x="10132924" y="2926080"/>
            <a:ext cx="457200" cy="457200"/>
          </a:xfrm>
          <a:prstGeom prst="roundRect">
            <a:avLst>
              <a:gd name="adj" fmla="val 22000"/>
            </a:avLst>
          </a:prstGeom>
          <a:solidFill>
            <a:srgbClr val="CBD5E1"/>
          </a:solidFill>
          <a:ln/>
        </p:spPr>
      </p:sp>
      <p:pic>
        <p:nvPicPr>
          <p:cNvPr id="57" name="Image 13" descr="preencoded.png">    </p:cNvPr>
          <p:cNvPicPr>
            <a:picLocks noChangeAspect="1"/>
          </p:cNvPicPr>
          <p:nvPr/>
        </p:nvPicPr>
        <p:blipFill>
          <a:blip r:embed="rId14"/>
          <a:stretch>
            <a:fillRect/>
          </a:stretch>
        </p:blipFill>
        <p:spPr>
          <a:xfrm>
            <a:off x="10247224" y="3040380"/>
            <a:ext cx="228600" cy="228600"/>
          </a:xfrm>
          <a:prstGeom prst="rect">
            <a:avLst/>
          </a:prstGeom>
        </p:spPr>
      </p:pic>
      <p:sp>
        <p:nvSpPr>
          <p:cNvPr id="58" name="Shape 42"/>
          <p:cNvSpPr/>
          <p:nvPr/>
        </p:nvSpPr>
        <p:spPr>
          <a:xfrm flipH="1">
            <a:off x="10027768" y="2651760"/>
            <a:ext cx="992124" cy="274320"/>
          </a:xfrm>
          <a:prstGeom prst="line">
            <a:avLst/>
          </a:prstGeom>
          <a:noFill/>
          <a:ln w="19050">
            <a:solidFill>
              <a:srgbClr val="FED7AA"/>
            </a:solidFill>
            <a:prstDash val="solid"/>
          </a:ln>
        </p:spPr>
      </p:sp>
      <p:sp>
        <p:nvSpPr>
          <p:cNvPr id="59" name="Shape 43"/>
          <p:cNvSpPr/>
          <p:nvPr/>
        </p:nvSpPr>
        <p:spPr>
          <a:xfrm>
            <a:off x="10791292" y="2926080"/>
            <a:ext cx="457200" cy="457200"/>
          </a:xfrm>
          <a:prstGeom prst="roundRect">
            <a:avLst>
              <a:gd name="adj" fmla="val 22000"/>
            </a:avLst>
          </a:prstGeom>
          <a:solidFill>
            <a:srgbClr val="CBD5E1"/>
          </a:solidFill>
          <a:ln/>
        </p:spPr>
      </p:sp>
      <p:pic>
        <p:nvPicPr>
          <p:cNvPr id="60" name="Image 14" descr="preencoded.png">    </p:cNvPr>
          <p:cNvPicPr>
            <a:picLocks noChangeAspect="1"/>
          </p:cNvPicPr>
          <p:nvPr/>
        </p:nvPicPr>
        <p:blipFill>
          <a:blip r:embed="rId15"/>
          <a:stretch>
            <a:fillRect/>
          </a:stretch>
        </p:blipFill>
        <p:spPr>
          <a:xfrm>
            <a:off x="10905592" y="3040380"/>
            <a:ext cx="228600" cy="228600"/>
          </a:xfrm>
          <a:prstGeom prst="rect">
            <a:avLst/>
          </a:prstGeom>
        </p:spPr>
      </p:pic>
      <p:sp>
        <p:nvSpPr>
          <p:cNvPr id="61" name="Shape 44"/>
          <p:cNvSpPr/>
          <p:nvPr/>
        </p:nvSpPr>
        <p:spPr>
          <a:xfrm>
            <a:off x="10027768" y="4983480"/>
            <a:ext cx="914" cy="320040"/>
          </a:xfrm>
          <a:prstGeom prst="line">
            <a:avLst/>
          </a:prstGeom>
          <a:noFill/>
          <a:ln w="25400">
            <a:solidFill>
              <a:srgbClr val="4F46E5"/>
            </a:solidFill>
            <a:prstDash val="dash"/>
          </a:ln>
        </p:spPr>
      </p:sp>
      <p:sp>
        <p:nvSpPr>
          <p:cNvPr id="62" name="Shape 45"/>
          <p:cNvSpPr/>
          <p:nvPr/>
        </p:nvSpPr>
        <p:spPr>
          <a:xfrm>
            <a:off x="2163928" y="5303520"/>
            <a:ext cx="7863840" cy="914"/>
          </a:xfrm>
          <a:prstGeom prst="line">
            <a:avLst/>
          </a:prstGeom>
          <a:noFill/>
          <a:ln w="25400">
            <a:solidFill>
              <a:srgbClr val="4F46E5"/>
            </a:solidFill>
            <a:prstDash val="dash"/>
          </a:ln>
        </p:spPr>
      </p:sp>
      <p:sp>
        <p:nvSpPr>
          <p:cNvPr id="63" name="Shape 46"/>
          <p:cNvSpPr/>
          <p:nvPr/>
        </p:nvSpPr>
        <p:spPr>
          <a:xfrm flipV="1">
            <a:off x="2163928" y="5010912"/>
            <a:ext cx="914" cy="292608"/>
          </a:xfrm>
          <a:prstGeom prst="line">
            <a:avLst/>
          </a:prstGeom>
          <a:noFill/>
          <a:ln w="25400">
            <a:solidFill>
              <a:srgbClr val="4F46E5"/>
            </a:solidFill>
            <a:prstDash val="dash"/>
            <a:tailEnd type="triangle"/>
          </a:ln>
        </p:spPr>
      </p:sp>
      <p:sp>
        <p:nvSpPr>
          <p:cNvPr id="64" name="Shape 47"/>
          <p:cNvSpPr/>
          <p:nvPr/>
        </p:nvSpPr>
        <p:spPr>
          <a:xfrm>
            <a:off x="4449928" y="5102352"/>
            <a:ext cx="3291840" cy="402336"/>
          </a:xfrm>
          <a:prstGeom prst="roundRect">
            <a:avLst>
              <a:gd name="adj" fmla="val 50000"/>
            </a:avLst>
          </a:prstGeom>
          <a:solidFill>
            <a:srgbClr val="EEF2FF"/>
          </a:solidFill>
          <a:ln w="12700">
            <a:solidFill>
              <a:srgbClr val="4F46E5"/>
            </a:solidFill>
            <a:prstDash val="solid"/>
          </a:ln>
        </p:spPr>
      </p:sp>
      <p:pic>
        <p:nvPicPr>
          <p:cNvPr id="65" name="Image 15" descr="preencoded.png">    </p:cNvPr>
          <p:cNvPicPr>
            <a:picLocks noChangeAspect="1"/>
          </p:cNvPicPr>
          <p:nvPr/>
        </p:nvPicPr>
        <p:blipFill>
          <a:blip r:embed="rId16"/>
          <a:stretch>
            <a:fillRect/>
          </a:stretch>
        </p:blipFill>
        <p:spPr>
          <a:xfrm>
            <a:off x="4632808" y="5193792"/>
            <a:ext cx="219456" cy="219456"/>
          </a:xfrm>
          <a:prstGeom prst="rect">
            <a:avLst/>
          </a:prstGeom>
        </p:spPr>
      </p:pic>
      <p:sp>
        <p:nvSpPr>
          <p:cNvPr id="66" name="Text 48"/>
          <p:cNvSpPr txBox="1"/>
          <p:nvPr/>
        </p:nvSpPr>
        <p:spPr>
          <a:xfrm>
            <a:off x="4907128" y="5102352"/>
            <a:ext cx="2697480" cy="402336"/>
          </a:xfrm>
          <a:prstGeom prst="rect">
            <a:avLst/>
          </a:prstGeom>
          <a:noFill/>
          <a:ln/>
        </p:spPr>
        <p:txBody>
          <a:bodyPr wrap="square" lIns="0" tIns="0" rIns="0" bIns="0" rtlCol="0" anchor="ctr"/>
          <a:lstStyle/>
          <a:p>
            <a:pPr algn="ctr" indent="0" marL="0">
              <a:buNone/>
            </a:pPr>
            <a:r>
              <a:rPr lang="en-US" sz="1250" b="1" dirty="0">
                <a:solidFill>
                  <a:srgbClr val="4F46E5"/>
                </a:solidFill>
                <a:latin typeface="Arial" pitchFamily="34" charset="0"/>
                <a:ea typeface="Arial" pitchFamily="34" charset="-122"/>
                <a:cs typeface="Arial" pitchFamily="34" charset="-120"/>
              </a:rPr>
              <a:t>More buyers bring more shops</a:t>
            </a:r>
            <a:endParaRPr lang="en-US" sz="1250" dirty="0"/>
          </a:p>
        </p:txBody>
      </p:sp>
      <p:sp>
        <p:nvSpPr>
          <p:cNvPr id="67" name="Shape 49"/>
          <p:cNvSpPr/>
          <p:nvPr/>
        </p:nvSpPr>
        <p:spPr>
          <a:xfrm>
            <a:off x="449428" y="5669280"/>
            <a:ext cx="11292840" cy="566928"/>
          </a:xfrm>
          <a:prstGeom prst="roundRect">
            <a:avLst>
              <a:gd name="adj" fmla="val 25806"/>
            </a:avLst>
          </a:prstGeom>
          <a:solidFill>
            <a:srgbClr val="111D35"/>
          </a:solidFill>
          <a:ln/>
        </p:spPr>
      </p:sp>
      <p:sp>
        <p:nvSpPr>
          <p:cNvPr id="68" name="Text 50"/>
          <p:cNvSpPr txBox="1"/>
          <p:nvPr/>
        </p:nvSpPr>
        <p:spPr>
          <a:xfrm>
            <a:off x="723748" y="5669280"/>
            <a:ext cx="1737360" cy="566928"/>
          </a:xfrm>
          <a:prstGeom prst="rect">
            <a:avLst/>
          </a:prstGeom>
          <a:noFill/>
          <a:ln/>
        </p:spPr>
        <p:txBody>
          <a:bodyPr wrap="square" lIns="0" tIns="0" rIns="0" bIns="0" rtlCol="0" anchor="ctr"/>
          <a:lstStyle/>
          <a:p>
            <a:pPr algn="l" indent="0" marL="0">
              <a:buNone/>
            </a:pPr>
            <a:r>
              <a:rPr lang="en-US" sz="1100" b="1" spc="100" kern="0" dirty="0">
                <a:solidFill>
                  <a:srgbClr val="A7F3D0"/>
                </a:solidFill>
                <a:latin typeface="Arial" pitchFamily="34" charset="0"/>
                <a:ea typeface="Arial" pitchFamily="34" charset="-122"/>
                <a:cs typeface="Arial" pitchFamily="34" charset="-120"/>
              </a:rPr>
              <a:t>PILOT PASSES IF</a:t>
            </a:r>
            <a:endParaRPr lang="en-US" sz="1100" dirty="0"/>
          </a:p>
        </p:txBody>
      </p:sp>
      <p:pic>
        <p:nvPicPr>
          <p:cNvPr id="69" name="Image 16" descr="preencoded.png">    </p:cNvPr>
          <p:cNvPicPr>
            <a:picLocks noChangeAspect="1"/>
          </p:cNvPicPr>
          <p:nvPr/>
        </p:nvPicPr>
        <p:blipFill>
          <a:blip r:embed="rId17"/>
          <a:stretch>
            <a:fillRect/>
          </a:stretch>
        </p:blipFill>
        <p:spPr>
          <a:xfrm>
            <a:off x="2552548" y="5833872"/>
            <a:ext cx="237744" cy="237744"/>
          </a:xfrm>
          <a:prstGeom prst="rect">
            <a:avLst/>
          </a:prstGeom>
        </p:spPr>
      </p:pic>
      <p:sp>
        <p:nvSpPr>
          <p:cNvPr id="70" name="Text 51"/>
          <p:cNvSpPr txBox="1"/>
          <p:nvPr/>
        </p:nvSpPr>
        <p:spPr>
          <a:xfrm>
            <a:off x="2918308" y="5669280"/>
            <a:ext cx="2606040" cy="566928"/>
          </a:xfrm>
          <a:prstGeom prst="rect">
            <a:avLst/>
          </a:prstGeom>
          <a:noFill/>
          <a:ln/>
        </p:spPr>
        <p:txBody>
          <a:bodyPr wrap="square" lIns="0" tIns="0" rIns="0" bIns="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7 of 10  </a:t>
            </a:r>
            <a:pPr algn="l" indent="0" marL="0">
              <a:buNone/>
            </a:pPr>
            <a:r>
              <a:rPr lang="en-US" sz="1200" dirty="0">
                <a:solidFill>
                  <a:srgbClr val="9FB3CF"/>
                </a:solidFill>
                <a:latin typeface="Arial" pitchFamily="34" charset="0"/>
                <a:ea typeface="Arial" pitchFamily="34" charset="-122"/>
                <a:cs typeface="Arial" pitchFamily="34" charset="-120"/>
              </a:rPr>
              <a:t>shops stay active</a:t>
            </a:r>
            <a:endParaRPr lang="en-US" sz="1600" dirty="0"/>
          </a:p>
        </p:txBody>
      </p:sp>
      <p:pic>
        <p:nvPicPr>
          <p:cNvPr id="71" name="Image 17" descr="preencoded.png">    </p:cNvPr>
          <p:cNvPicPr>
            <a:picLocks noChangeAspect="1"/>
          </p:cNvPicPr>
          <p:nvPr/>
        </p:nvPicPr>
        <p:blipFill>
          <a:blip r:embed="rId18"/>
          <a:stretch>
            <a:fillRect/>
          </a:stretch>
        </p:blipFill>
        <p:spPr>
          <a:xfrm>
            <a:off x="5615788" y="5833872"/>
            <a:ext cx="237744" cy="237744"/>
          </a:xfrm>
          <a:prstGeom prst="rect">
            <a:avLst/>
          </a:prstGeom>
        </p:spPr>
      </p:pic>
      <p:sp>
        <p:nvSpPr>
          <p:cNvPr id="72" name="Text 52"/>
          <p:cNvSpPr txBox="1"/>
          <p:nvPr/>
        </p:nvSpPr>
        <p:spPr>
          <a:xfrm>
            <a:off x="5981548" y="5669280"/>
            <a:ext cx="2606040" cy="566928"/>
          </a:xfrm>
          <a:prstGeom prst="rect">
            <a:avLst/>
          </a:prstGeom>
          <a:noFill/>
          <a:ln/>
        </p:spPr>
        <p:txBody>
          <a:bodyPr wrap="square" lIns="0" tIns="0" rIns="0" bIns="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≥99%  </a:t>
            </a:r>
            <a:pPr algn="l" indent="0" marL="0">
              <a:buNone/>
            </a:pPr>
            <a:r>
              <a:rPr lang="en-US" sz="1200" dirty="0">
                <a:solidFill>
                  <a:srgbClr val="9FB3CF"/>
                </a:solidFill>
                <a:latin typeface="Arial" pitchFamily="34" charset="0"/>
                <a:ea typeface="Arial" pitchFamily="34" charset="-122"/>
                <a:cs typeface="Arial" pitchFamily="34" charset="-120"/>
              </a:rPr>
              <a:t>stock accuracy</a:t>
            </a:r>
            <a:endParaRPr lang="en-US" sz="1600" dirty="0"/>
          </a:p>
        </p:txBody>
      </p:sp>
      <p:pic>
        <p:nvPicPr>
          <p:cNvPr id="73" name="Image 18" descr="preencoded.png">    </p:cNvPr>
          <p:cNvPicPr>
            <a:picLocks noChangeAspect="1"/>
          </p:cNvPicPr>
          <p:nvPr/>
        </p:nvPicPr>
        <p:blipFill>
          <a:blip r:embed="rId19"/>
          <a:stretch>
            <a:fillRect/>
          </a:stretch>
        </p:blipFill>
        <p:spPr>
          <a:xfrm>
            <a:off x="8679028" y="5833872"/>
            <a:ext cx="237744" cy="237744"/>
          </a:xfrm>
          <a:prstGeom prst="rect">
            <a:avLst/>
          </a:prstGeom>
        </p:spPr>
      </p:pic>
      <p:sp>
        <p:nvSpPr>
          <p:cNvPr id="74" name="Text 53"/>
          <p:cNvSpPr txBox="1"/>
          <p:nvPr/>
        </p:nvSpPr>
        <p:spPr>
          <a:xfrm>
            <a:off x="9044788" y="5669280"/>
            <a:ext cx="2606040" cy="566928"/>
          </a:xfrm>
          <a:prstGeom prst="rect">
            <a:avLst/>
          </a:prstGeom>
          <a:noFill/>
          <a:ln/>
        </p:spPr>
        <p:txBody>
          <a:bodyPr wrap="square" lIns="0" tIns="0" rIns="0" bIns="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6 of 10  </a:t>
            </a:r>
            <a:pPr algn="l" indent="0" marL="0">
              <a:buNone/>
            </a:pPr>
            <a:r>
              <a:rPr lang="en-US" sz="1200" dirty="0">
                <a:solidFill>
                  <a:srgbClr val="9FB3CF"/>
                </a:solidFill>
                <a:latin typeface="Arial" pitchFamily="34" charset="0"/>
                <a:ea typeface="Arial" pitchFamily="34" charset="-122"/>
                <a:cs typeface="Arial" pitchFamily="34" charset="-120"/>
              </a:rPr>
              <a:t>will pay</a:t>
            </a:r>
            <a:endParaRPr lang="en-US" sz="1600" dirty="0"/>
          </a:p>
        </p:txBody>
      </p:sp>
      <p:sp>
        <p:nvSpPr>
          <p:cNvPr id="75" name="Text 54"/>
          <p:cNvSpPr txBox="1"/>
          <p:nvPr/>
        </p:nvSpPr>
        <p:spPr>
          <a:xfrm>
            <a:off x="548640" y="6355080"/>
            <a:ext cx="11064240" cy="274320"/>
          </a:xfrm>
          <a:prstGeom prst="rect">
            <a:avLst/>
          </a:prstGeom>
          <a:noFill/>
          <a:ln/>
        </p:spPr>
        <p:txBody>
          <a:bodyPr wrap="square" lIns="0" tIns="0" rIns="0" bIns="0" rtlCol="0" anchor="ctr"/>
          <a:lstStyle/>
          <a:p>
            <a:pPr algn="l" indent="0" marL="0">
              <a:buNone/>
            </a:pPr>
            <a:r>
              <a:rPr lang="en-US" sz="1000" dirty="0">
                <a:solidFill>
                  <a:srgbClr val="52637A"/>
                </a:solidFill>
                <a:latin typeface="Arial" pitchFamily="34" charset="0"/>
                <a:ea typeface="Arial" pitchFamily="34" charset="-122"/>
                <a:cs typeface="Arial" pitchFamily="34" charset="-120"/>
              </a:rPr>
              <a:t>Proposed pilot targets, agreed before the pilot starts. Marketplace-discovered orders are counted separately from shops’ own customers.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2026-09-25T17:51:59Z</dcterms:created>
  <dcterms:modified xsi:type="dcterms:W3CDTF">2026-09-25T17:51:59Z</dcterms:modified>
</cp:coreProperties>
</file>