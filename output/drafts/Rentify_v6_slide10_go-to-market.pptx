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[3:20–3:45]
How do we start a marketplace with no buyers? Merchants first. This quarter we sign ten pilot shops in Phnom Penh through market visits, Facebook seller groups and UniPreneur introductions. They join for the tools. Each shop then shares its Rentify link with its own customers, who become our first buyers. On the marketplace, those buyers discover other shops, and that brings more shops in. The pilot passes if seven of ten shops stay active, stock stays 99% accurate, and six of ten will pay.
(Q&amp;A: targets are proposals agreed before the pilot. We count marketplace-discovered orders separately from each shop's own customers, because only those earn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640080"/>
          </a:xfrm>
          <a:prstGeom prst="rect">
            <a:avLst/>
          </a:prstGeom>
          <a:noFill/>
          <a:ln/>
        </p:spPr>
        <p:txBody>
          <a:bodyPr wrap="square" lIns="0" tIns="0" rIns="0" bIns="0" rtlCol="0" anchor="ctr"/>
          <a:lstStyle/>
          <a:p>
            <a:pPr algn="ctr" indent="0" marL="0">
              <a:buNone/>
            </a:pPr>
            <a:r>
              <a:rPr lang="en-US" sz="3200" b="1" dirty="0">
                <a:solidFill>
                  <a:srgbClr val="15243A"/>
                </a:solidFill>
                <a:latin typeface="Arial" pitchFamily="34" charset="0"/>
                <a:ea typeface="Arial" pitchFamily="34" charset="-122"/>
                <a:cs typeface="Arial" pitchFamily="34" charset="-120"/>
              </a:rPr>
              <a:t>Merchants first. Their customers become our buyers.</a:t>
            </a:r>
            <a:endParaRPr lang="en-US" sz="3200" dirty="0"/>
          </a:p>
        </p:txBody>
      </p:sp>
      <p:sp>
        <p:nvSpPr>
          <p:cNvPr id="3" name="Text 1"/>
          <p:cNvSpPr txBox="1"/>
          <p:nvPr/>
        </p:nvSpPr>
        <p:spPr>
          <a:xfrm>
            <a:off x="548640" y="932688"/>
            <a:ext cx="11091672" cy="365760"/>
          </a:xfrm>
          <a:prstGeom prst="rect">
            <a:avLst/>
          </a:prstGeom>
          <a:noFill/>
          <a:ln/>
        </p:spPr>
        <p:txBody>
          <a:bodyPr wrap="square" lIns="0" tIns="0" rIns="0" bIns="0" rtlCol="0" anchor="ctr"/>
          <a:lstStyle/>
          <a:p>
            <a:pPr algn="ctr" indent="0" marL="0">
              <a:buNone/>
            </a:pPr>
            <a:r>
              <a:rPr lang="en-US" sz="1600" dirty="0">
                <a:solidFill>
                  <a:srgbClr val="52637A"/>
                </a:solidFill>
                <a:latin typeface="Arial" pitchFamily="34" charset="0"/>
                <a:ea typeface="Arial" pitchFamily="34" charset="-122"/>
                <a:cs typeface="Arial" pitchFamily="34" charset="-120"/>
              </a:rPr>
              <a:t>How we start a marketplace that has no buyers yet</a:t>
            </a:r>
            <a:endParaRPr lang="en-US" sz="1600" dirty="0"/>
          </a:p>
        </p:txBody>
      </p:sp>
      <p:sp>
        <p:nvSpPr>
          <p:cNvPr id="4" name="Shape 2"/>
          <p:cNvSpPr/>
          <p:nvPr/>
        </p:nvSpPr>
        <p:spPr>
          <a:xfrm>
            <a:off x="472288" y="1554480"/>
            <a:ext cx="3383280" cy="3246120"/>
          </a:xfrm>
          <a:prstGeom prst="roundRect">
            <a:avLst>
              <a:gd name="adj" fmla="val 5634"/>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5" name="Shape 3"/>
          <p:cNvSpPr/>
          <p:nvPr/>
        </p:nvSpPr>
        <p:spPr>
          <a:xfrm>
            <a:off x="746608" y="1828800"/>
            <a:ext cx="658368" cy="658368"/>
          </a:xfrm>
          <a:prstGeom prst="roundRect">
            <a:avLst>
              <a:gd name="adj" fmla="val 22222"/>
            </a:avLst>
          </a:prstGeom>
          <a:solidFill>
            <a:srgbClr val="0AA7A2"/>
          </a:solidFill>
          <a:ln/>
        </p:spPr>
      </p:sp>
      <p:pic>
        <p:nvPicPr>
          <p:cNvPr id="6" name="Image 0" descr="preencoded.png">    </p:cNvPr>
          <p:cNvPicPr>
            <a:picLocks noChangeAspect="1"/>
          </p:cNvPicPr>
          <p:nvPr/>
        </p:nvPicPr>
        <p:blipFill>
          <a:blip r:embed="rId1"/>
          <a:stretch>
            <a:fillRect/>
          </a:stretch>
        </p:blipFill>
        <p:spPr>
          <a:xfrm>
            <a:off x="892912" y="1975104"/>
            <a:ext cx="365760" cy="365760"/>
          </a:xfrm>
          <a:prstGeom prst="rect">
            <a:avLst/>
          </a:prstGeom>
        </p:spPr>
      </p:pic>
      <p:sp>
        <p:nvSpPr>
          <p:cNvPr id="7" name="Text 4"/>
          <p:cNvSpPr txBox="1"/>
          <p:nvPr/>
        </p:nvSpPr>
        <p:spPr>
          <a:xfrm>
            <a:off x="1569568" y="1828800"/>
            <a:ext cx="2057400" cy="274320"/>
          </a:xfrm>
          <a:prstGeom prst="rect">
            <a:avLst/>
          </a:prstGeom>
          <a:noFill/>
          <a:ln/>
        </p:spPr>
        <p:txBody>
          <a:bodyPr wrap="square" lIns="0" tIns="0" rIns="0" bIns="0" rtlCol="0" anchor="ctr"/>
          <a:lstStyle/>
          <a:p>
            <a:pPr algn="l" indent="0" marL="0">
              <a:buNone/>
            </a:pPr>
            <a:r>
              <a:rPr lang="en-US" sz="1050" b="1" spc="100" kern="0" dirty="0">
                <a:solidFill>
                  <a:srgbClr val="0AA7A2"/>
                </a:solidFill>
                <a:latin typeface="Arial" pitchFamily="34" charset="0"/>
                <a:ea typeface="Arial" pitchFamily="34" charset="-122"/>
                <a:cs typeface="Arial" pitchFamily="34" charset="-120"/>
              </a:rPr>
              <a:t>NOW · Q4 2026</a:t>
            </a:r>
            <a:endParaRPr lang="en-US" sz="1050" dirty="0"/>
          </a:p>
        </p:txBody>
      </p:sp>
      <p:sp>
        <p:nvSpPr>
          <p:cNvPr id="8" name="Text 5"/>
          <p:cNvSpPr txBox="1"/>
          <p:nvPr/>
        </p:nvSpPr>
        <p:spPr>
          <a:xfrm>
            <a:off x="1569568" y="2084832"/>
            <a:ext cx="2103120" cy="457200"/>
          </a:xfrm>
          <a:prstGeom prst="rect">
            <a:avLst/>
          </a:prstGeom>
          <a:noFill/>
          <a:ln/>
        </p:spPr>
        <p:txBody>
          <a:bodyPr wrap="square" lIns="0" tIns="0" rIns="0" bIns="0" rtlCol="0" anchor="ctr"/>
          <a:lstStyle/>
          <a:p>
            <a:pPr algn="l" indent="0" marL="0">
              <a:buNone/>
            </a:pPr>
            <a:r>
              <a:rPr lang="en-US" sz="1700" b="1" dirty="0">
                <a:solidFill>
                  <a:srgbClr val="15243A"/>
                </a:solidFill>
                <a:latin typeface="Arial" pitchFamily="34" charset="0"/>
                <a:ea typeface="Arial" pitchFamily="34" charset="-122"/>
                <a:cs typeface="Arial" pitchFamily="34" charset="-120"/>
              </a:rPr>
              <a:t>1. We bring merchants</a:t>
            </a:r>
            <a:endParaRPr lang="en-US" sz="1700" dirty="0"/>
          </a:p>
        </p:txBody>
      </p:sp>
      <p:sp>
        <p:nvSpPr>
          <p:cNvPr id="9" name="Text 6"/>
          <p:cNvSpPr txBox="1"/>
          <p:nvPr/>
        </p:nvSpPr>
        <p:spPr>
          <a:xfrm>
            <a:off x="746608" y="2697480"/>
            <a:ext cx="2880360" cy="1371600"/>
          </a:xfrm>
          <a:prstGeom prst="rect">
            <a:avLst/>
          </a:prstGeom>
          <a:noFill/>
          <a:ln/>
        </p:spPr>
        <p:txBody>
          <a:bodyPr wrap="square" lIns="0" tIns="0" rIns="0" bIns="0" rtlCol="0" anchor="t"/>
          <a:lstStyle/>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Visit shops in Phnom Penh markets</a:t>
            </a:r>
            <a:endParaRPr lang="en-US" sz="1300" dirty="0"/>
          </a:p>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Join Facebook seller groups</a:t>
            </a:r>
            <a:endParaRPr lang="en-US" sz="1300" dirty="0"/>
          </a:p>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UniPreneur introductions</a:t>
            </a:r>
            <a:endParaRPr lang="en-US" sz="1300" dirty="0"/>
          </a:p>
        </p:txBody>
      </p:sp>
      <p:sp>
        <p:nvSpPr>
          <p:cNvPr id="10" name="Text 7"/>
          <p:cNvSpPr txBox="1"/>
          <p:nvPr/>
        </p:nvSpPr>
        <p:spPr>
          <a:xfrm>
            <a:off x="746608" y="4142232"/>
            <a:ext cx="2834640" cy="402336"/>
          </a:xfrm>
          <a:prstGeom prst="roundRect">
            <a:avLst>
              <a:gd name="adj" fmla="val 50000"/>
            </a:avLst>
          </a:prstGeom>
          <a:solidFill>
            <a:srgbClr val="CCFBF1"/>
          </a:solidFill>
          <a:ln/>
        </p:spPr>
        <p:txBody>
          <a:bodyPr wrap="square" lIns="0" tIns="0" rIns="0" bIns="0" rtlCol="0" anchor="ctr"/>
          <a:lstStyle/>
          <a:p>
            <a:pPr algn="ctr" indent="0" marL="0">
              <a:buNone/>
            </a:pPr>
            <a:r>
              <a:rPr lang="en-US" sz="1200" b="1" dirty="0">
                <a:solidFill>
                  <a:srgbClr val="0F766E"/>
                </a:solidFill>
                <a:latin typeface="Arial" pitchFamily="34" charset="0"/>
                <a:ea typeface="Arial" pitchFamily="34" charset="-122"/>
                <a:cs typeface="Arial" pitchFamily="34" charset="-120"/>
              </a:rPr>
              <a:t>Goal: 10 pilot shops</a:t>
            </a:r>
            <a:endParaRPr lang="en-US" sz="1200" dirty="0"/>
          </a:p>
        </p:txBody>
      </p:sp>
      <p:pic>
        <p:nvPicPr>
          <p:cNvPr id="11" name="Image 1" descr="preencoded.png">    </p:cNvPr>
          <p:cNvPicPr>
            <a:picLocks noChangeAspect="1"/>
          </p:cNvPicPr>
          <p:nvPr/>
        </p:nvPicPr>
        <p:blipFill>
          <a:blip r:embed="rId2"/>
          <a:stretch>
            <a:fillRect/>
          </a:stretch>
        </p:blipFill>
        <p:spPr>
          <a:xfrm>
            <a:off x="3947008" y="2994660"/>
            <a:ext cx="365760" cy="365760"/>
          </a:xfrm>
          <a:prstGeom prst="rect">
            <a:avLst/>
          </a:prstGeom>
        </p:spPr>
      </p:pic>
      <p:sp>
        <p:nvSpPr>
          <p:cNvPr id="12" name="Shape 8"/>
          <p:cNvSpPr/>
          <p:nvPr/>
        </p:nvSpPr>
        <p:spPr>
          <a:xfrm>
            <a:off x="4404208" y="1554480"/>
            <a:ext cx="3383280" cy="3246120"/>
          </a:xfrm>
          <a:prstGeom prst="roundRect">
            <a:avLst>
              <a:gd name="adj" fmla="val 5634"/>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3" name="Shape 9"/>
          <p:cNvSpPr/>
          <p:nvPr/>
        </p:nvSpPr>
        <p:spPr>
          <a:xfrm>
            <a:off x="4678528" y="1828800"/>
            <a:ext cx="658368" cy="658368"/>
          </a:xfrm>
          <a:prstGeom prst="roundRect">
            <a:avLst>
              <a:gd name="adj" fmla="val 22222"/>
            </a:avLst>
          </a:prstGeom>
          <a:solidFill>
            <a:srgbClr val="2463E8"/>
          </a:solidFill>
          <a:ln/>
        </p:spPr>
      </p:sp>
      <p:pic>
        <p:nvPicPr>
          <p:cNvPr id="14" name="Image 2" descr="preencoded.png">    </p:cNvPr>
          <p:cNvPicPr>
            <a:picLocks noChangeAspect="1"/>
          </p:cNvPicPr>
          <p:nvPr/>
        </p:nvPicPr>
        <p:blipFill>
          <a:blip r:embed="rId3"/>
          <a:stretch>
            <a:fillRect/>
          </a:stretch>
        </p:blipFill>
        <p:spPr>
          <a:xfrm>
            <a:off x="4824832" y="1975104"/>
            <a:ext cx="365760" cy="365760"/>
          </a:xfrm>
          <a:prstGeom prst="rect">
            <a:avLst/>
          </a:prstGeom>
        </p:spPr>
      </p:pic>
      <p:sp>
        <p:nvSpPr>
          <p:cNvPr id="15" name="Text 10"/>
          <p:cNvSpPr txBox="1"/>
          <p:nvPr/>
        </p:nvSpPr>
        <p:spPr>
          <a:xfrm>
            <a:off x="5501488" y="1828800"/>
            <a:ext cx="2057400" cy="274320"/>
          </a:xfrm>
          <a:prstGeom prst="rect">
            <a:avLst/>
          </a:prstGeom>
          <a:noFill/>
          <a:ln/>
        </p:spPr>
        <p:txBody>
          <a:bodyPr wrap="square" lIns="0" tIns="0" rIns="0" bIns="0" rtlCol="0" anchor="ctr"/>
          <a:lstStyle/>
          <a:p>
            <a:pPr algn="l" indent="0" marL="0">
              <a:buNone/>
            </a:pPr>
            <a:r>
              <a:rPr lang="en-US" sz="1050" b="1" spc="100" kern="0" dirty="0">
                <a:solidFill>
                  <a:srgbClr val="2463E8"/>
                </a:solidFill>
                <a:latin typeface="Arial" pitchFamily="34" charset="0"/>
                <a:ea typeface="Arial" pitchFamily="34" charset="-122"/>
                <a:cs typeface="Arial" pitchFamily="34" charset="-120"/>
              </a:rPr>
              <a:t>2027 · PUBLIC LAUNCH</a:t>
            </a:r>
            <a:endParaRPr lang="en-US" sz="1050" dirty="0"/>
          </a:p>
        </p:txBody>
      </p:sp>
      <p:sp>
        <p:nvSpPr>
          <p:cNvPr id="16" name="Text 11"/>
          <p:cNvSpPr txBox="1"/>
          <p:nvPr/>
        </p:nvSpPr>
        <p:spPr>
          <a:xfrm>
            <a:off x="5501488" y="2084832"/>
            <a:ext cx="2103120" cy="457200"/>
          </a:xfrm>
          <a:prstGeom prst="rect">
            <a:avLst/>
          </a:prstGeom>
          <a:noFill/>
          <a:ln/>
        </p:spPr>
        <p:txBody>
          <a:bodyPr wrap="square" lIns="0" tIns="0" rIns="0" bIns="0" rtlCol="0" anchor="ctr"/>
          <a:lstStyle/>
          <a:p>
            <a:pPr algn="l" indent="0" marL="0">
              <a:buNone/>
            </a:pPr>
            <a:r>
              <a:rPr lang="en-US" sz="1700" b="1" dirty="0">
                <a:solidFill>
                  <a:srgbClr val="15243A"/>
                </a:solidFill>
                <a:latin typeface="Arial" pitchFamily="34" charset="0"/>
                <a:ea typeface="Arial" pitchFamily="34" charset="-122"/>
                <a:cs typeface="Arial" pitchFamily="34" charset="-120"/>
              </a:rPr>
              <a:t>2. Merchants bring their buyers</a:t>
            </a:r>
            <a:endParaRPr lang="en-US" sz="1700" dirty="0"/>
          </a:p>
        </p:txBody>
      </p:sp>
      <p:sp>
        <p:nvSpPr>
          <p:cNvPr id="17" name="Text 12"/>
          <p:cNvSpPr txBox="1"/>
          <p:nvPr/>
        </p:nvSpPr>
        <p:spPr>
          <a:xfrm>
            <a:off x="4678528" y="2697480"/>
            <a:ext cx="2880360" cy="1371600"/>
          </a:xfrm>
          <a:prstGeom prst="rect">
            <a:avLst/>
          </a:prstGeom>
          <a:noFill/>
          <a:ln/>
        </p:spPr>
        <p:txBody>
          <a:bodyPr wrap="square" lIns="0" tIns="0" rIns="0" bIns="0" rtlCol="0" anchor="t"/>
          <a:lstStyle/>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Each shop shares its Rentify link on Facebook and Telegram</a:t>
            </a:r>
            <a:endParaRPr lang="en-US" sz="1300" dirty="0"/>
          </a:p>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Its regular customers order through it</a:t>
            </a:r>
            <a:endParaRPr lang="en-US" sz="1300" dirty="0"/>
          </a:p>
        </p:txBody>
      </p:sp>
      <p:sp>
        <p:nvSpPr>
          <p:cNvPr id="18" name="Text 13"/>
          <p:cNvSpPr txBox="1"/>
          <p:nvPr/>
        </p:nvSpPr>
        <p:spPr>
          <a:xfrm>
            <a:off x="4678528" y="4142232"/>
            <a:ext cx="2834640" cy="402336"/>
          </a:xfrm>
          <a:prstGeom prst="roundRect">
            <a:avLst>
              <a:gd name="adj" fmla="val 50000"/>
            </a:avLst>
          </a:prstGeom>
          <a:solidFill>
            <a:srgbClr val="DCFCE7"/>
          </a:solidFill>
          <a:ln/>
        </p:spPr>
        <p:txBody>
          <a:bodyPr wrap="square" lIns="0" tIns="0" rIns="0" bIns="0" rtlCol="0" anchor="ctr"/>
          <a:lstStyle/>
          <a:p>
            <a:pPr algn="ctr" indent="0" marL="0">
              <a:buNone/>
            </a:pPr>
            <a:r>
              <a:rPr lang="en-US" sz="1200" b="1" dirty="0">
                <a:solidFill>
                  <a:srgbClr val="16A34A"/>
                </a:solidFill>
                <a:latin typeface="Arial" pitchFamily="34" charset="0"/>
                <a:ea typeface="Arial" pitchFamily="34" charset="-122"/>
                <a:cs typeface="Arial" pitchFamily="34" charset="-120"/>
              </a:rPr>
              <a:t>0% commission on their own sales</a:t>
            </a:r>
            <a:endParaRPr lang="en-US" sz="1200" dirty="0"/>
          </a:p>
        </p:txBody>
      </p:sp>
      <p:pic>
        <p:nvPicPr>
          <p:cNvPr id="19" name="Image 3" descr="preencoded.png">    </p:cNvPr>
          <p:cNvPicPr>
            <a:picLocks noChangeAspect="1"/>
          </p:cNvPicPr>
          <p:nvPr/>
        </p:nvPicPr>
        <p:blipFill>
          <a:blip r:embed="rId4"/>
          <a:stretch>
            <a:fillRect/>
          </a:stretch>
        </p:blipFill>
        <p:spPr>
          <a:xfrm>
            <a:off x="7878928" y="2994660"/>
            <a:ext cx="365760" cy="365760"/>
          </a:xfrm>
          <a:prstGeom prst="rect">
            <a:avLst/>
          </a:prstGeom>
        </p:spPr>
      </p:pic>
      <p:sp>
        <p:nvSpPr>
          <p:cNvPr id="20" name="Shape 14"/>
          <p:cNvSpPr/>
          <p:nvPr/>
        </p:nvSpPr>
        <p:spPr>
          <a:xfrm>
            <a:off x="8336128" y="1554480"/>
            <a:ext cx="3383280" cy="3246120"/>
          </a:xfrm>
          <a:prstGeom prst="roundRect">
            <a:avLst>
              <a:gd name="adj" fmla="val 5634"/>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21" name="Shape 15"/>
          <p:cNvSpPr/>
          <p:nvPr/>
        </p:nvSpPr>
        <p:spPr>
          <a:xfrm>
            <a:off x="8610448" y="1828800"/>
            <a:ext cx="658368" cy="658368"/>
          </a:xfrm>
          <a:prstGeom prst="roundRect">
            <a:avLst>
              <a:gd name="adj" fmla="val 22222"/>
            </a:avLst>
          </a:prstGeom>
          <a:solidFill>
            <a:srgbClr val="F97316"/>
          </a:solidFill>
          <a:ln/>
        </p:spPr>
      </p:sp>
      <p:pic>
        <p:nvPicPr>
          <p:cNvPr id="22" name="Image 4" descr="preencoded.png">    </p:cNvPr>
          <p:cNvPicPr>
            <a:picLocks noChangeAspect="1"/>
          </p:cNvPicPr>
          <p:nvPr/>
        </p:nvPicPr>
        <p:blipFill>
          <a:blip r:embed="rId5"/>
          <a:stretch>
            <a:fillRect/>
          </a:stretch>
        </p:blipFill>
        <p:spPr>
          <a:xfrm>
            <a:off x="8756752" y="1975104"/>
            <a:ext cx="365760" cy="365760"/>
          </a:xfrm>
          <a:prstGeom prst="rect">
            <a:avLst/>
          </a:prstGeom>
        </p:spPr>
      </p:pic>
      <p:sp>
        <p:nvSpPr>
          <p:cNvPr id="23" name="Text 16"/>
          <p:cNvSpPr txBox="1"/>
          <p:nvPr/>
        </p:nvSpPr>
        <p:spPr>
          <a:xfrm>
            <a:off x="9433408" y="1828800"/>
            <a:ext cx="2057400" cy="274320"/>
          </a:xfrm>
          <a:prstGeom prst="rect">
            <a:avLst/>
          </a:prstGeom>
          <a:noFill/>
          <a:ln/>
        </p:spPr>
        <p:txBody>
          <a:bodyPr wrap="square" lIns="0" tIns="0" rIns="0" bIns="0" rtlCol="0" anchor="ctr"/>
          <a:lstStyle/>
          <a:p>
            <a:pPr algn="l" indent="0" marL="0">
              <a:buNone/>
            </a:pPr>
            <a:r>
              <a:rPr lang="en-US" sz="1050" b="1" spc="100" kern="0" dirty="0">
                <a:solidFill>
                  <a:srgbClr val="F97316"/>
                </a:solidFill>
                <a:latin typeface="Arial" pitchFamily="34" charset="0"/>
                <a:ea typeface="Arial" pitchFamily="34" charset="-122"/>
                <a:cs typeface="Arial" pitchFamily="34" charset="-120"/>
              </a:rPr>
              <a:t>2027 ONWARDS</a:t>
            </a:r>
            <a:endParaRPr lang="en-US" sz="1050" dirty="0"/>
          </a:p>
        </p:txBody>
      </p:sp>
      <p:sp>
        <p:nvSpPr>
          <p:cNvPr id="24" name="Text 17"/>
          <p:cNvSpPr txBox="1"/>
          <p:nvPr/>
        </p:nvSpPr>
        <p:spPr>
          <a:xfrm>
            <a:off x="9433408" y="2084832"/>
            <a:ext cx="2103120" cy="457200"/>
          </a:xfrm>
          <a:prstGeom prst="rect">
            <a:avLst/>
          </a:prstGeom>
          <a:noFill/>
          <a:ln/>
        </p:spPr>
        <p:txBody>
          <a:bodyPr wrap="square" lIns="0" tIns="0" rIns="0" bIns="0" rtlCol="0" anchor="ctr"/>
          <a:lstStyle/>
          <a:p>
            <a:pPr algn="l" indent="0" marL="0">
              <a:buNone/>
            </a:pPr>
            <a:r>
              <a:rPr lang="en-US" sz="1700" b="1" dirty="0">
                <a:solidFill>
                  <a:srgbClr val="15243A"/>
                </a:solidFill>
                <a:latin typeface="Arial" pitchFamily="34" charset="0"/>
                <a:ea typeface="Arial" pitchFamily="34" charset="-122"/>
                <a:cs typeface="Arial" pitchFamily="34" charset="-120"/>
              </a:rPr>
              <a:t>3. Buyers discover more shops</a:t>
            </a:r>
            <a:endParaRPr lang="en-US" sz="1700" dirty="0"/>
          </a:p>
        </p:txBody>
      </p:sp>
      <p:sp>
        <p:nvSpPr>
          <p:cNvPr id="25" name="Text 18"/>
          <p:cNvSpPr txBox="1"/>
          <p:nvPr/>
        </p:nvSpPr>
        <p:spPr>
          <a:xfrm>
            <a:off x="8610448" y="2697480"/>
            <a:ext cx="2880360" cy="1371600"/>
          </a:xfrm>
          <a:prstGeom prst="rect">
            <a:avLst/>
          </a:prstGeom>
          <a:noFill/>
          <a:ln/>
        </p:spPr>
        <p:txBody>
          <a:bodyPr wrap="square" lIns="0" tIns="0" rIns="0" bIns="0" rtlCol="0" anchor="t"/>
          <a:lstStyle/>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The marketplace shows products from every shop</a:t>
            </a:r>
            <a:endParaRPr lang="en-US" sz="1300" dirty="0"/>
          </a:p>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Festival and category campaigns</a:t>
            </a:r>
            <a:endParaRPr lang="en-US" sz="1300" dirty="0"/>
          </a:p>
          <a:p>
            <a:pPr algn="l" marL="177800" indent="-177800">
              <a:spcAft>
                <a:spcPts val="600"/>
              </a:spcAft>
              <a:buSzPct val="100000"/>
              <a:buChar char="•"/>
            </a:pPr>
            <a:r>
              <a:rPr lang="en-US" sz="1300" dirty="0">
                <a:solidFill>
                  <a:srgbClr val="15243A"/>
                </a:solidFill>
                <a:latin typeface="Arial" pitchFamily="34" charset="0"/>
                <a:ea typeface="Arial" pitchFamily="34" charset="-122"/>
                <a:cs typeface="Arial" pitchFamily="34" charset="-120"/>
              </a:rPr>
              <a:t>SME associations and delivery partners</a:t>
            </a:r>
            <a:endParaRPr lang="en-US" sz="1300" dirty="0"/>
          </a:p>
        </p:txBody>
      </p:sp>
      <p:sp>
        <p:nvSpPr>
          <p:cNvPr id="26" name="Text 19"/>
          <p:cNvSpPr txBox="1"/>
          <p:nvPr/>
        </p:nvSpPr>
        <p:spPr>
          <a:xfrm>
            <a:off x="8610448" y="4142232"/>
            <a:ext cx="2834640" cy="402336"/>
          </a:xfrm>
          <a:prstGeom prst="roundRect">
            <a:avLst>
              <a:gd name="adj" fmla="val 50000"/>
            </a:avLst>
          </a:prstGeom>
          <a:solidFill>
            <a:srgbClr val="FFEDD5"/>
          </a:solidFill>
          <a:ln/>
        </p:spPr>
        <p:txBody>
          <a:bodyPr wrap="square" lIns="0" tIns="0" rIns="0" bIns="0" rtlCol="0" anchor="ctr"/>
          <a:lstStyle/>
          <a:p>
            <a:pPr algn="ctr" indent="0" marL="0">
              <a:buNone/>
            </a:pPr>
            <a:r>
              <a:rPr lang="en-US" sz="1200" b="1" dirty="0">
                <a:solidFill>
                  <a:srgbClr val="C2410C"/>
                </a:solidFill>
                <a:latin typeface="Arial" pitchFamily="34" charset="0"/>
                <a:ea typeface="Arial" pitchFamily="34" charset="-122"/>
                <a:cs typeface="Arial" pitchFamily="34" charset="-120"/>
              </a:rPr>
              <a:t>Marketplace sales earn commission</a:t>
            </a:r>
            <a:endParaRPr lang="en-US" sz="1200" dirty="0"/>
          </a:p>
        </p:txBody>
      </p:sp>
      <p:sp>
        <p:nvSpPr>
          <p:cNvPr id="27" name="Shape 20"/>
          <p:cNvSpPr/>
          <p:nvPr/>
        </p:nvSpPr>
        <p:spPr>
          <a:xfrm>
            <a:off x="472288" y="5001768"/>
            <a:ext cx="11247120" cy="457200"/>
          </a:xfrm>
          <a:prstGeom prst="roundRect">
            <a:avLst>
              <a:gd name="adj" fmla="val 50000"/>
            </a:avLst>
          </a:prstGeom>
          <a:solidFill>
            <a:srgbClr val="EEF2FF"/>
          </a:solidFill>
          <a:ln/>
        </p:spPr>
      </p:sp>
      <p:pic>
        <p:nvPicPr>
          <p:cNvPr id="28" name="Image 5" descr="preencoded.png">    </p:cNvPr>
          <p:cNvPicPr>
            <a:picLocks noChangeAspect="1"/>
          </p:cNvPicPr>
          <p:nvPr/>
        </p:nvPicPr>
        <p:blipFill>
          <a:blip r:embed="rId6"/>
          <a:stretch>
            <a:fillRect/>
          </a:stretch>
        </p:blipFill>
        <p:spPr>
          <a:xfrm>
            <a:off x="700888" y="5102352"/>
            <a:ext cx="256032" cy="256032"/>
          </a:xfrm>
          <a:prstGeom prst="rect">
            <a:avLst/>
          </a:prstGeom>
        </p:spPr>
      </p:pic>
      <p:sp>
        <p:nvSpPr>
          <p:cNvPr id="29" name="Text 21"/>
          <p:cNvSpPr txBox="1"/>
          <p:nvPr/>
        </p:nvSpPr>
        <p:spPr>
          <a:xfrm>
            <a:off x="1066648" y="5001768"/>
            <a:ext cx="10424160" cy="457200"/>
          </a:xfrm>
          <a:prstGeom prst="rect">
            <a:avLst/>
          </a:prstGeom>
          <a:noFill/>
          <a:ln/>
        </p:spPr>
        <p:txBody>
          <a:bodyPr wrap="square" lIns="0" tIns="0" rIns="0" bIns="0" rtlCol="0" anchor="ctr"/>
          <a:lstStyle/>
          <a:p>
            <a:pPr algn="l" indent="0" marL="0">
              <a:buNone/>
            </a:pPr>
            <a:r>
              <a:rPr lang="en-US" sz="1300" b="1" dirty="0">
                <a:solidFill>
                  <a:srgbClr val="4F46E5"/>
                </a:solidFill>
                <a:latin typeface="Arial" pitchFamily="34" charset="0"/>
                <a:ea typeface="Arial" pitchFamily="34" charset="-122"/>
                <a:cs typeface="Arial" pitchFamily="34" charset="-120"/>
              </a:rPr>
              <a:t>The loop: </a:t>
            </a:r>
            <a:pPr algn="l" indent="0" marL="0">
              <a:buNone/>
            </a:pPr>
            <a:r>
              <a:rPr lang="en-US" sz="1300" dirty="0">
                <a:solidFill>
                  <a:srgbClr val="15243A"/>
                </a:solidFill>
                <a:latin typeface="Arial" pitchFamily="34" charset="0"/>
                <a:ea typeface="Arial" pitchFamily="34" charset="-122"/>
                <a:cs typeface="Arial" pitchFamily="34" charset="-120"/>
              </a:rPr>
              <a:t>more shops bring more buyers, and more buyers attract more shops. Shops also earn referral credit for inviting other shops.</a:t>
            </a:r>
            <a:endParaRPr lang="en-US" sz="1300" dirty="0"/>
          </a:p>
        </p:txBody>
      </p:sp>
      <p:sp>
        <p:nvSpPr>
          <p:cNvPr id="30" name="Shape 22"/>
          <p:cNvSpPr/>
          <p:nvPr/>
        </p:nvSpPr>
        <p:spPr>
          <a:xfrm>
            <a:off x="472288" y="5641848"/>
            <a:ext cx="11247120" cy="713232"/>
          </a:xfrm>
          <a:prstGeom prst="roundRect">
            <a:avLst>
              <a:gd name="adj" fmla="val 23077"/>
            </a:avLst>
          </a:prstGeom>
          <a:solidFill>
            <a:srgbClr val="111D35"/>
          </a:solidFill>
          <a:ln/>
        </p:spPr>
      </p:sp>
      <p:sp>
        <p:nvSpPr>
          <p:cNvPr id="31" name="Text 23"/>
          <p:cNvSpPr txBox="1"/>
          <p:nvPr/>
        </p:nvSpPr>
        <p:spPr>
          <a:xfrm>
            <a:off x="746608" y="5641848"/>
            <a:ext cx="1737360" cy="713232"/>
          </a:xfrm>
          <a:prstGeom prst="rect">
            <a:avLst/>
          </a:prstGeom>
          <a:noFill/>
          <a:ln/>
        </p:spPr>
        <p:txBody>
          <a:bodyPr wrap="square" lIns="0" tIns="0" rIns="0" bIns="0" rtlCol="0" anchor="ctr"/>
          <a:lstStyle/>
          <a:p>
            <a:pPr algn="l" indent="0" marL="0">
              <a:buNone/>
            </a:pPr>
            <a:r>
              <a:rPr lang="en-US" sz="1100" b="1" spc="100" kern="0" dirty="0">
                <a:solidFill>
                  <a:srgbClr val="A7F3D0"/>
                </a:solidFill>
                <a:latin typeface="Arial" pitchFamily="34" charset="0"/>
                <a:ea typeface="Arial" pitchFamily="34" charset="-122"/>
                <a:cs typeface="Arial" pitchFamily="34" charset="-120"/>
              </a:rPr>
              <a:t>PILOT PASSES IF</a:t>
            </a:r>
            <a:endParaRPr lang="en-US" sz="1100" dirty="0"/>
          </a:p>
        </p:txBody>
      </p:sp>
      <p:sp>
        <p:nvSpPr>
          <p:cNvPr id="32" name="Text 24"/>
          <p:cNvSpPr txBox="1"/>
          <p:nvPr/>
        </p:nvSpPr>
        <p:spPr>
          <a:xfrm>
            <a:off x="2575408" y="5641848"/>
            <a:ext cx="2956560" cy="713232"/>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7 of 10  </a:t>
            </a:r>
            <a:pPr algn="l" indent="0" marL="0">
              <a:buNone/>
            </a:pPr>
            <a:r>
              <a:rPr lang="en-US" sz="1200" dirty="0">
                <a:solidFill>
                  <a:srgbClr val="CBD5E1"/>
                </a:solidFill>
                <a:latin typeface="Arial" pitchFamily="34" charset="0"/>
                <a:ea typeface="Arial" pitchFamily="34" charset="-122"/>
                <a:cs typeface="Arial" pitchFamily="34" charset="-120"/>
              </a:rPr>
              <a:t>shops active after 30 days</a:t>
            </a:r>
            <a:endParaRPr lang="en-US" sz="1600" dirty="0"/>
          </a:p>
        </p:txBody>
      </p:sp>
      <p:sp>
        <p:nvSpPr>
          <p:cNvPr id="33" name="Text 25"/>
          <p:cNvSpPr txBox="1"/>
          <p:nvPr/>
        </p:nvSpPr>
        <p:spPr>
          <a:xfrm>
            <a:off x="5623408" y="5641848"/>
            <a:ext cx="2956560" cy="713232"/>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≥99%  </a:t>
            </a:r>
            <a:pPr algn="l" indent="0" marL="0">
              <a:buNone/>
            </a:pPr>
            <a:r>
              <a:rPr lang="en-US" sz="1200" dirty="0">
                <a:solidFill>
                  <a:srgbClr val="CBD5E1"/>
                </a:solidFill>
                <a:latin typeface="Arial" pitchFamily="34" charset="0"/>
                <a:ea typeface="Arial" pitchFamily="34" charset="-122"/>
                <a:cs typeface="Arial" pitchFamily="34" charset="-120"/>
              </a:rPr>
              <a:t>stock accuracy</a:t>
            </a:r>
            <a:endParaRPr lang="en-US" sz="1600" dirty="0"/>
          </a:p>
        </p:txBody>
      </p:sp>
      <p:sp>
        <p:nvSpPr>
          <p:cNvPr id="34" name="Text 26"/>
          <p:cNvSpPr txBox="1"/>
          <p:nvPr/>
        </p:nvSpPr>
        <p:spPr>
          <a:xfrm>
            <a:off x="8671408" y="5641848"/>
            <a:ext cx="2956560" cy="713232"/>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6 of 10  </a:t>
            </a:r>
            <a:pPr algn="l" indent="0" marL="0">
              <a:buNone/>
            </a:pPr>
            <a:r>
              <a:rPr lang="en-US" sz="1200" dirty="0">
                <a:solidFill>
                  <a:srgbClr val="CBD5E1"/>
                </a:solidFill>
                <a:latin typeface="Arial" pitchFamily="34" charset="0"/>
                <a:ea typeface="Arial" pitchFamily="34" charset="-122"/>
                <a:cs typeface="Arial" pitchFamily="34" charset="-120"/>
              </a:rPr>
              <a:t>will pay a subscription</a:t>
            </a:r>
            <a:endParaRPr lang="en-US" sz="1600" dirty="0"/>
          </a:p>
        </p:txBody>
      </p:sp>
      <p:sp>
        <p:nvSpPr>
          <p:cNvPr id="35" name="Text 27"/>
          <p:cNvSpPr txBox="1"/>
          <p:nvPr/>
        </p:nvSpPr>
        <p:spPr>
          <a:xfrm>
            <a:off x="548640" y="6400800"/>
            <a:ext cx="11064240" cy="274320"/>
          </a:xfrm>
          <a:prstGeom prst="rect">
            <a:avLst/>
          </a:prstGeom>
          <a:noFill/>
          <a:ln/>
        </p:spPr>
        <p:txBody>
          <a:bodyPr wrap="square" lIns="0" tIns="0" rIns="0" bIns="0" rtlCol="0" anchor="ctr"/>
          <a:lstStyle/>
          <a:p>
            <a:pPr algn="ctr" indent="0" marL="0">
              <a:buNone/>
            </a:pPr>
            <a:r>
              <a:rPr lang="en-US" sz="1000" dirty="0">
                <a:solidFill>
                  <a:srgbClr val="52637A"/>
                </a:solidFill>
                <a:latin typeface="Arial" pitchFamily="34" charset="0"/>
                <a:ea typeface="Arial" pitchFamily="34" charset="-122"/>
                <a:cs typeface="Arial" pitchFamily="34" charset="-120"/>
              </a:rPr>
              <a:t>Proposed targets, agreed before the pilot starts. Marketplace-discovered orders are measured separately from shops’ own customers.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2026-09-25T17:48:56Z</dcterms:created>
  <dcterms:modified xsi:type="dcterms:W3CDTF">2026-09-25T17:48:56Z</dcterms:modified>
</cp:coreProperties>
</file>