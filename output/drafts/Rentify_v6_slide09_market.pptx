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[2:55–3:20]
Cambodia's e-commerce market was 1.51 billion dollars in 2024 and is projected to reach 1.78 billion this year — growing about 18% a year. Fashion and beauty are the two biggest online categories, which is exactly where we start, and almost half of payments already use QR. From the ground up: Cambodia has about 410,000 retail shops — a 24.6 million dollar subscription market. We focus on 65,000 specialised stores, worth 3.9 million a year, and aim for about 1,100 paying shops by Year 3. Marketplace commission comes on top.
(Q&amp;A: $1.51B is total e-commerce transaction value, not Rentify revenue. Half of Cambodian businesses have only one employee — our simple, low-cost plans fit them.)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growing market, counted from the ground 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4937760" cy="4800600"/>
          </a:xfrm>
          <a:prstGeom prst="roundRect">
            <a:avLst>
              <a:gd name="adj" fmla="val 3810"/>
            </a:avLst>
          </a:prstGeom>
          <a:solidFill>
            <a:srgbClr val="111D35"/>
          </a:solidFill>
          <a:ln/>
          <a:effectLst>
            <a:outerShdw sx="100000" sy="100000" kx="0" ky="0" algn="bl" rotWithShape="0" blurRad="101600" dist="38100" dir="5400000">
              <a:srgbClr val="1A2A4A">
                <a:alpha val="14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CAMBODIA E-COMMERCE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63040" y="2011680"/>
            <a:ext cx="2404667" cy="411480"/>
          </a:xfrm>
          <a:prstGeom prst="roundRect">
            <a:avLst>
              <a:gd name="adj" fmla="val 22222"/>
            </a:avLst>
          </a:prstGeom>
          <a:solidFill>
            <a:srgbClr val="0AA7A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24707" y="201168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$1.51B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97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2025*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63040" y="2743200"/>
            <a:ext cx="2834640" cy="411480"/>
          </a:xfrm>
          <a:prstGeom prst="roundRect">
            <a:avLst>
              <a:gd name="adj" fmla="val 22222"/>
            </a:avLst>
          </a:prstGeom>
          <a:solidFill>
            <a:srgbClr val="A7F3D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54680" y="274320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11D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$1.78B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47472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1A2A4A"/>
          </a:solidFill>
          <a:ln w="12700">
            <a:solidFill>
              <a:srgbClr val="0AA7A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+17.9% a year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148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ONLINE PURCHASES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526280"/>
            <a:ext cx="512064" cy="512064"/>
          </a:xfrm>
          <a:prstGeom prst="roundRect">
            <a:avLst>
              <a:gd name="adj" fmla="val 23214"/>
            </a:avLst>
          </a:prstGeom>
          <a:solidFill>
            <a:srgbClr val="EC4899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4645152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417320" y="4480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48280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Fashion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304288" y="4526280"/>
            <a:ext cx="512064" cy="512064"/>
          </a:xfrm>
          <a:prstGeom prst="roundRect">
            <a:avLst>
              <a:gd name="adj" fmla="val 23214"/>
            </a:avLst>
          </a:prstGeom>
          <a:solidFill>
            <a:srgbClr val="A855F7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160" y="4645152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898648" y="4480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000" dirty="0"/>
          </a:p>
        </p:txBody>
      </p:sp>
      <p:sp>
        <p:nvSpPr>
          <p:cNvPr id="20" name="Text 16"/>
          <p:cNvSpPr txBox="1"/>
          <p:nvPr/>
        </p:nvSpPr>
        <p:spPr>
          <a:xfrm>
            <a:off x="2898648" y="48280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877056" y="4526280"/>
            <a:ext cx="512064" cy="512064"/>
          </a:xfrm>
          <a:prstGeom prst="roundRect">
            <a:avLst>
              <a:gd name="adj" fmla="val 23214"/>
            </a:avLst>
          </a:prstGeom>
          <a:solidFill>
            <a:srgbClr val="0AA7A2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28" y="4645152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471416" y="4480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000" dirty="0"/>
          </a:p>
        </p:txBody>
      </p:sp>
      <p:sp>
        <p:nvSpPr>
          <p:cNvPr id="24" name="Text 19"/>
          <p:cNvSpPr txBox="1"/>
          <p:nvPr/>
        </p:nvSpPr>
        <p:spPr>
          <a:xfrm>
            <a:off x="4471416" y="48280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by QR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3877056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THEY PAY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712464" y="4160520"/>
            <a:ext cx="0" cy="96012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22960" y="5303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first categories are the two biggest.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400800" y="1371600"/>
            <a:ext cx="4663440" cy="4663440"/>
          </a:xfrm>
          <a:prstGeom prst="ellipse">
            <a:avLst/>
          </a:prstGeom>
          <a:solidFill>
            <a:srgbClr val="DBEAF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155180" y="2880360"/>
            <a:ext cx="3154680" cy="3154680"/>
          </a:xfrm>
          <a:prstGeom prst="ellipse">
            <a:avLst/>
          </a:prstGeom>
          <a:solidFill>
            <a:srgbClr val="CCFBF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909560" y="4389120"/>
            <a:ext cx="1645920" cy="1645920"/>
          </a:xfrm>
          <a:prstGeom prst="ellipse">
            <a:avLst/>
          </a:prstGeom>
          <a:solidFill>
            <a:srgbClr val="FFED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7269480" y="1645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6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pPr algn="ctr" indent="0" marL="0">
              <a:buNone/>
            </a:pPr>
            <a:r>
              <a:rPr lang="en-US" sz="115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all retail shops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7269480" y="18836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410,600</a:t>
            </a:r>
            <a:endParaRPr lang="en-US" sz="2600" dirty="0"/>
          </a:p>
        </p:txBody>
      </p:sp>
      <p:sp>
        <p:nvSpPr>
          <p:cNvPr id="33" name="Text 28"/>
          <p:cNvSpPr txBox="1"/>
          <p:nvPr/>
        </p:nvSpPr>
        <p:spPr>
          <a:xfrm>
            <a:off x="7269480" y="23408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6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$24.6M / yr</a:t>
            </a:r>
            <a:endParaRPr lang="en-US" sz="1400" dirty="0"/>
          </a:p>
        </p:txBody>
      </p:sp>
      <p:sp>
        <p:nvSpPr>
          <p:cNvPr id="34" name="Text 29"/>
          <p:cNvSpPr txBox="1"/>
          <p:nvPr/>
        </p:nvSpPr>
        <p:spPr>
          <a:xfrm>
            <a:off x="7269480" y="31272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pPr algn="ctr" indent="0" marL="0">
              <a:buNone/>
            </a:pPr>
            <a:r>
              <a:rPr lang="en-US" sz="115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specialized stores</a:t>
            </a:r>
            <a:endParaRPr lang="en-US" sz="1150" dirty="0"/>
          </a:p>
        </p:txBody>
      </p:sp>
      <p:sp>
        <p:nvSpPr>
          <p:cNvPr id="35" name="Text 30"/>
          <p:cNvSpPr txBox="1"/>
          <p:nvPr/>
        </p:nvSpPr>
        <p:spPr>
          <a:xfrm>
            <a:off x="7269480" y="33649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65,400</a:t>
            </a:r>
            <a:endParaRPr lang="en-US" sz="2600" dirty="0"/>
          </a:p>
        </p:txBody>
      </p:sp>
      <p:sp>
        <p:nvSpPr>
          <p:cNvPr id="36" name="Text 31"/>
          <p:cNvSpPr txBox="1"/>
          <p:nvPr/>
        </p:nvSpPr>
        <p:spPr>
          <a:xfrm>
            <a:off x="7269480" y="3822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$3.9M / yr</a:t>
            </a:r>
            <a:endParaRPr lang="en-US" sz="1400" dirty="0"/>
          </a:p>
        </p:txBody>
      </p:sp>
      <p:sp>
        <p:nvSpPr>
          <p:cNvPr id="37" name="Text 32"/>
          <p:cNvSpPr txBox="1"/>
          <p:nvPr/>
        </p:nvSpPr>
        <p:spPr>
          <a:xfrm>
            <a:off x="7269480" y="47091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pPr algn="ctr" indent="0" marL="0">
              <a:buNone/>
            </a:pPr>
            <a:r>
              <a:rPr lang="en-US" sz="10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by Year 3</a:t>
            </a:r>
            <a:endParaRPr lang="en-US" sz="1000" dirty="0"/>
          </a:p>
        </p:txBody>
      </p:sp>
      <p:sp>
        <p:nvSpPr>
          <p:cNvPr id="38" name="Text 33"/>
          <p:cNvSpPr txBox="1"/>
          <p:nvPr/>
        </p:nvSpPr>
        <p:spPr>
          <a:xfrm>
            <a:off x="7269480" y="49469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≈1,130</a:t>
            </a:r>
            <a:endParaRPr lang="en-US" sz="2000" dirty="0"/>
          </a:p>
        </p:txBody>
      </p:sp>
      <p:sp>
        <p:nvSpPr>
          <p:cNvPr id="39" name="Text 34"/>
          <p:cNvSpPr txBox="1"/>
          <p:nvPr/>
        </p:nvSpPr>
        <p:spPr>
          <a:xfrm>
            <a:off x="7269480" y="5330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$67.7K / yr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*2025 projected. Sources: Ministry of Commerce iTrade Bulletin (Mar 2025); NIS Economic Census 2022. Value = shops × US$60/yr subscription; commission not included.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2026-09-25T16:46:49Z</dcterms:created>
  <dcterms:modified xsi:type="dcterms:W3CDTF">2026-09-25T16:46:49Z</dcterms:modified>
</cp:coreProperties>
</file>