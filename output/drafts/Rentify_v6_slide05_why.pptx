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[1:50–2:15]
Merchants already have tools: Facebook for their own page, Khmer24, VTENH and Smile Shop for marketplaces, and POS apps for the counter. Khmum is closest to combining them, and we respect it. Tesla wasn't the first electric car either. Rentify is different in three ways: one stock everywhere, as you just saw; merchants can start on the marketplace and grow into their own storefront without re-listing; and we charge nothing on their own sales — we only earn when our marketplace brings the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algn="ctr" indent="0" marL="0">
              <a:buNone/>
            </a:pPr>
            <a:r>
              <a:rPr lang="en-US" sz="3200" b="1" dirty="0">
                <a:solidFill>
                  <a:srgbClr val="15243A"/>
                </a:solidFill>
                <a:latin typeface="Arial" pitchFamily="34" charset="0"/>
                <a:ea typeface="Arial" pitchFamily="34" charset="-122"/>
                <a:cs typeface="Arial" pitchFamily="34" charset="-120"/>
              </a:rPr>
              <a:t>Why Rentify, not separate tools?</a:t>
            </a:r>
            <a:endParaRPr lang="en-US" sz="3200" dirty="0"/>
          </a:p>
        </p:txBody>
      </p:sp>
      <p:sp>
        <p:nvSpPr>
          <p:cNvPr id="3" name="Shape 1"/>
          <p:cNvSpPr/>
          <p:nvPr/>
        </p:nvSpPr>
        <p:spPr>
          <a:xfrm>
            <a:off x="1843888" y="1188720"/>
            <a:ext cx="914400" cy="914400"/>
          </a:xfrm>
          <a:prstGeom prst="roundRect">
            <a:avLst>
              <a:gd name="adj" fmla="val 22000"/>
            </a:avLst>
          </a:prstGeom>
          <a:solidFill>
            <a:srgbClr val="2463E8"/>
          </a:solidFill>
          <a:ln/>
          <a:effectLst>
            <a:outerShdw sx="100000" sy="100000" kx="0" ky="0" algn="bl" rotWithShape="0" blurRad="101600" dist="38100" dir="5400000">
              <a:srgbClr val="1A2A4A">
                <a:alpha val="18000"/>
              </a:srgbClr>
            </a:outerShdw>
          </a:effectLst>
        </p:spPr>
      </p:sp>
      <p:pic>
        <p:nvPicPr>
          <p:cNvPr id="4" name="Image 0" descr="preencoded.png">    </p:cNvPr>
          <p:cNvPicPr>
            <a:picLocks noChangeAspect="1"/>
          </p:cNvPicPr>
          <p:nvPr/>
        </p:nvPicPr>
        <p:blipFill>
          <a:blip r:embed="rId1"/>
          <a:stretch>
            <a:fillRect/>
          </a:stretch>
        </p:blipFill>
        <p:spPr>
          <a:xfrm>
            <a:off x="2054200" y="1399032"/>
            <a:ext cx="493776" cy="493776"/>
          </a:xfrm>
          <a:prstGeom prst="rect">
            <a:avLst/>
          </a:prstGeom>
        </p:spPr>
      </p:pic>
      <p:sp>
        <p:nvSpPr>
          <p:cNvPr id="5" name="Text 2"/>
          <p:cNvSpPr txBox="1"/>
          <p:nvPr/>
        </p:nvSpPr>
        <p:spPr>
          <a:xfrm>
            <a:off x="609448" y="2212848"/>
            <a:ext cx="3383280" cy="411480"/>
          </a:xfrm>
          <a:prstGeom prst="rect">
            <a:avLst/>
          </a:prstGeom>
          <a:noFill/>
          <a:ln/>
        </p:spPr>
        <p:txBody>
          <a:bodyPr wrap="square" lIns="0" tIns="0" rIns="0" bIns="0" rtlCol="0" anchor="ctr"/>
          <a:lstStyle/>
          <a:p>
            <a:pPr algn="ctr" indent="0" marL="0">
              <a:buNone/>
            </a:pPr>
            <a:r>
              <a:rPr lang="en-US" sz="2100" b="1" dirty="0">
                <a:solidFill>
                  <a:srgbClr val="15243A"/>
                </a:solidFill>
                <a:latin typeface="Arial" pitchFamily="34" charset="0"/>
                <a:ea typeface="Arial" pitchFamily="34" charset="-122"/>
                <a:cs typeface="Arial" pitchFamily="34" charset="-120"/>
              </a:rPr>
              <a:t>Your own store</a:t>
            </a:r>
            <a:endParaRPr lang="en-US" sz="2100" dirty="0"/>
          </a:p>
        </p:txBody>
      </p:sp>
      <p:sp>
        <p:nvSpPr>
          <p:cNvPr id="6" name="Text 3"/>
          <p:cNvSpPr txBox="1"/>
          <p:nvPr/>
        </p:nvSpPr>
        <p:spPr>
          <a:xfrm>
            <a:off x="1020928" y="2743200"/>
            <a:ext cx="2560320" cy="420624"/>
          </a:xfrm>
          <a:prstGeom prst="roundRect">
            <a:avLst>
              <a:gd name="adj" fmla="val 50000"/>
            </a:avLst>
          </a:prstGeom>
          <a:solidFill>
            <a:srgbClr val="DCEBFF"/>
          </a:solidFill>
          <a:ln/>
        </p:spPr>
        <p:txBody>
          <a:bodyPr wrap="square" lIns="0" tIns="0" rIns="0" bIns="0" rtlCol="0" anchor="ctr"/>
          <a:lstStyle/>
          <a:p>
            <a:pPr algn="ctr" indent="0" marL="0">
              <a:buNone/>
            </a:pPr>
            <a:r>
              <a:rPr lang="en-US" sz="1400" b="1" dirty="0">
                <a:solidFill>
                  <a:srgbClr val="2463E8"/>
                </a:solidFill>
                <a:latin typeface="Arial" pitchFamily="34" charset="0"/>
                <a:ea typeface="Arial" pitchFamily="34" charset="-122"/>
                <a:cs typeface="Arial" pitchFamily="34" charset="-120"/>
              </a:rPr>
              <a:t>Facebook page</a:t>
            </a:r>
            <a:endParaRPr lang="en-US" sz="1400" dirty="0"/>
          </a:p>
        </p:txBody>
      </p:sp>
      <p:sp>
        <p:nvSpPr>
          <p:cNvPr id="7" name="Text 4"/>
          <p:cNvSpPr txBox="1"/>
          <p:nvPr/>
        </p:nvSpPr>
        <p:spPr>
          <a:xfrm>
            <a:off x="1020928" y="3255264"/>
            <a:ext cx="2560320" cy="420624"/>
          </a:xfrm>
          <a:prstGeom prst="roundRect">
            <a:avLst>
              <a:gd name="adj" fmla="val 50000"/>
            </a:avLst>
          </a:prstGeom>
          <a:solidFill>
            <a:srgbClr val="DCEBFF"/>
          </a:solidFill>
          <a:ln/>
        </p:spPr>
        <p:txBody>
          <a:bodyPr wrap="square" lIns="0" tIns="0" rIns="0" bIns="0" rtlCol="0" anchor="ctr"/>
          <a:lstStyle/>
          <a:p>
            <a:pPr algn="ctr" indent="0" marL="0">
              <a:buNone/>
            </a:pPr>
            <a:r>
              <a:rPr lang="en-US" sz="1400" b="1" dirty="0">
                <a:solidFill>
                  <a:srgbClr val="2463E8"/>
                </a:solidFill>
                <a:latin typeface="Arial" pitchFamily="34" charset="0"/>
                <a:ea typeface="Arial" pitchFamily="34" charset="-122"/>
                <a:cs typeface="Arial" pitchFamily="34" charset="-120"/>
              </a:rPr>
              <a:t>Website builders</a:t>
            </a:r>
            <a:endParaRPr lang="en-US" sz="1400" dirty="0"/>
          </a:p>
        </p:txBody>
      </p:sp>
      <p:sp>
        <p:nvSpPr>
          <p:cNvPr id="8" name="Shape 5"/>
          <p:cNvSpPr/>
          <p:nvPr/>
        </p:nvSpPr>
        <p:spPr>
          <a:xfrm>
            <a:off x="5638648" y="1188720"/>
            <a:ext cx="914400" cy="914400"/>
          </a:xfrm>
          <a:prstGeom prst="roundRect">
            <a:avLst>
              <a:gd name="adj" fmla="val 22000"/>
            </a:avLst>
          </a:prstGeom>
          <a:solidFill>
            <a:srgbClr val="F97316"/>
          </a:solidFill>
          <a:ln/>
          <a:effectLst>
            <a:outerShdw sx="100000" sy="100000" kx="0" ky="0" algn="bl" rotWithShape="0" blurRad="101600" dist="38100" dir="5400000">
              <a:srgbClr val="1A2A4A">
                <a:alpha val="18000"/>
              </a:srgbClr>
            </a:outerShdw>
          </a:effectLst>
        </p:spPr>
      </p:sp>
      <p:pic>
        <p:nvPicPr>
          <p:cNvPr id="9" name="Image 1" descr="preencoded.png">    </p:cNvPr>
          <p:cNvPicPr>
            <a:picLocks noChangeAspect="1"/>
          </p:cNvPicPr>
          <p:nvPr/>
        </p:nvPicPr>
        <p:blipFill>
          <a:blip r:embed="rId2"/>
          <a:stretch>
            <a:fillRect/>
          </a:stretch>
        </p:blipFill>
        <p:spPr>
          <a:xfrm>
            <a:off x="5848960" y="1399032"/>
            <a:ext cx="493776" cy="493776"/>
          </a:xfrm>
          <a:prstGeom prst="rect">
            <a:avLst/>
          </a:prstGeom>
        </p:spPr>
      </p:pic>
      <p:sp>
        <p:nvSpPr>
          <p:cNvPr id="10" name="Text 6"/>
          <p:cNvSpPr txBox="1"/>
          <p:nvPr/>
        </p:nvSpPr>
        <p:spPr>
          <a:xfrm>
            <a:off x="4404208" y="2212848"/>
            <a:ext cx="3383280" cy="411480"/>
          </a:xfrm>
          <a:prstGeom prst="rect">
            <a:avLst/>
          </a:prstGeom>
          <a:noFill/>
          <a:ln/>
        </p:spPr>
        <p:txBody>
          <a:bodyPr wrap="square" lIns="0" tIns="0" rIns="0" bIns="0" rtlCol="0" anchor="ctr"/>
          <a:lstStyle/>
          <a:p>
            <a:pPr algn="ctr" indent="0" marL="0">
              <a:buNone/>
            </a:pPr>
            <a:r>
              <a:rPr lang="en-US" sz="2100" b="1" dirty="0">
                <a:solidFill>
                  <a:srgbClr val="15243A"/>
                </a:solidFill>
                <a:latin typeface="Arial" pitchFamily="34" charset="0"/>
                <a:ea typeface="Arial" pitchFamily="34" charset="-122"/>
                <a:cs typeface="Arial" pitchFamily="34" charset="-120"/>
              </a:rPr>
              <a:t>Marketplace</a:t>
            </a:r>
            <a:endParaRPr lang="en-US" sz="2100" dirty="0"/>
          </a:p>
        </p:txBody>
      </p:sp>
      <p:sp>
        <p:nvSpPr>
          <p:cNvPr id="11" name="Text 7"/>
          <p:cNvSpPr txBox="1"/>
          <p:nvPr/>
        </p:nvSpPr>
        <p:spPr>
          <a:xfrm>
            <a:off x="4815688" y="2743200"/>
            <a:ext cx="2560320" cy="420624"/>
          </a:xfrm>
          <a:prstGeom prst="roundRect">
            <a:avLst>
              <a:gd name="adj" fmla="val 50000"/>
            </a:avLst>
          </a:prstGeom>
          <a:solidFill>
            <a:srgbClr val="FFEDD5"/>
          </a:solidFill>
          <a:ln/>
        </p:spPr>
        <p:txBody>
          <a:bodyPr wrap="square" lIns="0" tIns="0" rIns="0" bIns="0" rtlCol="0" anchor="ctr"/>
          <a:lstStyle/>
          <a:p>
            <a:pPr algn="ctr" indent="0" marL="0">
              <a:buNone/>
            </a:pPr>
            <a:r>
              <a:rPr lang="en-US" sz="1400" b="1" dirty="0">
                <a:solidFill>
                  <a:srgbClr val="F97316"/>
                </a:solidFill>
                <a:latin typeface="Arial" pitchFamily="34" charset="0"/>
                <a:ea typeface="Arial" pitchFamily="34" charset="-122"/>
                <a:cs typeface="Arial" pitchFamily="34" charset="-120"/>
              </a:rPr>
              <a:t>Khmer24</a:t>
            </a:r>
            <a:endParaRPr lang="en-US" sz="1400" dirty="0"/>
          </a:p>
        </p:txBody>
      </p:sp>
      <p:sp>
        <p:nvSpPr>
          <p:cNvPr id="12" name="Text 8"/>
          <p:cNvSpPr txBox="1"/>
          <p:nvPr/>
        </p:nvSpPr>
        <p:spPr>
          <a:xfrm>
            <a:off x="4815688" y="3255264"/>
            <a:ext cx="2560320" cy="420624"/>
          </a:xfrm>
          <a:prstGeom prst="roundRect">
            <a:avLst>
              <a:gd name="adj" fmla="val 50000"/>
            </a:avLst>
          </a:prstGeom>
          <a:solidFill>
            <a:srgbClr val="FFEDD5"/>
          </a:solidFill>
          <a:ln/>
        </p:spPr>
        <p:txBody>
          <a:bodyPr wrap="square" lIns="0" tIns="0" rIns="0" bIns="0" rtlCol="0" anchor="ctr"/>
          <a:lstStyle/>
          <a:p>
            <a:pPr algn="ctr" indent="0" marL="0">
              <a:buNone/>
            </a:pPr>
            <a:r>
              <a:rPr lang="en-US" sz="1400" b="1" dirty="0">
                <a:solidFill>
                  <a:srgbClr val="F97316"/>
                </a:solidFill>
                <a:latin typeface="Arial" pitchFamily="34" charset="0"/>
                <a:ea typeface="Arial" pitchFamily="34" charset="-122"/>
                <a:cs typeface="Arial" pitchFamily="34" charset="-120"/>
              </a:rPr>
              <a:t>VTENH</a:t>
            </a:r>
            <a:endParaRPr lang="en-US" sz="1400" dirty="0"/>
          </a:p>
        </p:txBody>
      </p:sp>
      <p:sp>
        <p:nvSpPr>
          <p:cNvPr id="13" name="Text 9"/>
          <p:cNvSpPr txBox="1"/>
          <p:nvPr/>
        </p:nvSpPr>
        <p:spPr>
          <a:xfrm>
            <a:off x="4815688" y="3767328"/>
            <a:ext cx="2560320" cy="420624"/>
          </a:xfrm>
          <a:prstGeom prst="roundRect">
            <a:avLst>
              <a:gd name="adj" fmla="val 50000"/>
            </a:avLst>
          </a:prstGeom>
          <a:solidFill>
            <a:srgbClr val="FFEDD5"/>
          </a:solidFill>
          <a:ln/>
        </p:spPr>
        <p:txBody>
          <a:bodyPr wrap="square" lIns="0" tIns="0" rIns="0" bIns="0" rtlCol="0" anchor="ctr"/>
          <a:lstStyle/>
          <a:p>
            <a:pPr algn="ctr" indent="0" marL="0">
              <a:buNone/>
            </a:pPr>
            <a:r>
              <a:rPr lang="en-US" sz="1400" b="1" dirty="0">
                <a:solidFill>
                  <a:srgbClr val="F97316"/>
                </a:solidFill>
                <a:latin typeface="Arial" pitchFamily="34" charset="0"/>
                <a:ea typeface="Arial" pitchFamily="34" charset="-122"/>
                <a:cs typeface="Arial" pitchFamily="34" charset="-120"/>
              </a:rPr>
              <a:t>Smile Shop</a:t>
            </a:r>
            <a:endParaRPr lang="en-US" sz="1400" dirty="0"/>
          </a:p>
        </p:txBody>
      </p:sp>
      <p:sp>
        <p:nvSpPr>
          <p:cNvPr id="14" name="Shape 10"/>
          <p:cNvSpPr/>
          <p:nvPr/>
        </p:nvSpPr>
        <p:spPr>
          <a:xfrm>
            <a:off x="9433408" y="1188720"/>
            <a:ext cx="914400" cy="914400"/>
          </a:xfrm>
          <a:prstGeom prst="roundRect">
            <a:avLst>
              <a:gd name="adj" fmla="val 22000"/>
            </a:avLst>
          </a:prstGeom>
          <a:solidFill>
            <a:srgbClr val="0AA7A2"/>
          </a:solidFill>
          <a:ln/>
          <a:effectLst>
            <a:outerShdw sx="100000" sy="100000" kx="0" ky="0" algn="bl" rotWithShape="0" blurRad="101600" dist="38100" dir="5400000">
              <a:srgbClr val="1A2A4A">
                <a:alpha val="18000"/>
              </a:srgbClr>
            </a:outerShdw>
          </a:effectLst>
        </p:spPr>
      </p:sp>
      <p:pic>
        <p:nvPicPr>
          <p:cNvPr id="15" name="Image 2" descr="preencoded.png">    </p:cNvPr>
          <p:cNvPicPr>
            <a:picLocks noChangeAspect="1"/>
          </p:cNvPicPr>
          <p:nvPr/>
        </p:nvPicPr>
        <p:blipFill>
          <a:blip r:embed="rId3"/>
          <a:stretch>
            <a:fillRect/>
          </a:stretch>
        </p:blipFill>
        <p:spPr>
          <a:xfrm>
            <a:off x="9643720" y="1399032"/>
            <a:ext cx="493776" cy="493776"/>
          </a:xfrm>
          <a:prstGeom prst="rect">
            <a:avLst/>
          </a:prstGeom>
        </p:spPr>
      </p:pic>
      <p:sp>
        <p:nvSpPr>
          <p:cNvPr id="16" name="Text 11"/>
          <p:cNvSpPr txBox="1"/>
          <p:nvPr/>
        </p:nvSpPr>
        <p:spPr>
          <a:xfrm>
            <a:off x="8198968" y="2212848"/>
            <a:ext cx="3383280" cy="411480"/>
          </a:xfrm>
          <a:prstGeom prst="rect">
            <a:avLst/>
          </a:prstGeom>
          <a:noFill/>
          <a:ln/>
        </p:spPr>
        <p:txBody>
          <a:bodyPr wrap="square" lIns="0" tIns="0" rIns="0" bIns="0" rtlCol="0" anchor="ctr"/>
          <a:lstStyle/>
          <a:p>
            <a:pPr algn="ctr" indent="0" marL="0">
              <a:buNone/>
            </a:pPr>
            <a:r>
              <a:rPr lang="en-US" sz="2100" b="1" dirty="0">
                <a:solidFill>
                  <a:srgbClr val="15243A"/>
                </a:solidFill>
                <a:latin typeface="Arial" pitchFamily="34" charset="0"/>
                <a:ea typeface="Arial" pitchFamily="34" charset="-122"/>
                <a:cs typeface="Arial" pitchFamily="34" charset="-120"/>
              </a:rPr>
              <a:t>Shop counter</a:t>
            </a:r>
            <a:endParaRPr lang="en-US" sz="2100" dirty="0"/>
          </a:p>
        </p:txBody>
      </p:sp>
      <p:sp>
        <p:nvSpPr>
          <p:cNvPr id="17" name="Text 12"/>
          <p:cNvSpPr txBox="1"/>
          <p:nvPr/>
        </p:nvSpPr>
        <p:spPr>
          <a:xfrm>
            <a:off x="8610448" y="2743200"/>
            <a:ext cx="2560320" cy="420624"/>
          </a:xfrm>
          <a:prstGeom prst="roundRect">
            <a:avLst>
              <a:gd name="adj" fmla="val 50000"/>
            </a:avLst>
          </a:prstGeom>
          <a:solidFill>
            <a:srgbClr val="D6F4F0"/>
          </a:solidFill>
          <a:ln/>
        </p:spPr>
        <p:txBody>
          <a:bodyPr wrap="square" lIns="0" tIns="0" rIns="0" bIns="0" rtlCol="0" anchor="ctr"/>
          <a:lstStyle/>
          <a:p>
            <a:pPr algn="ctr" indent="0" marL="0">
              <a:buNone/>
            </a:pPr>
            <a:r>
              <a:rPr lang="en-US" sz="1400" b="1" dirty="0">
                <a:solidFill>
                  <a:srgbClr val="0AA7A2"/>
                </a:solidFill>
                <a:latin typeface="Arial" pitchFamily="34" charset="0"/>
                <a:ea typeface="Arial" pitchFamily="34" charset="-122"/>
                <a:cs typeface="Arial" pitchFamily="34" charset="-120"/>
              </a:rPr>
              <a:t>POS apps</a:t>
            </a:r>
            <a:endParaRPr lang="en-US" sz="1400" dirty="0"/>
          </a:p>
        </p:txBody>
      </p:sp>
      <p:sp>
        <p:nvSpPr>
          <p:cNvPr id="18" name="Text 13"/>
          <p:cNvSpPr txBox="1"/>
          <p:nvPr/>
        </p:nvSpPr>
        <p:spPr>
          <a:xfrm>
            <a:off x="8610448" y="3255264"/>
            <a:ext cx="2560320" cy="420624"/>
          </a:xfrm>
          <a:prstGeom prst="roundRect">
            <a:avLst>
              <a:gd name="adj" fmla="val 50000"/>
            </a:avLst>
          </a:prstGeom>
          <a:solidFill>
            <a:srgbClr val="D6F4F0"/>
          </a:solidFill>
          <a:ln/>
        </p:spPr>
        <p:txBody>
          <a:bodyPr wrap="square" lIns="0" tIns="0" rIns="0" bIns="0" rtlCol="0" anchor="ctr"/>
          <a:lstStyle/>
          <a:p>
            <a:pPr algn="ctr" indent="0" marL="0">
              <a:buNone/>
            </a:pPr>
            <a:r>
              <a:rPr lang="en-US" sz="1400" b="1" dirty="0">
                <a:solidFill>
                  <a:srgbClr val="0AA7A2"/>
                </a:solidFill>
                <a:latin typeface="Arial" pitchFamily="34" charset="0"/>
                <a:ea typeface="Arial" pitchFamily="34" charset="-122"/>
                <a:cs typeface="Arial" pitchFamily="34" charset="-120"/>
              </a:rPr>
              <a:t>Cash box</a:t>
            </a:r>
            <a:endParaRPr lang="en-US" sz="1400" dirty="0"/>
          </a:p>
        </p:txBody>
      </p:sp>
      <p:sp>
        <p:nvSpPr>
          <p:cNvPr id="19" name="Shape 14"/>
          <p:cNvSpPr/>
          <p:nvPr/>
        </p:nvSpPr>
        <p:spPr>
          <a:xfrm>
            <a:off x="4198468" y="1234440"/>
            <a:ext cx="0" cy="3017520"/>
          </a:xfrm>
          <a:prstGeom prst="line">
            <a:avLst/>
          </a:prstGeom>
          <a:noFill/>
          <a:ln w="19050">
            <a:solidFill>
              <a:srgbClr val="CBD5E1"/>
            </a:solidFill>
            <a:prstDash val="dash"/>
          </a:ln>
        </p:spPr>
      </p:sp>
      <p:sp>
        <p:nvSpPr>
          <p:cNvPr id="20" name="Shape 15"/>
          <p:cNvSpPr/>
          <p:nvPr/>
        </p:nvSpPr>
        <p:spPr>
          <a:xfrm>
            <a:off x="7993228" y="1234440"/>
            <a:ext cx="0" cy="3017520"/>
          </a:xfrm>
          <a:prstGeom prst="line">
            <a:avLst/>
          </a:prstGeom>
          <a:noFill/>
          <a:ln w="19050">
            <a:solidFill>
              <a:srgbClr val="CBD5E1"/>
            </a:solidFill>
            <a:prstDash val="dash"/>
          </a:ln>
        </p:spPr>
      </p:sp>
      <p:sp>
        <p:nvSpPr>
          <p:cNvPr id="21" name="Shape 16"/>
          <p:cNvSpPr/>
          <p:nvPr/>
        </p:nvSpPr>
        <p:spPr>
          <a:xfrm>
            <a:off x="2301088" y="4343400"/>
            <a:ext cx="914" cy="512064"/>
          </a:xfrm>
          <a:prstGeom prst="line">
            <a:avLst/>
          </a:prstGeom>
          <a:noFill/>
          <a:ln w="38100">
            <a:solidFill>
              <a:srgbClr val="2463E8"/>
            </a:solidFill>
            <a:prstDash val="solid"/>
            <a:tailEnd type="triangle"/>
          </a:ln>
        </p:spPr>
      </p:sp>
      <p:sp>
        <p:nvSpPr>
          <p:cNvPr id="22" name="Shape 17"/>
          <p:cNvSpPr/>
          <p:nvPr/>
        </p:nvSpPr>
        <p:spPr>
          <a:xfrm>
            <a:off x="6095848" y="4343400"/>
            <a:ext cx="914" cy="512064"/>
          </a:xfrm>
          <a:prstGeom prst="line">
            <a:avLst/>
          </a:prstGeom>
          <a:noFill/>
          <a:ln w="38100">
            <a:solidFill>
              <a:srgbClr val="F97316"/>
            </a:solidFill>
            <a:prstDash val="solid"/>
            <a:tailEnd type="triangle"/>
          </a:ln>
        </p:spPr>
      </p:sp>
      <p:sp>
        <p:nvSpPr>
          <p:cNvPr id="23" name="Shape 18"/>
          <p:cNvSpPr/>
          <p:nvPr/>
        </p:nvSpPr>
        <p:spPr>
          <a:xfrm>
            <a:off x="9890608" y="4343400"/>
            <a:ext cx="914" cy="512064"/>
          </a:xfrm>
          <a:prstGeom prst="line">
            <a:avLst/>
          </a:prstGeom>
          <a:noFill/>
          <a:ln w="38100">
            <a:solidFill>
              <a:srgbClr val="0AA7A2"/>
            </a:solidFill>
            <a:prstDash val="solid"/>
            <a:tailEnd type="triangle"/>
          </a:ln>
        </p:spPr>
      </p:sp>
      <p:sp>
        <p:nvSpPr>
          <p:cNvPr id="24" name="Shape 19"/>
          <p:cNvSpPr/>
          <p:nvPr/>
        </p:nvSpPr>
        <p:spPr>
          <a:xfrm>
            <a:off x="609448" y="4892040"/>
            <a:ext cx="10972800" cy="1188720"/>
          </a:xfrm>
          <a:prstGeom prst="roundRect">
            <a:avLst>
              <a:gd name="adj" fmla="val 19231"/>
            </a:avLst>
          </a:prstGeom>
          <a:solidFill>
            <a:srgbClr val="111D35"/>
          </a:solidFill>
          <a:ln/>
          <a:effectLst>
            <a:outerShdw sx="100000" sy="100000" kx="0" ky="0" algn="bl" rotWithShape="0" blurRad="101600" dist="38100" dir="5400000">
              <a:srgbClr val="1A2A4A">
                <a:alpha val="18000"/>
              </a:srgbClr>
            </a:outerShdw>
          </a:effectLst>
        </p:spPr>
      </p:sp>
      <p:pic>
        <p:nvPicPr>
          <p:cNvPr id="25" name="Image 3" descr="Rentify logo">    </p:cNvPr>
          <p:cNvPicPr>
            <a:picLocks noChangeAspect="1"/>
          </p:cNvPicPr>
          <p:nvPr/>
        </p:nvPicPr>
        <p:blipFill>
          <a:blip r:embed="rId4"/>
          <a:stretch>
            <a:fillRect/>
          </a:stretch>
        </p:blipFill>
        <p:spPr>
          <a:xfrm>
            <a:off x="838048" y="5120640"/>
            <a:ext cx="731520" cy="731520"/>
          </a:xfrm>
          <a:prstGeom prst="rect">
            <a:avLst/>
          </a:prstGeom>
        </p:spPr>
      </p:pic>
      <p:sp>
        <p:nvSpPr>
          <p:cNvPr id="26" name="Text 20"/>
          <p:cNvSpPr txBox="1"/>
          <p:nvPr/>
        </p:nvSpPr>
        <p:spPr>
          <a:xfrm>
            <a:off x="1706728" y="4892040"/>
            <a:ext cx="1554480" cy="118872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Rentify</a:t>
            </a:r>
            <a:endParaRPr lang="en-US" sz="2600" dirty="0"/>
          </a:p>
        </p:txBody>
      </p:sp>
      <p:sp>
        <p:nvSpPr>
          <p:cNvPr id="27" name="Shape 21"/>
          <p:cNvSpPr/>
          <p:nvPr/>
        </p:nvSpPr>
        <p:spPr>
          <a:xfrm>
            <a:off x="3215488" y="5230368"/>
            <a:ext cx="512064" cy="512064"/>
          </a:xfrm>
          <a:prstGeom prst="ellipse">
            <a:avLst/>
          </a:prstGeom>
          <a:solidFill>
            <a:srgbClr val="2463E8"/>
          </a:solidFill>
          <a:ln/>
        </p:spPr>
      </p:sp>
      <p:pic>
        <p:nvPicPr>
          <p:cNvPr id="28" name="Image 4" descr="preencoded.png">    </p:cNvPr>
          <p:cNvPicPr>
            <a:picLocks noChangeAspect="1"/>
          </p:cNvPicPr>
          <p:nvPr/>
        </p:nvPicPr>
        <p:blipFill>
          <a:blip r:embed="rId5"/>
          <a:stretch>
            <a:fillRect/>
          </a:stretch>
        </p:blipFill>
        <p:spPr>
          <a:xfrm>
            <a:off x="3334360" y="5349240"/>
            <a:ext cx="274320" cy="274320"/>
          </a:xfrm>
          <a:prstGeom prst="rect">
            <a:avLst/>
          </a:prstGeom>
        </p:spPr>
      </p:pic>
      <p:sp>
        <p:nvSpPr>
          <p:cNvPr id="29" name="Text 22"/>
          <p:cNvSpPr txBox="1"/>
          <p:nvPr/>
        </p:nvSpPr>
        <p:spPr>
          <a:xfrm>
            <a:off x="3818992" y="4892040"/>
            <a:ext cx="2103120" cy="11887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One stock everywhere</a:t>
            </a:r>
            <a:endParaRPr lang="en-US" sz="1400" dirty="0"/>
          </a:p>
          <a:p>
            <a:pPr indent="0" marL="0">
              <a:buNone/>
            </a:pPr>
            <a:r>
              <a:rPr lang="en-US" sz="1150" dirty="0">
                <a:solidFill>
                  <a:srgbClr val="A7F3D0"/>
                </a:solidFill>
                <a:latin typeface="Arial" pitchFamily="34" charset="0"/>
                <a:ea typeface="Arial" pitchFamily="34" charset="-122"/>
                <a:cs typeface="Arial" pitchFamily="34" charset="-120"/>
              </a:rPr>
              <a:t>you just saw it</a:t>
            </a:r>
            <a:endParaRPr lang="en-US" sz="1400" dirty="0"/>
          </a:p>
        </p:txBody>
      </p:sp>
      <p:sp>
        <p:nvSpPr>
          <p:cNvPr id="30" name="Shape 23"/>
          <p:cNvSpPr/>
          <p:nvPr/>
        </p:nvSpPr>
        <p:spPr>
          <a:xfrm>
            <a:off x="6004408" y="5230368"/>
            <a:ext cx="512064" cy="512064"/>
          </a:xfrm>
          <a:prstGeom prst="ellipse">
            <a:avLst/>
          </a:prstGeom>
          <a:solidFill>
            <a:srgbClr val="F97316"/>
          </a:solidFill>
          <a:ln/>
        </p:spPr>
      </p:sp>
      <p:pic>
        <p:nvPicPr>
          <p:cNvPr id="31" name="Image 5" descr="preencoded.png">    </p:cNvPr>
          <p:cNvPicPr>
            <a:picLocks noChangeAspect="1"/>
          </p:cNvPicPr>
          <p:nvPr/>
        </p:nvPicPr>
        <p:blipFill>
          <a:blip r:embed="rId6"/>
          <a:stretch>
            <a:fillRect/>
          </a:stretch>
        </p:blipFill>
        <p:spPr>
          <a:xfrm>
            <a:off x="6123280" y="5349240"/>
            <a:ext cx="274320" cy="274320"/>
          </a:xfrm>
          <a:prstGeom prst="rect">
            <a:avLst/>
          </a:prstGeom>
        </p:spPr>
      </p:pic>
      <p:sp>
        <p:nvSpPr>
          <p:cNvPr id="32" name="Text 24"/>
          <p:cNvSpPr txBox="1"/>
          <p:nvPr/>
        </p:nvSpPr>
        <p:spPr>
          <a:xfrm>
            <a:off x="6607912" y="4892040"/>
            <a:ext cx="2103120" cy="11887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Start anywhere</a:t>
            </a:r>
            <a:endParaRPr lang="en-US" sz="1400" dirty="0"/>
          </a:p>
          <a:p>
            <a:pPr indent="0" marL="0">
              <a:buNone/>
            </a:pPr>
            <a:r>
              <a:rPr lang="en-US" sz="1150" dirty="0">
                <a:solidFill>
                  <a:srgbClr val="A7F3D0"/>
                </a:solidFill>
                <a:latin typeface="Arial" pitchFamily="34" charset="0"/>
                <a:ea typeface="Arial" pitchFamily="34" charset="-122"/>
                <a:cs typeface="Arial" pitchFamily="34" charset="-120"/>
              </a:rPr>
              <a:t>grow without re-listing</a:t>
            </a:r>
            <a:endParaRPr lang="en-US" sz="1400" dirty="0"/>
          </a:p>
        </p:txBody>
      </p:sp>
      <p:sp>
        <p:nvSpPr>
          <p:cNvPr id="33" name="Shape 25"/>
          <p:cNvSpPr/>
          <p:nvPr/>
        </p:nvSpPr>
        <p:spPr>
          <a:xfrm>
            <a:off x="8793328" y="5230368"/>
            <a:ext cx="512064" cy="512064"/>
          </a:xfrm>
          <a:prstGeom prst="ellipse">
            <a:avLst/>
          </a:prstGeom>
          <a:solidFill>
            <a:srgbClr val="0AA7A2"/>
          </a:solidFill>
          <a:ln/>
        </p:spPr>
      </p:sp>
      <p:pic>
        <p:nvPicPr>
          <p:cNvPr id="34" name="Image 6" descr="preencoded.png">    </p:cNvPr>
          <p:cNvPicPr>
            <a:picLocks noChangeAspect="1"/>
          </p:cNvPicPr>
          <p:nvPr/>
        </p:nvPicPr>
        <p:blipFill>
          <a:blip r:embed="rId7"/>
          <a:stretch>
            <a:fillRect/>
          </a:stretch>
        </p:blipFill>
        <p:spPr>
          <a:xfrm>
            <a:off x="8912200" y="5349240"/>
            <a:ext cx="274320" cy="274320"/>
          </a:xfrm>
          <a:prstGeom prst="rect">
            <a:avLst/>
          </a:prstGeom>
        </p:spPr>
      </p:pic>
      <p:sp>
        <p:nvSpPr>
          <p:cNvPr id="35" name="Text 26"/>
          <p:cNvSpPr txBox="1"/>
          <p:nvPr/>
        </p:nvSpPr>
        <p:spPr>
          <a:xfrm>
            <a:off x="9396832" y="4892040"/>
            <a:ext cx="2103120" cy="11887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0% on your own sales</a:t>
            </a:r>
            <a:endParaRPr lang="en-US" sz="1400" dirty="0"/>
          </a:p>
          <a:p>
            <a:pPr indent="0" marL="0">
              <a:buNone/>
            </a:pPr>
            <a:r>
              <a:rPr lang="en-US" sz="1150" dirty="0">
                <a:solidFill>
                  <a:srgbClr val="A7F3D0"/>
                </a:solidFill>
                <a:latin typeface="Arial" pitchFamily="34" charset="0"/>
                <a:ea typeface="Arial" pitchFamily="34" charset="-122"/>
                <a:cs typeface="Arial" pitchFamily="34" charset="-120"/>
              </a:rPr>
              <a:t>we earn on marketplace sales</a:t>
            </a:r>
            <a:endParaRPr lang="en-US" sz="1400" dirty="0"/>
          </a:p>
        </p:txBody>
      </p:sp>
      <p:sp>
        <p:nvSpPr>
          <p:cNvPr id="36" name="Text 27"/>
          <p:cNvSpPr txBox="1"/>
          <p:nvPr/>
        </p:nvSpPr>
        <p:spPr>
          <a:xfrm>
            <a:off x="548640" y="6355080"/>
            <a:ext cx="10424160" cy="274320"/>
          </a:xfrm>
          <a:prstGeom prst="rect">
            <a:avLst/>
          </a:prstGeom>
          <a:noFill/>
          <a:ln/>
        </p:spPr>
        <p:txBody>
          <a:bodyPr wrap="square" lIns="0" tIns="0" rIns="0" bIns="0" rtlCol="0" anchor="ctr"/>
          <a:lstStyle/>
          <a:p>
            <a:pPr indent="0" marL="0">
              <a:buNone/>
            </a:pPr>
            <a:r>
              <a:rPr lang="en-US" sz="1000" dirty="0">
                <a:solidFill>
                  <a:srgbClr val="52637A"/>
                </a:solidFill>
                <a:latin typeface="Arial" pitchFamily="34" charset="0"/>
                <a:ea typeface="Arial" pitchFamily="34" charset="-122"/>
                <a:cs typeface="Arial" pitchFamily="34" charset="-120"/>
              </a:rPr>
              <a:t>Khmum eShop also combines several pieces; our comparison is in the appendix.</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2026-09-25T15:29:50Z</dcterms:created>
  <dcterms:modified xsi:type="dcterms:W3CDTF">2026-09-25T15:29:50Z</dcterms:modified>
</cp:coreProperties>
</file>