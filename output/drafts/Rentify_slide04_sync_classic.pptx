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[1:25–1:50]
Now we sell one bottle at the counter with Rentify POS. Stock was 40. Seconds later the marketplace shows 39 in stock and the storefront stays live with the right stock. One sale, updated everywhere — no notebook, no second update.
(Q&amp;A: demo data in the development build, not customer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algn="ctr" indent="0" marL="0">
              <a:buNone/>
            </a:pPr>
            <a:r>
              <a:rPr lang="en-US" sz="3200" b="1" dirty="0">
                <a:solidFill>
                  <a:srgbClr val="15243A"/>
                </a:solidFill>
                <a:latin typeface="Arial" pitchFamily="34" charset="0"/>
                <a:ea typeface="Arial" pitchFamily="34" charset="-122"/>
                <a:cs typeface="Arial" pitchFamily="34" charset="-120"/>
              </a:rPr>
              <a:t>Sell one at the counter. Every channel knows.</a:t>
            </a:r>
            <a:endParaRPr lang="en-US" sz="3200" dirty="0"/>
          </a:p>
        </p:txBody>
      </p:sp>
      <p:sp>
        <p:nvSpPr>
          <p:cNvPr id="3" name="Shape 1"/>
          <p:cNvSpPr/>
          <p:nvPr/>
        </p:nvSpPr>
        <p:spPr>
          <a:xfrm>
            <a:off x="3581248" y="1097280"/>
            <a:ext cx="5029200" cy="1554480"/>
          </a:xfrm>
          <a:prstGeom prst="roundRect">
            <a:avLst>
              <a:gd name="adj" fmla="val 10588"/>
            </a:avLst>
          </a:prstGeom>
          <a:solidFill>
            <a:srgbClr val="FFFFFF"/>
          </a:solidFill>
          <a:ln w="12700">
            <a:solidFill>
              <a:srgbClr val="CBD5E1"/>
            </a:solidFill>
            <a:prstDash val="solid"/>
          </a:ln>
          <a:effectLst>
            <a:outerShdw sx="100000" sy="100000" kx="0" ky="0" algn="bl" rotWithShape="0" blurRad="101600" dist="38100" dir="5400000">
              <a:srgbClr val="1A2A4A">
                <a:alpha val="18000"/>
              </a:srgbClr>
            </a:outerShdw>
          </a:effectLst>
        </p:spPr>
      </p:sp>
      <p:pic>
        <p:nvPicPr>
          <p:cNvPr id="4" name="Image 0" descr="Product photo: perfume bottle">    </p:cNvPr>
          <p:cNvPicPr>
            <a:picLocks noChangeAspect="1"/>
          </p:cNvPicPr>
          <p:nvPr/>
        </p:nvPicPr>
        <p:blipFill>
          <a:blip r:embed="rId1"/>
          <a:stretch>
            <a:fillRect/>
          </a:stretch>
        </p:blipFill>
        <p:spPr>
          <a:xfrm>
            <a:off x="3745840" y="1261872"/>
            <a:ext cx="1225296" cy="1225296"/>
          </a:xfrm>
          <a:prstGeom prst="rect">
            <a:avLst/>
          </a:prstGeom>
        </p:spPr>
      </p:pic>
      <p:sp>
        <p:nvSpPr>
          <p:cNvPr id="5" name="Text 2"/>
          <p:cNvSpPr txBox="1"/>
          <p:nvPr/>
        </p:nvSpPr>
        <p:spPr>
          <a:xfrm>
            <a:off x="5181448" y="1280160"/>
            <a:ext cx="2743200" cy="274320"/>
          </a:xfrm>
          <a:prstGeom prst="rect">
            <a:avLst/>
          </a:prstGeom>
          <a:noFill/>
          <a:ln/>
        </p:spPr>
        <p:txBody>
          <a:bodyPr wrap="square" lIns="0" tIns="0" rIns="0" bIns="0" rtlCol="0" anchor="ctr"/>
          <a:lstStyle/>
          <a:p>
            <a:pPr algn="l" indent="0" marL="0">
              <a:buNone/>
            </a:pPr>
            <a:r>
              <a:rPr lang="en-US" sz="1100" b="1" spc="200" kern="0" dirty="0">
                <a:solidFill>
                  <a:srgbClr val="0AA7A2"/>
                </a:solidFill>
                <a:latin typeface="Arial" pitchFamily="34" charset="0"/>
                <a:ea typeface="Arial" pitchFamily="34" charset="-122"/>
                <a:cs typeface="Arial" pitchFamily="34" charset="-120"/>
              </a:rPr>
              <a:t>SOLD 1 AT THE COUNTER</a:t>
            </a:r>
            <a:endParaRPr lang="en-US" sz="1100" dirty="0"/>
          </a:p>
        </p:txBody>
      </p:sp>
      <p:sp>
        <p:nvSpPr>
          <p:cNvPr id="6" name="Text 3"/>
          <p:cNvSpPr txBox="1"/>
          <p:nvPr/>
        </p:nvSpPr>
        <p:spPr>
          <a:xfrm>
            <a:off x="5181448" y="1554480"/>
            <a:ext cx="3291840" cy="411480"/>
          </a:xfrm>
          <a:prstGeom prst="rect">
            <a:avLst/>
          </a:prstGeom>
          <a:noFill/>
          <a:ln/>
        </p:spPr>
        <p:txBody>
          <a:bodyPr wrap="square" lIns="0" tIns="0" rIns="0" bIns="0" rtlCol="0" anchor="ctr"/>
          <a:lstStyle/>
          <a:p>
            <a:pPr algn="l" indent="0" marL="0">
              <a:buNone/>
            </a:pPr>
            <a:r>
              <a:rPr lang="en-US" sz="1700" b="1" dirty="0">
                <a:solidFill>
                  <a:srgbClr val="15243A"/>
                </a:solidFill>
                <a:latin typeface="Arial" pitchFamily="34" charset="0"/>
                <a:ea typeface="Arial" pitchFamily="34" charset="-122"/>
                <a:cs typeface="Arial" pitchFamily="34" charset="-120"/>
              </a:rPr>
              <a:t>Yes I Am The Queen</a:t>
            </a:r>
            <a:endParaRPr lang="en-US" sz="1700" dirty="0"/>
          </a:p>
        </p:txBody>
      </p:sp>
      <p:sp>
        <p:nvSpPr>
          <p:cNvPr id="7" name="Text 4"/>
          <p:cNvSpPr txBox="1"/>
          <p:nvPr/>
        </p:nvSpPr>
        <p:spPr>
          <a:xfrm>
            <a:off x="5181448" y="2011680"/>
            <a:ext cx="2743200" cy="365760"/>
          </a:xfrm>
          <a:prstGeom prst="rect">
            <a:avLst/>
          </a:prstGeom>
          <a:noFill/>
          <a:ln/>
        </p:spPr>
        <p:txBody>
          <a:bodyPr wrap="square" lIns="0" tIns="0" rIns="0" bIns="0" rtlCol="0" anchor="ctr"/>
          <a:lstStyle/>
          <a:p>
            <a:pPr algn="l" indent="0" marL="0">
              <a:buNone/>
            </a:pPr>
            <a:r>
              <a:rPr lang="en-US" sz="1700" b="1" dirty="0">
                <a:solidFill>
                  <a:srgbClr val="15243A"/>
                </a:solidFill>
                <a:latin typeface="Arial" pitchFamily="34" charset="0"/>
                <a:ea typeface="Arial" pitchFamily="34" charset="-122"/>
                <a:cs typeface="Arial" pitchFamily="34" charset="-120"/>
              </a:rPr>
              <a:t>Stock </a:t>
            </a:r>
            <a:pPr algn="l" indent="0" marL="0">
              <a:buNone/>
            </a:pPr>
            <a:r>
              <a:rPr lang="en-US" sz="1700" b="1" strike="sngStrike" dirty="0">
                <a:solidFill>
                  <a:srgbClr val="52637A"/>
                </a:solidFill>
                <a:latin typeface="Arial" pitchFamily="34" charset="0"/>
                <a:ea typeface="Arial" pitchFamily="34" charset="-122"/>
                <a:cs typeface="Arial" pitchFamily="34" charset="-120"/>
              </a:rPr>
              <a:t>40</a:t>
            </a:r>
            <a:pPr algn="l" indent="0" marL="0">
              <a:buNone/>
            </a:pPr>
            <a:r>
              <a:rPr lang="en-US" sz="1700" b="1" dirty="0">
                <a:solidFill>
                  <a:srgbClr val="D64545"/>
                </a:solidFill>
                <a:latin typeface="Arial" pitchFamily="34" charset="0"/>
                <a:ea typeface="Arial" pitchFamily="34" charset="-122"/>
                <a:cs typeface="Arial" pitchFamily="34" charset="-120"/>
              </a:rPr>
              <a:t>  →  39</a:t>
            </a:r>
            <a:endParaRPr lang="en-US" sz="1700" dirty="0"/>
          </a:p>
        </p:txBody>
      </p:sp>
      <p:sp>
        <p:nvSpPr>
          <p:cNvPr id="8" name="Shape 5"/>
          <p:cNvSpPr/>
          <p:nvPr/>
        </p:nvSpPr>
        <p:spPr>
          <a:xfrm>
            <a:off x="7924648" y="1618488"/>
            <a:ext cx="512064" cy="512064"/>
          </a:xfrm>
          <a:prstGeom prst="ellipse">
            <a:avLst/>
          </a:prstGeom>
          <a:solidFill>
            <a:srgbClr val="0AA7A2"/>
          </a:solidFill>
          <a:ln/>
        </p:spPr>
      </p:sp>
      <p:pic>
        <p:nvPicPr>
          <p:cNvPr id="9" name="Image 1" descr="preencoded.png">    </p:cNvPr>
          <p:cNvPicPr>
            <a:picLocks noChangeAspect="1"/>
          </p:cNvPicPr>
          <p:nvPr/>
        </p:nvPicPr>
        <p:blipFill>
          <a:blip r:embed="rId2"/>
          <a:stretch>
            <a:fillRect/>
          </a:stretch>
        </p:blipFill>
        <p:spPr>
          <a:xfrm>
            <a:off x="8052664" y="1746504"/>
            <a:ext cx="256032" cy="256032"/>
          </a:xfrm>
          <a:prstGeom prst="rect">
            <a:avLst/>
          </a:prstGeom>
        </p:spPr>
      </p:pic>
      <p:sp>
        <p:nvSpPr>
          <p:cNvPr id="10" name="Shape 6"/>
          <p:cNvSpPr/>
          <p:nvPr/>
        </p:nvSpPr>
        <p:spPr>
          <a:xfrm flipV="1">
            <a:off x="1542136" y="1874520"/>
            <a:ext cx="1993392" cy="1271016"/>
          </a:xfrm>
          <a:prstGeom prst="line">
            <a:avLst/>
          </a:prstGeom>
          <a:noFill/>
          <a:ln w="38100">
            <a:solidFill>
              <a:srgbClr val="111D35"/>
            </a:solidFill>
            <a:prstDash val="solid"/>
            <a:tailEnd type="triangle"/>
          </a:ln>
        </p:spPr>
      </p:sp>
      <p:sp>
        <p:nvSpPr>
          <p:cNvPr id="11" name="Shape 7"/>
          <p:cNvSpPr/>
          <p:nvPr/>
        </p:nvSpPr>
        <p:spPr>
          <a:xfrm>
            <a:off x="458572" y="3200400"/>
            <a:ext cx="3611880" cy="2251139"/>
          </a:xfrm>
          <a:prstGeom prst="roundRect">
            <a:avLst>
              <a:gd name="adj" fmla="val 2843"/>
            </a:avLst>
          </a:prstGeom>
          <a:solidFill>
            <a:srgbClr val="FFFFFF"/>
          </a:solidFill>
          <a:ln w="25400">
            <a:solidFill>
              <a:srgbClr val="111D35"/>
            </a:solidFill>
            <a:prstDash val="solid"/>
          </a:ln>
          <a:effectLst>
            <a:outerShdw sx="100000" sy="100000" kx="0" ky="0" algn="bl" rotWithShape="0" blurRad="101600" dist="38100" dir="5400000">
              <a:srgbClr val="1A2A4A">
                <a:alpha val="18000"/>
              </a:srgbClr>
            </a:outerShdw>
          </a:effectLst>
        </p:spPr>
      </p:sp>
      <p:sp>
        <p:nvSpPr>
          <p:cNvPr id="12" name="Shape 8"/>
          <p:cNvSpPr/>
          <p:nvPr/>
        </p:nvSpPr>
        <p:spPr>
          <a:xfrm>
            <a:off x="476860" y="3218688"/>
            <a:ext cx="3575304" cy="201168"/>
          </a:xfrm>
          <a:prstGeom prst="rect">
            <a:avLst/>
          </a:prstGeom>
          <a:solidFill>
            <a:srgbClr val="E2E8F0"/>
          </a:solidFill>
          <a:ln/>
        </p:spPr>
      </p:sp>
      <p:sp>
        <p:nvSpPr>
          <p:cNvPr id="13" name="Shape 9"/>
          <p:cNvSpPr/>
          <p:nvPr/>
        </p:nvSpPr>
        <p:spPr>
          <a:xfrm>
            <a:off x="550012" y="3264408"/>
            <a:ext cx="73152" cy="73152"/>
          </a:xfrm>
          <a:prstGeom prst="ellipse">
            <a:avLst/>
          </a:prstGeom>
          <a:solidFill>
            <a:srgbClr val="F87171"/>
          </a:solidFill>
          <a:ln/>
        </p:spPr>
      </p:sp>
      <p:sp>
        <p:nvSpPr>
          <p:cNvPr id="14" name="Shape 10"/>
          <p:cNvSpPr/>
          <p:nvPr/>
        </p:nvSpPr>
        <p:spPr>
          <a:xfrm>
            <a:off x="678028" y="3264408"/>
            <a:ext cx="73152" cy="73152"/>
          </a:xfrm>
          <a:prstGeom prst="ellipse">
            <a:avLst/>
          </a:prstGeom>
          <a:solidFill>
            <a:srgbClr val="FBBF24"/>
          </a:solidFill>
          <a:ln/>
        </p:spPr>
      </p:sp>
      <p:sp>
        <p:nvSpPr>
          <p:cNvPr id="15" name="Shape 11"/>
          <p:cNvSpPr/>
          <p:nvPr/>
        </p:nvSpPr>
        <p:spPr>
          <a:xfrm>
            <a:off x="806044" y="3264408"/>
            <a:ext cx="73152" cy="73152"/>
          </a:xfrm>
          <a:prstGeom prst="ellipse">
            <a:avLst/>
          </a:prstGeom>
          <a:solidFill>
            <a:srgbClr val="34D399"/>
          </a:solidFill>
          <a:ln/>
        </p:spPr>
      </p:sp>
      <p:pic>
        <p:nvPicPr>
          <p:cNvPr id="16" name="Image 2" descr="POS at the counter screen">    </p:cNvPr>
          <p:cNvPicPr>
            <a:picLocks noChangeAspect="1"/>
          </p:cNvPicPr>
          <p:nvPr/>
        </p:nvPicPr>
        <p:blipFill>
          <a:blip r:embed="rId3"/>
          <a:srcRect l="0" r="0" t="0" b="0"/>
          <a:stretch/>
        </p:blipFill>
        <p:spPr>
          <a:xfrm>
            <a:off x="476860" y="3419856"/>
            <a:ext cx="3575304" cy="2013394"/>
          </a:xfrm>
          <a:prstGeom prst="rect">
            <a:avLst/>
          </a:prstGeom>
        </p:spPr>
      </p:pic>
      <p:sp>
        <p:nvSpPr>
          <p:cNvPr id="17" name="Text 12"/>
          <p:cNvSpPr txBox="1"/>
          <p:nvPr/>
        </p:nvSpPr>
        <p:spPr>
          <a:xfrm>
            <a:off x="2470252" y="3008376"/>
            <a:ext cx="1554480" cy="384048"/>
          </a:xfrm>
          <a:prstGeom prst="roundRect">
            <a:avLst>
              <a:gd name="adj" fmla="val 45238"/>
            </a:avLst>
          </a:prstGeom>
          <a:solidFill>
            <a:srgbClr val="D64545"/>
          </a:solidFill>
          <a:ln w="25400">
            <a:solidFill>
              <a:srgbClr val="D64545"/>
            </a:solidFill>
          </a:ln>
          <a:effectLst>
            <a:outerShdw sx="100000" sy="100000" kx="0" ky="0" algn="bl" rotWithShape="0" blurRad="101600" dist="38100" dir="5400000">
              <a:srgbClr val="1A2A4A">
                <a:alpha val="18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Sold 1</a:t>
            </a:r>
            <a:endParaRPr lang="en-US" sz="1300" dirty="0"/>
          </a:p>
        </p:txBody>
      </p:sp>
      <p:sp>
        <p:nvSpPr>
          <p:cNvPr id="18" name="Shape 13"/>
          <p:cNvSpPr/>
          <p:nvPr/>
        </p:nvSpPr>
        <p:spPr>
          <a:xfrm>
            <a:off x="1030072" y="5588699"/>
            <a:ext cx="2468880" cy="402336"/>
          </a:xfrm>
          <a:prstGeom prst="roundRect">
            <a:avLst>
              <a:gd name="adj" fmla="val 50000"/>
            </a:avLst>
          </a:prstGeom>
          <a:solidFill>
            <a:srgbClr val="111D35"/>
          </a:solidFill>
          <a:ln/>
        </p:spPr>
      </p:sp>
      <p:pic>
        <p:nvPicPr>
          <p:cNvPr id="19" name="Image 3" descr="preencoded.png">    </p:cNvPr>
          <p:cNvPicPr>
            <a:picLocks noChangeAspect="1"/>
          </p:cNvPicPr>
          <p:nvPr/>
        </p:nvPicPr>
        <p:blipFill>
          <a:blip r:embed="rId4"/>
          <a:stretch>
            <a:fillRect/>
          </a:stretch>
        </p:blipFill>
        <p:spPr>
          <a:xfrm>
            <a:off x="1167232" y="5670995"/>
            <a:ext cx="237744" cy="237744"/>
          </a:xfrm>
          <a:prstGeom prst="rect">
            <a:avLst/>
          </a:prstGeom>
        </p:spPr>
      </p:pic>
      <p:sp>
        <p:nvSpPr>
          <p:cNvPr id="20" name="Text 14"/>
          <p:cNvSpPr txBox="1"/>
          <p:nvPr/>
        </p:nvSpPr>
        <p:spPr>
          <a:xfrm>
            <a:off x="1468984" y="5588699"/>
            <a:ext cx="1965960" cy="40233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POS at the counter</a:t>
            </a:r>
            <a:endParaRPr lang="en-US" sz="1500" dirty="0"/>
          </a:p>
        </p:txBody>
      </p:sp>
      <p:sp>
        <p:nvSpPr>
          <p:cNvPr id="21" name="Shape 15"/>
          <p:cNvSpPr/>
          <p:nvPr/>
        </p:nvSpPr>
        <p:spPr>
          <a:xfrm flipH="1">
            <a:off x="5592928" y="2697480"/>
            <a:ext cx="137160" cy="448056"/>
          </a:xfrm>
          <a:prstGeom prst="line">
            <a:avLst/>
          </a:prstGeom>
          <a:noFill/>
          <a:ln w="38100">
            <a:solidFill>
              <a:srgbClr val="2463E8"/>
            </a:solidFill>
            <a:prstDash val="solid"/>
            <a:tailEnd type="triangle"/>
          </a:ln>
        </p:spPr>
      </p:sp>
      <p:sp>
        <p:nvSpPr>
          <p:cNvPr id="22" name="Shape 16"/>
          <p:cNvSpPr/>
          <p:nvPr/>
        </p:nvSpPr>
        <p:spPr>
          <a:xfrm>
            <a:off x="4289908" y="3200400"/>
            <a:ext cx="3611880" cy="2251139"/>
          </a:xfrm>
          <a:prstGeom prst="roundRect">
            <a:avLst>
              <a:gd name="adj" fmla="val 2843"/>
            </a:avLst>
          </a:prstGeom>
          <a:solidFill>
            <a:srgbClr val="FFFFFF"/>
          </a:solidFill>
          <a:ln w="25400">
            <a:solidFill>
              <a:srgbClr val="2463E8"/>
            </a:solidFill>
            <a:prstDash val="solid"/>
          </a:ln>
          <a:effectLst>
            <a:outerShdw sx="100000" sy="100000" kx="0" ky="0" algn="bl" rotWithShape="0" blurRad="101600" dist="38100" dir="5400000">
              <a:srgbClr val="1A2A4A">
                <a:alpha val="18000"/>
              </a:srgbClr>
            </a:outerShdw>
          </a:effectLst>
        </p:spPr>
      </p:sp>
      <p:sp>
        <p:nvSpPr>
          <p:cNvPr id="23" name="Shape 17"/>
          <p:cNvSpPr/>
          <p:nvPr/>
        </p:nvSpPr>
        <p:spPr>
          <a:xfrm>
            <a:off x="4308196" y="3218688"/>
            <a:ext cx="3575304" cy="201168"/>
          </a:xfrm>
          <a:prstGeom prst="rect">
            <a:avLst/>
          </a:prstGeom>
          <a:solidFill>
            <a:srgbClr val="E2E8F0"/>
          </a:solidFill>
          <a:ln/>
        </p:spPr>
      </p:sp>
      <p:sp>
        <p:nvSpPr>
          <p:cNvPr id="24" name="Shape 18"/>
          <p:cNvSpPr/>
          <p:nvPr/>
        </p:nvSpPr>
        <p:spPr>
          <a:xfrm>
            <a:off x="4381348" y="3264408"/>
            <a:ext cx="73152" cy="73152"/>
          </a:xfrm>
          <a:prstGeom prst="ellipse">
            <a:avLst/>
          </a:prstGeom>
          <a:solidFill>
            <a:srgbClr val="F87171"/>
          </a:solidFill>
          <a:ln/>
        </p:spPr>
      </p:sp>
      <p:sp>
        <p:nvSpPr>
          <p:cNvPr id="25" name="Shape 19"/>
          <p:cNvSpPr/>
          <p:nvPr/>
        </p:nvSpPr>
        <p:spPr>
          <a:xfrm>
            <a:off x="4509364" y="3264408"/>
            <a:ext cx="73152" cy="73152"/>
          </a:xfrm>
          <a:prstGeom prst="ellipse">
            <a:avLst/>
          </a:prstGeom>
          <a:solidFill>
            <a:srgbClr val="FBBF24"/>
          </a:solidFill>
          <a:ln/>
        </p:spPr>
      </p:sp>
      <p:sp>
        <p:nvSpPr>
          <p:cNvPr id="26" name="Shape 20"/>
          <p:cNvSpPr/>
          <p:nvPr/>
        </p:nvSpPr>
        <p:spPr>
          <a:xfrm>
            <a:off x="4637380" y="3264408"/>
            <a:ext cx="73152" cy="73152"/>
          </a:xfrm>
          <a:prstGeom prst="ellipse">
            <a:avLst/>
          </a:prstGeom>
          <a:solidFill>
            <a:srgbClr val="34D399"/>
          </a:solidFill>
          <a:ln/>
        </p:spPr>
      </p:sp>
      <p:pic>
        <p:nvPicPr>
          <p:cNvPr id="27" name="Image 4" descr="Own storefront screen">    </p:cNvPr>
          <p:cNvPicPr>
            <a:picLocks noChangeAspect="1"/>
          </p:cNvPicPr>
          <p:nvPr/>
        </p:nvPicPr>
        <p:blipFill>
          <a:blip r:embed="rId5"/>
          <a:srcRect l="0" r="0" t="0" b="0"/>
          <a:stretch/>
        </p:blipFill>
        <p:spPr>
          <a:xfrm>
            <a:off x="4308196" y="3419856"/>
            <a:ext cx="3575304" cy="2013394"/>
          </a:xfrm>
          <a:prstGeom prst="rect">
            <a:avLst/>
          </a:prstGeom>
        </p:spPr>
      </p:pic>
      <p:sp>
        <p:nvSpPr>
          <p:cNvPr id="28" name="Text 21"/>
          <p:cNvSpPr txBox="1"/>
          <p:nvPr/>
        </p:nvSpPr>
        <p:spPr>
          <a:xfrm>
            <a:off x="6301588" y="3008376"/>
            <a:ext cx="1554480" cy="384048"/>
          </a:xfrm>
          <a:prstGeom prst="roundRect">
            <a:avLst>
              <a:gd name="adj" fmla="val 45238"/>
            </a:avLst>
          </a:prstGeom>
          <a:solidFill>
            <a:srgbClr val="FFFFFF"/>
          </a:solidFill>
          <a:ln w="25400">
            <a:solidFill>
              <a:srgbClr val="2463E8"/>
            </a:solidFill>
          </a:ln>
          <a:effectLst>
            <a:outerShdw sx="100000" sy="100000" kx="0" ky="0" algn="bl" rotWithShape="0" blurRad="101600" dist="38100" dir="5400000">
              <a:srgbClr val="1A2A4A">
                <a:alpha val="18000"/>
              </a:srgbClr>
            </a:outerShdw>
          </a:effectLst>
        </p:spPr>
        <p:txBody>
          <a:bodyPr wrap="square" lIns="0" tIns="0" rIns="0" bIns="0" rtlCol="0" anchor="ctr"/>
          <a:lstStyle/>
          <a:p>
            <a:pPr algn="ctr" indent="0" marL="0">
              <a:buNone/>
            </a:pPr>
            <a:r>
              <a:rPr lang="en-US" sz="1300" b="1" dirty="0">
                <a:solidFill>
                  <a:srgbClr val="2463E8"/>
                </a:solidFill>
                <a:latin typeface="Arial" pitchFamily="34" charset="0"/>
                <a:ea typeface="Arial" pitchFamily="34" charset="-122"/>
                <a:cs typeface="Arial" pitchFamily="34" charset="-120"/>
              </a:rPr>
              <a:t>Still in stock</a:t>
            </a:r>
            <a:endParaRPr lang="en-US" sz="1300" dirty="0"/>
          </a:p>
        </p:txBody>
      </p:sp>
      <p:sp>
        <p:nvSpPr>
          <p:cNvPr id="29" name="Shape 22"/>
          <p:cNvSpPr/>
          <p:nvPr/>
        </p:nvSpPr>
        <p:spPr>
          <a:xfrm>
            <a:off x="4861408" y="5588699"/>
            <a:ext cx="2468880" cy="402336"/>
          </a:xfrm>
          <a:prstGeom prst="roundRect">
            <a:avLst>
              <a:gd name="adj" fmla="val 50000"/>
            </a:avLst>
          </a:prstGeom>
          <a:solidFill>
            <a:srgbClr val="2463E8"/>
          </a:solidFill>
          <a:ln/>
        </p:spPr>
      </p:sp>
      <p:pic>
        <p:nvPicPr>
          <p:cNvPr id="30" name="Image 5" descr="preencoded.png">    </p:cNvPr>
          <p:cNvPicPr>
            <a:picLocks noChangeAspect="1"/>
          </p:cNvPicPr>
          <p:nvPr/>
        </p:nvPicPr>
        <p:blipFill>
          <a:blip r:embed="rId6"/>
          <a:stretch>
            <a:fillRect/>
          </a:stretch>
        </p:blipFill>
        <p:spPr>
          <a:xfrm>
            <a:off x="4998568" y="5670995"/>
            <a:ext cx="237744" cy="237744"/>
          </a:xfrm>
          <a:prstGeom prst="rect">
            <a:avLst/>
          </a:prstGeom>
        </p:spPr>
      </p:pic>
      <p:sp>
        <p:nvSpPr>
          <p:cNvPr id="31" name="Text 23"/>
          <p:cNvSpPr txBox="1"/>
          <p:nvPr/>
        </p:nvSpPr>
        <p:spPr>
          <a:xfrm>
            <a:off x="5300320" y="5588699"/>
            <a:ext cx="1965960" cy="40233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Own storefront</a:t>
            </a:r>
            <a:endParaRPr lang="en-US" sz="1500" dirty="0"/>
          </a:p>
        </p:txBody>
      </p:sp>
      <p:sp>
        <p:nvSpPr>
          <p:cNvPr id="32" name="Shape 24"/>
          <p:cNvSpPr/>
          <p:nvPr/>
        </p:nvSpPr>
        <p:spPr>
          <a:xfrm>
            <a:off x="7010248" y="2697480"/>
            <a:ext cx="2414016" cy="448056"/>
          </a:xfrm>
          <a:prstGeom prst="line">
            <a:avLst/>
          </a:prstGeom>
          <a:noFill/>
          <a:ln w="38100">
            <a:solidFill>
              <a:srgbClr val="F97316"/>
            </a:solidFill>
            <a:prstDash val="solid"/>
            <a:tailEnd type="triangle"/>
          </a:ln>
        </p:spPr>
      </p:sp>
      <p:sp>
        <p:nvSpPr>
          <p:cNvPr id="33" name="Shape 25"/>
          <p:cNvSpPr/>
          <p:nvPr/>
        </p:nvSpPr>
        <p:spPr>
          <a:xfrm>
            <a:off x="8121244" y="3200400"/>
            <a:ext cx="3611880" cy="2251139"/>
          </a:xfrm>
          <a:prstGeom prst="roundRect">
            <a:avLst>
              <a:gd name="adj" fmla="val 2843"/>
            </a:avLst>
          </a:prstGeom>
          <a:solidFill>
            <a:srgbClr val="FFFFFF"/>
          </a:solidFill>
          <a:ln w="25400">
            <a:solidFill>
              <a:srgbClr val="F97316"/>
            </a:solidFill>
            <a:prstDash val="solid"/>
          </a:ln>
          <a:effectLst>
            <a:outerShdw sx="100000" sy="100000" kx="0" ky="0" algn="bl" rotWithShape="0" blurRad="101600" dist="38100" dir="5400000">
              <a:srgbClr val="1A2A4A">
                <a:alpha val="18000"/>
              </a:srgbClr>
            </a:outerShdw>
          </a:effectLst>
        </p:spPr>
      </p:sp>
      <p:sp>
        <p:nvSpPr>
          <p:cNvPr id="34" name="Shape 26"/>
          <p:cNvSpPr/>
          <p:nvPr/>
        </p:nvSpPr>
        <p:spPr>
          <a:xfrm>
            <a:off x="8139532" y="3218688"/>
            <a:ext cx="3575304" cy="201168"/>
          </a:xfrm>
          <a:prstGeom prst="rect">
            <a:avLst/>
          </a:prstGeom>
          <a:solidFill>
            <a:srgbClr val="E2E8F0"/>
          </a:solidFill>
          <a:ln/>
        </p:spPr>
      </p:sp>
      <p:sp>
        <p:nvSpPr>
          <p:cNvPr id="35" name="Shape 27"/>
          <p:cNvSpPr/>
          <p:nvPr/>
        </p:nvSpPr>
        <p:spPr>
          <a:xfrm>
            <a:off x="8212684" y="3264408"/>
            <a:ext cx="73152" cy="73152"/>
          </a:xfrm>
          <a:prstGeom prst="ellipse">
            <a:avLst/>
          </a:prstGeom>
          <a:solidFill>
            <a:srgbClr val="F87171"/>
          </a:solidFill>
          <a:ln/>
        </p:spPr>
      </p:sp>
      <p:sp>
        <p:nvSpPr>
          <p:cNvPr id="36" name="Shape 28"/>
          <p:cNvSpPr/>
          <p:nvPr/>
        </p:nvSpPr>
        <p:spPr>
          <a:xfrm>
            <a:off x="8340700" y="3264408"/>
            <a:ext cx="73152" cy="73152"/>
          </a:xfrm>
          <a:prstGeom prst="ellipse">
            <a:avLst/>
          </a:prstGeom>
          <a:solidFill>
            <a:srgbClr val="FBBF24"/>
          </a:solidFill>
          <a:ln/>
        </p:spPr>
      </p:sp>
      <p:sp>
        <p:nvSpPr>
          <p:cNvPr id="37" name="Shape 29"/>
          <p:cNvSpPr/>
          <p:nvPr/>
        </p:nvSpPr>
        <p:spPr>
          <a:xfrm>
            <a:off x="8468716" y="3264408"/>
            <a:ext cx="73152" cy="73152"/>
          </a:xfrm>
          <a:prstGeom prst="ellipse">
            <a:avLst/>
          </a:prstGeom>
          <a:solidFill>
            <a:srgbClr val="34D399"/>
          </a:solidFill>
          <a:ln/>
        </p:spPr>
      </p:sp>
      <p:pic>
        <p:nvPicPr>
          <p:cNvPr id="38" name="Image 6" descr="Marketplace screen">    </p:cNvPr>
          <p:cNvPicPr>
            <a:picLocks noChangeAspect="1"/>
          </p:cNvPicPr>
          <p:nvPr/>
        </p:nvPicPr>
        <p:blipFill>
          <a:blip r:embed="rId7"/>
          <a:srcRect l="0" r="0" t="0" b="0"/>
          <a:stretch/>
        </p:blipFill>
        <p:spPr>
          <a:xfrm>
            <a:off x="8139532" y="3419856"/>
            <a:ext cx="3575304" cy="2013394"/>
          </a:xfrm>
          <a:prstGeom prst="rect">
            <a:avLst/>
          </a:prstGeom>
        </p:spPr>
      </p:pic>
      <p:sp>
        <p:nvSpPr>
          <p:cNvPr id="39" name="Text 30"/>
          <p:cNvSpPr txBox="1"/>
          <p:nvPr/>
        </p:nvSpPr>
        <p:spPr>
          <a:xfrm>
            <a:off x="10132924" y="3008376"/>
            <a:ext cx="1554480" cy="384048"/>
          </a:xfrm>
          <a:prstGeom prst="roundRect">
            <a:avLst>
              <a:gd name="adj" fmla="val 45238"/>
            </a:avLst>
          </a:prstGeom>
          <a:solidFill>
            <a:srgbClr val="FFFFFF"/>
          </a:solidFill>
          <a:ln w="25400">
            <a:solidFill>
              <a:srgbClr val="F97316"/>
            </a:solidFill>
          </a:ln>
          <a:effectLst>
            <a:outerShdw sx="100000" sy="100000" kx="0" ky="0" algn="bl" rotWithShape="0" blurRad="101600" dist="38100" dir="5400000">
              <a:srgbClr val="1A2A4A">
                <a:alpha val="18000"/>
              </a:srgbClr>
            </a:outerShdw>
          </a:effectLst>
        </p:spPr>
        <p:txBody>
          <a:bodyPr wrap="square" lIns="0" tIns="0" rIns="0" bIns="0" rtlCol="0" anchor="ctr"/>
          <a:lstStyle/>
          <a:p>
            <a:pPr algn="ctr" indent="0" marL="0">
              <a:buNone/>
            </a:pPr>
            <a:r>
              <a:rPr lang="en-US" sz="1300" b="1" dirty="0">
                <a:solidFill>
                  <a:srgbClr val="F97316"/>
                </a:solidFill>
                <a:latin typeface="Arial" pitchFamily="34" charset="0"/>
                <a:ea typeface="Arial" pitchFamily="34" charset="-122"/>
                <a:cs typeface="Arial" pitchFamily="34" charset="-120"/>
              </a:rPr>
              <a:t>Stock 39</a:t>
            </a:r>
            <a:endParaRPr lang="en-US" sz="1300" dirty="0"/>
          </a:p>
        </p:txBody>
      </p:sp>
      <p:sp>
        <p:nvSpPr>
          <p:cNvPr id="40" name="Shape 31"/>
          <p:cNvSpPr/>
          <p:nvPr/>
        </p:nvSpPr>
        <p:spPr>
          <a:xfrm>
            <a:off x="8692744" y="5588699"/>
            <a:ext cx="2468880" cy="402336"/>
          </a:xfrm>
          <a:prstGeom prst="roundRect">
            <a:avLst>
              <a:gd name="adj" fmla="val 50000"/>
            </a:avLst>
          </a:prstGeom>
          <a:solidFill>
            <a:srgbClr val="F97316"/>
          </a:solidFill>
          <a:ln/>
        </p:spPr>
      </p:sp>
      <p:pic>
        <p:nvPicPr>
          <p:cNvPr id="41" name="Image 7" descr="preencoded.png">    </p:cNvPr>
          <p:cNvPicPr>
            <a:picLocks noChangeAspect="1"/>
          </p:cNvPicPr>
          <p:nvPr/>
        </p:nvPicPr>
        <p:blipFill>
          <a:blip r:embed="rId8"/>
          <a:stretch>
            <a:fillRect/>
          </a:stretch>
        </p:blipFill>
        <p:spPr>
          <a:xfrm>
            <a:off x="8829904" y="5670995"/>
            <a:ext cx="237744" cy="237744"/>
          </a:xfrm>
          <a:prstGeom prst="rect">
            <a:avLst/>
          </a:prstGeom>
        </p:spPr>
      </p:pic>
      <p:sp>
        <p:nvSpPr>
          <p:cNvPr id="42" name="Text 32"/>
          <p:cNvSpPr txBox="1"/>
          <p:nvPr/>
        </p:nvSpPr>
        <p:spPr>
          <a:xfrm>
            <a:off x="9131656" y="5588699"/>
            <a:ext cx="1965960" cy="40233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Marketplace</a:t>
            </a:r>
            <a:endParaRPr lang="en-US" sz="1500" dirty="0"/>
          </a:p>
        </p:txBody>
      </p:sp>
      <p:sp>
        <p:nvSpPr>
          <p:cNvPr id="43" name="Text 33"/>
          <p:cNvSpPr txBox="1"/>
          <p:nvPr/>
        </p:nvSpPr>
        <p:spPr>
          <a:xfrm>
            <a:off x="548640" y="6355080"/>
            <a:ext cx="10424160" cy="274320"/>
          </a:xfrm>
          <a:prstGeom prst="rect">
            <a:avLst/>
          </a:prstGeom>
          <a:noFill/>
          <a:ln/>
        </p:spPr>
        <p:txBody>
          <a:bodyPr wrap="square" lIns="0" tIns="0" rIns="0" bIns="0" rtlCol="0" anchor="t"/>
          <a:lstStyle/>
          <a:p>
            <a:pPr algn="l" indent="0" marL="0">
              <a:buNone/>
            </a:pPr>
            <a:r>
              <a:rPr lang="en-US" sz="1000" dirty="0">
                <a:solidFill>
                  <a:srgbClr val="52637A"/>
                </a:solidFill>
                <a:latin typeface="Arial" pitchFamily="34" charset="0"/>
                <a:ea typeface="Arial" pitchFamily="34" charset="-122"/>
                <a:cs typeface="Arial" pitchFamily="34" charset="-120"/>
              </a:rPr>
              <a:t>Real screens: one cash sale on Rentify POS updates every channel from one stock. Development build, demo store Aura Botanicals.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2026-09-26T04:04:08Z</dcterms:created>
  <dcterms:modified xsi:type="dcterms:W3CDTF">2026-09-26T04:04:08Z</dcterms:modified>
</cp:coreProperties>
</file>