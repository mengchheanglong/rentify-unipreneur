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AA7A2"/>
            </a:solidFill>
            <a:effectLst/>
          </c:spPr>
          <c:invertIfNegative val="0"/>
          <c:dLbls>
            <c:numFmt formatCode="$#,##0" sourceLinked="0"/>
            <c:txPr>
              <a:bodyPr/>
              <a:lstStyle/>
              <a:p>
                <a:pPr>
                  <a:defRPr b="0" i="0" strike="noStrike" sz="1100" u="none">
                    <a:solidFill>
                      <a:srgbClr val="15243A"/>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3456</c:v>
                </c:pt>
                <c:pt idx="1">
                  <c:v>25131</c:v>
                </c:pt>
                <c:pt idx="2">
                  <c:v>67744</c:v>
                </c:pt>
              </c:numCache>
            </c:numRef>
          </c:val>
        </c:ser>
        <c:ser>
          <c:idx val="1"/>
          <c:order val="1"/>
          <c:tx>
            <c:strRef>
              <c:f>Sheet1!$C$1</c:f>
              <c:strCache>
                <c:ptCount val="1"/>
                <c:pt idx="0">
                  <c:v>Total cost</c:v>
                </c:pt>
              </c:strCache>
            </c:strRef>
          </c:tx>
          <c:spPr>
            <a:solidFill>
              <a:srgbClr val="B8C4D6"/>
            </a:solidFill>
            <a:effectLst/>
          </c:spPr>
          <c:invertIfNegative val="0"/>
          <c:dLbls>
            <c:numFmt formatCode="$#,##0" sourceLinked="0"/>
            <c:txPr>
              <a:bodyPr/>
              <a:lstStyle/>
              <a:p>
                <a:pPr>
                  <a:defRPr b="0" i="0" strike="noStrike" sz="1100" u="none">
                    <a:solidFill>
                      <a:srgbClr val="15243A"/>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30258</c:v>
                </c:pt>
                <c:pt idx="1">
                  <c:v>61879</c:v>
                </c:pt>
                <c:pt idx="2">
                  <c:v>93819</c:v>
                </c:pt>
              </c:numCache>
            </c:numRef>
          </c:val>
        </c:ser>
        <c:dLbls>
          <c:numFmt formatCode="$#,##0" sourceLinked="0"/>
          <c:txPr>
            <a:bodyPr/>
            <a:lstStyle/>
            <a:p>
              <a:pPr>
                <a:defRPr b="0" i="0" strike="noStrike" sz="1100" u="none">
                  <a:solidFill>
                    <a:srgbClr val="15243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5243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Cambodian merchants sell in many places — Facebook, marketplaces and their own shop counter. Rentify lets them sell everywhere and manage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But their tools don't connect. Orders arrive on Telegram, stock lives in a notebook, and cash sits at the counter. So when the last item sells in the shop, Facebook still says it's in stock. The result is an apology, a refund and a lost customer.
(Evidence: illustrative scenario. Replace with real merchant quotes once pilot conversations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[0:40–1:05]
Existing options each solve one piece. Marketplaces bring buyers but live apart from the merchant's shop. Shopify syncs a store and POS but has no Cambodian marketplace. Khmum is closest to us, and we respect it. Tesla wasn't the first electric car. We aim to be the platform merchants don't have to stitch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[1:05–1:25]
Rentify puts one store at the centre. Products, prices, stock and orders are entered once, then sold through the merchant's own storefront, our shared marketplace and our 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[1:25–1:50]
Three ideas make us different. Start anywhere: sell on the marketplace first and add a storefront later without re-listing. One sale updates everywhere. And fair pricing: commission only on sales our marketplace brings, never on the merchant's own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[1:50–2:15]
This already works. Our demo store had forty units of this cream. We sold one at the counter. Seconds later, the storefront and the marketplace both showed thirty-nine. One sale, updated everywhere.
(Q&amp;A: seeded demo data in the development build, captured 25 Sep 2026 — not customer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[2:15–2:35]
We start with two merchants: the Facebook seller, who begins on our marketplace, and the small shop, which begins with POS and a storefront. Our beachhead is Phnom Penh retailers in fashion, beauty, electronics and home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[2:35–2:58]
Counting from the 2022 Economic Census, Cambodia has about 410,000 retail shops — a 24.6 million dollar subscription market. We focus on 65,000 specialised stores, worth 3.9 million a year, and aim for about 1,100 paying merchants by Year 3. Commission is on top.
(Q&amp;A: US$1.51B is total 2024 e-commerce value — context, not our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[2:58–3:20]
Merchants pay three, five or ten dollars a month for storefront, marketplace listing and POS. We add a commission only on marketplace orders, once buyers pay online in 2027. Their own storefront and counter sales stay commission-free.
(Q&amp;A: prices are proposals to test; commission cannot be deducted from cash on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[3:20–3:45]
We go merchants first. We recruit ten pilot shops through market visits, Facebook seller groups and UniPreneur introductions; their customers bring the first buyers. The pilot passes if seven of ten stay active, stock stays 99% accurate, and six of ten will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[3:45–4:00]
The platform works in development today. We pilot this quarter, launch publicly with KHQR payments in 2027, then add marketplace commission and multi-branch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[4:00–4:18]
Our lean model counts subscriptions only. Revenue grows to 68,000 dollars in Year 3 and we break even at about 1,900 paying merchants. Commission is upside.
(Q&amp;A: all inputs are assumptions to validate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[4:18–4:45]
We are five students who have already built this platform. We ask UniPreneur for introductions to ten retailers, mentors in retail and payments, and support for our pilot. Rentify: sell everywhere, manage once. Thank you.
[Stop here. Keep this slide up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appendix slides only when a question calls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Khmum overlaps with our concept. Our advantage must be proven through merchant tasks: setup time, stock accuracy and total cost. Do not claim we are cheaper or better until pilots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Recalculate if the average plan price changes after pilot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reproduced from the team’s 36-month model (Rentify_36_Month_Financial_Model.xlsx, Base-Lean sheet) as shown in the v2 deck. Totals were checked: gross profit and net result add up within US$1 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Consistent with slides 9–11: subscription revenue at launch; commission starts only with online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Merchants fulfil their own orders at launch. Delivery partnerships are options to evaluate, not agreements.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"what is built today?" precisely from this slide. Do not call seeded demo orders customer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D35"/>
        </a:solidFill>
      </p:bgPr>
    </p:bg>
    <p:spTree>
      <p:nvGrpSpPr>
        <p:cNvPr id="1" name=""/>
        <p:cNvGrpSpPr/>
        <p:nvPr/>
      </p:nvGrpSpPr>
      <p:grpSpPr>
        <a:xfrm>
          <a:off x="0" y="0"/>
          <a:ext cx="0" cy="0"/>
          <a:chOff x="0" y="0"/>
          <a:chExt cx="0" cy="0"/>
        </a:xfrm>
      </p:grpSpPr>
      <p:pic>
        <p:nvPicPr>
          <p:cNvPr id="2" name="Image 0" descr="Rentify logo">    </p:cNvPr>
          <p:cNvPicPr>
            <a:picLocks noChangeAspect="1"/>
          </p:cNvPicPr>
          <p:nvPr/>
        </p:nvPicPr>
        <p:blipFill>
          <a:blip r:embed="rId1"/>
          <a:stretch>
            <a:fillRect/>
          </a:stretch>
        </p:blipFill>
        <p:spPr>
          <a:xfrm>
            <a:off x="640080" y="548640"/>
            <a:ext cx="685800" cy="685800"/>
          </a:xfrm>
          <a:prstGeom prst="rect">
            <a:avLst/>
          </a:prstGeom>
        </p:spPr>
      </p:pic>
      <p:sp>
        <p:nvSpPr>
          <p:cNvPr id="3" name="Text 0"/>
          <p:cNvSpPr txBox="1"/>
          <p:nvPr/>
        </p:nvSpPr>
        <p:spPr>
          <a:xfrm>
            <a:off x="1463040" y="658368"/>
            <a:ext cx="4572000" cy="548640"/>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Rentify</a:t>
            </a:r>
            <a:endParaRPr lang="en-US" sz="3000" dirty="0"/>
          </a:p>
        </p:txBody>
      </p:sp>
      <p:sp>
        <p:nvSpPr>
          <p:cNvPr id="4" name="Text 1"/>
          <p:cNvSpPr txBox="1"/>
          <p:nvPr/>
        </p:nvSpPr>
        <p:spPr>
          <a:xfrm>
            <a:off x="640080" y="1828800"/>
            <a:ext cx="6949440" cy="2103120"/>
          </a:xfrm>
          <a:prstGeom prst="rect">
            <a:avLst/>
          </a:prstGeom>
          <a:noFill/>
          <a:ln/>
        </p:spPr>
        <p:txBody>
          <a:bodyPr wrap="square" lIns="0" tIns="0" rIns="0" bIns="0" rtlCol="0" anchor="t"/>
          <a:lstStyle/>
          <a:p>
            <a:pPr algn="l" indent="0" marL="0">
              <a:lnSpc>
                <a:spcPct val="95000"/>
              </a:lnSpc>
              <a:buNone/>
            </a:pPr>
            <a:r>
              <a:rPr lang="en-US" sz="6000" b="1" dirty="0">
                <a:solidFill>
                  <a:srgbClr val="FFFFFF"/>
                </a:solidFill>
                <a:latin typeface="Arial" pitchFamily="34" charset="0"/>
                <a:ea typeface="Arial" pitchFamily="34" charset="-122"/>
                <a:cs typeface="Arial" pitchFamily="34" charset="-120"/>
              </a:rPr>
              <a:t>Sell everywhere.</a:t>
            </a:r>
            <a:endParaRPr lang="en-US" sz="6000" dirty="0"/>
          </a:p>
          <a:p>
            <a:pPr algn="l" indent="0" marL="0">
              <a:lnSpc>
                <a:spcPct val="95000"/>
              </a:lnSpc>
              <a:buNone/>
            </a:pPr>
            <a:r>
              <a:rPr lang="en-US" sz="6000" b="1" dirty="0">
                <a:solidFill>
                  <a:srgbClr val="FFFFFF"/>
                </a:solidFill>
                <a:latin typeface="Arial" pitchFamily="34" charset="0"/>
                <a:ea typeface="Arial" pitchFamily="34" charset="-122"/>
                <a:cs typeface="Arial" pitchFamily="34" charset="-120"/>
              </a:rPr>
              <a:t>Manage once.</a:t>
            </a:r>
            <a:endParaRPr lang="en-US" sz="6000" dirty="0"/>
          </a:p>
        </p:txBody>
      </p:sp>
      <p:sp>
        <p:nvSpPr>
          <p:cNvPr id="5" name="Text 2"/>
          <p:cNvSpPr txBox="1"/>
          <p:nvPr/>
        </p:nvSpPr>
        <p:spPr>
          <a:xfrm>
            <a:off x="640080" y="4069080"/>
            <a:ext cx="6309360" cy="822960"/>
          </a:xfrm>
          <a:prstGeom prst="rect">
            <a:avLst/>
          </a:prstGeom>
          <a:noFill/>
          <a:ln/>
        </p:spPr>
        <p:txBody>
          <a:bodyPr wrap="square" lIns="0" tIns="0" rIns="0" bIns="0" rtlCol="0" anchor="t"/>
          <a:lstStyle/>
          <a:p>
            <a:pPr algn="l" indent="0" marL="0">
              <a:lnSpc>
                <a:spcPct val="110000"/>
              </a:lnSpc>
              <a:buNone/>
            </a:pPr>
            <a:r>
              <a:rPr lang="en-US" sz="1900" dirty="0">
                <a:solidFill>
                  <a:srgbClr val="D6F4F0"/>
                </a:solidFill>
                <a:latin typeface="Arial" pitchFamily="34" charset="0"/>
                <a:ea typeface="Arial" pitchFamily="34" charset="-122"/>
                <a:cs typeface="Arial" pitchFamily="34" charset="-120"/>
              </a:rPr>
              <a:t>One store behind your own website, a shared marketplace and your shop counter — built for Cambodian merchants.</a:t>
            </a:r>
            <a:endParaRPr lang="en-US" sz="1900" dirty="0"/>
          </a:p>
        </p:txBody>
      </p:sp>
      <p:sp>
        <p:nvSpPr>
          <p:cNvPr id="6" name="Shape 3"/>
          <p:cNvSpPr/>
          <p:nvPr/>
        </p:nvSpPr>
        <p:spPr>
          <a:xfrm>
            <a:off x="640080" y="5257800"/>
            <a:ext cx="2148840" cy="566928"/>
          </a:xfrm>
          <a:prstGeom prst="roundRect">
            <a:avLst>
              <a:gd name="adj" fmla="val 50000"/>
            </a:avLst>
          </a:prstGeom>
          <a:solidFill>
            <a:srgbClr val="1A2A4A"/>
          </a:solidFill>
          <a:ln/>
        </p:spPr>
      </p:sp>
      <p:pic>
        <p:nvPicPr>
          <p:cNvPr id="7" name="Image 1" descr="preencoded.png">    </p:cNvPr>
          <p:cNvPicPr>
            <a:picLocks noChangeAspect="1"/>
          </p:cNvPicPr>
          <p:nvPr/>
        </p:nvPicPr>
        <p:blipFill>
          <a:blip r:embed="rId2"/>
          <a:stretch>
            <a:fillRect/>
          </a:stretch>
        </p:blipFill>
        <p:spPr>
          <a:xfrm>
            <a:off x="822960" y="5394960"/>
            <a:ext cx="292608" cy="292608"/>
          </a:xfrm>
          <a:prstGeom prst="rect">
            <a:avLst/>
          </a:prstGeom>
        </p:spPr>
      </p:pic>
      <p:sp>
        <p:nvSpPr>
          <p:cNvPr id="8" name="Text 4"/>
          <p:cNvSpPr txBox="1"/>
          <p:nvPr/>
        </p:nvSpPr>
        <p:spPr>
          <a:xfrm>
            <a:off x="1188720" y="5257800"/>
            <a:ext cx="1572768" cy="566928"/>
          </a:xfrm>
          <a:prstGeom prst="rect">
            <a:avLst/>
          </a:prstGeom>
          <a:noFill/>
          <a:ln/>
        </p:spPr>
        <p:txBody>
          <a:bodyPr wrap="square" lIns="0" tIns="0" rIns="0" bIns="0" rtlCol="0" anchor="ctr"/>
          <a:lstStyle/>
          <a:p>
            <a:pPr algn="l" indent="0" marL="0">
              <a:lnSpc>
                <a:spcPct val="100000"/>
              </a:lnSpc>
              <a:buNone/>
            </a:pPr>
            <a:r>
              <a:rPr lang="en-US" sz="1350" dirty="0">
                <a:solidFill>
                  <a:srgbClr val="FFFFFF"/>
                </a:solidFill>
                <a:latin typeface="Arial" pitchFamily="34" charset="0"/>
                <a:ea typeface="Arial" pitchFamily="34" charset="-122"/>
                <a:cs typeface="Arial" pitchFamily="34" charset="-120"/>
              </a:rPr>
              <a:t>Own storefront</a:t>
            </a:r>
            <a:endParaRPr lang="en-US" sz="1350" dirty="0"/>
          </a:p>
        </p:txBody>
      </p:sp>
      <p:sp>
        <p:nvSpPr>
          <p:cNvPr id="9" name="Shape 5"/>
          <p:cNvSpPr/>
          <p:nvPr/>
        </p:nvSpPr>
        <p:spPr>
          <a:xfrm>
            <a:off x="2926080" y="5257800"/>
            <a:ext cx="2148840" cy="566928"/>
          </a:xfrm>
          <a:prstGeom prst="roundRect">
            <a:avLst>
              <a:gd name="adj" fmla="val 50000"/>
            </a:avLst>
          </a:prstGeom>
          <a:solidFill>
            <a:srgbClr val="1A2A4A"/>
          </a:solidFill>
          <a:ln/>
        </p:spPr>
      </p:sp>
      <p:pic>
        <p:nvPicPr>
          <p:cNvPr id="10" name="Image 2" descr="preencoded.png">    </p:cNvPr>
          <p:cNvPicPr>
            <a:picLocks noChangeAspect="1"/>
          </p:cNvPicPr>
          <p:nvPr/>
        </p:nvPicPr>
        <p:blipFill>
          <a:blip r:embed="rId3"/>
          <a:stretch>
            <a:fillRect/>
          </a:stretch>
        </p:blipFill>
        <p:spPr>
          <a:xfrm>
            <a:off x="3108960" y="5394960"/>
            <a:ext cx="292608" cy="292608"/>
          </a:xfrm>
          <a:prstGeom prst="rect">
            <a:avLst/>
          </a:prstGeom>
        </p:spPr>
      </p:pic>
      <p:sp>
        <p:nvSpPr>
          <p:cNvPr id="11" name="Text 6"/>
          <p:cNvSpPr txBox="1"/>
          <p:nvPr/>
        </p:nvSpPr>
        <p:spPr>
          <a:xfrm>
            <a:off x="3474720" y="5257800"/>
            <a:ext cx="1572768" cy="566928"/>
          </a:xfrm>
          <a:prstGeom prst="rect">
            <a:avLst/>
          </a:prstGeom>
          <a:noFill/>
          <a:ln/>
        </p:spPr>
        <p:txBody>
          <a:bodyPr wrap="square" lIns="0" tIns="0" rIns="0" bIns="0" rtlCol="0" anchor="ctr"/>
          <a:lstStyle/>
          <a:p>
            <a:pPr algn="l" indent="0" marL="0">
              <a:lnSpc>
                <a:spcPct val="100000"/>
              </a:lnSpc>
              <a:buNone/>
            </a:pPr>
            <a:r>
              <a:rPr lang="en-US" sz="1350" dirty="0">
                <a:solidFill>
                  <a:srgbClr val="FFFFFF"/>
                </a:solidFill>
                <a:latin typeface="Arial" pitchFamily="34" charset="0"/>
                <a:ea typeface="Arial" pitchFamily="34" charset="-122"/>
                <a:cs typeface="Arial" pitchFamily="34" charset="-120"/>
              </a:rPr>
              <a:t>Shared marketplace</a:t>
            </a:r>
            <a:endParaRPr lang="en-US" sz="1350" dirty="0"/>
          </a:p>
        </p:txBody>
      </p:sp>
      <p:sp>
        <p:nvSpPr>
          <p:cNvPr id="12" name="Shape 7"/>
          <p:cNvSpPr/>
          <p:nvPr/>
        </p:nvSpPr>
        <p:spPr>
          <a:xfrm>
            <a:off x="5212080" y="5257800"/>
            <a:ext cx="2148840" cy="566928"/>
          </a:xfrm>
          <a:prstGeom prst="roundRect">
            <a:avLst>
              <a:gd name="adj" fmla="val 50000"/>
            </a:avLst>
          </a:prstGeom>
          <a:solidFill>
            <a:srgbClr val="1A2A4A"/>
          </a:solidFill>
          <a:ln/>
        </p:spPr>
      </p:sp>
      <p:pic>
        <p:nvPicPr>
          <p:cNvPr id="13" name="Image 3" descr="preencoded.png">    </p:cNvPr>
          <p:cNvPicPr>
            <a:picLocks noChangeAspect="1"/>
          </p:cNvPicPr>
          <p:nvPr/>
        </p:nvPicPr>
        <p:blipFill>
          <a:blip r:embed="rId4"/>
          <a:stretch>
            <a:fillRect/>
          </a:stretch>
        </p:blipFill>
        <p:spPr>
          <a:xfrm>
            <a:off x="5394960" y="5394960"/>
            <a:ext cx="292608" cy="292608"/>
          </a:xfrm>
          <a:prstGeom prst="rect">
            <a:avLst/>
          </a:prstGeom>
        </p:spPr>
      </p:pic>
      <p:sp>
        <p:nvSpPr>
          <p:cNvPr id="14" name="Text 8"/>
          <p:cNvSpPr txBox="1"/>
          <p:nvPr/>
        </p:nvSpPr>
        <p:spPr>
          <a:xfrm>
            <a:off x="5760720" y="5257800"/>
            <a:ext cx="1572768" cy="566928"/>
          </a:xfrm>
          <a:prstGeom prst="rect">
            <a:avLst/>
          </a:prstGeom>
          <a:noFill/>
          <a:ln/>
        </p:spPr>
        <p:txBody>
          <a:bodyPr wrap="square" lIns="0" tIns="0" rIns="0" bIns="0" rtlCol="0" anchor="ctr"/>
          <a:lstStyle/>
          <a:p>
            <a:pPr algn="l" indent="0" marL="0">
              <a:lnSpc>
                <a:spcPct val="100000"/>
              </a:lnSpc>
              <a:buNone/>
            </a:pPr>
            <a:r>
              <a:rPr lang="en-US" sz="1350" dirty="0">
                <a:solidFill>
                  <a:srgbClr val="FFFFFF"/>
                </a:solidFill>
                <a:latin typeface="Arial" pitchFamily="34" charset="0"/>
                <a:ea typeface="Arial" pitchFamily="34" charset="-122"/>
                <a:cs typeface="Arial" pitchFamily="34" charset="-120"/>
              </a:rPr>
              <a:t>In-store POS</a:t>
            </a:r>
            <a:endParaRPr lang="en-US" sz="1350" dirty="0"/>
          </a:p>
        </p:txBody>
      </p:sp>
      <p:sp>
        <p:nvSpPr>
          <p:cNvPr id="15" name="Shape 9"/>
          <p:cNvSpPr/>
          <p:nvPr/>
        </p:nvSpPr>
        <p:spPr>
          <a:xfrm>
            <a:off x="7059168" y="868680"/>
            <a:ext cx="4626864" cy="2651760"/>
          </a:xfrm>
          <a:prstGeom prst="roundRect">
            <a:avLst>
              <a:gd name="adj" fmla="val 2759"/>
            </a:avLst>
          </a:prstGeom>
          <a:solidFill>
            <a:srgbClr val="FFFFFF"/>
          </a:solidFill>
          <a:ln/>
        </p:spPr>
      </p:sp>
      <p:pic>
        <p:nvPicPr>
          <p:cNvPr id="16" name="Image 4" descr="Rentify Marketplace product page">    </p:cNvPr>
          <p:cNvPicPr>
            <a:picLocks noChangeAspect="1"/>
          </p:cNvPicPr>
          <p:nvPr/>
        </p:nvPicPr>
        <p:blipFill>
          <a:blip r:embed="rId5"/>
          <a:stretch>
            <a:fillRect/>
          </a:stretch>
        </p:blipFill>
        <p:spPr>
          <a:xfrm>
            <a:off x="7132320" y="941832"/>
            <a:ext cx="4480560" cy="2505456"/>
          </a:xfrm>
          <a:prstGeom prst="rect">
            <a:avLst/>
          </a:prstGeom>
        </p:spPr>
      </p:pic>
      <p:sp>
        <p:nvSpPr>
          <p:cNvPr id="17" name="Shape 10"/>
          <p:cNvSpPr/>
          <p:nvPr/>
        </p:nvSpPr>
        <p:spPr>
          <a:xfrm>
            <a:off x="7699248" y="3310128"/>
            <a:ext cx="3986784" cy="2331720"/>
          </a:xfrm>
          <a:prstGeom prst="roundRect">
            <a:avLst>
              <a:gd name="adj" fmla="val 3137"/>
            </a:avLst>
          </a:prstGeom>
          <a:solidFill>
            <a:srgbClr val="FFFFFF"/>
          </a:solidFill>
          <a:ln/>
          <a:effectLst>
            <a:outerShdw sx="100000" sy="100000" kx="0" ky="0" algn="bl" rotWithShape="0" blurRad="101600" dist="25400" dir="5400000">
              <a:srgbClr val="1A2A4A">
                <a:alpha val="12000"/>
              </a:srgbClr>
            </a:outerShdw>
          </a:effectLst>
        </p:spPr>
      </p:sp>
      <p:pic>
        <p:nvPicPr>
          <p:cNvPr id="18" name="Image 5" descr="Rentify POS screen">    </p:cNvPr>
          <p:cNvPicPr>
            <a:picLocks noChangeAspect="1"/>
          </p:cNvPicPr>
          <p:nvPr/>
        </p:nvPicPr>
        <p:blipFill>
          <a:blip r:embed="rId6"/>
          <a:stretch>
            <a:fillRect/>
          </a:stretch>
        </p:blipFill>
        <p:spPr>
          <a:xfrm>
            <a:off x="7772400" y="3383280"/>
            <a:ext cx="3840480" cy="21854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Merchants have tools. None of them connect.</a:t>
            </a:r>
            <a:endParaRPr lang="en-US" sz="3400" dirty="0"/>
          </a:p>
        </p:txBody>
      </p:sp>
      <p:sp>
        <p:nvSpPr>
          <p:cNvPr id="3" name="Shape 1"/>
          <p:cNvSpPr/>
          <p:nvPr/>
        </p:nvSpPr>
        <p:spPr>
          <a:xfrm>
            <a:off x="548640" y="1463040"/>
            <a:ext cx="5394960" cy="585216"/>
          </a:xfrm>
          <a:prstGeom prst="roundRect">
            <a:avLst>
              <a:gd name="adj" fmla="val 15625"/>
            </a:avLst>
          </a:prstGeom>
          <a:solidFill>
            <a:srgbClr val="F5F8FC"/>
          </a:solidFill>
          <a:ln/>
        </p:spPr>
      </p:sp>
      <p:sp>
        <p:nvSpPr>
          <p:cNvPr id="4" name="Shape 2"/>
          <p:cNvSpPr/>
          <p:nvPr/>
        </p:nvSpPr>
        <p:spPr>
          <a:xfrm>
            <a:off x="658368" y="1554480"/>
            <a:ext cx="402336" cy="402336"/>
          </a:xfrm>
          <a:prstGeom prst="ellipse">
            <a:avLst/>
          </a:prstGeom>
          <a:solidFill>
            <a:srgbClr val="DCEBFF"/>
          </a:solidFill>
          <a:ln/>
        </p:spPr>
      </p:sp>
      <p:pic>
        <p:nvPicPr>
          <p:cNvPr id="5" name="Image 0" descr="preencoded.png">    </p:cNvPr>
          <p:cNvPicPr>
            <a:picLocks noChangeAspect="1"/>
          </p:cNvPicPr>
          <p:nvPr/>
        </p:nvPicPr>
        <p:blipFill>
          <a:blip r:embed="rId1"/>
          <a:stretch>
            <a:fillRect/>
          </a:stretch>
        </p:blipFill>
        <p:spPr>
          <a:xfrm>
            <a:off x="754929" y="1651041"/>
            <a:ext cx="209215" cy="209215"/>
          </a:xfrm>
          <a:prstGeom prst="rect">
            <a:avLst/>
          </a:prstGeom>
        </p:spPr>
      </p:pic>
      <p:sp>
        <p:nvSpPr>
          <p:cNvPr id="6" name="Text 3"/>
          <p:cNvSpPr txBox="1"/>
          <p:nvPr/>
        </p:nvSpPr>
        <p:spPr>
          <a:xfrm>
            <a:off x="1207008" y="1463040"/>
            <a:ext cx="233172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15243A"/>
                </a:solidFill>
                <a:latin typeface="Arial" pitchFamily="34" charset="0"/>
                <a:ea typeface="Arial" pitchFamily="34" charset="-122"/>
                <a:cs typeface="Arial" pitchFamily="34" charset="-120"/>
              </a:rPr>
              <a:t>Facebook page</a:t>
            </a:r>
            <a:endParaRPr lang="en-US" sz="1600" dirty="0"/>
          </a:p>
        </p:txBody>
      </p:sp>
      <p:sp>
        <p:nvSpPr>
          <p:cNvPr id="7" name="Text 4"/>
          <p:cNvSpPr txBox="1"/>
          <p:nvPr/>
        </p:nvSpPr>
        <p:spPr>
          <a:xfrm>
            <a:off x="3611880" y="1463040"/>
            <a:ext cx="2286000" cy="585216"/>
          </a:xfrm>
          <a:prstGeom prst="rect">
            <a:avLst/>
          </a:prstGeom>
          <a:noFill/>
          <a:ln/>
        </p:spPr>
        <p:txBody>
          <a:bodyPr wrap="square" lIns="0" tIns="0" rIns="0" bIns="0" rtlCol="0" anchor="ctr"/>
          <a:lstStyle/>
          <a:p>
            <a:pPr algn="l" indent="0" marL="0">
              <a:lnSpc>
                <a:spcPct val="100000"/>
              </a:lnSpc>
              <a:buNone/>
            </a:pPr>
            <a:r>
              <a:rPr lang="en-US" sz="1400" dirty="0">
                <a:solidFill>
                  <a:srgbClr val="52637A"/>
                </a:solidFill>
                <a:latin typeface="Arial" pitchFamily="34" charset="0"/>
                <a:ea typeface="Arial" pitchFamily="34" charset="-122"/>
                <a:cs typeface="Arial" pitchFamily="34" charset="-120"/>
              </a:rPr>
              <a:t>posts, Live and inbox</a:t>
            </a:r>
            <a:endParaRPr lang="en-US" sz="1400" dirty="0"/>
          </a:p>
        </p:txBody>
      </p:sp>
      <p:sp>
        <p:nvSpPr>
          <p:cNvPr id="8" name="Shape 5"/>
          <p:cNvSpPr/>
          <p:nvPr/>
        </p:nvSpPr>
        <p:spPr>
          <a:xfrm>
            <a:off x="548640" y="2176272"/>
            <a:ext cx="5394960" cy="585216"/>
          </a:xfrm>
          <a:prstGeom prst="roundRect">
            <a:avLst>
              <a:gd name="adj" fmla="val 15625"/>
            </a:avLst>
          </a:prstGeom>
          <a:solidFill>
            <a:srgbClr val="F5F8FC"/>
          </a:solidFill>
          <a:ln/>
        </p:spPr>
      </p:sp>
      <p:sp>
        <p:nvSpPr>
          <p:cNvPr id="9" name="Shape 6"/>
          <p:cNvSpPr/>
          <p:nvPr/>
        </p:nvSpPr>
        <p:spPr>
          <a:xfrm>
            <a:off x="658368" y="2267712"/>
            <a:ext cx="402336" cy="402336"/>
          </a:xfrm>
          <a:prstGeom prst="ellipse">
            <a:avLst/>
          </a:prstGeom>
          <a:solidFill>
            <a:srgbClr val="DCEBFF"/>
          </a:solidFill>
          <a:ln/>
        </p:spPr>
      </p:sp>
      <p:pic>
        <p:nvPicPr>
          <p:cNvPr id="10" name="Image 1" descr="preencoded.png">    </p:cNvPr>
          <p:cNvPicPr>
            <a:picLocks noChangeAspect="1"/>
          </p:cNvPicPr>
          <p:nvPr/>
        </p:nvPicPr>
        <p:blipFill>
          <a:blip r:embed="rId2"/>
          <a:stretch>
            <a:fillRect/>
          </a:stretch>
        </p:blipFill>
        <p:spPr>
          <a:xfrm>
            <a:off x="754929" y="2364273"/>
            <a:ext cx="209215" cy="209215"/>
          </a:xfrm>
          <a:prstGeom prst="rect">
            <a:avLst/>
          </a:prstGeom>
        </p:spPr>
      </p:pic>
      <p:sp>
        <p:nvSpPr>
          <p:cNvPr id="11" name="Text 7"/>
          <p:cNvSpPr txBox="1"/>
          <p:nvPr/>
        </p:nvSpPr>
        <p:spPr>
          <a:xfrm>
            <a:off x="1207008" y="2176272"/>
            <a:ext cx="233172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15243A"/>
                </a:solidFill>
                <a:latin typeface="Arial" pitchFamily="34" charset="0"/>
                <a:ea typeface="Arial" pitchFamily="34" charset="-122"/>
                <a:cs typeface="Arial" pitchFamily="34" charset="-120"/>
              </a:rPr>
              <a:t>Telegram</a:t>
            </a:r>
            <a:endParaRPr lang="en-US" sz="1600" dirty="0"/>
          </a:p>
        </p:txBody>
      </p:sp>
      <p:sp>
        <p:nvSpPr>
          <p:cNvPr id="12" name="Text 8"/>
          <p:cNvSpPr txBox="1"/>
          <p:nvPr/>
        </p:nvSpPr>
        <p:spPr>
          <a:xfrm>
            <a:off x="3611880" y="2176272"/>
            <a:ext cx="2286000" cy="585216"/>
          </a:xfrm>
          <a:prstGeom prst="rect">
            <a:avLst/>
          </a:prstGeom>
          <a:noFill/>
          <a:ln/>
        </p:spPr>
        <p:txBody>
          <a:bodyPr wrap="square" lIns="0" tIns="0" rIns="0" bIns="0" rtlCol="0" anchor="ctr"/>
          <a:lstStyle/>
          <a:p>
            <a:pPr algn="l" indent="0" marL="0">
              <a:lnSpc>
                <a:spcPct val="100000"/>
              </a:lnSpc>
              <a:buNone/>
            </a:pPr>
            <a:r>
              <a:rPr lang="en-US" sz="1400" dirty="0">
                <a:solidFill>
                  <a:srgbClr val="52637A"/>
                </a:solidFill>
                <a:latin typeface="Arial" pitchFamily="34" charset="0"/>
                <a:ea typeface="Arial" pitchFamily="34" charset="-122"/>
                <a:cs typeface="Arial" pitchFamily="34" charset="-120"/>
              </a:rPr>
              <a:t>customer orders</a:t>
            </a:r>
            <a:endParaRPr lang="en-US" sz="1400" dirty="0"/>
          </a:p>
        </p:txBody>
      </p:sp>
      <p:sp>
        <p:nvSpPr>
          <p:cNvPr id="13" name="Shape 9"/>
          <p:cNvSpPr/>
          <p:nvPr/>
        </p:nvSpPr>
        <p:spPr>
          <a:xfrm>
            <a:off x="548640" y="2889504"/>
            <a:ext cx="5394960" cy="585216"/>
          </a:xfrm>
          <a:prstGeom prst="roundRect">
            <a:avLst>
              <a:gd name="adj" fmla="val 15625"/>
            </a:avLst>
          </a:prstGeom>
          <a:solidFill>
            <a:srgbClr val="F5F8FC"/>
          </a:solidFill>
          <a:ln/>
        </p:spPr>
      </p:sp>
      <p:sp>
        <p:nvSpPr>
          <p:cNvPr id="14" name="Shape 10"/>
          <p:cNvSpPr/>
          <p:nvPr/>
        </p:nvSpPr>
        <p:spPr>
          <a:xfrm>
            <a:off x="658368" y="2980944"/>
            <a:ext cx="402336" cy="402336"/>
          </a:xfrm>
          <a:prstGeom prst="ellipse">
            <a:avLst/>
          </a:prstGeom>
          <a:solidFill>
            <a:srgbClr val="DCEBFF"/>
          </a:solidFill>
          <a:ln/>
        </p:spPr>
      </p:sp>
      <p:pic>
        <p:nvPicPr>
          <p:cNvPr id="15" name="Image 2" descr="preencoded.png">    </p:cNvPr>
          <p:cNvPicPr>
            <a:picLocks noChangeAspect="1"/>
          </p:cNvPicPr>
          <p:nvPr/>
        </p:nvPicPr>
        <p:blipFill>
          <a:blip r:embed="rId3"/>
          <a:stretch>
            <a:fillRect/>
          </a:stretch>
        </p:blipFill>
        <p:spPr>
          <a:xfrm>
            <a:off x="754929" y="3077505"/>
            <a:ext cx="209215" cy="209215"/>
          </a:xfrm>
          <a:prstGeom prst="rect">
            <a:avLst/>
          </a:prstGeom>
        </p:spPr>
      </p:pic>
      <p:sp>
        <p:nvSpPr>
          <p:cNvPr id="16" name="Text 11"/>
          <p:cNvSpPr txBox="1"/>
          <p:nvPr/>
        </p:nvSpPr>
        <p:spPr>
          <a:xfrm>
            <a:off x="1207008" y="2889504"/>
            <a:ext cx="233172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15243A"/>
                </a:solidFill>
                <a:latin typeface="Arial" pitchFamily="34" charset="0"/>
                <a:ea typeface="Arial" pitchFamily="34" charset="-122"/>
                <a:cs typeface="Arial" pitchFamily="34" charset="-120"/>
              </a:rPr>
              <a:t>Marketplace listing</a:t>
            </a:r>
            <a:endParaRPr lang="en-US" sz="1600" dirty="0"/>
          </a:p>
        </p:txBody>
      </p:sp>
      <p:sp>
        <p:nvSpPr>
          <p:cNvPr id="17" name="Text 12"/>
          <p:cNvSpPr txBox="1"/>
          <p:nvPr/>
        </p:nvSpPr>
        <p:spPr>
          <a:xfrm>
            <a:off x="3611880" y="2889504"/>
            <a:ext cx="2286000" cy="585216"/>
          </a:xfrm>
          <a:prstGeom prst="rect">
            <a:avLst/>
          </a:prstGeom>
          <a:noFill/>
          <a:ln/>
        </p:spPr>
        <p:txBody>
          <a:bodyPr wrap="square" lIns="0" tIns="0" rIns="0" bIns="0" rtlCol="0" anchor="ctr"/>
          <a:lstStyle/>
          <a:p>
            <a:pPr algn="l" indent="0" marL="0">
              <a:lnSpc>
                <a:spcPct val="100000"/>
              </a:lnSpc>
              <a:buNone/>
            </a:pPr>
            <a:r>
              <a:rPr lang="en-US" sz="1400" dirty="0">
                <a:solidFill>
                  <a:srgbClr val="52637A"/>
                </a:solidFill>
                <a:latin typeface="Arial" pitchFamily="34" charset="0"/>
                <a:ea typeface="Arial" pitchFamily="34" charset="-122"/>
                <a:cs typeface="Arial" pitchFamily="34" charset="-120"/>
              </a:rPr>
              <a:t>a second copy of products</a:t>
            </a:r>
            <a:endParaRPr lang="en-US" sz="1400" dirty="0"/>
          </a:p>
        </p:txBody>
      </p:sp>
      <p:sp>
        <p:nvSpPr>
          <p:cNvPr id="18" name="Shape 13"/>
          <p:cNvSpPr/>
          <p:nvPr/>
        </p:nvSpPr>
        <p:spPr>
          <a:xfrm>
            <a:off x="548640" y="3602736"/>
            <a:ext cx="5394960" cy="585216"/>
          </a:xfrm>
          <a:prstGeom prst="roundRect">
            <a:avLst>
              <a:gd name="adj" fmla="val 15625"/>
            </a:avLst>
          </a:prstGeom>
          <a:solidFill>
            <a:srgbClr val="F5F8FC"/>
          </a:solidFill>
          <a:ln/>
        </p:spPr>
      </p:sp>
      <p:sp>
        <p:nvSpPr>
          <p:cNvPr id="19" name="Shape 14"/>
          <p:cNvSpPr/>
          <p:nvPr/>
        </p:nvSpPr>
        <p:spPr>
          <a:xfrm>
            <a:off x="658368" y="3694176"/>
            <a:ext cx="402336" cy="402336"/>
          </a:xfrm>
          <a:prstGeom prst="ellipse">
            <a:avLst/>
          </a:prstGeom>
          <a:solidFill>
            <a:srgbClr val="DCEBFF"/>
          </a:solidFill>
          <a:ln/>
        </p:spPr>
      </p:sp>
      <p:pic>
        <p:nvPicPr>
          <p:cNvPr id="20" name="Image 3" descr="preencoded.png">    </p:cNvPr>
          <p:cNvPicPr>
            <a:picLocks noChangeAspect="1"/>
          </p:cNvPicPr>
          <p:nvPr/>
        </p:nvPicPr>
        <p:blipFill>
          <a:blip r:embed="rId4"/>
          <a:stretch>
            <a:fillRect/>
          </a:stretch>
        </p:blipFill>
        <p:spPr>
          <a:xfrm>
            <a:off x="754929" y="3790737"/>
            <a:ext cx="209215" cy="209215"/>
          </a:xfrm>
          <a:prstGeom prst="rect">
            <a:avLst/>
          </a:prstGeom>
        </p:spPr>
      </p:pic>
      <p:sp>
        <p:nvSpPr>
          <p:cNvPr id="21" name="Text 15"/>
          <p:cNvSpPr txBox="1"/>
          <p:nvPr/>
        </p:nvSpPr>
        <p:spPr>
          <a:xfrm>
            <a:off x="1207008" y="3602736"/>
            <a:ext cx="233172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15243A"/>
                </a:solidFill>
                <a:latin typeface="Arial" pitchFamily="34" charset="0"/>
                <a:ea typeface="Arial" pitchFamily="34" charset="-122"/>
                <a:cs typeface="Arial" pitchFamily="34" charset="-120"/>
              </a:rPr>
              <a:t>Notebook or Excel</a:t>
            </a:r>
            <a:endParaRPr lang="en-US" sz="1600" dirty="0"/>
          </a:p>
        </p:txBody>
      </p:sp>
      <p:sp>
        <p:nvSpPr>
          <p:cNvPr id="22" name="Text 16"/>
          <p:cNvSpPr txBox="1"/>
          <p:nvPr/>
        </p:nvSpPr>
        <p:spPr>
          <a:xfrm>
            <a:off x="3611880" y="3602736"/>
            <a:ext cx="2286000" cy="585216"/>
          </a:xfrm>
          <a:prstGeom prst="rect">
            <a:avLst/>
          </a:prstGeom>
          <a:noFill/>
          <a:ln/>
        </p:spPr>
        <p:txBody>
          <a:bodyPr wrap="square" lIns="0" tIns="0" rIns="0" bIns="0" rtlCol="0" anchor="ctr"/>
          <a:lstStyle/>
          <a:p>
            <a:pPr algn="l" indent="0" marL="0">
              <a:lnSpc>
                <a:spcPct val="100000"/>
              </a:lnSpc>
              <a:buNone/>
            </a:pPr>
            <a:r>
              <a:rPr lang="en-US" sz="1400" dirty="0">
                <a:solidFill>
                  <a:srgbClr val="52637A"/>
                </a:solidFill>
                <a:latin typeface="Arial" pitchFamily="34" charset="0"/>
                <a:ea typeface="Arial" pitchFamily="34" charset="-122"/>
                <a:cs typeface="Arial" pitchFamily="34" charset="-120"/>
              </a:rPr>
              <a:t>the “real” stock count</a:t>
            </a:r>
            <a:endParaRPr lang="en-US" sz="1400" dirty="0"/>
          </a:p>
        </p:txBody>
      </p:sp>
      <p:sp>
        <p:nvSpPr>
          <p:cNvPr id="23" name="Shape 17"/>
          <p:cNvSpPr/>
          <p:nvPr/>
        </p:nvSpPr>
        <p:spPr>
          <a:xfrm>
            <a:off x="548640" y="4315968"/>
            <a:ext cx="5394960" cy="585216"/>
          </a:xfrm>
          <a:prstGeom prst="roundRect">
            <a:avLst>
              <a:gd name="adj" fmla="val 15625"/>
            </a:avLst>
          </a:prstGeom>
          <a:solidFill>
            <a:srgbClr val="F5F8FC"/>
          </a:solidFill>
          <a:ln/>
        </p:spPr>
      </p:sp>
      <p:sp>
        <p:nvSpPr>
          <p:cNvPr id="24" name="Shape 18"/>
          <p:cNvSpPr/>
          <p:nvPr/>
        </p:nvSpPr>
        <p:spPr>
          <a:xfrm>
            <a:off x="658368" y="4407408"/>
            <a:ext cx="402336" cy="402336"/>
          </a:xfrm>
          <a:prstGeom prst="ellipse">
            <a:avLst/>
          </a:prstGeom>
          <a:solidFill>
            <a:srgbClr val="DCEBFF"/>
          </a:solidFill>
          <a:ln/>
        </p:spPr>
      </p:sp>
      <p:pic>
        <p:nvPicPr>
          <p:cNvPr id="25" name="Image 4" descr="preencoded.png">    </p:cNvPr>
          <p:cNvPicPr>
            <a:picLocks noChangeAspect="1"/>
          </p:cNvPicPr>
          <p:nvPr/>
        </p:nvPicPr>
        <p:blipFill>
          <a:blip r:embed="rId5"/>
          <a:stretch>
            <a:fillRect/>
          </a:stretch>
        </p:blipFill>
        <p:spPr>
          <a:xfrm>
            <a:off x="754929" y="4503969"/>
            <a:ext cx="209215" cy="209215"/>
          </a:xfrm>
          <a:prstGeom prst="rect">
            <a:avLst/>
          </a:prstGeom>
        </p:spPr>
      </p:pic>
      <p:sp>
        <p:nvSpPr>
          <p:cNvPr id="26" name="Text 19"/>
          <p:cNvSpPr txBox="1"/>
          <p:nvPr/>
        </p:nvSpPr>
        <p:spPr>
          <a:xfrm>
            <a:off x="1207008" y="4315968"/>
            <a:ext cx="2331720" cy="585216"/>
          </a:xfrm>
          <a:prstGeom prst="rect">
            <a:avLst/>
          </a:prstGeom>
          <a:noFill/>
          <a:ln/>
        </p:spPr>
        <p:txBody>
          <a:bodyPr wrap="square" lIns="0" tIns="0" rIns="0" bIns="0" rtlCol="0" anchor="ctr"/>
          <a:lstStyle/>
          <a:p>
            <a:pPr algn="l" indent="0" marL="0">
              <a:lnSpc>
                <a:spcPct val="100000"/>
              </a:lnSpc>
              <a:buNone/>
            </a:pPr>
            <a:r>
              <a:rPr lang="en-US" sz="1600" b="1" dirty="0">
                <a:solidFill>
                  <a:srgbClr val="15243A"/>
                </a:solidFill>
                <a:latin typeface="Arial" pitchFamily="34" charset="0"/>
                <a:ea typeface="Arial" pitchFamily="34" charset="-122"/>
                <a:cs typeface="Arial" pitchFamily="34" charset="-120"/>
              </a:rPr>
              <a:t>Cash box or POS app</a:t>
            </a:r>
            <a:endParaRPr lang="en-US" sz="1600" dirty="0"/>
          </a:p>
        </p:txBody>
      </p:sp>
      <p:sp>
        <p:nvSpPr>
          <p:cNvPr id="27" name="Text 20"/>
          <p:cNvSpPr txBox="1"/>
          <p:nvPr/>
        </p:nvSpPr>
        <p:spPr>
          <a:xfrm>
            <a:off x="3611880" y="4315968"/>
            <a:ext cx="2286000" cy="585216"/>
          </a:xfrm>
          <a:prstGeom prst="rect">
            <a:avLst/>
          </a:prstGeom>
          <a:noFill/>
          <a:ln/>
        </p:spPr>
        <p:txBody>
          <a:bodyPr wrap="square" lIns="0" tIns="0" rIns="0" bIns="0" rtlCol="0" anchor="ctr"/>
          <a:lstStyle/>
          <a:p>
            <a:pPr algn="l" indent="0" marL="0">
              <a:lnSpc>
                <a:spcPct val="100000"/>
              </a:lnSpc>
              <a:buNone/>
            </a:pPr>
            <a:r>
              <a:rPr lang="en-US" sz="1400" dirty="0">
                <a:solidFill>
                  <a:srgbClr val="52637A"/>
                </a:solidFill>
                <a:latin typeface="Arial" pitchFamily="34" charset="0"/>
                <a:ea typeface="Arial" pitchFamily="34" charset="-122"/>
                <a:cs typeface="Arial" pitchFamily="34" charset="-120"/>
              </a:rPr>
              <a:t>counter sales</a:t>
            </a:r>
            <a:endParaRPr lang="en-US" sz="1400" dirty="0"/>
          </a:p>
        </p:txBody>
      </p:sp>
      <p:sp>
        <p:nvSpPr>
          <p:cNvPr id="28" name="Text 21"/>
          <p:cNvSpPr txBox="1"/>
          <p:nvPr/>
        </p:nvSpPr>
        <p:spPr>
          <a:xfrm>
            <a:off x="548640" y="5138928"/>
            <a:ext cx="5394960" cy="822960"/>
          </a:xfrm>
          <a:prstGeom prst="rect">
            <a:avLst/>
          </a:prstGeom>
          <a:noFill/>
          <a:ln/>
        </p:spPr>
        <p:txBody>
          <a:bodyPr wrap="square" lIns="0" tIns="0" rIns="0" bIns="0" rtlCol="0" anchor="t"/>
          <a:lstStyle/>
          <a:p>
            <a:pPr algn="l" indent="0" marL="0">
              <a:lnSpc>
                <a:spcPct val="105000"/>
              </a:lnSpc>
              <a:buNone/>
            </a:pPr>
            <a:r>
              <a:rPr lang="en-US" sz="2000" b="1" dirty="0">
                <a:solidFill>
                  <a:srgbClr val="2463E8"/>
                </a:solidFill>
                <a:latin typeface="Arial" pitchFamily="34" charset="0"/>
                <a:ea typeface="Arial" pitchFamily="34" charset="-122"/>
                <a:cs typeface="Arial" pitchFamily="34" charset="-120"/>
              </a:rPr>
              <a:t>Every new channel adds another list to update by hand.</a:t>
            </a:r>
            <a:endParaRPr lang="en-US" sz="2000" dirty="0"/>
          </a:p>
        </p:txBody>
      </p:sp>
      <p:pic>
        <p:nvPicPr>
          <p:cNvPr id="29" name="Image 5" descr="Illustration of a shopkeeper checking her phone at a counter">    </p:cNvPr>
          <p:cNvPicPr>
            <a:picLocks noChangeAspect="1"/>
          </p:cNvPicPr>
          <p:nvPr/>
        </p:nvPicPr>
        <p:blipFill>
          <a:blip r:embed="rId6"/>
          <a:stretch>
            <a:fillRect/>
          </a:stretch>
        </p:blipFill>
        <p:spPr>
          <a:xfrm>
            <a:off x="6355080" y="1463040"/>
            <a:ext cx="5285232" cy="2971800"/>
          </a:xfrm>
          <a:prstGeom prst="rect">
            <a:avLst/>
          </a:prstGeom>
        </p:spPr>
      </p:pic>
      <p:sp>
        <p:nvSpPr>
          <p:cNvPr id="30" name="Shape 22"/>
          <p:cNvSpPr/>
          <p:nvPr/>
        </p:nvSpPr>
        <p:spPr>
          <a:xfrm>
            <a:off x="6355080" y="4572000"/>
            <a:ext cx="5285232" cy="1371600"/>
          </a:xfrm>
          <a:prstGeom prst="roundRect">
            <a:avLst>
              <a:gd name="adj" fmla="val 6667"/>
            </a:avLst>
          </a:prstGeom>
          <a:solidFill>
            <a:srgbClr val="111D35"/>
          </a:solidFill>
          <a:ln/>
        </p:spPr>
      </p:sp>
      <p:sp>
        <p:nvSpPr>
          <p:cNvPr id="31" name="Text 23"/>
          <p:cNvSpPr txBox="1"/>
          <p:nvPr/>
        </p:nvSpPr>
        <p:spPr>
          <a:xfrm>
            <a:off x="6583680" y="4681728"/>
            <a:ext cx="4846320" cy="731520"/>
          </a:xfrm>
          <a:prstGeom prst="rect">
            <a:avLst/>
          </a:prstGeom>
          <a:noFill/>
          <a:ln/>
        </p:spPr>
        <p:txBody>
          <a:bodyPr wrap="square" lIns="0" tIns="0" rIns="0" bIns="0" rtlCol="0" anchor="t"/>
          <a:lstStyle/>
          <a:p>
            <a:pPr algn="l" indent="0" marL="0">
              <a:lnSpc>
                <a:spcPct val="105000"/>
              </a:lnSpc>
              <a:buNone/>
            </a:pPr>
            <a:r>
              <a:rPr lang="en-US" sz="1700" b="1" dirty="0">
                <a:solidFill>
                  <a:srgbClr val="FFFFFF"/>
                </a:solidFill>
                <a:latin typeface="Arial" pitchFamily="34" charset="0"/>
                <a:ea typeface="Arial" pitchFamily="34" charset="-122"/>
                <a:cs typeface="Arial" pitchFamily="34" charset="-120"/>
              </a:rPr>
              <a:t>The last item sells at the counter.</a:t>
            </a:r>
            <a:endParaRPr lang="en-US" sz="1700" dirty="0"/>
          </a:p>
          <a:p>
            <a:pPr algn="l" indent="0" marL="0">
              <a:lnSpc>
                <a:spcPct val="105000"/>
              </a:lnSpc>
              <a:buNone/>
            </a:pPr>
            <a:r>
              <a:rPr lang="en-US" sz="1700" b="1" dirty="0">
                <a:solidFill>
                  <a:srgbClr val="FFFFFF"/>
                </a:solidFill>
                <a:latin typeface="Arial" pitchFamily="34" charset="0"/>
                <a:ea typeface="Arial" pitchFamily="34" charset="-122"/>
                <a:cs typeface="Arial" pitchFamily="34" charset="-120"/>
              </a:rPr>
              <a:t>Facebook still says “in stock”.</a:t>
            </a:r>
            <a:endParaRPr lang="en-US" sz="1700" dirty="0"/>
          </a:p>
        </p:txBody>
      </p:sp>
      <p:sp>
        <p:nvSpPr>
          <p:cNvPr id="32" name="Text 24"/>
          <p:cNvSpPr txBox="1"/>
          <p:nvPr/>
        </p:nvSpPr>
        <p:spPr>
          <a:xfrm>
            <a:off x="6583680" y="5440680"/>
            <a:ext cx="4846320" cy="365760"/>
          </a:xfrm>
          <a:prstGeom prst="rect">
            <a:avLst/>
          </a:prstGeom>
          <a:noFill/>
          <a:ln/>
        </p:spPr>
        <p:txBody>
          <a:bodyPr wrap="square" lIns="0" tIns="0" rIns="0" bIns="0" rtlCol="0" anchor="t"/>
          <a:lstStyle/>
          <a:p>
            <a:pPr algn="l" indent="0" marL="0">
              <a:lnSpc>
                <a:spcPct val="100000"/>
              </a:lnSpc>
              <a:buNone/>
            </a:pPr>
            <a:r>
              <a:rPr lang="en-US" sz="1400" dirty="0">
                <a:solidFill>
                  <a:srgbClr val="D6F4F0"/>
                </a:solidFill>
                <a:latin typeface="Arial" pitchFamily="34" charset="0"/>
                <a:ea typeface="Arial" pitchFamily="34" charset="-122"/>
                <a:cs typeface="Arial" pitchFamily="34" charset="-120"/>
              </a:rPr>
              <a:t>Result: an apology, a refund, a lost customer.</a:t>
            </a:r>
            <a:endParaRPr lang="en-US" sz="1400" dirty="0"/>
          </a:p>
        </p:txBody>
      </p:sp>
      <p:sp>
        <p:nvSpPr>
          <p:cNvPr id="33" name="Text 25"/>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Illustrative scenario and AI-generated image. How often this happens will be measured in our first merchant pilots.</a:t>
            </a:r>
            <a:endParaRPr lang="en-US" sz="1000" dirty="0"/>
          </a:p>
        </p:txBody>
      </p:sp>
      <p:sp>
        <p:nvSpPr>
          <p:cNvPr id="34" name="Text 26"/>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Every option today solves one piece</a:t>
            </a:r>
            <a:endParaRPr lang="en-US" sz="34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algn="l" indent="0" marL="0">
              <a:lnSpc>
                <a:spcPct val="100000"/>
              </a:lnSpc>
              <a:buNone/>
            </a:pPr>
            <a:r>
              <a:rPr lang="en-US" sz="1700" dirty="0">
                <a:solidFill>
                  <a:srgbClr val="52637A"/>
                </a:solidFill>
                <a:latin typeface="Arial" pitchFamily="34" charset="0"/>
                <a:ea typeface="Arial" pitchFamily="34" charset="-122"/>
                <a:cs typeface="Arial" pitchFamily="34" charset="-120"/>
              </a:rPr>
              <a:t>We are not the first. We aim to be the one merchants don’t have to stitch together.</a:t>
            </a:r>
            <a:endParaRPr lang="en-US" sz="1700" dirty="0"/>
          </a:p>
        </p:txBody>
      </p:sp>
      <p:sp>
        <p:nvSpPr>
          <p:cNvPr id="4" name="Shape 2"/>
          <p:cNvSpPr/>
          <p:nvPr/>
        </p:nvSpPr>
        <p:spPr>
          <a:xfrm>
            <a:off x="548640" y="1828800"/>
            <a:ext cx="3520440" cy="3931920"/>
          </a:xfrm>
          <a:prstGeom prst="roundRect">
            <a:avLst>
              <a:gd name="adj" fmla="val 3117"/>
            </a:avLst>
          </a:prstGeom>
          <a:solidFill>
            <a:srgbClr val="FFFFFF"/>
          </a:solidFill>
          <a:ln/>
          <a:effectLst>
            <a:outerShdw sx="100000" sy="100000" kx="0" ky="0" algn="bl" rotWithShape="0" blurRad="101600" dist="25400" dir="5400000">
              <a:srgbClr val="1A2A4A">
                <a:alpha val="12000"/>
              </a:srgbClr>
            </a:outerShdw>
          </a:effectLst>
        </p:spPr>
      </p:sp>
      <p:sp>
        <p:nvSpPr>
          <p:cNvPr id="5" name="Shape 3"/>
          <p:cNvSpPr/>
          <p:nvPr/>
        </p:nvSpPr>
        <p:spPr>
          <a:xfrm>
            <a:off x="822960" y="2103120"/>
            <a:ext cx="566928" cy="566928"/>
          </a:xfrm>
          <a:prstGeom prst="ellipse">
            <a:avLst/>
          </a:prstGeom>
          <a:solidFill>
            <a:srgbClr val="DCEBFF"/>
          </a:solidFill>
          <a:ln/>
        </p:spPr>
      </p:sp>
      <p:pic>
        <p:nvPicPr>
          <p:cNvPr id="6" name="Image 0" descr="preencoded.png">    </p:cNvPr>
          <p:cNvPicPr>
            <a:picLocks noChangeAspect="1"/>
          </p:cNvPicPr>
          <p:nvPr/>
        </p:nvPicPr>
        <p:blipFill>
          <a:blip r:embed="rId1"/>
          <a:stretch>
            <a:fillRect/>
          </a:stretch>
        </p:blipFill>
        <p:spPr>
          <a:xfrm>
            <a:off x="959023" y="2239183"/>
            <a:ext cx="294803" cy="294803"/>
          </a:xfrm>
          <a:prstGeom prst="rect">
            <a:avLst/>
          </a:prstGeom>
        </p:spPr>
      </p:pic>
      <p:sp>
        <p:nvSpPr>
          <p:cNvPr id="7" name="Text 4"/>
          <p:cNvSpPr txBox="1"/>
          <p:nvPr/>
        </p:nvSpPr>
        <p:spPr>
          <a:xfrm>
            <a:off x="822960" y="2816352"/>
            <a:ext cx="3017520" cy="411480"/>
          </a:xfrm>
          <a:prstGeom prst="rect">
            <a:avLst/>
          </a:prstGeom>
          <a:noFill/>
          <a:ln/>
        </p:spPr>
        <p:txBody>
          <a:bodyPr wrap="square" lIns="0" tIns="0" rIns="0" bIns="0" rtlCol="0" anchor="t"/>
          <a:lstStyle/>
          <a:p>
            <a:pPr algn="l" indent="0" marL="0">
              <a:lnSpc>
                <a:spcPct val="100000"/>
              </a:lnSpc>
              <a:buNone/>
            </a:pPr>
            <a:r>
              <a:rPr lang="en-US" sz="2100" b="1" dirty="0">
                <a:solidFill>
                  <a:srgbClr val="15243A"/>
                </a:solidFill>
                <a:latin typeface="Arial" pitchFamily="34" charset="0"/>
                <a:ea typeface="Arial" pitchFamily="34" charset="-122"/>
                <a:cs typeface="Arial" pitchFamily="34" charset="-120"/>
              </a:rPr>
              <a:t>Marketplaces</a:t>
            </a:r>
            <a:endParaRPr lang="en-US" sz="2100" dirty="0"/>
          </a:p>
        </p:txBody>
      </p:sp>
      <p:sp>
        <p:nvSpPr>
          <p:cNvPr id="8" name="Text 5"/>
          <p:cNvSpPr txBox="1"/>
          <p:nvPr/>
        </p:nvSpPr>
        <p:spPr>
          <a:xfrm>
            <a:off x="822960" y="3218688"/>
            <a:ext cx="3017520" cy="320040"/>
          </a:xfrm>
          <a:prstGeom prst="rect">
            <a:avLst/>
          </a:prstGeom>
          <a:noFill/>
          <a:ln/>
        </p:spPr>
        <p:txBody>
          <a:bodyPr wrap="square" lIns="0" tIns="0" rIns="0" bIns="0" rtlCol="0" anchor="t"/>
          <a:lstStyle/>
          <a:p>
            <a:pPr algn="l" indent="0" marL="0">
              <a:lnSpc>
                <a:spcPct val="100000"/>
              </a:lnSpc>
              <a:buNone/>
            </a:pPr>
            <a:r>
              <a:rPr lang="en-US" sz="1300" dirty="0">
                <a:solidFill>
                  <a:srgbClr val="52637A"/>
                </a:solidFill>
                <a:latin typeface="Arial" pitchFamily="34" charset="0"/>
                <a:ea typeface="Arial" pitchFamily="34" charset="-122"/>
                <a:cs typeface="Arial" pitchFamily="34" charset="-120"/>
              </a:rPr>
              <a:t>Khmer24 · Smile Shop · VTENH</a:t>
            </a:r>
            <a:endParaRPr lang="en-US" sz="1300" dirty="0"/>
          </a:p>
        </p:txBody>
      </p:sp>
      <p:sp>
        <p:nvSpPr>
          <p:cNvPr id="9" name="Text 6"/>
          <p:cNvSpPr txBox="1"/>
          <p:nvPr/>
        </p:nvSpPr>
        <p:spPr>
          <a:xfrm>
            <a:off x="822960" y="3703320"/>
            <a:ext cx="301752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AA7A2"/>
                </a:solidFill>
                <a:latin typeface="Arial" pitchFamily="34" charset="0"/>
                <a:ea typeface="Arial" pitchFamily="34" charset="-122"/>
                <a:cs typeface="Arial" pitchFamily="34" charset="-120"/>
              </a:rPr>
              <a:t>What works</a:t>
            </a:r>
            <a:endParaRPr lang="en-US" sz="1100" dirty="0"/>
          </a:p>
        </p:txBody>
      </p:sp>
      <p:sp>
        <p:nvSpPr>
          <p:cNvPr id="10" name="Text 7"/>
          <p:cNvSpPr txBox="1"/>
          <p:nvPr/>
        </p:nvSpPr>
        <p:spPr>
          <a:xfrm>
            <a:off x="822960" y="3950208"/>
            <a:ext cx="3017520" cy="548640"/>
          </a:xfrm>
          <a:prstGeom prst="rect">
            <a:avLst/>
          </a:prstGeom>
          <a:noFill/>
          <a:ln/>
        </p:spPr>
        <p:txBody>
          <a:bodyPr wrap="square" lIns="0" tIns="0" rIns="0" bIns="0" rtlCol="0" anchor="t"/>
          <a:lstStyle/>
          <a:p>
            <a:pPr algn="l" indent="0" marL="0">
              <a:lnSpc>
                <a:spcPct val="100000"/>
              </a:lnSpc>
              <a:buNone/>
            </a:pPr>
            <a:r>
              <a:rPr lang="en-US" sz="1500" dirty="0">
                <a:solidFill>
                  <a:srgbClr val="15243A"/>
                </a:solidFill>
                <a:latin typeface="Arial" pitchFamily="34" charset="0"/>
                <a:ea typeface="Arial" pitchFamily="34" charset="-122"/>
                <a:cs typeface="Arial" pitchFamily="34" charset="-120"/>
              </a:rPr>
              <a:t>Bring buyers to listings.</a:t>
            </a:r>
            <a:endParaRPr lang="en-US" sz="1500" dirty="0"/>
          </a:p>
        </p:txBody>
      </p:sp>
      <p:sp>
        <p:nvSpPr>
          <p:cNvPr id="11" name="Text 8"/>
          <p:cNvSpPr txBox="1"/>
          <p:nvPr/>
        </p:nvSpPr>
        <p:spPr>
          <a:xfrm>
            <a:off x="822960" y="4572000"/>
            <a:ext cx="301752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D64545"/>
                </a:solidFill>
                <a:latin typeface="Arial" pitchFamily="34" charset="0"/>
                <a:ea typeface="Arial" pitchFamily="34" charset="-122"/>
                <a:cs typeface="Arial" pitchFamily="34" charset="-120"/>
              </a:rPr>
              <a:t>What’s missing</a:t>
            </a:r>
            <a:endParaRPr lang="en-US" sz="1100" dirty="0"/>
          </a:p>
        </p:txBody>
      </p:sp>
      <p:sp>
        <p:nvSpPr>
          <p:cNvPr id="12" name="Text 9"/>
          <p:cNvSpPr txBox="1"/>
          <p:nvPr/>
        </p:nvSpPr>
        <p:spPr>
          <a:xfrm>
            <a:off x="822960" y="4818888"/>
            <a:ext cx="3017520" cy="868680"/>
          </a:xfrm>
          <a:prstGeom prst="rect">
            <a:avLst/>
          </a:prstGeom>
          <a:noFill/>
          <a:ln/>
        </p:spPr>
        <p:txBody>
          <a:bodyPr wrap="square" lIns="0" tIns="0" rIns="0" bIns="0" rtlCol="0" anchor="t"/>
          <a:lstStyle/>
          <a:p>
            <a:pPr algn="l" indent="0" marL="0">
              <a:lnSpc>
                <a:spcPct val="105000"/>
              </a:lnSpc>
              <a:buNone/>
            </a:pPr>
            <a:r>
              <a:rPr lang="en-US" sz="1400" dirty="0">
                <a:solidFill>
                  <a:srgbClr val="15243A"/>
                </a:solidFill>
                <a:latin typeface="Arial" pitchFamily="34" charset="0"/>
                <a:ea typeface="Arial" pitchFamily="34" charset="-122"/>
                <a:cs typeface="Arial" pitchFamily="34" charset="-120"/>
              </a:rPr>
              <a:t>Listings live on their platform, separate from the merchant’s own brand and counter.</a:t>
            </a:r>
            <a:endParaRPr lang="en-US" sz="1400" dirty="0"/>
          </a:p>
        </p:txBody>
      </p:sp>
      <p:sp>
        <p:nvSpPr>
          <p:cNvPr id="13" name="Shape 10"/>
          <p:cNvSpPr/>
          <p:nvPr/>
        </p:nvSpPr>
        <p:spPr>
          <a:xfrm>
            <a:off x="4297680" y="1828800"/>
            <a:ext cx="3520440" cy="3931920"/>
          </a:xfrm>
          <a:prstGeom prst="roundRect">
            <a:avLst>
              <a:gd name="adj" fmla="val 3117"/>
            </a:avLst>
          </a:prstGeom>
          <a:solidFill>
            <a:srgbClr val="FFFFFF"/>
          </a:solidFill>
          <a:ln/>
          <a:effectLst>
            <a:outerShdw sx="100000" sy="100000" kx="0" ky="0" algn="bl" rotWithShape="0" blurRad="101600" dist="25400" dir="5400000">
              <a:srgbClr val="1A2A4A">
                <a:alpha val="12000"/>
              </a:srgbClr>
            </a:outerShdw>
          </a:effectLst>
        </p:spPr>
      </p:sp>
      <p:sp>
        <p:nvSpPr>
          <p:cNvPr id="14" name="Shape 11"/>
          <p:cNvSpPr/>
          <p:nvPr/>
        </p:nvSpPr>
        <p:spPr>
          <a:xfrm>
            <a:off x="4572000" y="2103120"/>
            <a:ext cx="566928" cy="566928"/>
          </a:xfrm>
          <a:prstGeom prst="ellipse">
            <a:avLst/>
          </a:prstGeom>
          <a:solidFill>
            <a:srgbClr val="DCEBFF"/>
          </a:solidFill>
          <a:ln/>
        </p:spPr>
      </p:sp>
      <p:pic>
        <p:nvPicPr>
          <p:cNvPr id="15" name="Image 1" descr="preencoded.png">    </p:cNvPr>
          <p:cNvPicPr>
            <a:picLocks noChangeAspect="1"/>
          </p:cNvPicPr>
          <p:nvPr/>
        </p:nvPicPr>
        <p:blipFill>
          <a:blip r:embed="rId2"/>
          <a:stretch>
            <a:fillRect/>
          </a:stretch>
        </p:blipFill>
        <p:spPr>
          <a:xfrm>
            <a:off x="4708063" y="2239183"/>
            <a:ext cx="294803" cy="294803"/>
          </a:xfrm>
          <a:prstGeom prst="rect">
            <a:avLst/>
          </a:prstGeom>
        </p:spPr>
      </p:pic>
      <p:sp>
        <p:nvSpPr>
          <p:cNvPr id="16" name="Text 12"/>
          <p:cNvSpPr txBox="1"/>
          <p:nvPr/>
        </p:nvSpPr>
        <p:spPr>
          <a:xfrm>
            <a:off x="4572000" y="2816352"/>
            <a:ext cx="3017520" cy="411480"/>
          </a:xfrm>
          <a:prstGeom prst="rect">
            <a:avLst/>
          </a:prstGeom>
          <a:noFill/>
          <a:ln/>
        </p:spPr>
        <p:txBody>
          <a:bodyPr wrap="square" lIns="0" tIns="0" rIns="0" bIns="0" rtlCol="0" anchor="t"/>
          <a:lstStyle/>
          <a:p>
            <a:pPr algn="l" indent="0" marL="0">
              <a:lnSpc>
                <a:spcPct val="100000"/>
              </a:lnSpc>
              <a:buNone/>
            </a:pPr>
            <a:r>
              <a:rPr lang="en-US" sz="2100" b="1" dirty="0">
                <a:solidFill>
                  <a:srgbClr val="15243A"/>
                </a:solidFill>
                <a:latin typeface="Arial" pitchFamily="34" charset="0"/>
                <a:ea typeface="Arial" pitchFamily="34" charset="-122"/>
                <a:cs typeface="Arial" pitchFamily="34" charset="-120"/>
              </a:rPr>
              <a:t>Global store builders</a:t>
            </a:r>
            <a:endParaRPr lang="en-US" sz="2100" dirty="0"/>
          </a:p>
        </p:txBody>
      </p:sp>
      <p:sp>
        <p:nvSpPr>
          <p:cNvPr id="17" name="Text 13"/>
          <p:cNvSpPr txBox="1"/>
          <p:nvPr/>
        </p:nvSpPr>
        <p:spPr>
          <a:xfrm>
            <a:off x="4572000" y="3218688"/>
            <a:ext cx="3017520" cy="320040"/>
          </a:xfrm>
          <a:prstGeom prst="rect">
            <a:avLst/>
          </a:prstGeom>
          <a:noFill/>
          <a:ln/>
        </p:spPr>
        <p:txBody>
          <a:bodyPr wrap="square" lIns="0" tIns="0" rIns="0" bIns="0" rtlCol="0" anchor="t"/>
          <a:lstStyle/>
          <a:p>
            <a:pPr algn="l" indent="0" marL="0">
              <a:lnSpc>
                <a:spcPct val="100000"/>
              </a:lnSpc>
              <a:buNone/>
            </a:pPr>
            <a:r>
              <a:rPr lang="en-US" sz="1300" dirty="0">
                <a:solidFill>
                  <a:srgbClr val="52637A"/>
                </a:solidFill>
                <a:latin typeface="Arial" pitchFamily="34" charset="0"/>
                <a:ea typeface="Arial" pitchFamily="34" charset="-122"/>
                <a:cs typeface="Arial" pitchFamily="34" charset="-120"/>
              </a:rPr>
              <a:t>Shopify</a:t>
            </a:r>
            <a:endParaRPr lang="en-US" sz="1300" dirty="0"/>
          </a:p>
        </p:txBody>
      </p:sp>
      <p:sp>
        <p:nvSpPr>
          <p:cNvPr id="18" name="Text 14"/>
          <p:cNvSpPr txBox="1"/>
          <p:nvPr/>
        </p:nvSpPr>
        <p:spPr>
          <a:xfrm>
            <a:off x="4572000" y="3703320"/>
            <a:ext cx="301752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AA7A2"/>
                </a:solidFill>
                <a:latin typeface="Arial" pitchFamily="34" charset="0"/>
                <a:ea typeface="Arial" pitchFamily="34" charset="-122"/>
                <a:cs typeface="Arial" pitchFamily="34" charset="-120"/>
              </a:rPr>
              <a:t>What works</a:t>
            </a:r>
            <a:endParaRPr lang="en-US" sz="1100" dirty="0"/>
          </a:p>
        </p:txBody>
      </p:sp>
      <p:sp>
        <p:nvSpPr>
          <p:cNvPr id="19" name="Text 15"/>
          <p:cNvSpPr txBox="1"/>
          <p:nvPr/>
        </p:nvSpPr>
        <p:spPr>
          <a:xfrm>
            <a:off x="4572000" y="3950208"/>
            <a:ext cx="3017520" cy="548640"/>
          </a:xfrm>
          <a:prstGeom prst="rect">
            <a:avLst/>
          </a:prstGeom>
          <a:noFill/>
          <a:ln/>
        </p:spPr>
        <p:txBody>
          <a:bodyPr wrap="square" lIns="0" tIns="0" rIns="0" bIns="0" rtlCol="0" anchor="t"/>
          <a:lstStyle/>
          <a:p>
            <a:pPr algn="l" indent="0" marL="0">
              <a:lnSpc>
                <a:spcPct val="100000"/>
              </a:lnSpc>
              <a:buNone/>
            </a:pPr>
            <a:r>
              <a:rPr lang="en-US" sz="1500" dirty="0">
                <a:solidFill>
                  <a:srgbClr val="15243A"/>
                </a:solidFill>
                <a:latin typeface="Arial" pitchFamily="34" charset="0"/>
                <a:ea typeface="Arial" pitchFamily="34" charset="-122"/>
                <a:cs typeface="Arial" pitchFamily="34" charset="-120"/>
              </a:rPr>
              <a:t>Online store and POS in sync.</a:t>
            </a:r>
            <a:endParaRPr lang="en-US" sz="1500" dirty="0"/>
          </a:p>
        </p:txBody>
      </p:sp>
      <p:sp>
        <p:nvSpPr>
          <p:cNvPr id="20" name="Text 16"/>
          <p:cNvSpPr txBox="1"/>
          <p:nvPr/>
        </p:nvSpPr>
        <p:spPr>
          <a:xfrm>
            <a:off x="4572000" y="4572000"/>
            <a:ext cx="301752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D64545"/>
                </a:solidFill>
                <a:latin typeface="Arial" pitchFamily="34" charset="0"/>
                <a:ea typeface="Arial" pitchFamily="34" charset="-122"/>
                <a:cs typeface="Arial" pitchFamily="34" charset="-120"/>
              </a:rPr>
              <a:t>What’s missing</a:t>
            </a:r>
            <a:endParaRPr lang="en-US" sz="1100" dirty="0"/>
          </a:p>
        </p:txBody>
      </p:sp>
      <p:sp>
        <p:nvSpPr>
          <p:cNvPr id="21" name="Text 17"/>
          <p:cNvSpPr txBox="1"/>
          <p:nvPr/>
        </p:nvSpPr>
        <p:spPr>
          <a:xfrm>
            <a:off x="4572000" y="4818888"/>
            <a:ext cx="3017520" cy="868680"/>
          </a:xfrm>
          <a:prstGeom prst="rect">
            <a:avLst/>
          </a:prstGeom>
          <a:noFill/>
          <a:ln/>
        </p:spPr>
        <p:txBody>
          <a:bodyPr wrap="square" lIns="0" tIns="0" rIns="0" bIns="0" rtlCol="0" anchor="t"/>
          <a:lstStyle/>
          <a:p>
            <a:pPr algn="l" indent="0" marL="0">
              <a:lnSpc>
                <a:spcPct val="105000"/>
              </a:lnSpc>
              <a:buNone/>
            </a:pPr>
            <a:r>
              <a:rPr lang="en-US" sz="1400" dirty="0">
                <a:solidFill>
                  <a:srgbClr val="15243A"/>
                </a:solidFill>
                <a:latin typeface="Arial" pitchFamily="34" charset="0"/>
                <a:ea typeface="Arial" pitchFamily="34" charset="-122"/>
                <a:cs typeface="Arial" pitchFamily="34" charset="-120"/>
              </a:rPr>
              <a:t>No shared Cambodian buyer marketplace; setup and plans are built for global merchants.</a:t>
            </a:r>
            <a:endParaRPr lang="en-US" sz="1400" dirty="0"/>
          </a:p>
        </p:txBody>
      </p:sp>
      <p:sp>
        <p:nvSpPr>
          <p:cNvPr id="22" name="Shape 18"/>
          <p:cNvSpPr/>
          <p:nvPr/>
        </p:nvSpPr>
        <p:spPr>
          <a:xfrm>
            <a:off x="8046720" y="1828800"/>
            <a:ext cx="3520440" cy="3931920"/>
          </a:xfrm>
          <a:prstGeom prst="roundRect">
            <a:avLst>
              <a:gd name="adj" fmla="val 3117"/>
            </a:avLst>
          </a:prstGeom>
          <a:solidFill>
            <a:srgbClr val="FFFFFF"/>
          </a:solidFill>
          <a:ln/>
          <a:effectLst>
            <a:outerShdw sx="100000" sy="100000" kx="0" ky="0" algn="bl" rotWithShape="0" blurRad="101600" dist="25400" dir="5400000">
              <a:srgbClr val="1A2A4A">
                <a:alpha val="12000"/>
              </a:srgbClr>
            </a:outerShdw>
          </a:effectLst>
        </p:spPr>
      </p:sp>
      <p:sp>
        <p:nvSpPr>
          <p:cNvPr id="23" name="Shape 19"/>
          <p:cNvSpPr/>
          <p:nvPr/>
        </p:nvSpPr>
        <p:spPr>
          <a:xfrm>
            <a:off x="8321040" y="2103120"/>
            <a:ext cx="566928" cy="566928"/>
          </a:xfrm>
          <a:prstGeom prst="ellipse">
            <a:avLst/>
          </a:prstGeom>
          <a:solidFill>
            <a:srgbClr val="D6F4F0"/>
          </a:solidFill>
          <a:ln/>
        </p:spPr>
      </p:sp>
      <p:pic>
        <p:nvPicPr>
          <p:cNvPr id="24" name="Image 2" descr="preencoded.png">    </p:cNvPr>
          <p:cNvPicPr>
            <a:picLocks noChangeAspect="1"/>
          </p:cNvPicPr>
          <p:nvPr/>
        </p:nvPicPr>
        <p:blipFill>
          <a:blip r:embed="rId3"/>
          <a:stretch>
            <a:fillRect/>
          </a:stretch>
        </p:blipFill>
        <p:spPr>
          <a:xfrm>
            <a:off x="8457103" y="2239183"/>
            <a:ext cx="294803" cy="294803"/>
          </a:xfrm>
          <a:prstGeom prst="rect">
            <a:avLst/>
          </a:prstGeom>
        </p:spPr>
      </p:pic>
      <p:sp>
        <p:nvSpPr>
          <p:cNvPr id="25" name="Text 20"/>
          <p:cNvSpPr txBox="1"/>
          <p:nvPr/>
        </p:nvSpPr>
        <p:spPr>
          <a:xfrm>
            <a:off x="8321040" y="2816352"/>
            <a:ext cx="3017520" cy="411480"/>
          </a:xfrm>
          <a:prstGeom prst="rect">
            <a:avLst/>
          </a:prstGeom>
          <a:noFill/>
          <a:ln/>
        </p:spPr>
        <p:txBody>
          <a:bodyPr wrap="square" lIns="0" tIns="0" rIns="0" bIns="0" rtlCol="0" anchor="t"/>
          <a:lstStyle/>
          <a:p>
            <a:pPr algn="l" indent="0" marL="0">
              <a:lnSpc>
                <a:spcPct val="100000"/>
              </a:lnSpc>
              <a:buNone/>
            </a:pPr>
            <a:r>
              <a:rPr lang="en-US" sz="2100" b="1" dirty="0">
                <a:solidFill>
                  <a:srgbClr val="15243A"/>
                </a:solidFill>
                <a:latin typeface="Arial" pitchFamily="34" charset="0"/>
                <a:ea typeface="Arial" pitchFamily="34" charset="-122"/>
                <a:cs typeface="Arial" pitchFamily="34" charset="-120"/>
              </a:rPr>
              <a:t>Local all-in-one</a:t>
            </a:r>
            <a:endParaRPr lang="en-US" sz="2100" dirty="0"/>
          </a:p>
        </p:txBody>
      </p:sp>
      <p:sp>
        <p:nvSpPr>
          <p:cNvPr id="26" name="Text 21"/>
          <p:cNvSpPr txBox="1"/>
          <p:nvPr/>
        </p:nvSpPr>
        <p:spPr>
          <a:xfrm>
            <a:off x="8321040" y="3218688"/>
            <a:ext cx="3017520" cy="320040"/>
          </a:xfrm>
          <a:prstGeom prst="rect">
            <a:avLst/>
          </a:prstGeom>
          <a:noFill/>
          <a:ln/>
        </p:spPr>
        <p:txBody>
          <a:bodyPr wrap="square" lIns="0" tIns="0" rIns="0" bIns="0" rtlCol="0" anchor="t"/>
          <a:lstStyle/>
          <a:p>
            <a:pPr algn="l" indent="0" marL="0">
              <a:lnSpc>
                <a:spcPct val="100000"/>
              </a:lnSpc>
              <a:buNone/>
            </a:pPr>
            <a:r>
              <a:rPr lang="en-US" sz="1300" dirty="0">
                <a:solidFill>
                  <a:srgbClr val="52637A"/>
                </a:solidFill>
                <a:latin typeface="Arial" pitchFamily="34" charset="0"/>
                <a:ea typeface="Arial" pitchFamily="34" charset="-122"/>
                <a:cs typeface="Arial" pitchFamily="34" charset="-120"/>
              </a:rPr>
              <a:t>Khmum eShop</a:t>
            </a:r>
            <a:endParaRPr lang="en-US" sz="1300" dirty="0"/>
          </a:p>
        </p:txBody>
      </p:sp>
      <p:sp>
        <p:nvSpPr>
          <p:cNvPr id="27" name="Text 22"/>
          <p:cNvSpPr txBox="1"/>
          <p:nvPr/>
        </p:nvSpPr>
        <p:spPr>
          <a:xfrm>
            <a:off x="8321040" y="3703320"/>
            <a:ext cx="301752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AA7A2"/>
                </a:solidFill>
                <a:latin typeface="Arial" pitchFamily="34" charset="0"/>
                <a:ea typeface="Arial" pitchFamily="34" charset="-122"/>
                <a:cs typeface="Arial" pitchFamily="34" charset="-120"/>
              </a:rPr>
              <a:t>What works</a:t>
            </a:r>
            <a:endParaRPr lang="en-US" sz="1100" dirty="0"/>
          </a:p>
        </p:txBody>
      </p:sp>
      <p:sp>
        <p:nvSpPr>
          <p:cNvPr id="28" name="Text 23"/>
          <p:cNvSpPr txBox="1"/>
          <p:nvPr/>
        </p:nvSpPr>
        <p:spPr>
          <a:xfrm>
            <a:off x="8321040" y="3950208"/>
            <a:ext cx="3017520" cy="548640"/>
          </a:xfrm>
          <a:prstGeom prst="rect">
            <a:avLst/>
          </a:prstGeom>
          <a:noFill/>
          <a:ln/>
        </p:spPr>
        <p:txBody>
          <a:bodyPr wrap="square" lIns="0" tIns="0" rIns="0" bIns="0" rtlCol="0" anchor="t"/>
          <a:lstStyle/>
          <a:p>
            <a:pPr algn="l" indent="0" marL="0">
              <a:lnSpc>
                <a:spcPct val="100000"/>
              </a:lnSpc>
              <a:buNone/>
            </a:pPr>
            <a:r>
              <a:rPr lang="en-US" sz="1500" dirty="0">
                <a:solidFill>
                  <a:srgbClr val="15243A"/>
                </a:solidFill>
                <a:latin typeface="Arial" pitchFamily="34" charset="0"/>
                <a:ea typeface="Arial" pitchFamily="34" charset="-122"/>
                <a:cs typeface="Arial" pitchFamily="34" charset="-120"/>
              </a:rPr>
              <a:t>Marketplace, merchant tools and POS.</a:t>
            </a:r>
            <a:endParaRPr lang="en-US" sz="1500" dirty="0"/>
          </a:p>
        </p:txBody>
      </p:sp>
      <p:sp>
        <p:nvSpPr>
          <p:cNvPr id="29" name="Text 24"/>
          <p:cNvSpPr txBox="1"/>
          <p:nvPr/>
        </p:nvSpPr>
        <p:spPr>
          <a:xfrm>
            <a:off x="8321040" y="4572000"/>
            <a:ext cx="301752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2463E8"/>
                </a:solidFill>
                <a:latin typeface="Arial" pitchFamily="34" charset="0"/>
                <a:ea typeface="Arial" pitchFamily="34" charset="-122"/>
                <a:cs typeface="Arial" pitchFamily="34" charset="-120"/>
              </a:rPr>
              <a:t>Our angle</a:t>
            </a:r>
            <a:endParaRPr lang="en-US" sz="1100" dirty="0"/>
          </a:p>
        </p:txBody>
      </p:sp>
      <p:sp>
        <p:nvSpPr>
          <p:cNvPr id="30" name="Text 25"/>
          <p:cNvSpPr txBox="1"/>
          <p:nvPr/>
        </p:nvSpPr>
        <p:spPr>
          <a:xfrm>
            <a:off x="8321040" y="4818888"/>
            <a:ext cx="3017520" cy="868680"/>
          </a:xfrm>
          <a:prstGeom prst="rect">
            <a:avLst/>
          </a:prstGeom>
          <a:noFill/>
          <a:ln/>
        </p:spPr>
        <p:txBody>
          <a:bodyPr wrap="square" lIns="0" tIns="0" rIns="0" bIns="0" rtlCol="0" anchor="t"/>
          <a:lstStyle/>
          <a:p>
            <a:pPr algn="l" indent="0" marL="0">
              <a:lnSpc>
                <a:spcPct val="105000"/>
              </a:lnSpc>
              <a:buNone/>
            </a:pPr>
            <a:r>
              <a:rPr lang="en-US" sz="1400" dirty="0">
                <a:solidFill>
                  <a:srgbClr val="15243A"/>
                </a:solidFill>
                <a:latin typeface="Arial" pitchFamily="34" charset="0"/>
                <a:ea typeface="Arial" pitchFamily="34" charset="-122"/>
                <a:cs typeface="Arial" pitchFamily="34" charset="-120"/>
              </a:rPr>
              <a:t>Closest to our idea. We compete on setup speed, brand-first storefronts and fairer pricing.</a:t>
            </a:r>
            <a:endParaRPr lang="en-US" sz="1400" dirty="0"/>
          </a:p>
        </p:txBody>
      </p:sp>
      <p:sp>
        <p:nvSpPr>
          <p:cNvPr id="31" name="Text 26"/>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Public product descriptions checked 24–25 Sep 2026 (khmer24.com, vtenh.com, shopify.com/pos, Khmum on startupcambodia.gov.kh). Detailed comparison in appendix.</a:t>
            </a:r>
            <a:endParaRPr lang="en-US" sz="1000" dirty="0"/>
          </a:p>
        </p:txBody>
      </p:sp>
      <p:sp>
        <p:nvSpPr>
          <p:cNvPr id="32" name="Text 27"/>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D3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FFFFFF"/>
                </a:solidFill>
                <a:latin typeface="Arial" pitchFamily="34" charset="0"/>
                <a:ea typeface="Arial" pitchFamily="34" charset="-122"/>
                <a:cs typeface="Arial" pitchFamily="34" charset="-120"/>
              </a:rPr>
              <a:t>Rentify: one store behind every channel</a:t>
            </a:r>
            <a:endParaRPr lang="en-US" sz="3400" dirty="0"/>
          </a:p>
        </p:txBody>
      </p:sp>
      <p:sp>
        <p:nvSpPr>
          <p:cNvPr id="3" name="Shape 1"/>
          <p:cNvSpPr/>
          <p:nvPr/>
        </p:nvSpPr>
        <p:spPr>
          <a:xfrm>
            <a:off x="2926080" y="1417320"/>
            <a:ext cx="6336792" cy="1508760"/>
          </a:xfrm>
          <a:prstGeom prst="roundRect">
            <a:avLst>
              <a:gd name="adj" fmla="val 8485"/>
            </a:avLst>
          </a:prstGeom>
          <a:solidFill>
            <a:srgbClr val="1A2A4A"/>
          </a:solidFill>
          <a:ln w="19050">
            <a:solidFill>
              <a:srgbClr val="0AA7A2"/>
            </a:solidFill>
            <a:prstDash val="solid"/>
          </a:ln>
        </p:spPr>
      </p:sp>
      <p:pic>
        <p:nvPicPr>
          <p:cNvPr id="4" name="Image 0" descr="preencoded.png">    </p:cNvPr>
          <p:cNvPicPr>
            <a:picLocks noChangeAspect="1"/>
          </p:cNvPicPr>
          <p:nvPr/>
        </p:nvPicPr>
        <p:blipFill>
          <a:blip r:embed="rId1"/>
          <a:stretch>
            <a:fillRect/>
          </a:stretch>
        </p:blipFill>
        <p:spPr>
          <a:xfrm>
            <a:off x="3200400" y="1645920"/>
            <a:ext cx="502920" cy="502920"/>
          </a:xfrm>
          <a:prstGeom prst="rect">
            <a:avLst/>
          </a:prstGeom>
        </p:spPr>
      </p:pic>
      <p:sp>
        <p:nvSpPr>
          <p:cNvPr id="5" name="Text 2"/>
          <p:cNvSpPr txBox="1"/>
          <p:nvPr/>
        </p:nvSpPr>
        <p:spPr>
          <a:xfrm>
            <a:off x="3931920" y="1645920"/>
            <a:ext cx="5120640" cy="365760"/>
          </a:xfrm>
          <a:prstGeom prst="rect">
            <a:avLst/>
          </a:prstGeom>
          <a:noFill/>
          <a:ln/>
        </p:spPr>
        <p:txBody>
          <a:bodyPr wrap="square" lIns="0" tIns="0" rIns="0" bIns="0" rtlCol="0" anchor="t"/>
          <a:lstStyle/>
          <a:p>
            <a:pPr algn="l" indent="0" marL="0">
              <a:lnSpc>
                <a:spcPct val="100000"/>
              </a:lnSpc>
              <a:buNone/>
            </a:pPr>
            <a:r>
              <a:rPr lang="en-US" sz="1500" b="1" spc="200" kern="0" dirty="0">
                <a:solidFill>
                  <a:srgbClr val="D6F4F0"/>
                </a:solidFill>
                <a:latin typeface="Arial" pitchFamily="34" charset="0"/>
                <a:ea typeface="Arial" pitchFamily="34" charset="-122"/>
                <a:cs typeface="Arial" pitchFamily="34" charset="-120"/>
              </a:rPr>
              <a:t>ONE MERCHANT STORE</a:t>
            </a:r>
            <a:endParaRPr lang="en-US" sz="1500" dirty="0"/>
          </a:p>
        </p:txBody>
      </p:sp>
      <p:sp>
        <p:nvSpPr>
          <p:cNvPr id="6" name="Text 3"/>
          <p:cNvSpPr txBox="1"/>
          <p:nvPr/>
        </p:nvSpPr>
        <p:spPr>
          <a:xfrm>
            <a:off x="3931920" y="2011680"/>
            <a:ext cx="5212080" cy="457200"/>
          </a:xfrm>
          <a:prstGeom prst="rect">
            <a:avLst/>
          </a:prstGeom>
          <a:noFill/>
          <a:ln/>
        </p:spPr>
        <p:txBody>
          <a:bodyPr wrap="square" lIns="0" tIns="0" rIns="0" bIns="0" rtlCol="0" anchor="t"/>
          <a:lstStyle/>
          <a:p>
            <a:pPr algn="l" indent="0" marL="0">
              <a:lnSpc>
                <a:spcPct val="100000"/>
              </a:lnSpc>
              <a:buNone/>
            </a:pPr>
            <a:r>
              <a:rPr lang="en-US" sz="2200" b="1" dirty="0">
                <a:solidFill>
                  <a:srgbClr val="FFFFFF"/>
                </a:solidFill>
                <a:latin typeface="Arial" pitchFamily="34" charset="0"/>
                <a:ea typeface="Arial" pitchFamily="34" charset="-122"/>
                <a:cs typeface="Arial" pitchFamily="34" charset="-120"/>
              </a:rPr>
              <a:t>Products · Prices · Stock · Orders</a:t>
            </a:r>
            <a:endParaRPr lang="en-US" sz="2200" dirty="0"/>
          </a:p>
        </p:txBody>
      </p:sp>
      <p:sp>
        <p:nvSpPr>
          <p:cNvPr id="7" name="Text 4"/>
          <p:cNvSpPr txBox="1"/>
          <p:nvPr/>
        </p:nvSpPr>
        <p:spPr>
          <a:xfrm>
            <a:off x="3931920" y="2468880"/>
            <a:ext cx="5120640" cy="320040"/>
          </a:xfrm>
          <a:prstGeom prst="rect">
            <a:avLst/>
          </a:prstGeom>
          <a:noFill/>
          <a:ln/>
        </p:spPr>
        <p:txBody>
          <a:bodyPr wrap="square" lIns="0" tIns="0" rIns="0" bIns="0" rtlCol="0" anchor="t"/>
          <a:lstStyle/>
          <a:p>
            <a:pPr algn="l" indent="0" marL="0">
              <a:lnSpc>
                <a:spcPct val="100000"/>
              </a:lnSpc>
              <a:buNone/>
            </a:pPr>
            <a:r>
              <a:rPr lang="en-US" sz="1300" dirty="0">
                <a:solidFill>
                  <a:srgbClr val="9FB3CF"/>
                </a:solidFill>
                <a:latin typeface="Arial" pitchFamily="34" charset="0"/>
                <a:ea typeface="Arial" pitchFamily="34" charset="-122"/>
                <a:cs typeface="Arial" pitchFamily="34" charset="-120"/>
              </a:rPr>
              <a:t>Entered once. Always the same everywhere.</a:t>
            </a:r>
            <a:endParaRPr lang="en-US" sz="1300" dirty="0"/>
          </a:p>
        </p:txBody>
      </p:sp>
      <p:sp>
        <p:nvSpPr>
          <p:cNvPr id="8" name="Shape 5"/>
          <p:cNvSpPr/>
          <p:nvPr/>
        </p:nvSpPr>
        <p:spPr>
          <a:xfrm>
            <a:off x="6094476" y="2926080"/>
            <a:ext cx="0" cy="411480"/>
          </a:xfrm>
          <a:prstGeom prst="line">
            <a:avLst/>
          </a:prstGeom>
          <a:noFill/>
          <a:ln w="25400">
            <a:solidFill>
              <a:srgbClr val="0AA7A2"/>
            </a:solidFill>
            <a:prstDash val="solid"/>
          </a:ln>
        </p:spPr>
      </p:sp>
      <p:sp>
        <p:nvSpPr>
          <p:cNvPr id="9" name="Shape 6"/>
          <p:cNvSpPr/>
          <p:nvPr/>
        </p:nvSpPr>
        <p:spPr>
          <a:xfrm>
            <a:off x="2148840" y="3337560"/>
            <a:ext cx="7891272" cy="0"/>
          </a:xfrm>
          <a:prstGeom prst="line">
            <a:avLst/>
          </a:prstGeom>
          <a:noFill/>
          <a:ln w="25400">
            <a:solidFill>
              <a:srgbClr val="0AA7A2"/>
            </a:solidFill>
            <a:prstDash val="solid"/>
          </a:ln>
        </p:spPr>
      </p:sp>
      <p:sp>
        <p:nvSpPr>
          <p:cNvPr id="10" name="Shape 7"/>
          <p:cNvSpPr/>
          <p:nvPr/>
        </p:nvSpPr>
        <p:spPr>
          <a:xfrm>
            <a:off x="2148840" y="3337560"/>
            <a:ext cx="0" cy="365760"/>
          </a:xfrm>
          <a:prstGeom prst="line">
            <a:avLst/>
          </a:prstGeom>
          <a:noFill/>
          <a:ln w="25400">
            <a:solidFill>
              <a:srgbClr val="0AA7A2"/>
            </a:solidFill>
            <a:prstDash val="solid"/>
          </a:ln>
        </p:spPr>
      </p:sp>
      <p:sp>
        <p:nvSpPr>
          <p:cNvPr id="11" name="Shape 8"/>
          <p:cNvSpPr/>
          <p:nvPr/>
        </p:nvSpPr>
        <p:spPr>
          <a:xfrm>
            <a:off x="411480" y="3703320"/>
            <a:ext cx="3474720" cy="2148840"/>
          </a:xfrm>
          <a:prstGeom prst="roundRect">
            <a:avLst>
              <a:gd name="adj" fmla="val 5106"/>
            </a:avLst>
          </a:prstGeom>
          <a:solidFill>
            <a:srgbClr val="FFFFFF"/>
          </a:solidFill>
          <a:ln/>
        </p:spPr>
      </p:sp>
      <p:sp>
        <p:nvSpPr>
          <p:cNvPr id="12" name="Shape 9"/>
          <p:cNvSpPr/>
          <p:nvPr/>
        </p:nvSpPr>
        <p:spPr>
          <a:xfrm>
            <a:off x="640080" y="3931920"/>
            <a:ext cx="530352" cy="530352"/>
          </a:xfrm>
          <a:prstGeom prst="ellipse">
            <a:avLst/>
          </a:prstGeom>
          <a:solidFill>
            <a:srgbClr val="DCEBFF"/>
          </a:solidFill>
          <a:ln/>
        </p:spPr>
      </p:sp>
      <p:pic>
        <p:nvPicPr>
          <p:cNvPr id="13" name="Image 1" descr="preencoded.png">    </p:cNvPr>
          <p:cNvPicPr>
            <a:picLocks noChangeAspect="1"/>
          </p:cNvPicPr>
          <p:nvPr/>
        </p:nvPicPr>
        <p:blipFill>
          <a:blip r:embed="rId2"/>
          <a:stretch>
            <a:fillRect/>
          </a:stretch>
        </p:blipFill>
        <p:spPr>
          <a:xfrm>
            <a:off x="767364" y="4059204"/>
            <a:ext cx="275783" cy="275783"/>
          </a:xfrm>
          <a:prstGeom prst="rect">
            <a:avLst/>
          </a:prstGeom>
        </p:spPr>
      </p:pic>
      <p:sp>
        <p:nvSpPr>
          <p:cNvPr id="14" name="Text 10"/>
          <p:cNvSpPr txBox="1"/>
          <p:nvPr/>
        </p:nvSpPr>
        <p:spPr>
          <a:xfrm>
            <a:off x="1325880" y="3931920"/>
            <a:ext cx="2468880" cy="530352"/>
          </a:xfrm>
          <a:prstGeom prst="rect">
            <a:avLst/>
          </a:prstGeom>
          <a:noFill/>
          <a:ln/>
        </p:spPr>
        <p:txBody>
          <a:bodyPr wrap="square" lIns="0" tIns="0" rIns="0" bIns="0" rtlCol="0" anchor="ctr"/>
          <a:lstStyle/>
          <a:p>
            <a:pPr algn="l" indent="0" marL="0">
              <a:lnSpc>
                <a:spcPct val="100000"/>
              </a:lnSpc>
              <a:buNone/>
            </a:pPr>
            <a:r>
              <a:rPr lang="en-US" sz="1900" b="1" dirty="0">
                <a:solidFill>
                  <a:srgbClr val="15243A"/>
                </a:solidFill>
                <a:latin typeface="Arial" pitchFamily="34" charset="0"/>
                <a:ea typeface="Arial" pitchFamily="34" charset="-122"/>
                <a:cs typeface="Arial" pitchFamily="34" charset="-120"/>
              </a:rPr>
              <a:t>Own storefront</a:t>
            </a:r>
            <a:endParaRPr lang="en-US" sz="1900" dirty="0"/>
          </a:p>
        </p:txBody>
      </p:sp>
      <p:sp>
        <p:nvSpPr>
          <p:cNvPr id="15" name="Text 11"/>
          <p:cNvSpPr txBox="1"/>
          <p:nvPr/>
        </p:nvSpPr>
        <p:spPr>
          <a:xfrm>
            <a:off x="640080" y="4636008"/>
            <a:ext cx="3063240" cy="1097280"/>
          </a:xfrm>
          <a:prstGeom prst="rect">
            <a:avLst/>
          </a:prstGeom>
          <a:noFill/>
          <a:ln/>
        </p:spPr>
        <p:txBody>
          <a:bodyPr wrap="square" lIns="0" tIns="0" rIns="0" bIns="0" rtlCol="0" anchor="t"/>
          <a:lstStyle/>
          <a:p>
            <a:pPr algn="l" indent="0" marL="0">
              <a:lnSpc>
                <a:spcPct val="108000"/>
              </a:lnSpc>
              <a:buNone/>
            </a:pPr>
            <a:r>
              <a:rPr lang="en-US" sz="1400" dirty="0">
                <a:solidFill>
                  <a:srgbClr val="52637A"/>
                </a:solidFill>
                <a:latin typeface="Arial" pitchFamily="34" charset="0"/>
                <a:ea typeface="Arial" pitchFamily="34" charset="-122"/>
                <a:cs typeface="Arial" pitchFamily="34" charset="-120"/>
              </a:rPr>
              <a:t>The merchant’s brand, template and link to share on Facebook and Telegram.</a:t>
            </a:r>
            <a:endParaRPr lang="en-US" sz="1400" dirty="0"/>
          </a:p>
        </p:txBody>
      </p:sp>
      <p:sp>
        <p:nvSpPr>
          <p:cNvPr id="16" name="Shape 12"/>
          <p:cNvSpPr/>
          <p:nvPr/>
        </p:nvSpPr>
        <p:spPr>
          <a:xfrm>
            <a:off x="6094476" y="3337560"/>
            <a:ext cx="0" cy="365760"/>
          </a:xfrm>
          <a:prstGeom prst="line">
            <a:avLst/>
          </a:prstGeom>
          <a:noFill/>
          <a:ln w="25400">
            <a:solidFill>
              <a:srgbClr val="0AA7A2"/>
            </a:solidFill>
            <a:prstDash val="solid"/>
          </a:ln>
        </p:spPr>
      </p:sp>
      <p:sp>
        <p:nvSpPr>
          <p:cNvPr id="17" name="Shape 13"/>
          <p:cNvSpPr/>
          <p:nvPr/>
        </p:nvSpPr>
        <p:spPr>
          <a:xfrm>
            <a:off x="4357116" y="3703320"/>
            <a:ext cx="3474720" cy="2148840"/>
          </a:xfrm>
          <a:prstGeom prst="roundRect">
            <a:avLst>
              <a:gd name="adj" fmla="val 5106"/>
            </a:avLst>
          </a:prstGeom>
          <a:solidFill>
            <a:srgbClr val="FFFFFF"/>
          </a:solidFill>
          <a:ln/>
        </p:spPr>
      </p:sp>
      <p:sp>
        <p:nvSpPr>
          <p:cNvPr id="18" name="Shape 14"/>
          <p:cNvSpPr/>
          <p:nvPr/>
        </p:nvSpPr>
        <p:spPr>
          <a:xfrm>
            <a:off x="4585716" y="3931920"/>
            <a:ext cx="530352" cy="530352"/>
          </a:xfrm>
          <a:prstGeom prst="ellipse">
            <a:avLst/>
          </a:prstGeom>
          <a:solidFill>
            <a:srgbClr val="DCEBFF"/>
          </a:solidFill>
          <a:ln/>
        </p:spPr>
      </p:sp>
      <p:pic>
        <p:nvPicPr>
          <p:cNvPr id="19" name="Image 2" descr="preencoded.png">    </p:cNvPr>
          <p:cNvPicPr>
            <a:picLocks noChangeAspect="1"/>
          </p:cNvPicPr>
          <p:nvPr/>
        </p:nvPicPr>
        <p:blipFill>
          <a:blip r:embed="rId3"/>
          <a:stretch>
            <a:fillRect/>
          </a:stretch>
        </p:blipFill>
        <p:spPr>
          <a:xfrm>
            <a:off x="4713000" y="4059204"/>
            <a:ext cx="275783" cy="275783"/>
          </a:xfrm>
          <a:prstGeom prst="rect">
            <a:avLst/>
          </a:prstGeom>
        </p:spPr>
      </p:pic>
      <p:sp>
        <p:nvSpPr>
          <p:cNvPr id="20" name="Text 15"/>
          <p:cNvSpPr txBox="1"/>
          <p:nvPr/>
        </p:nvSpPr>
        <p:spPr>
          <a:xfrm>
            <a:off x="5271516" y="3931920"/>
            <a:ext cx="2468880" cy="530352"/>
          </a:xfrm>
          <a:prstGeom prst="rect">
            <a:avLst/>
          </a:prstGeom>
          <a:noFill/>
          <a:ln/>
        </p:spPr>
        <p:txBody>
          <a:bodyPr wrap="square" lIns="0" tIns="0" rIns="0" bIns="0" rtlCol="0" anchor="ctr"/>
          <a:lstStyle/>
          <a:p>
            <a:pPr algn="l" indent="0" marL="0">
              <a:lnSpc>
                <a:spcPct val="100000"/>
              </a:lnSpc>
              <a:buNone/>
            </a:pPr>
            <a:r>
              <a:rPr lang="en-US" sz="1900" b="1" dirty="0">
                <a:solidFill>
                  <a:srgbClr val="15243A"/>
                </a:solidFill>
                <a:latin typeface="Arial" pitchFamily="34" charset="0"/>
                <a:ea typeface="Arial" pitchFamily="34" charset="-122"/>
                <a:cs typeface="Arial" pitchFamily="34" charset="-120"/>
              </a:rPr>
              <a:t>Shared marketplace</a:t>
            </a:r>
            <a:endParaRPr lang="en-US" sz="1900" dirty="0"/>
          </a:p>
        </p:txBody>
      </p:sp>
      <p:sp>
        <p:nvSpPr>
          <p:cNvPr id="21" name="Text 16"/>
          <p:cNvSpPr txBox="1"/>
          <p:nvPr/>
        </p:nvSpPr>
        <p:spPr>
          <a:xfrm>
            <a:off x="4585716" y="4636008"/>
            <a:ext cx="3063240" cy="1097280"/>
          </a:xfrm>
          <a:prstGeom prst="rect">
            <a:avLst/>
          </a:prstGeom>
          <a:noFill/>
          <a:ln/>
        </p:spPr>
        <p:txBody>
          <a:bodyPr wrap="square" lIns="0" tIns="0" rIns="0" bIns="0" rtlCol="0" anchor="t"/>
          <a:lstStyle/>
          <a:p>
            <a:pPr algn="l" indent="0" marL="0">
              <a:lnSpc>
                <a:spcPct val="108000"/>
              </a:lnSpc>
              <a:buNone/>
            </a:pPr>
            <a:r>
              <a:rPr lang="en-US" sz="1400" dirty="0">
                <a:solidFill>
                  <a:srgbClr val="52637A"/>
                </a:solidFill>
                <a:latin typeface="Arial" pitchFamily="34" charset="0"/>
                <a:ea typeface="Arial" pitchFamily="34" charset="-122"/>
                <a:cs typeface="Arial" pitchFamily="34" charset="-120"/>
              </a:rPr>
              <a:t>Buyers discover products from many Cambodian stores in one place.</a:t>
            </a:r>
            <a:endParaRPr lang="en-US" sz="1400" dirty="0"/>
          </a:p>
        </p:txBody>
      </p:sp>
      <p:sp>
        <p:nvSpPr>
          <p:cNvPr id="22" name="Shape 17"/>
          <p:cNvSpPr/>
          <p:nvPr/>
        </p:nvSpPr>
        <p:spPr>
          <a:xfrm>
            <a:off x="10040112" y="3337560"/>
            <a:ext cx="0" cy="365760"/>
          </a:xfrm>
          <a:prstGeom prst="line">
            <a:avLst/>
          </a:prstGeom>
          <a:noFill/>
          <a:ln w="25400">
            <a:solidFill>
              <a:srgbClr val="0AA7A2"/>
            </a:solidFill>
            <a:prstDash val="solid"/>
          </a:ln>
        </p:spPr>
      </p:sp>
      <p:sp>
        <p:nvSpPr>
          <p:cNvPr id="23" name="Shape 18"/>
          <p:cNvSpPr/>
          <p:nvPr/>
        </p:nvSpPr>
        <p:spPr>
          <a:xfrm>
            <a:off x="8302752" y="3703320"/>
            <a:ext cx="3474720" cy="2148840"/>
          </a:xfrm>
          <a:prstGeom prst="roundRect">
            <a:avLst>
              <a:gd name="adj" fmla="val 5106"/>
            </a:avLst>
          </a:prstGeom>
          <a:solidFill>
            <a:srgbClr val="FFFFFF"/>
          </a:solidFill>
          <a:ln/>
        </p:spPr>
      </p:sp>
      <p:sp>
        <p:nvSpPr>
          <p:cNvPr id="24" name="Shape 19"/>
          <p:cNvSpPr/>
          <p:nvPr/>
        </p:nvSpPr>
        <p:spPr>
          <a:xfrm>
            <a:off x="8531352" y="3931920"/>
            <a:ext cx="530352" cy="530352"/>
          </a:xfrm>
          <a:prstGeom prst="ellipse">
            <a:avLst/>
          </a:prstGeom>
          <a:solidFill>
            <a:srgbClr val="DCEBFF"/>
          </a:solidFill>
          <a:ln/>
        </p:spPr>
      </p:sp>
      <p:pic>
        <p:nvPicPr>
          <p:cNvPr id="25" name="Image 3" descr="preencoded.png">    </p:cNvPr>
          <p:cNvPicPr>
            <a:picLocks noChangeAspect="1"/>
          </p:cNvPicPr>
          <p:nvPr/>
        </p:nvPicPr>
        <p:blipFill>
          <a:blip r:embed="rId4"/>
          <a:stretch>
            <a:fillRect/>
          </a:stretch>
        </p:blipFill>
        <p:spPr>
          <a:xfrm>
            <a:off x="8658636" y="4059204"/>
            <a:ext cx="275783" cy="275783"/>
          </a:xfrm>
          <a:prstGeom prst="rect">
            <a:avLst/>
          </a:prstGeom>
        </p:spPr>
      </p:pic>
      <p:sp>
        <p:nvSpPr>
          <p:cNvPr id="26" name="Text 20"/>
          <p:cNvSpPr txBox="1"/>
          <p:nvPr/>
        </p:nvSpPr>
        <p:spPr>
          <a:xfrm>
            <a:off x="9217152" y="3931920"/>
            <a:ext cx="2468880" cy="530352"/>
          </a:xfrm>
          <a:prstGeom prst="rect">
            <a:avLst/>
          </a:prstGeom>
          <a:noFill/>
          <a:ln/>
        </p:spPr>
        <p:txBody>
          <a:bodyPr wrap="square" lIns="0" tIns="0" rIns="0" bIns="0" rtlCol="0" anchor="ctr"/>
          <a:lstStyle/>
          <a:p>
            <a:pPr algn="l" indent="0" marL="0">
              <a:lnSpc>
                <a:spcPct val="100000"/>
              </a:lnSpc>
              <a:buNone/>
            </a:pPr>
            <a:r>
              <a:rPr lang="en-US" sz="1900" b="1" dirty="0">
                <a:solidFill>
                  <a:srgbClr val="15243A"/>
                </a:solidFill>
                <a:latin typeface="Arial" pitchFamily="34" charset="0"/>
                <a:ea typeface="Arial" pitchFamily="34" charset="-122"/>
                <a:cs typeface="Arial" pitchFamily="34" charset="-120"/>
              </a:rPr>
              <a:t>In-store POS</a:t>
            </a:r>
            <a:endParaRPr lang="en-US" sz="1900" dirty="0"/>
          </a:p>
        </p:txBody>
      </p:sp>
      <p:sp>
        <p:nvSpPr>
          <p:cNvPr id="27" name="Text 21"/>
          <p:cNvSpPr txBox="1"/>
          <p:nvPr/>
        </p:nvSpPr>
        <p:spPr>
          <a:xfrm>
            <a:off x="8531352" y="4636008"/>
            <a:ext cx="3063240" cy="1097280"/>
          </a:xfrm>
          <a:prstGeom prst="rect">
            <a:avLst/>
          </a:prstGeom>
          <a:noFill/>
          <a:ln/>
        </p:spPr>
        <p:txBody>
          <a:bodyPr wrap="square" lIns="0" tIns="0" rIns="0" bIns="0" rtlCol="0" anchor="t"/>
          <a:lstStyle/>
          <a:p>
            <a:pPr algn="l" indent="0" marL="0">
              <a:lnSpc>
                <a:spcPct val="108000"/>
              </a:lnSpc>
              <a:buNone/>
            </a:pPr>
            <a:r>
              <a:rPr lang="en-US" sz="1400" dirty="0">
                <a:solidFill>
                  <a:srgbClr val="52637A"/>
                </a:solidFill>
                <a:latin typeface="Arial" pitchFamily="34" charset="0"/>
                <a:ea typeface="Arial" pitchFamily="34" charset="-122"/>
                <a:cs typeface="Arial" pitchFamily="34" charset="-120"/>
              </a:rPr>
              <a:t>Counter sales, cash and receipts, using the same stock count.</a:t>
            </a:r>
            <a:endParaRPr lang="en-US" sz="1400" dirty="0"/>
          </a:p>
        </p:txBody>
      </p:sp>
      <p:sp>
        <p:nvSpPr>
          <p:cNvPr id="28" name="Text 22"/>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9FB3CF"/>
                </a:solidFill>
                <a:latin typeface="Arial" pitchFamily="34" charset="0"/>
                <a:ea typeface="Arial" pitchFamily="34" charset="-122"/>
                <a:cs typeface="Arial" pitchFamily="34" charset="-120"/>
              </a:rPr>
              <a:t>Start with any channel. Add the others later without re-listing a single product.</a:t>
            </a:r>
            <a:endParaRPr lang="en-US" sz="1000" dirty="0"/>
          </a:p>
        </p:txBody>
      </p:sp>
      <p:sp>
        <p:nvSpPr>
          <p:cNvPr id="29" name="Text 23"/>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9FB3CF"/>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What makes Rentify different</a:t>
            </a:r>
            <a:endParaRPr lang="en-US" sz="34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algn="l" indent="0" marL="0">
              <a:lnSpc>
                <a:spcPct val="100000"/>
              </a:lnSpc>
              <a:buNone/>
            </a:pPr>
            <a:r>
              <a:rPr lang="en-US" sz="1700" dirty="0">
                <a:solidFill>
                  <a:srgbClr val="52637A"/>
                </a:solidFill>
                <a:latin typeface="Arial" pitchFamily="34" charset="0"/>
                <a:ea typeface="Arial" pitchFamily="34" charset="-122"/>
                <a:cs typeface="Arial" pitchFamily="34" charset="-120"/>
              </a:rPr>
              <a:t>Three ideas we build on and will prove with merchants</a:t>
            </a:r>
            <a:endParaRPr lang="en-US" sz="1700" dirty="0"/>
          </a:p>
        </p:txBody>
      </p:sp>
      <p:sp>
        <p:nvSpPr>
          <p:cNvPr id="4" name="Shape 2"/>
          <p:cNvSpPr/>
          <p:nvPr/>
        </p:nvSpPr>
        <p:spPr>
          <a:xfrm>
            <a:off x="548640" y="1783080"/>
            <a:ext cx="11091672" cy="1261872"/>
          </a:xfrm>
          <a:prstGeom prst="roundRect">
            <a:avLst>
              <a:gd name="adj" fmla="val 8696"/>
            </a:avLst>
          </a:prstGeom>
          <a:solidFill>
            <a:srgbClr val="F5F8FC"/>
          </a:solidFill>
          <a:ln/>
        </p:spPr>
      </p:sp>
      <p:sp>
        <p:nvSpPr>
          <p:cNvPr id="5" name="Text 3"/>
          <p:cNvSpPr txBox="1"/>
          <p:nvPr/>
        </p:nvSpPr>
        <p:spPr>
          <a:xfrm>
            <a:off x="822960" y="1783080"/>
            <a:ext cx="914400" cy="1261872"/>
          </a:xfrm>
          <a:prstGeom prst="rect">
            <a:avLst/>
          </a:prstGeom>
          <a:noFill/>
          <a:ln/>
        </p:spPr>
        <p:txBody>
          <a:bodyPr wrap="square" lIns="0" tIns="0" rIns="0" bIns="0" rtlCol="0" anchor="ctr"/>
          <a:lstStyle/>
          <a:p>
            <a:pPr algn="l" indent="0" marL="0">
              <a:lnSpc>
                <a:spcPct val="100000"/>
              </a:lnSpc>
              <a:buNone/>
            </a:pPr>
            <a:r>
              <a:rPr lang="en-US" sz="4000" b="1" dirty="0">
                <a:solidFill>
                  <a:srgbClr val="2463E8"/>
                </a:solidFill>
                <a:latin typeface="Arial" pitchFamily="34" charset="0"/>
                <a:ea typeface="Arial" pitchFamily="34" charset="-122"/>
                <a:cs typeface="Arial" pitchFamily="34" charset="-120"/>
              </a:rPr>
              <a:t>01</a:t>
            </a:r>
            <a:endParaRPr lang="en-US" sz="4000" dirty="0"/>
          </a:p>
        </p:txBody>
      </p:sp>
      <p:sp>
        <p:nvSpPr>
          <p:cNvPr id="6" name="Shape 4"/>
          <p:cNvSpPr/>
          <p:nvPr/>
        </p:nvSpPr>
        <p:spPr>
          <a:xfrm>
            <a:off x="1874520" y="2121408"/>
            <a:ext cx="585216" cy="585216"/>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2014972" y="2261860"/>
            <a:ext cx="304312" cy="304312"/>
          </a:xfrm>
          <a:prstGeom prst="rect">
            <a:avLst/>
          </a:prstGeom>
        </p:spPr>
      </p:pic>
      <p:sp>
        <p:nvSpPr>
          <p:cNvPr id="8" name="Text 5"/>
          <p:cNvSpPr txBox="1"/>
          <p:nvPr/>
        </p:nvSpPr>
        <p:spPr>
          <a:xfrm>
            <a:off x="2743200" y="1965960"/>
            <a:ext cx="3566160" cy="914400"/>
          </a:xfrm>
          <a:prstGeom prst="rect">
            <a:avLst/>
          </a:prstGeom>
          <a:noFill/>
          <a:ln/>
        </p:spPr>
        <p:txBody>
          <a:bodyPr wrap="square" lIns="0" tIns="0" rIns="0" bIns="0" rtlCol="0" anchor="ctr"/>
          <a:lstStyle/>
          <a:p>
            <a:pPr algn="l" indent="0" marL="0">
              <a:lnSpc>
                <a:spcPct val="100000"/>
              </a:lnSpc>
              <a:buNone/>
            </a:pPr>
            <a:r>
              <a:rPr lang="en-US" sz="2100" b="1" dirty="0">
                <a:solidFill>
                  <a:srgbClr val="15243A"/>
                </a:solidFill>
                <a:latin typeface="Arial" pitchFamily="34" charset="0"/>
                <a:ea typeface="Arial" pitchFamily="34" charset="-122"/>
                <a:cs typeface="Arial" pitchFamily="34" charset="-120"/>
              </a:rPr>
              <a:t>Start anywhere, grow without re-listing</a:t>
            </a:r>
            <a:endParaRPr lang="en-US" sz="2100" dirty="0"/>
          </a:p>
        </p:txBody>
      </p:sp>
      <p:sp>
        <p:nvSpPr>
          <p:cNvPr id="9" name="Text 6"/>
          <p:cNvSpPr txBox="1"/>
          <p:nvPr/>
        </p:nvSpPr>
        <p:spPr>
          <a:xfrm>
            <a:off x="6446520" y="1947672"/>
            <a:ext cx="4983480" cy="960120"/>
          </a:xfrm>
          <a:prstGeom prst="rect">
            <a:avLst/>
          </a:prstGeom>
          <a:noFill/>
          <a:ln/>
        </p:spPr>
        <p:txBody>
          <a:bodyPr wrap="square" lIns="0" tIns="0" rIns="0" bIns="0" rtlCol="0" anchor="ctr"/>
          <a:lstStyle/>
          <a:p>
            <a:pPr algn="l" indent="0" marL="0">
              <a:lnSpc>
                <a:spcPct val="108000"/>
              </a:lnSpc>
              <a:buNone/>
            </a:pPr>
            <a:r>
              <a:rPr lang="en-US" sz="1500" dirty="0">
                <a:solidFill>
                  <a:srgbClr val="15243A"/>
                </a:solidFill>
                <a:latin typeface="Arial" pitchFamily="34" charset="0"/>
                <a:ea typeface="Arial" pitchFamily="34" charset="-122"/>
                <a:cs typeface="Arial" pitchFamily="34" charset="-120"/>
              </a:rPr>
              <a:t>Begin as a marketplace seller with no website. Add a branded storefront or POS later — the same products and stock move with you.</a:t>
            </a:r>
            <a:endParaRPr lang="en-US" sz="1500" dirty="0"/>
          </a:p>
        </p:txBody>
      </p:sp>
      <p:sp>
        <p:nvSpPr>
          <p:cNvPr id="10" name="Shape 7"/>
          <p:cNvSpPr/>
          <p:nvPr/>
        </p:nvSpPr>
        <p:spPr>
          <a:xfrm>
            <a:off x="548640" y="3227832"/>
            <a:ext cx="11091672" cy="1261872"/>
          </a:xfrm>
          <a:prstGeom prst="roundRect">
            <a:avLst>
              <a:gd name="adj" fmla="val 8696"/>
            </a:avLst>
          </a:prstGeom>
          <a:solidFill>
            <a:srgbClr val="D6F4F0"/>
          </a:solidFill>
          <a:ln/>
        </p:spPr>
      </p:sp>
      <p:sp>
        <p:nvSpPr>
          <p:cNvPr id="11" name="Text 8"/>
          <p:cNvSpPr txBox="1"/>
          <p:nvPr/>
        </p:nvSpPr>
        <p:spPr>
          <a:xfrm>
            <a:off x="822960" y="3227832"/>
            <a:ext cx="914400" cy="1261872"/>
          </a:xfrm>
          <a:prstGeom prst="rect">
            <a:avLst/>
          </a:prstGeom>
          <a:noFill/>
          <a:ln/>
        </p:spPr>
        <p:txBody>
          <a:bodyPr wrap="square" lIns="0" tIns="0" rIns="0" bIns="0" rtlCol="0" anchor="ctr"/>
          <a:lstStyle/>
          <a:p>
            <a:pPr algn="l" indent="0" marL="0">
              <a:lnSpc>
                <a:spcPct val="100000"/>
              </a:lnSpc>
              <a:buNone/>
            </a:pPr>
            <a:r>
              <a:rPr lang="en-US" sz="4000" b="1" dirty="0">
                <a:solidFill>
                  <a:srgbClr val="0AA7A2"/>
                </a:solidFill>
                <a:latin typeface="Arial" pitchFamily="34" charset="0"/>
                <a:ea typeface="Arial" pitchFamily="34" charset="-122"/>
                <a:cs typeface="Arial" pitchFamily="34" charset="-120"/>
              </a:rPr>
              <a:t>02</a:t>
            </a:r>
            <a:endParaRPr lang="en-US" sz="4000" dirty="0"/>
          </a:p>
        </p:txBody>
      </p:sp>
      <p:sp>
        <p:nvSpPr>
          <p:cNvPr id="12" name="Shape 9"/>
          <p:cNvSpPr/>
          <p:nvPr/>
        </p:nvSpPr>
        <p:spPr>
          <a:xfrm>
            <a:off x="1874520" y="3566160"/>
            <a:ext cx="585216" cy="585216"/>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2014972" y="3706612"/>
            <a:ext cx="304312" cy="304312"/>
          </a:xfrm>
          <a:prstGeom prst="rect">
            <a:avLst/>
          </a:prstGeom>
        </p:spPr>
      </p:pic>
      <p:sp>
        <p:nvSpPr>
          <p:cNvPr id="14" name="Text 10"/>
          <p:cNvSpPr txBox="1"/>
          <p:nvPr/>
        </p:nvSpPr>
        <p:spPr>
          <a:xfrm>
            <a:off x="2743200" y="3410712"/>
            <a:ext cx="3566160" cy="914400"/>
          </a:xfrm>
          <a:prstGeom prst="rect">
            <a:avLst/>
          </a:prstGeom>
          <a:noFill/>
          <a:ln/>
        </p:spPr>
        <p:txBody>
          <a:bodyPr wrap="square" lIns="0" tIns="0" rIns="0" bIns="0" rtlCol="0" anchor="ctr"/>
          <a:lstStyle/>
          <a:p>
            <a:pPr algn="l" indent="0" marL="0">
              <a:lnSpc>
                <a:spcPct val="100000"/>
              </a:lnSpc>
              <a:buNone/>
            </a:pPr>
            <a:r>
              <a:rPr lang="en-US" sz="2100" b="1" dirty="0">
                <a:solidFill>
                  <a:srgbClr val="15243A"/>
                </a:solidFill>
                <a:latin typeface="Arial" pitchFamily="34" charset="0"/>
                <a:ea typeface="Arial" pitchFamily="34" charset="-122"/>
                <a:cs typeface="Arial" pitchFamily="34" charset="-120"/>
              </a:rPr>
              <a:t>One sale updates everywhere</a:t>
            </a:r>
            <a:endParaRPr lang="en-US" sz="2100" dirty="0"/>
          </a:p>
        </p:txBody>
      </p:sp>
      <p:sp>
        <p:nvSpPr>
          <p:cNvPr id="15" name="Text 11"/>
          <p:cNvSpPr txBox="1"/>
          <p:nvPr/>
        </p:nvSpPr>
        <p:spPr>
          <a:xfrm>
            <a:off x="6446520" y="3392424"/>
            <a:ext cx="4983480" cy="960120"/>
          </a:xfrm>
          <a:prstGeom prst="rect">
            <a:avLst/>
          </a:prstGeom>
          <a:noFill/>
          <a:ln/>
        </p:spPr>
        <p:txBody>
          <a:bodyPr wrap="square" lIns="0" tIns="0" rIns="0" bIns="0" rtlCol="0" anchor="ctr"/>
          <a:lstStyle/>
          <a:p>
            <a:pPr algn="l" indent="0" marL="0">
              <a:lnSpc>
                <a:spcPct val="108000"/>
              </a:lnSpc>
              <a:buNone/>
            </a:pPr>
            <a:r>
              <a:rPr lang="en-US" sz="1500" dirty="0">
                <a:solidFill>
                  <a:srgbClr val="15243A"/>
                </a:solidFill>
                <a:latin typeface="Arial" pitchFamily="34" charset="0"/>
                <a:ea typeface="Arial" pitchFamily="34" charset="-122"/>
                <a:cs typeface="Arial" pitchFamily="34" charset="-120"/>
              </a:rPr>
              <a:t>A sale at the counter, on the storefront or in the marketplace changes one stock count, so no channel oversells.</a:t>
            </a:r>
            <a:endParaRPr lang="en-US" sz="1500" dirty="0"/>
          </a:p>
        </p:txBody>
      </p:sp>
      <p:sp>
        <p:nvSpPr>
          <p:cNvPr id="16" name="Shape 12"/>
          <p:cNvSpPr/>
          <p:nvPr/>
        </p:nvSpPr>
        <p:spPr>
          <a:xfrm>
            <a:off x="548640" y="4672584"/>
            <a:ext cx="11091672" cy="1261872"/>
          </a:xfrm>
          <a:prstGeom prst="roundRect">
            <a:avLst>
              <a:gd name="adj" fmla="val 8696"/>
            </a:avLst>
          </a:prstGeom>
          <a:solidFill>
            <a:srgbClr val="F5F8FC"/>
          </a:solidFill>
          <a:ln/>
        </p:spPr>
      </p:sp>
      <p:sp>
        <p:nvSpPr>
          <p:cNvPr id="17" name="Text 13"/>
          <p:cNvSpPr txBox="1"/>
          <p:nvPr/>
        </p:nvSpPr>
        <p:spPr>
          <a:xfrm>
            <a:off x="822960" y="4672584"/>
            <a:ext cx="914400" cy="1261872"/>
          </a:xfrm>
          <a:prstGeom prst="rect">
            <a:avLst/>
          </a:prstGeom>
          <a:noFill/>
          <a:ln/>
        </p:spPr>
        <p:txBody>
          <a:bodyPr wrap="square" lIns="0" tIns="0" rIns="0" bIns="0" rtlCol="0" anchor="ctr"/>
          <a:lstStyle/>
          <a:p>
            <a:pPr algn="l" indent="0" marL="0">
              <a:lnSpc>
                <a:spcPct val="100000"/>
              </a:lnSpc>
              <a:buNone/>
            </a:pPr>
            <a:r>
              <a:rPr lang="en-US" sz="4000" b="1" dirty="0">
                <a:solidFill>
                  <a:srgbClr val="2463E8"/>
                </a:solidFill>
                <a:latin typeface="Arial" pitchFamily="34" charset="0"/>
                <a:ea typeface="Arial" pitchFamily="34" charset="-122"/>
                <a:cs typeface="Arial" pitchFamily="34" charset="-120"/>
              </a:rPr>
              <a:t>03</a:t>
            </a:r>
            <a:endParaRPr lang="en-US" sz="4000" dirty="0"/>
          </a:p>
        </p:txBody>
      </p:sp>
      <p:sp>
        <p:nvSpPr>
          <p:cNvPr id="18" name="Shape 14"/>
          <p:cNvSpPr/>
          <p:nvPr/>
        </p:nvSpPr>
        <p:spPr>
          <a:xfrm>
            <a:off x="1874520" y="5010912"/>
            <a:ext cx="585216" cy="585216"/>
          </a:xfrm>
          <a:prstGeom prst="ellipse">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2014972" y="5151364"/>
            <a:ext cx="304312" cy="304312"/>
          </a:xfrm>
          <a:prstGeom prst="rect">
            <a:avLst/>
          </a:prstGeom>
        </p:spPr>
      </p:pic>
      <p:sp>
        <p:nvSpPr>
          <p:cNvPr id="20" name="Text 15"/>
          <p:cNvSpPr txBox="1"/>
          <p:nvPr/>
        </p:nvSpPr>
        <p:spPr>
          <a:xfrm>
            <a:off x="2743200" y="4855464"/>
            <a:ext cx="3566160" cy="914400"/>
          </a:xfrm>
          <a:prstGeom prst="rect">
            <a:avLst/>
          </a:prstGeom>
          <a:noFill/>
          <a:ln/>
        </p:spPr>
        <p:txBody>
          <a:bodyPr wrap="square" lIns="0" tIns="0" rIns="0" bIns="0" rtlCol="0" anchor="ctr"/>
          <a:lstStyle/>
          <a:p>
            <a:pPr algn="l" indent="0" marL="0">
              <a:lnSpc>
                <a:spcPct val="100000"/>
              </a:lnSpc>
              <a:buNone/>
            </a:pPr>
            <a:r>
              <a:rPr lang="en-US" sz="2100" b="1" dirty="0">
                <a:solidFill>
                  <a:srgbClr val="15243A"/>
                </a:solidFill>
                <a:latin typeface="Arial" pitchFamily="34" charset="0"/>
                <a:ea typeface="Arial" pitchFamily="34" charset="-122"/>
                <a:cs typeface="Arial" pitchFamily="34" charset="-120"/>
              </a:rPr>
              <a:t>Fair channel pricing</a:t>
            </a:r>
            <a:endParaRPr lang="en-US" sz="2100" dirty="0"/>
          </a:p>
        </p:txBody>
      </p:sp>
      <p:sp>
        <p:nvSpPr>
          <p:cNvPr id="21" name="Text 16"/>
          <p:cNvSpPr txBox="1"/>
          <p:nvPr/>
        </p:nvSpPr>
        <p:spPr>
          <a:xfrm>
            <a:off x="6446520" y="4837176"/>
            <a:ext cx="4983480" cy="960120"/>
          </a:xfrm>
          <a:prstGeom prst="rect">
            <a:avLst/>
          </a:prstGeom>
          <a:noFill/>
          <a:ln/>
        </p:spPr>
        <p:txBody>
          <a:bodyPr wrap="square" lIns="0" tIns="0" rIns="0" bIns="0" rtlCol="0" anchor="ctr"/>
          <a:lstStyle/>
          <a:p>
            <a:pPr algn="l" indent="0" marL="0">
              <a:lnSpc>
                <a:spcPct val="108000"/>
              </a:lnSpc>
              <a:buNone/>
            </a:pPr>
            <a:r>
              <a:rPr lang="en-US" sz="1500" dirty="0">
                <a:solidFill>
                  <a:srgbClr val="15243A"/>
                </a:solidFill>
                <a:latin typeface="Arial" pitchFamily="34" charset="0"/>
                <a:ea typeface="Arial" pitchFamily="34" charset="-122"/>
                <a:cs typeface="Arial" pitchFamily="34" charset="-120"/>
              </a:rPr>
              <a:t>A subscription pays for the tools. Commission applies only to orders our marketplace brings — never to the merchant’s own storefront or counter sales.</a:t>
            </a:r>
            <a:endParaRPr lang="en-US" sz="1500" dirty="0"/>
          </a:p>
        </p:txBody>
      </p:sp>
      <p:sp>
        <p:nvSpPr>
          <p:cNvPr id="22" name="Text 17"/>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Idea 02 is already working in our development build (next slide). Ideas 01 and 03 are designed into the platform; merchant acceptance is tested in pilots.</a:t>
            </a:r>
            <a:endParaRPr lang="en-US" sz="1000" dirty="0"/>
          </a:p>
        </p:txBody>
      </p:sp>
      <p:sp>
        <p:nvSpPr>
          <p:cNvPr id="23" name="Text 18"/>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Working today: one sale, updated everywhere</a:t>
            </a:r>
            <a:endParaRPr lang="en-US" sz="34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algn="l" indent="0" marL="0">
              <a:lnSpc>
                <a:spcPct val="100000"/>
              </a:lnSpc>
              <a:buNone/>
            </a:pPr>
            <a:r>
              <a:rPr lang="en-US" sz="1700" dirty="0">
                <a:solidFill>
                  <a:srgbClr val="52637A"/>
                </a:solidFill>
                <a:latin typeface="Arial" pitchFamily="34" charset="0"/>
                <a:ea typeface="Arial" pitchFamily="34" charset="-122"/>
                <a:cs typeface="Arial" pitchFamily="34" charset="-120"/>
              </a:rPr>
              <a:t>Aura Botanicals demo store · Deep Barrier Hydrating Cream · starting stock 40</a:t>
            </a:r>
            <a:endParaRPr lang="en-US" sz="1700" dirty="0"/>
          </a:p>
        </p:txBody>
      </p:sp>
      <p:sp>
        <p:nvSpPr>
          <p:cNvPr id="4" name="Shape 2"/>
          <p:cNvSpPr/>
          <p:nvPr/>
        </p:nvSpPr>
        <p:spPr>
          <a:xfrm>
            <a:off x="548640" y="1691640"/>
            <a:ext cx="3520440" cy="3429000"/>
          </a:xfrm>
          <a:prstGeom prst="roundRect">
            <a:avLst>
              <a:gd name="adj" fmla="val 3200"/>
            </a:avLst>
          </a:prstGeom>
          <a:solidFill>
            <a:srgbClr val="FFFFFF"/>
          </a:solidFill>
          <a:ln/>
          <a:effectLst>
            <a:outerShdw sx="100000" sy="100000" kx="0" ky="0" algn="bl" rotWithShape="0" blurRad="101600" dist="25400" dir="5400000">
              <a:srgbClr val="1A2A4A">
                <a:alpha val="12000"/>
              </a:srgbClr>
            </a:outerShdw>
          </a:effectLst>
        </p:spPr>
      </p:sp>
      <p:sp>
        <p:nvSpPr>
          <p:cNvPr id="5" name="Shape 3"/>
          <p:cNvSpPr/>
          <p:nvPr/>
        </p:nvSpPr>
        <p:spPr>
          <a:xfrm>
            <a:off x="777240" y="1874520"/>
            <a:ext cx="457200" cy="457200"/>
          </a:xfrm>
          <a:prstGeom prst="ellipse">
            <a:avLst/>
          </a:prstGeom>
          <a:solidFill>
            <a:srgbClr val="111D35"/>
          </a:solidFill>
          <a:ln/>
        </p:spPr>
      </p:sp>
      <p:sp>
        <p:nvSpPr>
          <p:cNvPr id="6" name="Text 4"/>
          <p:cNvSpPr txBox="1"/>
          <p:nvPr/>
        </p:nvSpPr>
        <p:spPr>
          <a:xfrm>
            <a:off x="777240" y="1874520"/>
            <a:ext cx="457200" cy="45720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1371600" y="1847088"/>
            <a:ext cx="2560320" cy="329184"/>
          </a:xfrm>
          <a:prstGeom prst="rect">
            <a:avLst/>
          </a:prstGeom>
          <a:noFill/>
          <a:ln/>
        </p:spPr>
        <p:txBody>
          <a:bodyPr wrap="square" lIns="0" tIns="0" rIns="0" bIns="0" rtlCol="0" anchor="t"/>
          <a:lstStyle/>
          <a:p>
            <a:pPr algn="l" indent="0" marL="0">
              <a:lnSpc>
                <a:spcPct val="100000"/>
              </a:lnSpc>
              <a:buNone/>
            </a:pPr>
            <a:r>
              <a:rPr lang="en-US" sz="1800" b="1" dirty="0">
                <a:solidFill>
                  <a:srgbClr val="15243A"/>
                </a:solidFill>
                <a:latin typeface="Arial" pitchFamily="34" charset="0"/>
                <a:ea typeface="Arial" pitchFamily="34" charset="-122"/>
                <a:cs typeface="Arial" pitchFamily="34" charset="-120"/>
              </a:rPr>
              <a:t>Sold at the counter</a:t>
            </a:r>
            <a:endParaRPr lang="en-US" sz="1800" dirty="0"/>
          </a:p>
        </p:txBody>
      </p:sp>
      <p:sp>
        <p:nvSpPr>
          <p:cNvPr id="8" name="Text 6"/>
          <p:cNvSpPr txBox="1"/>
          <p:nvPr/>
        </p:nvSpPr>
        <p:spPr>
          <a:xfrm>
            <a:off x="1371600" y="2167128"/>
            <a:ext cx="2606040" cy="274320"/>
          </a:xfrm>
          <a:prstGeom prst="rect">
            <a:avLst/>
          </a:prstGeom>
          <a:noFill/>
          <a:ln/>
        </p:spPr>
        <p:txBody>
          <a:bodyPr wrap="square" lIns="0" tIns="0" rIns="0" bIns="0" rtlCol="0" anchor="t"/>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POS sale: 1 unit, paid in cash</a:t>
            </a:r>
            <a:endParaRPr lang="en-US" sz="1250" dirty="0"/>
          </a:p>
        </p:txBody>
      </p:sp>
      <p:pic>
        <p:nvPicPr>
          <p:cNvPr id="9" name="Image 0" descr="Rentify POS with the cream in the cart">    </p:cNvPr>
          <p:cNvPicPr>
            <a:picLocks noChangeAspect="1"/>
          </p:cNvPicPr>
          <p:nvPr/>
        </p:nvPicPr>
        <p:blipFill>
          <a:blip r:embed="rId1"/>
          <a:stretch>
            <a:fillRect/>
          </a:stretch>
        </p:blipFill>
        <p:spPr>
          <a:xfrm>
            <a:off x="685800" y="2872567"/>
            <a:ext cx="3246120" cy="1844386"/>
          </a:xfrm>
          <a:prstGeom prst="rect">
            <a:avLst/>
          </a:prstGeom>
        </p:spPr>
      </p:pic>
      <p:pic>
        <p:nvPicPr>
          <p:cNvPr id="10" name="Image 1" descr="preencoded.png">    </p:cNvPr>
          <p:cNvPicPr>
            <a:picLocks noChangeAspect="1"/>
          </p:cNvPicPr>
          <p:nvPr/>
        </p:nvPicPr>
        <p:blipFill>
          <a:blip r:embed="rId2"/>
          <a:stretch>
            <a:fillRect/>
          </a:stretch>
        </p:blipFill>
        <p:spPr>
          <a:xfrm>
            <a:off x="4078224" y="3200400"/>
            <a:ext cx="219456" cy="402336"/>
          </a:xfrm>
          <a:prstGeom prst="rect">
            <a:avLst/>
          </a:prstGeom>
        </p:spPr>
      </p:pic>
      <p:sp>
        <p:nvSpPr>
          <p:cNvPr id="11" name="Shape 7"/>
          <p:cNvSpPr/>
          <p:nvPr/>
        </p:nvSpPr>
        <p:spPr>
          <a:xfrm>
            <a:off x="4297680" y="1691640"/>
            <a:ext cx="3520440" cy="3429000"/>
          </a:xfrm>
          <a:prstGeom prst="roundRect">
            <a:avLst>
              <a:gd name="adj" fmla="val 3200"/>
            </a:avLst>
          </a:prstGeom>
          <a:solidFill>
            <a:srgbClr val="FFFFFF"/>
          </a:solidFill>
          <a:ln/>
          <a:effectLst>
            <a:outerShdw sx="100000" sy="100000" kx="0" ky="0" algn="bl" rotWithShape="0" blurRad="101600" dist="25400" dir="5400000">
              <a:srgbClr val="1A2A4A">
                <a:alpha val="12000"/>
              </a:srgbClr>
            </a:outerShdw>
          </a:effectLst>
        </p:spPr>
      </p:sp>
      <p:sp>
        <p:nvSpPr>
          <p:cNvPr id="12" name="Shape 8"/>
          <p:cNvSpPr/>
          <p:nvPr/>
        </p:nvSpPr>
        <p:spPr>
          <a:xfrm>
            <a:off x="4526280" y="1874520"/>
            <a:ext cx="457200" cy="457200"/>
          </a:xfrm>
          <a:prstGeom prst="ellipse">
            <a:avLst/>
          </a:prstGeom>
          <a:solidFill>
            <a:srgbClr val="0AA7A2"/>
          </a:solidFill>
          <a:ln/>
        </p:spPr>
      </p:sp>
      <p:sp>
        <p:nvSpPr>
          <p:cNvPr id="13" name="Text 9"/>
          <p:cNvSpPr txBox="1"/>
          <p:nvPr/>
        </p:nvSpPr>
        <p:spPr>
          <a:xfrm>
            <a:off x="4526280" y="1874520"/>
            <a:ext cx="457200" cy="45720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0"/>
          <p:cNvSpPr txBox="1"/>
          <p:nvPr/>
        </p:nvSpPr>
        <p:spPr>
          <a:xfrm>
            <a:off x="5120640" y="1847088"/>
            <a:ext cx="2560320" cy="329184"/>
          </a:xfrm>
          <a:prstGeom prst="rect">
            <a:avLst/>
          </a:prstGeom>
          <a:noFill/>
          <a:ln/>
        </p:spPr>
        <p:txBody>
          <a:bodyPr wrap="square" lIns="0" tIns="0" rIns="0" bIns="0" rtlCol="0" anchor="t"/>
          <a:lstStyle/>
          <a:p>
            <a:pPr algn="l" indent="0" marL="0">
              <a:lnSpc>
                <a:spcPct val="100000"/>
              </a:lnSpc>
              <a:buNone/>
            </a:pPr>
            <a:r>
              <a:rPr lang="en-US" sz="1800" b="1" dirty="0">
                <a:solidFill>
                  <a:srgbClr val="15243A"/>
                </a:solidFill>
                <a:latin typeface="Arial" pitchFamily="34" charset="0"/>
                <a:ea typeface="Arial" pitchFamily="34" charset="-122"/>
                <a:cs typeface="Arial" pitchFamily="34" charset="-120"/>
              </a:rPr>
              <a:t>Own storefront</a:t>
            </a:r>
            <a:endParaRPr lang="en-US" sz="1800" dirty="0"/>
          </a:p>
        </p:txBody>
      </p:sp>
      <p:sp>
        <p:nvSpPr>
          <p:cNvPr id="15" name="Text 11"/>
          <p:cNvSpPr txBox="1"/>
          <p:nvPr/>
        </p:nvSpPr>
        <p:spPr>
          <a:xfrm>
            <a:off x="5120640" y="2167128"/>
            <a:ext cx="26060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AA7A2"/>
                </a:solidFill>
                <a:latin typeface="Arial" pitchFamily="34" charset="0"/>
                <a:ea typeface="Arial" pitchFamily="34" charset="-122"/>
                <a:cs typeface="Arial" pitchFamily="34" charset="-120"/>
              </a:rPr>
              <a:t>Now shows “Maximum: 39 units”</a:t>
            </a:r>
            <a:endParaRPr lang="en-US" sz="1250" dirty="0"/>
          </a:p>
        </p:txBody>
      </p:sp>
      <p:pic>
        <p:nvPicPr>
          <p:cNvPr id="16" name="Image 2" descr="Aura Botanicals storefront showing 39 units">    </p:cNvPr>
          <p:cNvPicPr>
            <a:picLocks noChangeAspect="1"/>
          </p:cNvPicPr>
          <p:nvPr/>
        </p:nvPicPr>
        <p:blipFill>
          <a:blip r:embed="rId3"/>
          <a:stretch>
            <a:fillRect/>
          </a:stretch>
        </p:blipFill>
        <p:spPr>
          <a:xfrm>
            <a:off x="4434840" y="2895497"/>
            <a:ext cx="3246120" cy="1798526"/>
          </a:xfrm>
          <a:prstGeom prst="rect">
            <a:avLst/>
          </a:prstGeom>
        </p:spPr>
      </p:pic>
      <p:pic>
        <p:nvPicPr>
          <p:cNvPr id="17" name="Image 3" descr="preencoded.png">    </p:cNvPr>
          <p:cNvPicPr>
            <a:picLocks noChangeAspect="1"/>
          </p:cNvPicPr>
          <p:nvPr/>
        </p:nvPicPr>
        <p:blipFill>
          <a:blip r:embed="rId4"/>
          <a:stretch>
            <a:fillRect/>
          </a:stretch>
        </p:blipFill>
        <p:spPr>
          <a:xfrm>
            <a:off x="7827264" y="3200400"/>
            <a:ext cx="219456" cy="402336"/>
          </a:xfrm>
          <a:prstGeom prst="rect">
            <a:avLst/>
          </a:prstGeom>
        </p:spPr>
      </p:pic>
      <p:sp>
        <p:nvSpPr>
          <p:cNvPr id="18" name="Shape 12"/>
          <p:cNvSpPr/>
          <p:nvPr/>
        </p:nvSpPr>
        <p:spPr>
          <a:xfrm>
            <a:off x="8046720" y="1691640"/>
            <a:ext cx="3520440" cy="3429000"/>
          </a:xfrm>
          <a:prstGeom prst="roundRect">
            <a:avLst>
              <a:gd name="adj" fmla="val 3200"/>
            </a:avLst>
          </a:prstGeom>
          <a:solidFill>
            <a:srgbClr val="FFFFFF"/>
          </a:solidFill>
          <a:ln/>
          <a:effectLst>
            <a:outerShdw sx="100000" sy="100000" kx="0" ky="0" algn="bl" rotWithShape="0" blurRad="101600" dist="25400" dir="5400000">
              <a:srgbClr val="1A2A4A">
                <a:alpha val="12000"/>
              </a:srgbClr>
            </a:outerShdw>
          </a:effectLst>
        </p:spPr>
      </p:sp>
      <p:sp>
        <p:nvSpPr>
          <p:cNvPr id="19" name="Shape 13"/>
          <p:cNvSpPr/>
          <p:nvPr/>
        </p:nvSpPr>
        <p:spPr>
          <a:xfrm>
            <a:off x="8275320" y="1874520"/>
            <a:ext cx="457200" cy="457200"/>
          </a:xfrm>
          <a:prstGeom prst="ellipse">
            <a:avLst/>
          </a:prstGeom>
          <a:solidFill>
            <a:srgbClr val="0AA7A2"/>
          </a:solidFill>
          <a:ln/>
        </p:spPr>
      </p:sp>
      <p:sp>
        <p:nvSpPr>
          <p:cNvPr id="20" name="Text 14"/>
          <p:cNvSpPr txBox="1"/>
          <p:nvPr/>
        </p:nvSpPr>
        <p:spPr>
          <a:xfrm>
            <a:off x="8275320" y="1874520"/>
            <a:ext cx="457200" cy="45720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5"/>
          <p:cNvSpPr txBox="1"/>
          <p:nvPr/>
        </p:nvSpPr>
        <p:spPr>
          <a:xfrm>
            <a:off x="8869680" y="1847088"/>
            <a:ext cx="2560320" cy="329184"/>
          </a:xfrm>
          <a:prstGeom prst="rect">
            <a:avLst/>
          </a:prstGeom>
          <a:noFill/>
          <a:ln/>
        </p:spPr>
        <p:txBody>
          <a:bodyPr wrap="square" lIns="0" tIns="0" rIns="0" bIns="0" rtlCol="0" anchor="t"/>
          <a:lstStyle/>
          <a:p>
            <a:pPr algn="l" indent="0" marL="0">
              <a:lnSpc>
                <a:spcPct val="100000"/>
              </a:lnSpc>
              <a:buNone/>
            </a:pPr>
            <a:r>
              <a:rPr lang="en-US" sz="1800" b="1" dirty="0">
                <a:solidFill>
                  <a:srgbClr val="15243A"/>
                </a:solidFill>
                <a:latin typeface="Arial" pitchFamily="34" charset="0"/>
                <a:ea typeface="Arial" pitchFamily="34" charset="-122"/>
                <a:cs typeface="Arial" pitchFamily="34" charset="-120"/>
              </a:rPr>
              <a:t>Shared marketplace</a:t>
            </a:r>
            <a:endParaRPr lang="en-US" sz="1800" dirty="0"/>
          </a:p>
        </p:txBody>
      </p:sp>
      <p:sp>
        <p:nvSpPr>
          <p:cNvPr id="22" name="Text 16"/>
          <p:cNvSpPr txBox="1"/>
          <p:nvPr/>
        </p:nvSpPr>
        <p:spPr>
          <a:xfrm>
            <a:off x="8869680" y="2167128"/>
            <a:ext cx="26060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AA7A2"/>
                </a:solidFill>
                <a:latin typeface="Arial" pitchFamily="34" charset="0"/>
                <a:ea typeface="Arial" pitchFamily="34" charset="-122"/>
                <a:cs typeface="Arial" pitchFamily="34" charset="-120"/>
              </a:rPr>
              <a:t>Now shows “39 items in stock”</a:t>
            </a:r>
            <a:endParaRPr lang="en-US" sz="1250" dirty="0"/>
          </a:p>
        </p:txBody>
      </p:sp>
      <p:pic>
        <p:nvPicPr>
          <p:cNvPr id="23" name="Image 4" descr="Rentify Marketplace showing 39 items in stock">    </p:cNvPr>
          <p:cNvPicPr>
            <a:picLocks noChangeAspect="1"/>
          </p:cNvPicPr>
          <p:nvPr/>
        </p:nvPicPr>
        <p:blipFill>
          <a:blip r:embed="rId5"/>
          <a:stretch>
            <a:fillRect/>
          </a:stretch>
        </p:blipFill>
        <p:spPr>
          <a:xfrm>
            <a:off x="8183880" y="2875449"/>
            <a:ext cx="3246120" cy="1838623"/>
          </a:xfrm>
          <a:prstGeom prst="rect">
            <a:avLst/>
          </a:prstGeom>
        </p:spPr>
      </p:pic>
      <p:sp>
        <p:nvSpPr>
          <p:cNvPr id="24" name="Shape 17"/>
          <p:cNvSpPr/>
          <p:nvPr/>
        </p:nvSpPr>
        <p:spPr>
          <a:xfrm>
            <a:off x="548640" y="5303520"/>
            <a:ext cx="11091672" cy="868680"/>
          </a:xfrm>
          <a:prstGeom prst="roundRect">
            <a:avLst>
              <a:gd name="adj" fmla="val 12632"/>
            </a:avLst>
          </a:prstGeom>
          <a:solidFill>
            <a:srgbClr val="111D35"/>
          </a:solidFill>
          <a:ln/>
        </p:spPr>
      </p:sp>
      <p:sp>
        <p:nvSpPr>
          <p:cNvPr id="25" name="Text 18"/>
          <p:cNvSpPr txBox="1"/>
          <p:nvPr/>
        </p:nvSpPr>
        <p:spPr>
          <a:xfrm>
            <a:off x="822960" y="5303520"/>
            <a:ext cx="10607040" cy="868680"/>
          </a:xfrm>
          <a:prstGeom prst="rect">
            <a:avLst/>
          </a:prstGeom>
          <a:noFill/>
          <a:ln/>
        </p:spPr>
        <p:txBody>
          <a:bodyPr wrap="square" lIns="0" tIns="0" rIns="0" bIns="0" rtlCol="0" anchor="ctr"/>
          <a:lstStyle/>
          <a:p>
            <a:pPr algn="l" indent="0" marL="0">
              <a:lnSpc>
                <a:spcPct val="100000"/>
              </a:lnSpc>
              <a:buNone/>
            </a:pPr>
            <a:r>
              <a:rPr lang="en-US" sz="3000" b="1" dirty="0">
                <a:solidFill>
                  <a:srgbClr val="0AA7A2"/>
                </a:solidFill>
                <a:latin typeface="Arial" pitchFamily="34" charset="0"/>
                <a:ea typeface="Arial" pitchFamily="34" charset="-122"/>
                <a:cs typeface="Arial" pitchFamily="34" charset="-120"/>
              </a:rPr>
              <a:t>40 → 39</a:t>
            </a:r>
            <a:pPr algn="l" indent="0" marL="0">
              <a:lnSpc>
                <a:spcPct val="100000"/>
              </a:lnSpc>
              <a:buNone/>
            </a:pPr>
            <a:r>
              <a:rPr lang="en-US" sz="1900" b="1" dirty="0">
                <a:solidFill>
                  <a:srgbClr val="FFFFFF"/>
                </a:solidFill>
                <a:latin typeface="Arial" pitchFamily="34" charset="0"/>
                <a:ea typeface="Arial" pitchFamily="34" charset="-122"/>
                <a:cs typeface="Arial" pitchFamily="34" charset="-120"/>
              </a:rPr>
              <a:t>   on every channel, from one counter sale. No second update.</a:t>
            </a:r>
            <a:endParaRPr lang="en-US" sz="1600" dirty="0"/>
          </a:p>
        </p:txBody>
      </p:sp>
      <p:sp>
        <p:nvSpPr>
          <p:cNvPr id="26" name="Text 19"/>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Captured 25 Sep 2026 from Rentify’s working development build with seeded demo data (not customer orders). Live demo available in Q&amp;A.</a:t>
            </a:r>
            <a:endParaRPr lang="en-US" sz="1000" dirty="0"/>
          </a:p>
        </p:txBody>
      </p:sp>
      <p:sp>
        <p:nvSpPr>
          <p:cNvPr id="27" name="Text 20"/>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Who we serve first</a:t>
            </a:r>
            <a:endParaRPr lang="en-US" sz="3400" dirty="0"/>
          </a:p>
        </p:txBody>
      </p:sp>
      <p:sp>
        <p:nvSpPr>
          <p:cNvPr id="3" name="Shape 1"/>
          <p:cNvSpPr/>
          <p:nvPr/>
        </p:nvSpPr>
        <p:spPr>
          <a:xfrm>
            <a:off x="548640" y="1371600"/>
            <a:ext cx="3611880" cy="4663440"/>
          </a:xfrm>
          <a:prstGeom prst="roundRect">
            <a:avLst>
              <a:gd name="adj" fmla="val 3544"/>
            </a:avLst>
          </a:prstGeom>
          <a:solidFill>
            <a:srgbClr val="DCEBFF"/>
          </a:solidFill>
          <a:ln/>
        </p:spPr>
      </p:sp>
      <p:pic>
        <p:nvPicPr>
          <p:cNvPr id="4" name="Image 0" descr="The Facebook seller">    </p:cNvPr>
          <p:cNvPicPr>
            <a:picLocks noChangeAspect="1"/>
          </p:cNvPicPr>
          <p:nvPr/>
        </p:nvPicPr>
        <p:blipFill>
          <a:blip r:embed="rId1"/>
          <a:stretch>
            <a:fillRect/>
          </a:stretch>
        </p:blipFill>
        <p:spPr>
          <a:xfrm>
            <a:off x="777240" y="1481328"/>
            <a:ext cx="1572768" cy="1965960"/>
          </a:xfrm>
          <a:prstGeom prst="rect">
            <a:avLst/>
          </a:prstGeom>
        </p:spPr>
      </p:pic>
      <p:sp>
        <p:nvSpPr>
          <p:cNvPr id="5" name="Text 2"/>
          <p:cNvSpPr txBox="1"/>
          <p:nvPr/>
        </p:nvSpPr>
        <p:spPr>
          <a:xfrm>
            <a:off x="2487168" y="1783080"/>
            <a:ext cx="1600200" cy="914400"/>
          </a:xfrm>
          <a:prstGeom prst="rect">
            <a:avLst/>
          </a:prstGeom>
          <a:noFill/>
          <a:ln/>
        </p:spPr>
        <p:txBody>
          <a:bodyPr wrap="square" lIns="0" tIns="0" rIns="0" bIns="0" rtlCol="0" anchor="t"/>
          <a:lstStyle/>
          <a:p>
            <a:pPr algn="l" indent="0" marL="0">
              <a:lnSpc>
                <a:spcPct val="100000"/>
              </a:lnSpc>
              <a:buNone/>
            </a:pPr>
            <a:r>
              <a:rPr lang="en-US" sz="1900" b="1" dirty="0">
                <a:solidFill>
                  <a:srgbClr val="15243A"/>
                </a:solidFill>
                <a:latin typeface="Arial" pitchFamily="34" charset="0"/>
                <a:ea typeface="Arial" pitchFamily="34" charset="-122"/>
                <a:cs typeface="Arial" pitchFamily="34" charset="-120"/>
              </a:rPr>
              <a:t>The Facebook seller</a:t>
            </a:r>
            <a:endParaRPr lang="en-US" sz="1900" dirty="0"/>
          </a:p>
        </p:txBody>
      </p:sp>
      <p:sp>
        <p:nvSpPr>
          <p:cNvPr id="6" name="Text 3"/>
          <p:cNvSpPr txBox="1"/>
          <p:nvPr/>
        </p:nvSpPr>
        <p:spPr>
          <a:xfrm>
            <a:off x="822960" y="3611880"/>
            <a:ext cx="3108960" cy="868680"/>
          </a:xfrm>
          <a:prstGeom prst="rect">
            <a:avLst/>
          </a:prstGeom>
          <a:noFill/>
          <a:ln/>
        </p:spPr>
        <p:txBody>
          <a:bodyPr wrap="square" lIns="0" tIns="0" rIns="0" bIns="0" rtlCol="0" anchor="t"/>
          <a:lstStyle/>
          <a:p>
            <a:pPr algn="l" indent="0" marL="0">
              <a:lnSpc>
                <a:spcPct val="108000"/>
              </a:lnSpc>
              <a:buNone/>
            </a:pPr>
            <a:r>
              <a:rPr lang="en-US" sz="1450" dirty="0">
                <a:solidFill>
                  <a:srgbClr val="15243A"/>
                </a:solidFill>
                <a:latin typeface="Arial" pitchFamily="34" charset="0"/>
                <a:ea typeface="Arial" pitchFamily="34" charset="-122"/>
                <a:cs typeface="Arial" pitchFamily="34" charset="-120"/>
              </a:rPr>
              <a:t>Sells through posts, Live and inbox. No shop, or a small one.</a:t>
            </a:r>
            <a:endParaRPr lang="en-US" sz="1450" dirty="0"/>
          </a:p>
        </p:txBody>
      </p:sp>
      <p:sp>
        <p:nvSpPr>
          <p:cNvPr id="7" name="Text 4"/>
          <p:cNvSpPr txBox="1"/>
          <p:nvPr/>
        </p:nvSpPr>
        <p:spPr>
          <a:xfrm>
            <a:off x="822960" y="4526280"/>
            <a:ext cx="310896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2463E8"/>
                </a:solidFill>
                <a:latin typeface="Arial" pitchFamily="34" charset="0"/>
                <a:ea typeface="Arial" pitchFamily="34" charset="-122"/>
                <a:cs typeface="Arial" pitchFamily="34" charset="-120"/>
              </a:rPr>
              <a:t>HOW THEY START</a:t>
            </a:r>
            <a:endParaRPr lang="en-US" sz="1100" dirty="0"/>
          </a:p>
        </p:txBody>
      </p:sp>
      <p:sp>
        <p:nvSpPr>
          <p:cNvPr id="8" name="Text 5"/>
          <p:cNvSpPr txBox="1"/>
          <p:nvPr/>
        </p:nvSpPr>
        <p:spPr>
          <a:xfrm>
            <a:off x="822960" y="4800600"/>
            <a:ext cx="3108960" cy="914400"/>
          </a:xfrm>
          <a:prstGeom prst="rect">
            <a:avLst/>
          </a:prstGeom>
          <a:noFill/>
          <a:ln/>
        </p:spPr>
        <p:txBody>
          <a:bodyPr wrap="square" lIns="0" tIns="0" rIns="0" bIns="0" rtlCol="0" anchor="t"/>
          <a:lstStyle/>
          <a:p>
            <a:pPr algn="l" indent="0" marL="0">
              <a:lnSpc>
                <a:spcPct val="108000"/>
              </a:lnSpc>
              <a:buNone/>
            </a:pPr>
            <a:r>
              <a:rPr lang="en-US" sz="1450" b="1" dirty="0">
                <a:solidFill>
                  <a:srgbClr val="15243A"/>
                </a:solidFill>
                <a:latin typeface="Arial" pitchFamily="34" charset="0"/>
                <a:ea typeface="Arial" pitchFamily="34" charset="-122"/>
                <a:cs typeface="Arial" pitchFamily="34" charset="-120"/>
              </a:rPr>
              <a:t>Starts on the marketplace plus a shareable storefront link.</a:t>
            </a:r>
            <a:endParaRPr lang="en-US" sz="1450" dirty="0"/>
          </a:p>
        </p:txBody>
      </p:sp>
      <p:sp>
        <p:nvSpPr>
          <p:cNvPr id="9" name="Shape 6"/>
          <p:cNvSpPr/>
          <p:nvPr/>
        </p:nvSpPr>
        <p:spPr>
          <a:xfrm>
            <a:off x="4389120" y="1371600"/>
            <a:ext cx="3611880" cy="4663440"/>
          </a:xfrm>
          <a:prstGeom prst="roundRect">
            <a:avLst>
              <a:gd name="adj" fmla="val 3544"/>
            </a:avLst>
          </a:prstGeom>
          <a:solidFill>
            <a:srgbClr val="D6F4F0"/>
          </a:solidFill>
          <a:ln/>
        </p:spPr>
      </p:sp>
      <p:pic>
        <p:nvPicPr>
          <p:cNvPr id="10" name="Image 1" descr="The small retail shop">    </p:cNvPr>
          <p:cNvPicPr>
            <a:picLocks noChangeAspect="1"/>
          </p:cNvPicPr>
          <p:nvPr/>
        </p:nvPicPr>
        <p:blipFill>
          <a:blip r:embed="rId2"/>
          <a:stretch>
            <a:fillRect/>
          </a:stretch>
        </p:blipFill>
        <p:spPr>
          <a:xfrm>
            <a:off x="4617720" y="1481328"/>
            <a:ext cx="1572768" cy="1965960"/>
          </a:xfrm>
          <a:prstGeom prst="rect">
            <a:avLst/>
          </a:prstGeom>
        </p:spPr>
      </p:pic>
      <p:sp>
        <p:nvSpPr>
          <p:cNvPr id="11" name="Text 7"/>
          <p:cNvSpPr txBox="1"/>
          <p:nvPr/>
        </p:nvSpPr>
        <p:spPr>
          <a:xfrm>
            <a:off x="6327648" y="1783080"/>
            <a:ext cx="1600200" cy="914400"/>
          </a:xfrm>
          <a:prstGeom prst="rect">
            <a:avLst/>
          </a:prstGeom>
          <a:noFill/>
          <a:ln/>
        </p:spPr>
        <p:txBody>
          <a:bodyPr wrap="square" lIns="0" tIns="0" rIns="0" bIns="0" rtlCol="0" anchor="t"/>
          <a:lstStyle/>
          <a:p>
            <a:pPr algn="l" indent="0" marL="0">
              <a:lnSpc>
                <a:spcPct val="100000"/>
              </a:lnSpc>
              <a:buNone/>
            </a:pPr>
            <a:r>
              <a:rPr lang="en-US" sz="1900" b="1" dirty="0">
                <a:solidFill>
                  <a:srgbClr val="15243A"/>
                </a:solidFill>
                <a:latin typeface="Arial" pitchFamily="34" charset="0"/>
                <a:ea typeface="Arial" pitchFamily="34" charset="-122"/>
                <a:cs typeface="Arial" pitchFamily="34" charset="-120"/>
              </a:rPr>
              <a:t>The small retail shop</a:t>
            </a:r>
            <a:endParaRPr lang="en-US" sz="1900" dirty="0"/>
          </a:p>
        </p:txBody>
      </p:sp>
      <p:sp>
        <p:nvSpPr>
          <p:cNvPr id="12" name="Text 8"/>
          <p:cNvSpPr txBox="1"/>
          <p:nvPr/>
        </p:nvSpPr>
        <p:spPr>
          <a:xfrm>
            <a:off x="4663440" y="3611880"/>
            <a:ext cx="3108960" cy="868680"/>
          </a:xfrm>
          <a:prstGeom prst="rect">
            <a:avLst/>
          </a:prstGeom>
          <a:noFill/>
          <a:ln/>
        </p:spPr>
        <p:txBody>
          <a:bodyPr wrap="square" lIns="0" tIns="0" rIns="0" bIns="0" rtlCol="0" anchor="t"/>
          <a:lstStyle/>
          <a:p>
            <a:pPr algn="l" indent="0" marL="0">
              <a:lnSpc>
                <a:spcPct val="108000"/>
              </a:lnSpc>
              <a:buNone/>
            </a:pPr>
            <a:r>
              <a:rPr lang="en-US" sz="1450" dirty="0">
                <a:solidFill>
                  <a:srgbClr val="15243A"/>
                </a:solidFill>
                <a:latin typeface="Arial" pitchFamily="34" charset="0"/>
                <a:ea typeface="Arial" pitchFamily="34" charset="-122"/>
                <a:cs typeface="Arial" pitchFamily="34" charset="-120"/>
              </a:rPr>
              <a:t>Sells at a counter and increasingly online.</a:t>
            </a:r>
            <a:endParaRPr lang="en-US" sz="1450" dirty="0"/>
          </a:p>
        </p:txBody>
      </p:sp>
      <p:sp>
        <p:nvSpPr>
          <p:cNvPr id="13" name="Text 9"/>
          <p:cNvSpPr txBox="1"/>
          <p:nvPr/>
        </p:nvSpPr>
        <p:spPr>
          <a:xfrm>
            <a:off x="4663440" y="4526280"/>
            <a:ext cx="310896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AA7A2"/>
                </a:solidFill>
                <a:latin typeface="Arial" pitchFamily="34" charset="0"/>
                <a:ea typeface="Arial" pitchFamily="34" charset="-122"/>
                <a:cs typeface="Arial" pitchFamily="34" charset="-120"/>
              </a:rPr>
              <a:t>HOW THEY START</a:t>
            </a:r>
            <a:endParaRPr lang="en-US" sz="1100" dirty="0"/>
          </a:p>
        </p:txBody>
      </p:sp>
      <p:sp>
        <p:nvSpPr>
          <p:cNvPr id="14" name="Text 10"/>
          <p:cNvSpPr txBox="1"/>
          <p:nvPr/>
        </p:nvSpPr>
        <p:spPr>
          <a:xfrm>
            <a:off x="4663440" y="4800600"/>
            <a:ext cx="3108960" cy="914400"/>
          </a:xfrm>
          <a:prstGeom prst="rect">
            <a:avLst/>
          </a:prstGeom>
          <a:noFill/>
          <a:ln/>
        </p:spPr>
        <p:txBody>
          <a:bodyPr wrap="square" lIns="0" tIns="0" rIns="0" bIns="0" rtlCol="0" anchor="t"/>
          <a:lstStyle/>
          <a:p>
            <a:pPr algn="l" indent="0" marL="0">
              <a:lnSpc>
                <a:spcPct val="108000"/>
              </a:lnSpc>
              <a:buNone/>
            </a:pPr>
            <a:r>
              <a:rPr lang="en-US" sz="1450" b="1" dirty="0">
                <a:solidFill>
                  <a:srgbClr val="15243A"/>
                </a:solidFill>
                <a:latin typeface="Arial" pitchFamily="34" charset="0"/>
                <a:ea typeface="Arial" pitchFamily="34" charset="-122"/>
                <a:cs typeface="Arial" pitchFamily="34" charset="-120"/>
              </a:rPr>
              <a:t>Starts with POS plus a storefront, joins the marketplace in one click.</a:t>
            </a:r>
            <a:endParaRPr lang="en-US" sz="1450" dirty="0"/>
          </a:p>
        </p:txBody>
      </p:sp>
      <p:sp>
        <p:nvSpPr>
          <p:cNvPr id="15" name="Shape 11"/>
          <p:cNvSpPr/>
          <p:nvPr/>
        </p:nvSpPr>
        <p:spPr>
          <a:xfrm>
            <a:off x="8321040" y="1371600"/>
            <a:ext cx="3319272" cy="4663440"/>
          </a:xfrm>
          <a:prstGeom prst="roundRect">
            <a:avLst>
              <a:gd name="adj" fmla="val 3857"/>
            </a:avLst>
          </a:prstGeom>
          <a:solidFill>
            <a:srgbClr val="111D35"/>
          </a:solidFill>
          <a:ln/>
        </p:spPr>
      </p:sp>
      <p:pic>
        <p:nvPicPr>
          <p:cNvPr id="16" name="Image 2" descr="preencoded.png">    </p:cNvPr>
          <p:cNvPicPr>
            <a:picLocks noChangeAspect="1"/>
          </p:cNvPicPr>
          <p:nvPr/>
        </p:nvPicPr>
        <p:blipFill>
          <a:blip r:embed="rId3"/>
          <a:stretch>
            <a:fillRect/>
          </a:stretch>
        </p:blipFill>
        <p:spPr>
          <a:xfrm>
            <a:off x="8595360" y="1645920"/>
            <a:ext cx="457200" cy="457200"/>
          </a:xfrm>
          <a:prstGeom prst="rect">
            <a:avLst/>
          </a:prstGeom>
        </p:spPr>
      </p:pic>
      <p:sp>
        <p:nvSpPr>
          <p:cNvPr id="17" name="Text 12"/>
          <p:cNvSpPr txBox="1"/>
          <p:nvPr/>
        </p:nvSpPr>
        <p:spPr>
          <a:xfrm>
            <a:off x="8595360" y="2240280"/>
            <a:ext cx="2834640" cy="274320"/>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D6F4F0"/>
                </a:solidFill>
                <a:latin typeface="Arial" pitchFamily="34" charset="0"/>
                <a:ea typeface="Arial" pitchFamily="34" charset="-122"/>
                <a:cs typeface="Arial" pitchFamily="34" charset="-120"/>
              </a:rPr>
              <a:t>BEACHHEAD</a:t>
            </a:r>
            <a:endParaRPr lang="en-US" sz="1100" dirty="0"/>
          </a:p>
        </p:txBody>
      </p:sp>
      <p:sp>
        <p:nvSpPr>
          <p:cNvPr id="18" name="Text 13"/>
          <p:cNvSpPr txBox="1"/>
          <p:nvPr/>
        </p:nvSpPr>
        <p:spPr>
          <a:xfrm>
            <a:off x="8595360" y="2560320"/>
            <a:ext cx="2834640" cy="1188720"/>
          </a:xfrm>
          <a:prstGeom prst="rect">
            <a:avLst/>
          </a:prstGeom>
          <a:noFill/>
          <a:ln/>
        </p:spPr>
        <p:txBody>
          <a:bodyPr wrap="square" lIns="0" tIns="0" rIns="0" bIns="0" rtlCol="0" anchor="t"/>
          <a:lstStyle/>
          <a:p>
            <a:pPr algn="l" indent="0" marL="0">
              <a:lnSpc>
                <a:spcPct val="105000"/>
              </a:lnSpc>
              <a:buNone/>
            </a:pPr>
            <a:r>
              <a:rPr lang="en-US" sz="1900" b="1" dirty="0">
                <a:solidFill>
                  <a:srgbClr val="FFFFFF"/>
                </a:solidFill>
                <a:latin typeface="Arial" pitchFamily="34" charset="0"/>
                <a:ea typeface="Arial" pitchFamily="34" charset="-122"/>
                <a:cs typeface="Arial" pitchFamily="34" charset="-120"/>
              </a:rPr>
              <a:t>Phnom Penh retailers who sell online and at a counter</a:t>
            </a:r>
            <a:endParaRPr lang="en-US" sz="1900" dirty="0"/>
          </a:p>
        </p:txBody>
      </p:sp>
      <p:sp>
        <p:nvSpPr>
          <p:cNvPr id="19" name="Text 14"/>
          <p:cNvSpPr txBox="1"/>
          <p:nvPr/>
        </p:nvSpPr>
        <p:spPr>
          <a:xfrm>
            <a:off x="8595360" y="3840480"/>
            <a:ext cx="2834640" cy="640080"/>
          </a:xfrm>
          <a:prstGeom prst="rect">
            <a:avLst/>
          </a:prstGeom>
          <a:noFill/>
          <a:ln/>
        </p:spPr>
        <p:txBody>
          <a:bodyPr wrap="square" lIns="0" tIns="0" rIns="0" bIns="0" rtlCol="0" anchor="t"/>
          <a:lstStyle/>
          <a:p>
            <a:pPr algn="l" indent="0" marL="0">
              <a:lnSpc>
                <a:spcPct val="110000"/>
              </a:lnSpc>
              <a:buNone/>
            </a:pPr>
            <a:r>
              <a:rPr lang="en-US" sz="1400" dirty="0">
                <a:solidFill>
                  <a:srgbClr val="D6F4F0"/>
                </a:solidFill>
                <a:latin typeface="Arial" pitchFamily="34" charset="0"/>
                <a:ea typeface="Arial" pitchFamily="34" charset="-122"/>
                <a:cs typeface="Arial" pitchFamily="34" charset="-120"/>
              </a:rPr>
              <a:t>Fashion · Beauty · Electronics · Home goods</a:t>
            </a:r>
            <a:endParaRPr lang="en-US" sz="1400" dirty="0"/>
          </a:p>
        </p:txBody>
      </p:sp>
      <p:sp>
        <p:nvSpPr>
          <p:cNvPr id="20" name="Text 15"/>
          <p:cNvSpPr txBox="1"/>
          <p:nvPr/>
        </p:nvSpPr>
        <p:spPr>
          <a:xfrm>
            <a:off x="8595360" y="4572000"/>
            <a:ext cx="2834640" cy="1188720"/>
          </a:xfrm>
          <a:prstGeom prst="rect">
            <a:avLst/>
          </a:prstGeom>
          <a:noFill/>
          <a:ln/>
        </p:spPr>
        <p:txBody>
          <a:bodyPr wrap="square" lIns="0" tIns="0" rIns="0" bIns="0" rtlCol="0" anchor="t"/>
          <a:lstStyle/>
          <a:p>
            <a:pPr algn="l" indent="0" marL="0">
              <a:lnSpc>
                <a:spcPct val="110000"/>
              </a:lnSpc>
              <a:buNone/>
            </a:pPr>
            <a:r>
              <a:rPr lang="en-US" sz="1300" dirty="0">
                <a:solidFill>
                  <a:srgbClr val="9FB3CF"/>
                </a:solidFill>
                <a:latin typeface="Arial" pitchFamily="34" charset="0"/>
                <a:ea typeface="Arial" pitchFamily="34" charset="-122"/>
                <a:cs typeface="Arial" pitchFamily="34" charset="-120"/>
              </a:rPr>
              <a:t>They already have customers, physical stock and a daily sales routine we can observe and improve.</a:t>
            </a:r>
            <a:endParaRPr lang="en-US" sz="1300" dirty="0"/>
          </a:p>
        </p:txBody>
      </p:sp>
      <p:sp>
        <p:nvSpPr>
          <p:cNvPr id="21" name="Text 16"/>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Persona photos are illustrative. Phnom Penh holds 20% of Cambodia’s establishments (Economic Census 2022).</a:t>
            </a:r>
            <a:endParaRPr lang="en-US" sz="1000" dirty="0"/>
          </a:p>
        </p:txBody>
      </p:sp>
      <p:sp>
        <p:nvSpPr>
          <p:cNvPr id="22" name="Text 17"/>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A bottom-up market we can reach</a:t>
            </a:r>
            <a:endParaRPr lang="en-US" sz="34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algn="l" indent="0" marL="0">
              <a:lnSpc>
                <a:spcPct val="100000"/>
              </a:lnSpc>
              <a:buNone/>
            </a:pPr>
            <a:r>
              <a:rPr lang="en-US" sz="1700" dirty="0">
                <a:solidFill>
                  <a:srgbClr val="52637A"/>
                </a:solidFill>
                <a:latin typeface="Arial" pitchFamily="34" charset="0"/>
                <a:ea typeface="Arial" pitchFamily="34" charset="-122"/>
                <a:cs typeface="Arial" pitchFamily="34" charset="-120"/>
              </a:rPr>
              <a:t>Counted from Cambodia’s 2022 Economic Census × US$60 a year (US$5 average monthly plan)</a:t>
            </a:r>
            <a:endParaRPr lang="en-US" sz="1700" dirty="0"/>
          </a:p>
        </p:txBody>
      </p:sp>
      <p:sp>
        <p:nvSpPr>
          <p:cNvPr id="4" name="Shape 2"/>
          <p:cNvSpPr/>
          <p:nvPr/>
        </p:nvSpPr>
        <p:spPr>
          <a:xfrm>
            <a:off x="548640" y="1783080"/>
            <a:ext cx="6400800" cy="1143000"/>
          </a:xfrm>
          <a:prstGeom prst="roundRect">
            <a:avLst>
              <a:gd name="adj" fmla="val 9600"/>
            </a:avLst>
          </a:prstGeom>
          <a:solidFill>
            <a:srgbClr val="DCEBFF"/>
          </a:solidFill>
          <a:ln/>
        </p:spPr>
      </p:sp>
      <p:sp>
        <p:nvSpPr>
          <p:cNvPr id="5" name="Text 3"/>
          <p:cNvSpPr txBox="1"/>
          <p:nvPr/>
        </p:nvSpPr>
        <p:spPr>
          <a:xfrm>
            <a:off x="777240" y="1783080"/>
            <a:ext cx="914400" cy="1143000"/>
          </a:xfrm>
          <a:prstGeom prst="rect">
            <a:avLst/>
          </a:prstGeom>
          <a:noFill/>
          <a:ln/>
        </p:spPr>
        <p:txBody>
          <a:bodyPr wrap="square" lIns="0" tIns="0" rIns="0" bIns="0" rtlCol="0" anchor="ctr"/>
          <a:lstStyle/>
          <a:p>
            <a:pPr algn="l" indent="0" marL="0">
              <a:lnSpc>
                <a:spcPct val="100000"/>
              </a:lnSpc>
              <a:buNone/>
            </a:pPr>
            <a:r>
              <a:rPr lang="en-US" sz="2200" b="1" dirty="0">
                <a:solidFill>
                  <a:srgbClr val="2463E8"/>
                </a:solidFill>
                <a:latin typeface="Arial" pitchFamily="34" charset="0"/>
                <a:ea typeface="Arial" pitchFamily="34" charset="-122"/>
                <a:cs typeface="Arial" pitchFamily="34" charset="-120"/>
              </a:rPr>
              <a:t>TAM</a:t>
            </a:r>
            <a:endParaRPr lang="en-US" sz="2200" dirty="0"/>
          </a:p>
        </p:txBody>
      </p:sp>
      <p:sp>
        <p:nvSpPr>
          <p:cNvPr id="6" name="Text 4"/>
          <p:cNvSpPr txBox="1"/>
          <p:nvPr/>
        </p:nvSpPr>
        <p:spPr>
          <a:xfrm>
            <a:off x="1691640" y="1892808"/>
            <a:ext cx="5120640" cy="502920"/>
          </a:xfrm>
          <a:prstGeom prst="rect">
            <a:avLst/>
          </a:prstGeom>
          <a:noFill/>
          <a:ln/>
        </p:spPr>
        <p:txBody>
          <a:bodyPr wrap="square" lIns="0" tIns="0" rIns="0" bIns="0" rtlCol="0" anchor="t"/>
          <a:lstStyle/>
          <a:p>
            <a:pPr algn="l" indent="0" marL="0">
              <a:lnSpc>
                <a:spcPct val="100000"/>
              </a:lnSpc>
              <a:buNone/>
            </a:pPr>
            <a:r>
              <a:rPr lang="en-US" sz="2600" b="1" dirty="0">
                <a:solidFill>
                  <a:srgbClr val="15243A"/>
                </a:solidFill>
                <a:latin typeface="Arial" pitchFamily="34" charset="0"/>
                <a:ea typeface="Arial" pitchFamily="34" charset="-122"/>
                <a:cs typeface="Arial" pitchFamily="34" charset="-120"/>
              </a:rPr>
              <a:t>410,600</a:t>
            </a:r>
            <a:endParaRPr lang="en-US" sz="2600" dirty="0"/>
          </a:p>
        </p:txBody>
      </p:sp>
      <p:sp>
        <p:nvSpPr>
          <p:cNvPr id="7" name="Text 5"/>
          <p:cNvSpPr txBox="1"/>
          <p:nvPr/>
        </p:nvSpPr>
        <p:spPr>
          <a:xfrm>
            <a:off x="1691640" y="2386584"/>
            <a:ext cx="5120640" cy="502920"/>
          </a:xfrm>
          <a:prstGeom prst="rect">
            <a:avLst/>
          </a:prstGeom>
          <a:noFill/>
          <a:ln/>
        </p:spPr>
        <p:txBody>
          <a:bodyPr wrap="square" lIns="0" tIns="0" rIns="0" bIns="0" rtlCol="0" anchor="t"/>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retail shops in Cambodia</a:t>
            </a:r>
            <a:endParaRPr lang="en-US" sz="1250" dirty="0"/>
          </a:p>
        </p:txBody>
      </p:sp>
      <p:sp>
        <p:nvSpPr>
          <p:cNvPr id="8" name="Text 6"/>
          <p:cNvSpPr txBox="1"/>
          <p:nvPr/>
        </p:nvSpPr>
        <p:spPr>
          <a:xfrm>
            <a:off x="7178040" y="1783080"/>
            <a:ext cx="2377440" cy="1143000"/>
          </a:xfrm>
          <a:prstGeom prst="rect">
            <a:avLst/>
          </a:prstGeom>
          <a:noFill/>
          <a:ln/>
        </p:spPr>
        <p:txBody>
          <a:bodyPr wrap="square" lIns="0" tIns="0" rIns="0" bIns="0" rtlCol="0" anchor="ctr"/>
          <a:lstStyle/>
          <a:p>
            <a:pPr algn="l" indent="0" marL="0">
              <a:lnSpc>
                <a:spcPct val="100000"/>
              </a:lnSpc>
              <a:buNone/>
            </a:pPr>
            <a:r>
              <a:rPr lang="en-US" sz="2000" b="1" dirty="0">
                <a:solidFill>
                  <a:srgbClr val="2463E8"/>
                </a:solidFill>
                <a:latin typeface="Arial" pitchFamily="34" charset="0"/>
                <a:ea typeface="Arial" pitchFamily="34" charset="-122"/>
                <a:cs typeface="Arial" pitchFamily="34" charset="-120"/>
              </a:rPr>
              <a:t>US$24.6M / year</a:t>
            </a:r>
            <a:endParaRPr lang="en-US" sz="2000" dirty="0"/>
          </a:p>
        </p:txBody>
      </p:sp>
      <p:sp>
        <p:nvSpPr>
          <p:cNvPr id="9" name="Shape 7"/>
          <p:cNvSpPr/>
          <p:nvPr/>
        </p:nvSpPr>
        <p:spPr>
          <a:xfrm>
            <a:off x="548640" y="3108960"/>
            <a:ext cx="5303520" cy="1143000"/>
          </a:xfrm>
          <a:prstGeom prst="roundRect">
            <a:avLst>
              <a:gd name="adj" fmla="val 9600"/>
            </a:avLst>
          </a:prstGeom>
          <a:solidFill>
            <a:srgbClr val="D6F4F0"/>
          </a:solidFill>
          <a:ln/>
        </p:spPr>
      </p:sp>
      <p:sp>
        <p:nvSpPr>
          <p:cNvPr id="10" name="Text 8"/>
          <p:cNvSpPr txBox="1"/>
          <p:nvPr/>
        </p:nvSpPr>
        <p:spPr>
          <a:xfrm>
            <a:off x="777240" y="3108960"/>
            <a:ext cx="914400" cy="1143000"/>
          </a:xfrm>
          <a:prstGeom prst="rect">
            <a:avLst/>
          </a:prstGeom>
          <a:noFill/>
          <a:ln/>
        </p:spPr>
        <p:txBody>
          <a:bodyPr wrap="square" lIns="0" tIns="0" rIns="0" bIns="0" rtlCol="0" anchor="ctr"/>
          <a:lstStyle/>
          <a:p>
            <a:pPr algn="l" indent="0" marL="0">
              <a:lnSpc>
                <a:spcPct val="100000"/>
              </a:lnSpc>
              <a:buNone/>
            </a:pPr>
            <a:r>
              <a:rPr lang="en-US" sz="2200" b="1" dirty="0">
                <a:solidFill>
                  <a:srgbClr val="0AA7A2"/>
                </a:solidFill>
                <a:latin typeface="Arial" pitchFamily="34" charset="0"/>
                <a:ea typeface="Arial" pitchFamily="34" charset="-122"/>
                <a:cs typeface="Arial" pitchFamily="34" charset="-120"/>
              </a:rPr>
              <a:t>SAM</a:t>
            </a:r>
            <a:endParaRPr lang="en-US" sz="2200" dirty="0"/>
          </a:p>
        </p:txBody>
      </p:sp>
      <p:sp>
        <p:nvSpPr>
          <p:cNvPr id="11" name="Text 9"/>
          <p:cNvSpPr txBox="1"/>
          <p:nvPr/>
        </p:nvSpPr>
        <p:spPr>
          <a:xfrm>
            <a:off x="1691640" y="3218688"/>
            <a:ext cx="4023360" cy="502920"/>
          </a:xfrm>
          <a:prstGeom prst="rect">
            <a:avLst/>
          </a:prstGeom>
          <a:noFill/>
          <a:ln/>
        </p:spPr>
        <p:txBody>
          <a:bodyPr wrap="square" lIns="0" tIns="0" rIns="0" bIns="0" rtlCol="0" anchor="t"/>
          <a:lstStyle/>
          <a:p>
            <a:pPr algn="l" indent="0" marL="0">
              <a:lnSpc>
                <a:spcPct val="100000"/>
              </a:lnSpc>
              <a:buNone/>
            </a:pPr>
            <a:r>
              <a:rPr lang="en-US" sz="2600" b="1" dirty="0">
                <a:solidFill>
                  <a:srgbClr val="15243A"/>
                </a:solidFill>
                <a:latin typeface="Arial" pitchFamily="34" charset="0"/>
                <a:ea typeface="Arial" pitchFamily="34" charset="-122"/>
                <a:cs typeface="Arial" pitchFamily="34" charset="-120"/>
              </a:rPr>
              <a:t>65,400</a:t>
            </a:r>
            <a:endParaRPr lang="en-US" sz="2600" dirty="0"/>
          </a:p>
        </p:txBody>
      </p:sp>
      <p:sp>
        <p:nvSpPr>
          <p:cNvPr id="12" name="Text 10"/>
          <p:cNvSpPr txBox="1"/>
          <p:nvPr/>
        </p:nvSpPr>
        <p:spPr>
          <a:xfrm>
            <a:off x="1691640" y="3712464"/>
            <a:ext cx="4023360" cy="502920"/>
          </a:xfrm>
          <a:prstGeom prst="rect">
            <a:avLst/>
          </a:prstGeom>
          <a:noFill/>
          <a:ln/>
        </p:spPr>
        <p:txBody>
          <a:bodyPr wrap="square" lIns="0" tIns="0" rIns="0" bIns="0" rtlCol="0" anchor="t"/>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specialized non-food stores: fashion, beauty, electronics, home and more</a:t>
            </a:r>
            <a:endParaRPr lang="en-US" sz="1250" dirty="0"/>
          </a:p>
        </p:txBody>
      </p:sp>
      <p:sp>
        <p:nvSpPr>
          <p:cNvPr id="13" name="Text 11"/>
          <p:cNvSpPr txBox="1"/>
          <p:nvPr/>
        </p:nvSpPr>
        <p:spPr>
          <a:xfrm>
            <a:off x="7178040" y="3108960"/>
            <a:ext cx="2377440" cy="1143000"/>
          </a:xfrm>
          <a:prstGeom prst="rect">
            <a:avLst/>
          </a:prstGeom>
          <a:noFill/>
          <a:ln/>
        </p:spPr>
        <p:txBody>
          <a:bodyPr wrap="square" lIns="0" tIns="0" rIns="0" bIns="0" rtlCol="0" anchor="ctr"/>
          <a:lstStyle/>
          <a:p>
            <a:pPr algn="l" indent="0" marL="0">
              <a:lnSpc>
                <a:spcPct val="100000"/>
              </a:lnSpc>
              <a:buNone/>
            </a:pPr>
            <a:r>
              <a:rPr lang="en-US" sz="2000" b="1" dirty="0">
                <a:solidFill>
                  <a:srgbClr val="0AA7A2"/>
                </a:solidFill>
                <a:latin typeface="Arial" pitchFamily="34" charset="0"/>
                <a:ea typeface="Arial" pitchFamily="34" charset="-122"/>
                <a:cs typeface="Arial" pitchFamily="34" charset="-120"/>
              </a:rPr>
              <a:t>US$3.9M / year</a:t>
            </a:r>
            <a:endParaRPr lang="en-US" sz="2000" dirty="0"/>
          </a:p>
        </p:txBody>
      </p:sp>
      <p:sp>
        <p:nvSpPr>
          <p:cNvPr id="14" name="Shape 12"/>
          <p:cNvSpPr/>
          <p:nvPr/>
        </p:nvSpPr>
        <p:spPr>
          <a:xfrm>
            <a:off x="548640" y="4434840"/>
            <a:ext cx="4206240" cy="1143000"/>
          </a:xfrm>
          <a:prstGeom prst="roundRect">
            <a:avLst>
              <a:gd name="adj" fmla="val 9600"/>
            </a:avLst>
          </a:prstGeom>
          <a:solidFill>
            <a:srgbClr val="FFE9C2"/>
          </a:solidFill>
          <a:ln/>
        </p:spPr>
      </p:sp>
      <p:sp>
        <p:nvSpPr>
          <p:cNvPr id="15" name="Text 13"/>
          <p:cNvSpPr txBox="1"/>
          <p:nvPr/>
        </p:nvSpPr>
        <p:spPr>
          <a:xfrm>
            <a:off x="777240" y="4434840"/>
            <a:ext cx="914400" cy="1143000"/>
          </a:xfrm>
          <a:prstGeom prst="rect">
            <a:avLst/>
          </a:prstGeom>
          <a:noFill/>
          <a:ln/>
        </p:spPr>
        <p:txBody>
          <a:bodyPr wrap="square" lIns="0" tIns="0" rIns="0" bIns="0" rtlCol="0" anchor="ctr"/>
          <a:lstStyle/>
          <a:p>
            <a:pPr algn="l" indent="0" marL="0">
              <a:lnSpc>
                <a:spcPct val="100000"/>
              </a:lnSpc>
              <a:buNone/>
            </a:pPr>
            <a:r>
              <a:rPr lang="en-US" sz="2200" b="1" dirty="0">
                <a:solidFill>
                  <a:srgbClr val="B7791F"/>
                </a:solidFill>
                <a:latin typeface="Arial" pitchFamily="34" charset="0"/>
                <a:ea typeface="Arial" pitchFamily="34" charset="-122"/>
                <a:cs typeface="Arial" pitchFamily="34" charset="-120"/>
              </a:rPr>
              <a:t>SOM</a:t>
            </a:r>
            <a:endParaRPr lang="en-US" sz="2200" dirty="0"/>
          </a:p>
        </p:txBody>
      </p:sp>
      <p:sp>
        <p:nvSpPr>
          <p:cNvPr id="16" name="Text 14"/>
          <p:cNvSpPr txBox="1"/>
          <p:nvPr/>
        </p:nvSpPr>
        <p:spPr>
          <a:xfrm>
            <a:off x="1691640" y="4544568"/>
            <a:ext cx="2926080" cy="502920"/>
          </a:xfrm>
          <a:prstGeom prst="rect">
            <a:avLst/>
          </a:prstGeom>
          <a:noFill/>
          <a:ln/>
        </p:spPr>
        <p:txBody>
          <a:bodyPr wrap="square" lIns="0" tIns="0" rIns="0" bIns="0" rtlCol="0" anchor="t"/>
          <a:lstStyle/>
          <a:p>
            <a:pPr algn="l" indent="0" marL="0">
              <a:lnSpc>
                <a:spcPct val="100000"/>
              </a:lnSpc>
              <a:buNone/>
            </a:pPr>
            <a:r>
              <a:rPr lang="en-US" sz="2600" b="1" dirty="0">
                <a:solidFill>
                  <a:srgbClr val="15243A"/>
                </a:solidFill>
                <a:latin typeface="Arial" pitchFamily="34" charset="0"/>
                <a:ea typeface="Arial" pitchFamily="34" charset="-122"/>
                <a:cs typeface="Arial" pitchFamily="34" charset="-120"/>
              </a:rPr>
              <a:t>≈1,130</a:t>
            </a:r>
            <a:endParaRPr lang="en-US" sz="2600" dirty="0"/>
          </a:p>
        </p:txBody>
      </p:sp>
      <p:sp>
        <p:nvSpPr>
          <p:cNvPr id="17" name="Text 15"/>
          <p:cNvSpPr txBox="1"/>
          <p:nvPr/>
        </p:nvSpPr>
        <p:spPr>
          <a:xfrm>
            <a:off x="1691640" y="5038344"/>
            <a:ext cx="2926080" cy="502920"/>
          </a:xfrm>
          <a:prstGeom prst="rect">
            <a:avLst/>
          </a:prstGeom>
          <a:noFill/>
          <a:ln/>
        </p:spPr>
        <p:txBody>
          <a:bodyPr wrap="square" lIns="0" tIns="0" rIns="0" bIns="0" rtlCol="0" anchor="t"/>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avg. paying merchants in Year 3 (1.7% of SAM)</a:t>
            </a:r>
            <a:endParaRPr lang="en-US" sz="1250" dirty="0"/>
          </a:p>
        </p:txBody>
      </p:sp>
      <p:sp>
        <p:nvSpPr>
          <p:cNvPr id="18" name="Text 16"/>
          <p:cNvSpPr txBox="1"/>
          <p:nvPr/>
        </p:nvSpPr>
        <p:spPr>
          <a:xfrm>
            <a:off x="7178040" y="4434840"/>
            <a:ext cx="2377440" cy="1143000"/>
          </a:xfrm>
          <a:prstGeom prst="rect">
            <a:avLst/>
          </a:prstGeom>
          <a:noFill/>
          <a:ln/>
        </p:spPr>
        <p:txBody>
          <a:bodyPr wrap="square" lIns="0" tIns="0" rIns="0" bIns="0" rtlCol="0" anchor="ctr"/>
          <a:lstStyle/>
          <a:p>
            <a:pPr algn="l" indent="0" marL="0">
              <a:lnSpc>
                <a:spcPct val="100000"/>
              </a:lnSpc>
              <a:buNone/>
            </a:pPr>
            <a:r>
              <a:rPr lang="en-US" sz="2000" b="1" dirty="0">
                <a:solidFill>
                  <a:srgbClr val="B7791F"/>
                </a:solidFill>
                <a:latin typeface="Arial" pitchFamily="34" charset="0"/>
                <a:ea typeface="Arial" pitchFamily="34" charset="-122"/>
                <a:cs typeface="Arial" pitchFamily="34" charset="-120"/>
              </a:rPr>
              <a:t>US$67.7K / year</a:t>
            </a:r>
            <a:endParaRPr lang="en-US" sz="2000" dirty="0"/>
          </a:p>
        </p:txBody>
      </p:sp>
      <p:sp>
        <p:nvSpPr>
          <p:cNvPr id="19" name="Shape 17"/>
          <p:cNvSpPr/>
          <p:nvPr/>
        </p:nvSpPr>
        <p:spPr>
          <a:xfrm>
            <a:off x="9601200" y="1783080"/>
            <a:ext cx="2039112" cy="3794760"/>
          </a:xfrm>
          <a:prstGeom prst="roundRect">
            <a:avLst>
              <a:gd name="adj" fmla="val 5381"/>
            </a:avLst>
          </a:prstGeom>
          <a:solidFill>
            <a:srgbClr val="111D35"/>
          </a:solidFill>
          <a:ln/>
        </p:spPr>
      </p:sp>
      <p:sp>
        <p:nvSpPr>
          <p:cNvPr id="20" name="Text 18"/>
          <p:cNvSpPr txBox="1"/>
          <p:nvPr/>
        </p:nvSpPr>
        <p:spPr>
          <a:xfrm>
            <a:off x="9802368" y="2011680"/>
            <a:ext cx="1645920" cy="274320"/>
          </a:xfrm>
          <a:prstGeom prst="rect">
            <a:avLst/>
          </a:prstGeom>
          <a:noFill/>
          <a:ln/>
        </p:spPr>
        <p:txBody>
          <a:bodyPr wrap="square" lIns="0" tIns="0" rIns="0" bIns="0" rtlCol="0" anchor="t"/>
          <a:lstStyle/>
          <a:p>
            <a:pPr algn="l" indent="0" marL="0">
              <a:lnSpc>
                <a:spcPct val="100000"/>
              </a:lnSpc>
              <a:buNone/>
            </a:pPr>
            <a:r>
              <a:rPr lang="en-US" sz="1100" b="1" spc="200" kern="0" dirty="0">
                <a:solidFill>
                  <a:srgbClr val="D6F4F0"/>
                </a:solidFill>
                <a:latin typeface="Arial" pitchFamily="34" charset="0"/>
                <a:ea typeface="Arial" pitchFamily="34" charset="-122"/>
                <a:cs typeface="Arial" pitchFamily="34" charset="-120"/>
              </a:rPr>
              <a:t>ON TOP</a:t>
            </a:r>
            <a:endParaRPr lang="en-US" sz="1100" dirty="0"/>
          </a:p>
        </p:txBody>
      </p:sp>
      <p:sp>
        <p:nvSpPr>
          <p:cNvPr id="21" name="Text 19"/>
          <p:cNvSpPr txBox="1"/>
          <p:nvPr/>
        </p:nvSpPr>
        <p:spPr>
          <a:xfrm>
            <a:off x="9802368" y="2286000"/>
            <a:ext cx="1691640" cy="731520"/>
          </a:xfrm>
          <a:prstGeom prst="rect">
            <a:avLst/>
          </a:prstGeom>
          <a:noFill/>
          <a:ln/>
        </p:spPr>
        <p:txBody>
          <a:bodyPr wrap="square" lIns="0" tIns="0" rIns="0" bIns="0" rtlCol="0" anchor="t"/>
          <a:lstStyle/>
          <a:p>
            <a:pPr algn="l" indent="0" marL="0">
              <a:lnSpc>
                <a:spcPct val="100000"/>
              </a:lnSpc>
              <a:buNone/>
            </a:pPr>
            <a:r>
              <a:rPr lang="en-US" sz="1600" b="1" dirty="0">
                <a:solidFill>
                  <a:srgbClr val="FFFFFF"/>
                </a:solidFill>
                <a:latin typeface="Arial" pitchFamily="34" charset="0"/>
                <a:ea typeface="Arial" pitchFamily="34" charset="-122"/>
                <a:cs typeface="Arial" pitchFamily="34" charset="-120"/>
              </a:rPr>
              <a:t>Marketplace commission</a:t>
            </a:r>
            <a:endParaRPr lang="en-US" sz="1600" dirty="0"/>
          </a:p>
        </p:txBody>
      </p:sp>
      <p:sp>
        <p:nvSpPr>
          <p:cNvPr id="22" name="Text 20"/>
          <p:cNvSpPr txBox="1"/>
          <p:nvPr/>
        </p:nvSpPr>
        <p:spPr>
          <a:xfrm>
            <a:off x="9802368" y="3063240"/>
            <a:ext cx="1691640" cy="1188720"/>
          </a:xfrm>
          <a:prstGeom prst="rect">
            <a:avLst/>
          </a:prstGeom>
          <a:noFill/>
          <a:ln/>
        </p:spPr>
        <p:txBody>
          <a:bodyPr wrap="square" lIns="0" tIns="0" rIns="0" bIns="0" rtlCol="0" anchor="t"/>
          <a:lstStyle/>
          <a:p>
            <a:pPr algn="l" indent="0" marL="0">
              <a:lnSpc>
                <a:spcPct val="110000"/>
              </a:lnSpc>
              <a:buNone/>
            </a:pPr>
            <a:r>
              <a:rPr lang="en-US" sz="1200" dirty="0">
                <a:solidFill>
                  <a:srgbClr val="9FB3CF"/>
                </a:solidFill>
                <a:latin typeface="Arial" pitchFamily="34" charset="0"/>
                <a:ea typeface="Arial" pitchFamily="34" charset="-122"/>
                <a:cs typeface="Arial" pitchFamily="34" charset="-120"/>
              </a:rPr>
              <a:t>Not counted here. Cambodia’s e-commerce market was US$1.51B in 2024.</a:t>
            </a:r>
            <a:endParaRPr lang="en-US" sz="1200" dirty="0"/>
          </a:p>
        </p:txBody>
      </p:sp>
      <p:sp>
        <p:nvSpPr>
          <p:cNvPr id="23" name="Text 21"/>
          <p:cNvSpPr txBox="1"/>
          <p:nvPr/>
        </p:nvSpPr>
        <p:spPr>
          <a:xfrm>
            <a:off x="9802368" y="4297680"/>
            <a:ext cx="1691640" cy="1097280"/>
          </a:xfrm>
          <a:prstGeom prst="rect">
            <a:avLst/>
          </a:prstGeom>
          <a:noFill/>
          <a:ln/>
        </p:spPr>
        <p:txBody>
          <a:bodyPr wrap="square" lIns="0" tIns="0" rIns="0" bIns="0" rtlCol="0" anchor="t"/>
          <a:lstStyle/>
          <a:p>
            <a:pPr algn="l" indent="0" marL="0">
              <a:lnSpc>
                <a:spcPct val="110000"/>
              </a:lnSpc>
              <a:buNone/>
            </a:pPr>
            <a:r>
              <a:rPr lang="en-US" sz="1200" dirty="0">
                <a:solidFill>
                  <a:srgbClr val="9FB3CF"/>
                </a:solidFill>
                <a:latin typeface="Arial" pitchFamily="34" charset="0"/>
                <a:ea typeface="Arial" pitchFamily="34" charset="-122"/>
                <a:cs typeface="Arial" pitchFamily="34" charset="-120"/>
              </a:rPr>
              <a:t>Facebook-only sellers are largely outside the census — also upside.</a:t>
            </a:r>
            <a:endParaRPr lang="en-US" sz="1200" dirty="0"/>
          </a:p>
        </p:txBody>
      </p:sp>
      <p:sp>
        <p:nvSpPr>
          <p:cNvPr id="24" name="Text 22"/>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Sources: NIS Economic Census 2022, Table 2.10 (ISIC 47 excl. fuel; ISIC 4741–4774); Ministry of Commerce 2024. SOM from the team’s 3-year model (slide 12).</a:t>
            </a:r>
            <a:endParaRPr lang="en-US" sz="1000" dirty="0"/>
          </a:p>
        </p:txBody>
      </p:sp>
      <p:sp>
        <p:nvSpPr>
          <p:cNvPr id="25" name="Text 23"/>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How Rentify makes money</a:t>
            </a:r>
            <a:endParaRPr lang="en-US" sz="34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algn="l" indent="0" marL="0">
              <a:lnSpc>
                <a:spcPct val="100000"/>
              </a:lnSpc>
              <a:buNone/>
            </a:pPr>
            <a:r>
              <a:rPr lang="en-US" sz="1700" dirty="0">
                <a:solidFill>
                  <a:srgbClr val="52637A"/>
                </a:solidFill>
                <a:latin typeface="Arial" pitchFamily="34" charset="0"/>
                <a:ea typeface="Arial" pitchFamily="34" charset="-122"/>
                <a:cs typeface="Arial" pitchFamily="34" charset="-120"/>
              </a:rPr>
              <a:t>A subscription for the tools, plus commission only where our marketplace creates the sale</a:t>
            </a:r>
            <a:endParaRPr lang="en-US" sz="1700" dirty="0"/>
          </a:p>
        </p:txBody>
      </p:sp>
      <p:sp>
        <p:nvSpPr>
          <p:cNvPr id="4" name="Shape 2"/>
          <p:cNvSpPr/>
          <p:nvPr/>
        </p:nvSpPr>
        <p:spPr>
          <a:xfrm>
            <a:off x="548640" y="1783080"/>
            <a:ext cx="2240280" cy="4069080"/>
          </a:xfrm>
          <a:prstGeom prst="roundRect">
            <a:avLst>
              <a:gd name="adj" fmla="val 4898"/>
            </a:avLst>
          </a:prstGeom>
          <a:solidFill>
            <a:srgbClr val="FFFFFF"/>
          </a:solidFill>
          <a:ln/>
          <a:effectLst>
            <a:outerShdw sx="100000" sy="100000" kx="0" ky="0" algn="bl" rotWithShape="0" blurRad="101600" dist="25400" dir="5400000">
              <a:srgbClr val="1A2A4A">
                <a:alpha val="12000"/>
              </a:srgbClr>
            </a:outerShdw>
          </a:effectLst>
        </p:spPr>
      </p:sp>
      <p:sp>
        <p:nvSpPr>
          <p:cNvPr id="5" name="Text 3"/>
          <p:cNvSpPr txBox="1"/>
          <p:nvPr/>
        </p:nvSpPr>
        <p:spPr>
          <a:xfrm>
            <a:off x="777240" y="2057400"/>
            <a:ext cx="1828800" cy="365760"/>
          </a:xfrm>
          <a:prstGeom prst="rect">
            <a:avLst/>
          </a:prstGeom>
          <a:noFill/>
          <a:ln/>
        </p:spPr>
        <p:txBody>
          <a:bodyPr wrap="square" lIns="0" tIns="0" rIns="0" bIns="0" rtlCol="0" anchor="t"/>
          <a:lstStyle/>
          <a:p>
            <a:pPr algn="l" indent="0" marL="0">
              <a:lnSpc>
                <a:spcPct val="100000"/>
              </a:lnSpc>
              <a:buNone/>
            </a:pPr>
            <a:r>
              <a:rPr lang="en-US" sz="1800" b="1" dirty="0">
                <a:solidFill>
                  <a:srgbClr val="15243A"/>
                </a:solidFill>
                <a:latin typeface="Arial" pitchFamily="34" charset="0"/>
                <a:ea typeface="Arial" pitchFamily="34" charset="-122"/>
                <a:cs typeface="Arial" pitchFamily="34" charset="-120"/>
              </a:rPr>
              <a:t>Starter</a:t>
            </a:r>
            <a:endParaRPr lang="en-US" sz="1800" dirty="0"/>
          </a:p>
        </p:txBody>
      </p:sp>
      <p:sp>
        <p:nvSpPr>
          <p:cNvPr id="6" name="Text 4"/>
          <p:cNvSpPr txBox="1"/>
          <p:nvPr/>
        </p:nvSpPr>
        <p:spPr>
          <a:xfrm>
            <a:off x="777240" y="2468880"/>
            <a:ext cx="1920240" cy="640080"/>
          </a:xfrm>
          <a:prstGeom prst="rect">
            <a:avLst/>
          </a:prstGeom>
          <a:noFill/>
          <a:ln/>
        </p:spPr>
        <p:txBody>
          <a:bodyPr wrap="square" lIns="0" tIns="0" rIns="0" bIns="0" rtlCol="0" anchor="b"/>
          <a:lstStyle/>
          <a:p>
            <a:pPr algn="l" indent="0" marL="0">
              <a:lnSpc>
                <a:spcPct val="100000"/>
              </a:lnSpc>
              <a:buNone/>
            </a:pPr>
            <a:r>
              <a:rPr lang="en-US" sz="3800" b="1" dirty="0">
                <a:solidFill>
                  <a:srgbClr val="15243A"/>
                </a:solidFill>
                <a:latin typeface="Arial" pitchFamily="34" charset="0"/>
                <a:ea typeface="Arial" pitchFamily="34" charset="-122"/>
                <a:cs typeface="Arial" pitchFamily="34" charset="-120"/>
              </a:rPr>
              <a:t>$3</a:t>
            </a:r>
            <a:pPr algn="l" indent="0" marL="0">
              <a:lnSpc>
                <a:spcPct val="100000"/>
              </a:lnSpc>
              <a:buNone/>
            </a:pPr>
            <a:r>
              <a:rPr lang="en-US" sz="1300" dirty="0">
                <a:solidFill>
                  <a:srgbClr val="15243A"/>
                </a:solidFill>
                <a:latin typeface="Arial" pitchFamily="34" charset="0"/>
                <a:ea typeface="Arial" pitchFamily="34" charset="-122"/>
                <a:cs typeface="Arial" pitchFamily="34" charset="-120"/>
              </a:rPr>
              <a:t> /month</a:t>
            </a:r>
            <a:endParaRPr lang="en-US" sz="1600" dirty="0"/>
          </a:p>
        </p:txBody>
      </p:sp>
      <p:pic>
        <p:nvPicPr>
          <p:cNvPr id="7" name="Image 0" descr="preencoded.png">    </p:cNvPr>
          <p:cNvPicPr>
            <a:picLocks noChangeAspect="1"/>
          </p:cNvPicPr>
          <p:nvPr/>
        </p:nvPicPr>
        <p:blipFill>
          <a:blip r:embed="rId1"/>
          <a:stretch>
            <a:fillRect/>
          </a:stretch>
        </p:blipFill>
        <p:spPr>
          <a:xfrm>
            <a:off x="777240" y="3364992"/>
            <a:ext cx="201168" cy="201168"/>
          </a:xfrm>
          <a:prstGeom prst="rect">
            <a:avLst/>
          </a:prstGeom>
        </p:spPr>
      </p:pic>
      <p:sp>
        <p:nvSpPr>
          <p:cNvPr id="8" name="Text 5"/>
          <p:cNvSpPr txBox="1"/>
          <p:nvPr/>
        </p:nvSpPr>
        <p:spPr>
          <a:xfrm>
            <a:off x="1051560" y="3337560"/>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15243A"/>
                </a:solidFill>
                <a:latin typeface="Arial" pitchFamily="34" charset="0"/>
                <a:ea typeface="Arial" pitchFamily="34" charset="-122"/>
                <a:cs typeface="Arial" pitchFamily="34" charset="-120"/>
              </a:rPr>
              <a:t>Storefront (Khmer / English)</a:t>
            </a:r>
            <a:endParaRPr lang="en-US" sz="1250" dirty="0"/>
          </a:p>
        </p:txBody>
      </p:sp>
      <p:pic>
        <p:nvPicPr>
          <p:cNvPr id="9" name="Image 1" descr="preencoded.png">    </p:cNvPr>
          <p:cNvPicPr>
            <a:picLocks noChangeAspect="1"/>
          </p:cNvPicPr>
          <p:nvPr/>
        </p:nvPicPr>
        <p:blipFill>
          <a:blip r:embed="rId2"/>
          <a:stretch>
            <a:fillRect/>
          </a:stretch>
        </p:blipFill>
        <p:spPr>
          <a:xfrm>
            <a:off x="777240" y="3950208"/>
            <a:ext cx="201168" cy="201168"/>
          </a:xfrm>
          <a:prstGeom prst="rect">
            <a:avLst/>
          </a:prstGeom>
        </p:spPr>
      </p:pic>
      <p:sp>
        <p:nvSpPr>
          <p:cNvPr id="10" name="Text 6"/>
          <p:cNvSpPr txBox="1"/>
          <p:nvPr/>
        </p:nvSpPr>
        <p:spPr>
          <a:xfrm>
            <a:off x="1051560" y="3922776"/>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15243A"/>
                </a:solidFill>
                <a:latin typeface="Arial" pitchFamily="34" charset="0"/>
                <a:ea typeface="Arial" pitchFamily="34" charset="-122"/>
                <a:cs typeface="Arial" pitchFamily="34" charset="-120"/>
              </a:rPr>
              <a:t>Marketplace listing</a:t>
            </a:r>
            <a:endParaRPr lang="en-US" sz="1250" dirty="0"/>
          </a:p>
        </p:txBody>
      </p:sp>
      <p:pic>
        <p:nvPicPr>
          <p:cNvPr id="11" name="Image 2" descr="preencoded.png">    </p:cNvPr>
          <p:cNvPicPr>
            <a:picLocks noChangeAspect="1"/>
          </p:cNvPicPr>
          <p:nvPr/>
        </p:nvPicPr>
        <p:blipFill>
          <a:blip r:embed="rId3"/>
          <a:stretch>
            <a:fillRect/>
          </a:stretch>
        </p:blipFill>
        <p:spPr>
          <a:xfrm>
            <a:off x="777240" y="4535424"/>
            <a:ext cx="201168" cy="201168"/>
          </a:xfrm>
          <a:prstGeom prst="rect">
            <a:avLst/>
          </a:prstGeom>
        </p:spPr>
      </p:pic>
      <p:sp>
        <p:nvSpPr>
          <p:cNvPr id="12" name="Text 7"/>
          <p:cNvSpPr txBox="1"/>
          <p:nvPr/>
        </p:nvSpPr>
        <p:spPr>
          <a:xfrm>
            <a:off x="1051560" y="4507992"/>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15243A"/>
                </a:solidFill>
                <a:latin typeface="Arial" pitchFamily="34" charset="0"/>
                <a:ea typeface="Arial" pitchFamily="34" charset="-122"/>
                <a:cs typeface="Arial" pitchFamily="34" charset="-120"/>
              </a:rPr>
              <a:t>POS for one counter</a:t>
            </a:r>
            <a:endParaRPr lang="en-US" sz="1250" dirty="0"/>
          </a:p>
        </p:txBody>
      </p:sp>
      <p:pic>
        <p:nvPicPr>
          <p:cNvPr id="13" name="Image 3" descr="preencoded.png">    </p:cNvPr>
          <p:cNvPicPr>
            <a:picLocks noChangeAspect="1"/>
          </p:cNvPicPr>
          <p:nvPr/>
        </p:nvPicPr>
        <p:blipFill>
          <a:blip r:embed="rId4"/>
          <a:stretch>
            <a:fillRect/>
          </a:stretch>
        </p:blipFill>
        <p:spPr>
          <a:xfrm>
            <a:off x="777240" y="5120640"/>
            <a:ext cx="201168" cy="201168"/>
          </a:xfrm>
          <a:prstGeom prst="rect">
            <a:avLst/>
          </a:prstGeom>
        </p:spPr>
      </p:pic>
      <p:sp>
        <p:nvSpPr>
          <p:cNvPr id="14" name="Text 8"/>
          <p:cNvSpPr txBox="1"/>
          <p:nvPr/>
        </p:nvSpPr>
        <p:spPr>
          <a:xfrm>
            <a:off x="1051560" y="5093208"/>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15243A"/>
                </a:solidFill>
                <a:latin typeface="Arial" pitchFamily="34" charset="0"/>
                <a:ea typeface="Arial" pitchFamily="34" charset="-122"/>
                <a:cs typeface="Arial" pitchFamily="34" charset="-120"/>
              </a:rPr>
              <a:t>Up to 100 products</a:t>
            </a:r>
            <a:endParaRPr lang="en-US" sz="1250" dirty="0"/>
          </a:p>
        </p:txBody>
      </p:sp>
      <p:sp>
        <p:nvSpPr>
          <p:cNvPr id="15" name="Shape 9"/>
          <p:cNvSpPr/>
          <p:nvPr/>
        </p:nvSpPr>
        <p:spPr>
          <a:xfrm>
            <a:off x="2944368" y="1783080"/>
            <a:ext cx="2240280" cy="4069080"/>
          </a:xfrm>
          <a:prstGeom prst="roundRect">
            <a:avLst>
              <a:gd name="adj" fmla="val 4898"/>
            </a:avLst>
          </a:prstGeom>
          <a:solidFill>
            <a:srgbClr val="111D35"/>
          </a:solidFill>
          <a:ln/>
          <a:effectLst>
            <a:outerShdw sx="100000" sy="100000" kx="0" ky="0" algn="bl" rotWithShape="0" blurRad="101600" dist="25400" dir="5400000">
              <a:srgbClr val="1A2A4A">
                <a:alpha val="12000"/>
              </a:srgbClr>
            </a:outerShdw>
          </a:effectLst>
        </p:spPr>
      </p:sp>
      <p:sp>
        <p:nvSpPr>
          <p:cNvPr id="16" name="Shape 10"/>
          <p:cNvSpPr/>
          <p:nvPr/>
        </p:nvSpPr>
        <p:spPr>
          <a:xfrm>
            <a:off x="3447288" y="1645920"/>
            <a:ext cx="1234440" cy="292608"/>
          </a:xfrm>
          <a:prstGeom prst="roundRect">
            <a:avLst>
              <a:gd name="adj" fmla="val 50000"/>
            </a:avLst>
          </a:prstGeom>
          <a:solidFill>
            <a:srgbClr val="0AA7A2"/>
          </a:solidFill>
          <a:ln/>
        </p:spPr>
      </p:sp>
      <p:sp>
        <p:nvSpPr>
          <p:cNvPr id="17" name="Text 11"/>
          <p:cNvSpPr txBox="1"/>
          <p:nvPr/>
        </p:nvSpPr>
        <p:spPr>
          <a:xfrm>
            <a:off x="3447288" y="1645920"/>
            <a:ext cx="1234440" cy="292608"/>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Arial" pitchFamily="34" charset="0"/>
                <a:ea typeface="Arial" pitchFamily="34" charset="-122"/>
                <a:cs typeface="Arial" pitchFamily="34" charset="-120"/>
              </a:rPr>
              <a:t>MOST MERCHANTS</a:t>
            </a:r>
            <a:endParaRPr lang="en-US" sz="900" dirty="0"/>
          </a:p>
        </p:txBody>
      </p:sp>
      <p:sp>
        <p:nvSpPr>
          <p:cNvPr id="18" name="Text 12"/>
          <p:cNvSpPr txBox="1"/>
          <p:nvPr/>
        </p:nvSpPr>
        <p:spPr>
          <a:xfrm>
            <a:off x="3172968" y="2057400"/>
            <a:ext cx="1828800" cy="36576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rial" pitchFamily="34" charset="0"/>
                <a:ea typeface="Arial" pitchFamily="34" charset="-122"/>
                <a:cs typeface="Arial" pitchFamily="34" charset="-120"/>
              </a:rPr>
              <a:t>Growth</a:t>
            </a:r>
            <a:endParaRPr lang="en-US" sz="1800" dirty="0"/>
          </a:p>
        </p:txBody>
      </p:sp>
      <p:sp>
        <p:nvSpPr>
          <p:cNvPr id="19" name="Text 13"/>
          <p:cNvSpPr txBox="1"/>
          <p:nvPr/>
        </p:nvSpPr>
        <p:spPr>
          <a:xfrm>
            <a:off x="3172968" y="2468880"/>
            <a:ext cx="1920240" cy="640080"/>
          </a:xfrm>
          <a:prstGeom prst="rect">
            <a:avLst/>
          </a:prstGeom>
          <a:noFill/>
          <a:ln/>
        </p:spPr>
        <p:txBody>
          <a:bodyPr wrap="square" lIns="0" tIns="0" rIns="0" bIns="0" rtlCol="0" anchor="b"/>
          <a:lstStyle/>
          <a:p>
            <a:pPr algn="l" indent="0" marL="0">
              <a:lnSpc>
                <a:spcPct val="100000"/>
              </a:lnSpc>
              <a:buNone/>
            </a:pPr>
            <a:r>
              <a:rPr lang="en-US" sz="3800" b="1" dirty="0">
                <a:solidFill>
                  <a:srgbClr val="FFFFFF"/>
                </a:solidFill>
                <a:latin typeface="Arial" pitchFamily="34" charset="0"/>
                <a:ea typeface="Arial" pitchFamily="34" charset="-122"/>
                <a:cs typeface="Arial" pitchFamily="34" charset="-120"/>
              </a:rPr>
              <a:t>$5</a:t>
            </a:r>
            <a:pPr algn="l" indent="0" marL="0">
              <a:lnSpc>
                <a:spcPct val="100000"/>
              </a:lnSpc>
              <a:buNone/>
            </a:pPr>
            <a:r>
              <a:rPr lang="en-US" sz="1300" dirty="0">
                <a:solidFill>
                  <a:srgbClr val="FFFFFF"/>
                </a:solidFill>
                <a:latin typeface="Arial" pitchFamily="34" charset="0"/>
                <a:ea typeface="Arial" pitchFamily="34" charset="-122"/>
                <a:cs typeface="Arial" pitchFamily="34" charset="-120"/>
              </a:rPr>
              <a:t> /month</a:t>
            </a:r>
            <a:endParaRPr lang="en-US" sz="1600" dirty="0"/>
          </a:p>
        </p:txBody>
      </p:sp>
      <p:pic>
        <p:nvPicPr>
          <p:cNvPr id="20" name="Image 4" descr="preencoded.png">    </p:cNvPr>
          <p:cNvPicPr>
            <a:picLocks noChangeAspect="1"/>
          </p:cNvPicPr>
          <p:nvPr/>
        </p:nvPicPr>
        <p:blipFill>
          <a:blip r:embed="rId5"/>
          <a:stretch>
            <a:fillRect/>
          </a:stretch>
        </p:blipFill>
        <p:spPr>
          <a:xfrm>
            <a:off x="3172968" y="3364992"/>
            <a:ext cx="201168" cy="201168"/>
          </a:xfrm>
          <a:prstGeom prst="rect">
            <a:avLst/>
          </a:prstGeom>
        </p:spPr>
      </p:pic>
      <p:sp>
        <p:nvSpPr>
          <p:cNvPr id="21" name="Text 14"/>
          <p:cNvSpPr txBox="1"/>
          <p:nvPr/>
        </p:nvSpPr>
        <p:spPr>
          <a:xfrm>
            <a:off x="3447288" y="3337560"/>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rial" pitchFamily="34" charset="0"/>
                <a:ea typeface="Arial" pitchFamily="34" charset="-122"/>
                <a:cs typeface="Arial" pitchFamily="34" charset="-120"/>
              </a:rPr>
              <a:t>Everything in Starter</a:t>
            </a:r>
            <a:endParaRPr lang="en-US" sz="1250" dirty="0"/>
          </a:p>
        </p:txBody>
      </p:sp>
      <p:pic>
        <p:nvPicPr>
          <p:cNvPr id="22" name="Image 5" descr="preencoded.png">    </p:cNvPr>
          <p:cNvPicPr>
            <a:picLocks noChangeAspect="1"/>
          </p:cNvPicPr>
          <p:nvPr/>
        </p:nvPicPr>
        <p:blipFill>
          <a:blip r:embed="rId6"/>
          <a:stretch>
            <a:fillRect/>
          </a:stretch>
        </p:blipFill>
        <p:spPr>
          <a:xfrm>
            <a:off x="3172968" y="3950208"/>
            <a:ext cx="201168" cy="201168"/>
          </a:xfrm>
          <a:prstGeom prst="rect">
            <a:avLst/>
          </a:prstGeom>
        </p:spPr>
      </p:pic>
      <p:sp>
        <p:nvSpPr>
          <p:cNvPr id="23" name="Text 15"/>
          <p:cNvSpPr txBox="1"/>
          <p:nvPr/>
        </p:nvSpPr>
        <p:spPr>
          <a:xfrm>
            <a:off x="3447288" y="3922776"/>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rial" pitchFamily="34" charset="0"/>
                <a:ea typeface="Arial" pitchFamily="34" charset="-122"/>
                <a:cs typeface="Arial" pitchFamily="34" charset="-120"/>
              </a:rPr>
              <a:t>Up to 500 products</a:t>
            </a:r>
            <a:endParaRPr lang="en-US" sz="1250" dirty="0"/>
          </a:p>
        </p:txBody>
      </p:sp>
      <p:pic>
        <p:nvPicPr>
          <p:cNvPr id="24" name="Image 6" descr="preencoded.png">    </p:cNvPr>
          <p:cNvPicPr>
            <a:picLocks noChangeAspect="1"/>
          </p:cNvPicPr>
          <p:nvPr/>
        </p:nvPicPr>
        <p:blipFill>
          <a:blip r:embed="rId7"/>
          <a:stretch>
            <a:fillRect/>
          </a:stretch>
        </p:blipFill>
        <p:spPr>
          <a:xfrm>
            <a:off x="3172968" y="4535424"/>
            <a:ext cx="201168" cy="201168"/>
          </a:xfrm>
          <a:prstGeom prst="rect">
            <a:avLst/>
          </a:prstGeom>
        </p:spPr>
      </p:pic>
      <p:sp>
        <p:nvSpPr>
          <p:cNvPr id="25" name="Text 16"/>
          <p:cNvSpPr txBox="1"/>
          <p:nvPr/>
        </p:nvSpPr>
        <p:spPr>
          <a:xfrm>
            <a:off x="3447288" y="4507992"/>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rial" pitchFamily="34" charset="0"/>
                <a:ea typeface="Arial" pitchFamily="34" charset="-122"/>
                <a:cs typeface="Arial" pitchFamily="34" charset="-120"/>
              </a:rPr>
              <a:t>Sales analytics</a:t>
            </a:r>
            <a:endParaRPr lang="en-US" sz="1250" dirty="0"/>
          </a:p>
        </p:txBody>
      </p:sp>
      <p:pic>
        <p:nvPicPr>
          <p:cNvPr id="26" name="Image 7" descr="preencoded.png">    </p:cNvPr>
          <p:cNvPicPr>
            <a:picLocks noChangeAspect="1"/>
          </p:cNvPicPr>
          <p:nvPr/>
        </p:nvPicPr>
        <p:blipFill>
          <a:blip r:embed="rId8"/>
          <a:stretch>
            <a:fillRect/>
          </a:stretch>
        </p:blipFill>
        <p:spPr>
          <a:xfrm>
            <a:off x="3172968" y="5120640"/>
            <a:ext cx="201168" cy="201168"/>
          </a:xfrm>
          <a:prstGeom prst="rect">
            <a:avLst/>
          </a:prstGeom>
        </p:spPr>
      </p:pic>
      <p:sp>
        <p:nvSpPr>
          <p:cNvPr id="27" name="Text 17"/>
          <p:cNvSpPr txBox="1"/>
          <p:nvPr/>
        </p:nvSpPr>
        <p:spPr>
          <a:xfrm>
            <a:off x="3447288" y="5093208"/>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rial" pitchFamily="34" charset="0"/>
                <a:ea typeface="Arial" pitchFamily="34" charset="-122"/>
                <a:cs typeface="Arial" pitchFamily="34" charset="-120"/>
              </a:rPr>
              <a:t>Up to 3 staff accounts</a:t>
            </a:r>
            <a:endParaRPr lang="en-US" sz="1250" dirty="0"/>
          </a:p>
        </p:txBody>
      </p:sp>
      <p:sp>
        <p:nvSpPr>
          <p:cNvPr id="28" name="Shape 18"/>
          <p:cNvSpPr/>
          <p:nvPr/>
        </p:nvSpPr>
        <p:spPr>
          <a:xfrm>
            <a:off x="5340096" y="1783080"/>
            <a:ext cx="2240280" cy="4069080"/>
          </a:xfrm>
          <a:prstGeom prst="roundRect">
            <a:avLst>
              <a:gd name="adj" fmla="val 4898"/>
            </a:avLst>
          </a:prstGeom>
          <a:solidFill>
            <a:srgbClr val="FFFFFF"/>
          </a:solidFill>
          <a:ln/>
          <a:effectLst>
            <a:outerShdw sx="100000" sy="100000" kx="0" ky="0" algn="bl" rotWithShape="0" blurRad="101600" dist="25400" dir="5400000">
              <a:srgbClr val="1A2A4A">
                <a:alpha val="12000"/>
              </a:srgbClr>
            </a:outerShdw>
          </a:effectLst>
        </p:spPr>
      </p:sp>
      <p:sp>
        <p:nvSpPr>
          <p:cNvPr id="29" name="Text 19"/>
          <p:cNvSpPr txBox="1"/>
          <p:nvPr/>
        </p:nvSpPr>
        <p:spPr>
          <a:xfrm>
            <a:off x="5568696" y="2057400"/>
            <a:ext cx="1828800" cy="365760"/>
          </a:xfrm>
          <a:prstGeom prst="rect">
            <a:avLst/>
          </a:prstGeom>
          <a:noFill/>
          <a:ln/>
        </p:spPr>
        <p:txBody>
          <a:bodyPr wrap="square" lIns="0" tIns="0" rIns="0" bIns="0" rtlCol="0" anchor="t"/>
          <a:lstStyle/>
          <a:p>
            <a:pPr algn="l" indent="0" marL="0">
              <a:lnSpc>
                <a:spcPct val="100000"/>
              </a:lnSpc>
              <a:buNone/>
            </a:pPr>
            <a:r>
              <a:rPr lang="en-US" sz="1800" b="1" dirty="0">
                <a:solidFill>
                  <a:srgbClr val="15243A"/>
                </a:solidFill>
                <a:latin typeface="Arial" pitchFamily="34" charset="0"/>
                <a:ea typeface="Arial" pitchFamily="34" charset="-122"/>
                <a:cs typeface="Arial" pitchFamily="34" charset="-120"/>
              </a:rPr>
              <a:t>Pro</a:t>
            </a:r>
            <a:endParaRPr lang="en-US" sz="1800" dirty="0"/>
          </a:p>
        </p:txBody>
      </p:sp>
      <p:sp>
        <p:nvSpPr>
          <p:cNvPr id="30" name="Text 20"/>
          <p:cNvSpPr txBox="1"/>
          <p:nvPr/>
        </p:nvSpPr>
        <p:spPr>
          <a:xfrm>
            <a:off x="5568696" y="2468880"/>
            <a:ext cx="1920240" cy="640080"/>
          </a:xfrm>
          <a:prstGeom prst="rect">
            <a:avLst/>
          </a:prstGeom>
          <a:noFill/>
          <a:ln/>
        </p:spPr>
        <p:txBody>
          <a:bodyPr wrap="square" lIns="0" tIns="0" rIns="0" bIns="0" rtlCol="0" anchor="b"/>
          <a:lstStyle/>
          <a:p>
            <a:pPr algn="l" indent="0" marL="0">
              <a:lnSpc>
                <a:spcPct val="100000"/>
              </a:lnSpc>
              <a:buNone/>
            </a:pPr>
            <a:r>
              <a:rPr lang="en-US" sz="3800" b="1" dirty="0">
                <a:solidFill>
                  <a:srgbClr val="15243A"/>
                </a:solidFill>
                <a:latin typeface="Arial" pitchFamily="34" charset="0"/>
                <a:ea typeface="Arial" pitchFamily="34" charset="-122"/>
                <a:cs typeface="Arial" pitchFamily="34" charset="-120"/>
              </a:rPr>
              <a:t>$10</a:t>
            </a:r>
            <a:pPr algn="l" indent="0" marL="0">
              <a:lnSpc>
                <a:spcPct val="100000"/>
              </a:lnSpc>
              <a:buNone/>
            </a:pPr>
            <a:r>
              <a:rPr lang="en-US" sz="1300" dirty="0">
                <a:solidFill>
                  <a:srgbClr val="15243A"/>
                </a:solidFill>
                <a:latin typeface="Arial" pitchFamily="34" charset="0"/>
                <a:ea typeface="Arial" pitchFamily="34" charset="-122"/>
                <a:cs typeface="Arial" pitchFamily="34" charset="-120"/>
              </a:rPr>
              <a:t> /month</a:t>
            </a:r>
            <a:endParaRPr lang="en-US" sz="1600" dirty="0"/>
          </a:p>
        </p:txBody>
      </p:sp>
      <p:pic>
        <p:nvPicPr>
          <p:cNvPr id="31" name="Image 8" descr="preencoded.png">    </p:cNvPr>
          <p:cNvPicPr>
            <a:picLocks noChangeAspect="1"/>
          </p:cNvPicPr>
          <p:nvPr/>
        </p:nvPicPr>
        <p:blipFill>
          <a:blip r:embed="rId9"/>
          <a:stretch>
            <a:fillRect/>
          </a:stretch>
        </p:blipFill>
        <p:spPr>
          <a:xfrm>
            <a:off x="5568696" y="3364992"/>
            <a:ext cx="201168" cy="201168"/>
          </a:xfrm>
          <a:prstGeom prst="rect">
            <a:avLst/>
          </a:prstGeom>
        </p:spPr>
      </p:pic>
      <p:sp>
        <p:nvSpPr>
          <p:cNvPr id="32" name="Text 21"/>
          <p:cNvSpPr txBox="1"/>
          <p:nvPr/>
        </p:nvSpPr>
        <p:spPr>
          <a:xfrm>
            <a:off x="5843016" y="3337560"/>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15243A"/>
                </a:solidFill>
                <a:latin typeface="Arial" pitchFamily="34" charset="0"/>
                <a:ea typeface="Arial" pitchFamily="34" charset="-122"/>
                <a:cs typeface="Arial" pitchFamily="34" charset="-120"/>
              </a:rPr>
              <a:t>Everything in Growth</a:t>
            </a:r>
            <a:endParaRPr lang="en-US" sz="1250" dirty="0"/>
          </a:p>
        </p:txBody>
      </p:sp>
      <p:pic>
        <p:nvPicPr>
          <p:cNvPr id="33" name="Image 9" descr="preencoded.png">    </p:cNvPr>
          <p:cNvPicPr>
            <a:picLocks noChangeAspect="1"/>
          </p:cNvPicPr>
          <p:nvPr/>
        </p:nvPicPr>
        <p:blipFill>
          <a:blip r:embed="rId10"/>
          <a:stretch>
            <a:fillRect/>
          </a:stretch>
        </p:blipFill>
        <p:spPr>
          <a:xfrm>
            <a:off x="5568696" y="3950208"/>
            <a:ext cx="201168" cy="201168"/>
          </a:xfrm>
          <a:prstGeom prst="rect">
            <a:avLst/>
          </a:prstGeom>
        </p:spPr>
      </p:pic>
      <p:sp>
        <p:nvSpPr>
          <p:cNvPr id="34" name="Text 22"/>
          <p:cNvSpPr txBox="1"/>
          <p:nvPr/>
        </p:nvSpPr>
        <p:spPr>
          <a:xfrm>
            <a:off x="5843016" y="3922776"/>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15243A"/>
                </a:solidFill>
                <a:latin typeface="Arial" pitchFamily="34" charset="0"/>
                <a:ea typeface="Arial" pitchFamily="34" charset="-122"/>
                <a:cs typeface="Arial" pitchFamily="34" charset="-120"/>
              </a:rPr>
              <a:t>Unlimited products</a:t>
            </a:r>
            <a:endParaRPr lang="en-US" sz="1250" dirty="0"/>
          </a:p>
        </p:txBody>
      </p:sp>
      <p:pic>
        <p:nvPicPr>
          <p:cNvPr id="35" name="Image 10" descr="preencoded.png">    </p:cNvPr>
          <p:cNvPicPr>
            <a:picLocks noChangeAspect="1"/>
          </p:cNvPicPr>
          <p:nvPr/>
        </p:nvPicPr>
        <p:blipFill>
          <a:blip r:embed="rId11"/>
          <a:stretch>
            <a:fillRect/>
          </a:stretch>
        </p:blipFill>
        <p:spPr>
          <a:xfrm>
            <a:off x="5568696" y="4535424"/>
            <a:ext cx="201168" cy="201168"/>
          </a:xfrm>
          <a:prstGeom prst="rect">
            <a:avLst/>
          </a:prstGeom>
        </p:spPr>
      </p:pic>
      <p:sp>
        <p:nvSpPr>
          <p:cNvPr id="36" name="Text 23"/>
          <p:cNvSpPr txBox="1"/>
          <p:nvPr/>
        </p:nvSpPr>
        <p:spPr>
          <a:xfrm>
            <a:off x="5843016" y="4507992"/>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15243A"/>
                </a:solidFill>
                <a:latin typeface="Arial" pitchFamily="34" charset="0"/>
                <a:ea typeface="Arial" pitchFamily="34" charset="-122"/>
                <a:cs typeface="Arial" pitchFamily="34" charset="-120"/>
              </a:rPr>
              <a:t>Marketing tools</a:t>
            </a:r>
            <a:endParaRPr lang="en-US" sz="1250" dirty="0"/>
          </a:p>
        </p:txBody>
      </p:sp>
      <p:pic>
        <p:nvPicPr>
          <p:cNvPr id="37" name="Image 11" descr="preencoded.png">    </p:cNvPr>
          <p:cNvPicPr>
            <a:picLocks noChangeAspect="1"/>
          </p:cNvPicPr>
          <p:nvPr/>
        </p:nvPicPr>
        <p:blipFill>
          <a:blip r:embed="rId12"/>
          <a:stretch>
            <a:fillRect/>
          </a:stretch>
        </p:blipFill>
        <p:spPr>
          <a:xfrm>
            <a:off x="5568696" y="5120640"/>
            <a:ext cx="201168" cy="201168"/>
          </a:xfrm>
          <a:prstGeom prst="rect">
            <a:avLst/>
          </a:prstGeom>
        </p:spPr>
      </p:pic>
      <p:sp>
        <p:nvSpPr>
          <p:cNvPr id="38" name="Text 24"/>
          <p:cNvSpPr txBox="1"/>
          <p:nvPr/>
        </p:nvSpPr>
        <p:spPr>
          <a:xfrm>
            <a:off x="5843016" y="5093208"/>
            <a:ext cx="1645920" cy="502920"/>
          </a:xfrm>
          <a:prstGeom prst="rect">
            <a:avLst/>
          </a:prstGeom>
          <a:noFill/>
          <a:ln/>
        </p:spPr>
        <p:txBody>
          <a:bodyPr wrap="square" lIns="0" tIns="0" rIns="0" bIns="0" rtlCol="0" anchor="t"/>
          <a:lstStyle/>
          <a:p>
            <a:pPr algn="l" indent="0" marL="0">
              <a:lnSpc>
                <a:spcPct val="100000"/>
              </a:lnSpc>
              <a:buNone/>
            </a:pPr>
            <a:r>
              <a:rPr lang="en-US" sz="1250" dirty="0">
                <a:solidFill>
                  <a:srgbClr val="15243A"/>
                </a:solidFill>
                <a:latin typeface="Arial" pitchFamily="34" charset="0"/>
                <a:ea typeface="Arial" pitchFamily="34" charset="-122"/>
                <a:cs typeface="Arial" pitchFamily="34" charset="-120"/>
              </a:rPr>
              <a:t>Up to 10 staff accounts</a:t>
            </a:r>
            <a:endParaRPr lang="en-US" sz="1250" dirty="0"/>
          </a:p>
        </p:txBody>
      </p:sp>
      <p:sp>
        <p:nvSpPr>
          <p:cNvPr id="39" name="Shape 25"/>
          <p:cNvSpPr/>
          <p:nvPr/>
        </p:nvSpPr>
        <p:spPr>
          <a:xfrm>
            <a:off x="7863840" y="1783080"/>
            <a:ext cx="3776472" cy="4069080"/>
          </a:xfrm>
          <a:prstGeom prst="roundRect">
            <a:avLst>
              <a:gd name="adj" fmla="val 2906"/>
            </a:avLst>
          </a:prstGeom>
          <a:solidFill>
            <a:srgbClr val="FFFFFF"/>
          </a:solidFill>
          <a:ln/>
          <a:effectLst>
            <a:outerShdw sx="100000" sy="100000" kx="0" ky="0" algn="bl" rotWithShape="0" blurRad="101600" dist="25400" dir="5400000">
              <a:srgbClr val="1A2A4A">
                <a:alpha val="12000"/>
              </a:srgbClr>
            </a:outerShdw>
          </a:effectLst>
        </p:spPr>
      </p:sp>
      <p:sp>
        <p:nvSpPr>
          <p:cNvPr id="40" name="Shape 26"/>
          <p:cNvSpPr/>
          <p:nvPr/>
        </p:nvSpPr>
        <p:spPr>
          <a:xfrm>
            <a:off x="8092440" y="2011680"/>
            <a:ext cx="530352" cy="530352"/>
          </a:xfrm>
          <a:prstGeom prst="ellipse">
            <a:avLst/>
          </a:prstGeom>
          <a:solidFill>
            <a:srgbClr val="D6F4F0"/>
          </a:solidFill>
          <a:ln/>
        </p:spPr>
      </p:sp>
      <p:pic>
        <p:nvPicPr>
          <p:cNvPr id="41" name="Image 12" descr="preencoded.png">    </p:cNvPr>
          <p:cNvPicPr>
            <a:picLocks noChangeAspect="1"/>
          </p:cNvPicPr>
          <p:nvPr/>
        </p:nvPicPr>
        <p:blipFill>
          <a:blip r:embed="rId13"/>
          <a:stretch>
            <a:fillRect/>
          </a:stretch>
        </p:blipFill>
        <p:spPr>
          <a:xfrm>
            <a:off x="8219724" y="2138964"/>
            <a:ext cx="275783" cy="275783"/>
          </a:xfrm>
          <a:prstGeom prst="rect">
            <a:avLst/>
          </a:prstGeom>
        </p:spPr>
      </p:pic>
      <p:sp>
        <p:nvSpPr>
          <p:cNvPr id="42" name="Text 27"/>
          <p:cNvSpPr txBox="1"/>
          <p:nvPr/>
        </p:nvSpPr>
        <p:spPr>
          <a:xfrm>
            <a:off x="8778240" y="2011680"/>
            <a:ext cx="2743200" cy="530352"/>
          </a:xfrm>
          <a:prstGeom prst="rect">
            <a:avLst/>
          </a:prstGeom>
          <a:noFill/>
          <a:ln/>
        </p:spPr>
        <p:txBody>
          <a:bodyPr wrap="square" lIns="0" tIns="0" rIns="0" bIns="0" rtlCol="0" anchor="ctr"/>
          <a:lstStyle/>
          <a:p>
            <a:pPr algn="l" indent="0" marL="0">
              <a:lnSpc>
                <a:spcPct val="100000"/>
              </a:lnSpc>
              <a:buNone/>
            </a:pPr>
            <a:r>
              <a:rPr lang="en-US" sz="1800" b="1" dirty="0">
                <a:solidFill>
                  <a:srgbClr val="15243A"/>
                </a:solidFill>
                <a:latin typeface="Arial" pitchFamily="34" charset="0"/>
                <a:ea typeface="Arial" pitchFamily="34" charset="-122"/>
                <a:cs typeface="Arial" pitchFamily="34" charset="-120"/>
              </a:rPr>
              <a:t>Marketplace commission</a:t>
            </a:r>
            <a:endParaRPr lang="en-US" sz="1800" dirty="0"/>
          </a:p>
        </p:txBody>
      </p:sp>
      <p:sp>
        <p:nvSpPr>
          <p:cNvPr id="43" name="Text 28"/>
          <p:cNvSpPr txBox="1"/>
          <p:nvPr/>
        </p:nvSpPr>
        <p:spPr>
          <a:xfrm>
            <a:off x="8092440" y="2697480"/>
            <a:ext cx="3337560" cy="868680"/>
          </a:xfrm>
          <a:prstGeom prst="rect">
            <a:avLst/>
          </a:prstGeom>
          <a:noFill/>
          <a:ln/>
        </p:spPr>
        <p:txBody>
          <a:bodyPr wrap="square" lIns="0" tIns="0" rIns="0" bIns="0" rtlCol="0" anchor="t"/>
          <a:lstStyle/>
          <a:p>
            <a:pPr algn="l" indent="0" marL="0">
              <a:lnSpc>
                <a:spcPct val="108000"/>
              </a:lnSpc>
              <a:buNone/>
            </a:pPr>
            <a:r>
              <a:rPr lang="en-US" sz="1400" dirty="0">
                <a:solidFill>
                  <a:srgbClr val="15243A"/>
                </a:solidFill>
                <a:latin typeface="Arial" pitchFamily="34" charset="0"/>
                <a:ea typeface="Arial" pitchFamily="34" charset="-122"/>
                <a:cs typeface="Arial" pitchFamily="34" charset="-120"/>
              </a:rPr>
              <a:t>A small share of orders the marketplace brings in, deducted when buyers pay online.</a:t>
            </a:r>
            <a:endParaRPr lang="en-US" sz="1400" dirty="0"/>
          </a:p>
        </p:txBody>
      </p:sp>
      <p:sp>
        <p:nvSpPr>
          <p:cNvPr id="44" name="Shape 29"/>
          <p:cNvSpPr/>
          <p:nvPr/>
        </p:nvSpPr>
        <p:spPr>
          <a:xfrm>
            <a:off x="8092440" y="3611880"/>
            <a:ext cx="3337560" cy="685800"/>
          </a:xfrm>
          <a:prstGeom prst="roundRect">
            <a:avLst>
              <a:gd name="adj" fmla="val 13333"/>
            </a:avLst>
          </a:prstGeom>
          <a:solidFill>
            <a:srgbClr val="D6F4F0"/>
          </a:solidFill>
          <a:ln/>
        </p:spPr>
      </p:sp>
      <p:sp>
        <p:nvSpPr>
          <p:cNvPr id="45" name="Text 30"/>
          <p:cNvSpPr txBox="1"/>
          <p:nvPr/>
        </p:nvSpPr>
        <p:spPr>
          <a:xfrm>
            <a:off x="8229600" y="3611880"/>
            <a:ext cx="3108960" cy="685800"/>
          </a:xfrm>
          <a:prstGeom prst="rect">
            <a:avLst/>
          </a:prstGeom>
          <a:noFill/>
          <a:ln/>
        </p:spPr>
        <p:txBody>
          <a:bodyPr wrap="square" lIns="0" tIns="0" rIns="0" bIns="0" rtlCol="0" anchor="ctr"/>
          <a:lstStyle/>
          <a:p>
            <a:pPr algn="l" indent="0" marL="0">
              <a:lnSpc>
                <a:spcPct val="100000"/>
              </a:lnSpc>
              <a:buNone/>
            </a:pPr>
            <a:r>
              <a:rPr lang="en-US" sz="1350" b="1" dirty="0">
                <a:solidFill>
                  <a:srgbClr val="15243A"/>
                </a:solidFill>
                <a:latin typeface="Arial" pitchFamily="34" charset="0"/>
                <a:ea typeface="Arial" pitchFamily="34" charset="-122"/>
                <a:cs typeface="Arial" pitchFamily="34" charset="-120"/>
              </a:rPr>
              <a:t>0% on the merchant’s own storefront and counter sales</a:t>
            </a:r>
            <a:endParaRPr lang="en-US" sz="1350" dirty="0"/>
          </a:p>
        </p:txBody>
      </p:sp>
      <p:sp>
        <p:nvSpPr>
          <p:cNvPr id="46" name="Text 31"/>
          <p:cNvSpPr txBox="1"/>
          <p:nvPr/>
        </p:nvSpPr>
        <p:spPr>
          <a:xfrm>
            <a:off x="8092440" y="4480560"/>
            <a:ext cx="3337560" cy="640080"/>
          </a:xfrm>
          <a:prstGeom prst="rect">
            <a:avLst/>
          </a:prstGeom>
          <a:noFill/>
          <a:ln/>
        </p:spPr>
        <p:txBody>
          <a:bodyPr wrap="square" lIns="0" tIns="0" rIns="0" bIns="0" rtlCol="0" anchor="t"/>
          <a:lstStyle/>
          <a:p>
            <a:pPr algn="l" indent="0" marL="0">
              <a:lnSpc>
                <a:spcPct val="108000"/>
              </a:lnSpc>
              <a:buNone/>
            </a:pPr>
            <a:r>
              <a:rPr lang="en-US" sz="1300" dirty="0">
                <a:solidFill>
                  <a:srgbClr val="52637A"/>
                </a:solidFill>
                <a:latin typeface="Arial" pitchFamily="34" charset="0"/>
                <a:ea typeface="Arial" pitchFamily="34" charset="-122"/>
                <a:cs typeface="Arial" pitchFamily="34" charset="-120"/>
              </a:rPr>
              <a:t>Starts with online payments (2027). Rate set after pilot testing.</a:t>
            </a:r>
            <a:endParaRPr lang="en-US" sz="1300" dirty="0"/>
          </a:p>
        </p:txBody>
      </p:sp>
      <p:sp>
        <p:nvSpPr>
          <p:cNvPr id="47" name="Text 32"/>
          <p:cNvSpPr txBox="1"/>
          <p:nvPr/>
        </p:nvSpPr>
        <p:spPr>
          <a:xfrm>
            <a:off x="8092440" y="5212080"/>
            <a:ext cx="3337560" cy="457200"/>
          </a:xfrm>
          <a:prstGeom prst="rect">
            <a:avLst/>
          </a:prstGeom>
          <a:noFill/>
          <a:ln/>
        </p:spPr>
        <p:txBody>
          <a:bodyPr wrap="square" lIns="0" tIns="0" rIns="0" bIns="0" rtlCol="0" anchor="t"/>
          <a:lstStyle/>
          <a:p>
            <a:pPr algn="l" indent="0" marL="0">
              <a:lnSpc>
                <a:spcPct val="100000"/>
              </a:lnSpc>
              <a:buNone/>
            </a:pPr>
            <a:r>
              <a:rPr lang="en-US" sz="1300" b="1" dirty="0">
                <a:solidFill>
                  <a:srgbClr val="2463E8"/>
                </a:solidFill>
                <a:latin typeface="Arial" pitchFamily="34" charset="0"/>
                <a:ea typeface="Arial" pitchFamily="34" charset="-122"/>
                <a:cs typeface="Arial" pitchFamily="34" charset="-120"/>
              </a:rPr>
              <a:t>Launch revenue = subscriptions only</a:t>
            </a:r>
            <a:endParaRPr lang="en-US" sz="1300" dirty="0"/>
          </a:p>
        </p:txBody>
      </p:sp>
      <p:sp>
        <p:nvSpPr>
          <p:cNvPr id="48" name="Text 33"/>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Proposed prices, to be tested with pilot merchants. Commission rate not yet set.</a:t>
            </a:r>
            <a:endParaRPr lang="en-US" sz="1000" dirty="0"/>
          </a:p>
        </p:txBody>
      </p:sp>
      <p:sp>
        <p:nvSpPr>
          <p:cNvPr id="49" name="Text 34"/>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Go-to-market: merchants first, buyers follow</a:t>
            </a:r>
            <a:endParaRPr lang="en-US" sz="34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algn="l" indent="0" marL="0">
              <a:lnSpc>
                <a:spcPct val="100000"/>
              </a:lnSpc>
              <a:buNone/>
            </a:pPr>
            <a:r>
              <a:rPr lang="en-US" sz="1700" dirty="0">
                <a:solidFill>
                  <a:srgbClr val="52637A"/>
                </a:solidFill>
                <a:latin typeface="Arial" pitchFamily="34" charset="0"/>
                <a:ea typeface="Arial" pitchFamily="34" charset="-122"/>
                <a:cs typeface="Arial" pitchFamily="34" charset="-120"/>
              </a:rPr>
              <a:t>Merchants join for the tools. Their customers bring the first marketplace traffic.</a:t>
            </a:r>
            <a:endParaRPr lang="en-US" sz="1700" dirty="0"/>
          </a:p>
        </p:txBody>
      </p:sp>
      <p:sp>
        <p:nvSpPr>
          <p:cNvPr id="4" name="Shape 2"/>
          <p:cNvSpPr/>
          <p:nvPr/>
        </p:nvSpPr>
        <p:spPr>
          <a:xfrm>
            <a:off x="548640" y="1783080"/>
            <a:ext cx="2606040" cy="4160520"/>
          </a:xfrm>
          <a:prstGeom prst="roundRect">
            <a:avLst>
              <a:gd name="adj" fmla="val 4211"/>
            </a:avLst>
          </a:prstGeom>
          <a:solidFill>
            <a:srgbClr val="111D35"/>
          </a:solidFill>
          <a:ln/>
        </p:spPr>
      </p:sp>
      <p:sp>
        <p:nvSpPr>
          <p:cNvPr id="5" name="Shape 3"/>
          <p:cNvSpPr/>
          <p:nvPr/>
        </p:nvSpPr>
        <p:spPr>
          <a:xfrm>
            <a:off x="777240" y="2011680"/>
            <a:ext cx="512064" cy="512064"/>
          </a:xfrm>
          <a:prstGeom prst="ellipse">
            <a:avLst/>
          </a:prstGeom>
          <a:solidFill>
            <a:srgbClr val="1A2A4A"/>
          </a:solidFill>
          <a:ln/>
        </p:spPr>
      </p:sp>
      <p:pic>
        <p:nvPicPr>
          <p:cNvPr id="6" name="Image 0" descr="preencoded.png">    </p:cNvPr>
          <p:cNvPicPr>
            <a:picLocks noChangeAspect="1"/>
          </p:cNvPicPr>
          <p:nvPr/>
        </p:nvPicPr>
        <p:blipFill>
          <a:blip r:embed="rId1"/>
          <a:stretch>
            <a:fillRect/>
          </a:stretch>
        </p:blipFill>
        <p:spPr>
          <a:xfrm>
            <a:off x="900135" y="2134575"/>
            <a:ext cx="266273" cy="266273"/>
          </a:xfrm>
          <a:prstGeom prst="rect">
            <a:avLst/>
          </a:prstGeom>
        </p:spPr>
      </p:pic>
      <p:sp>
        <p:nvSpPr>
          <p:cNvPr id="7" name="Text 4"/>
          <p:cNvSpPr txBox="1"/>
          <p:nvPr/>
        </p:nvSpPr>
        <p:spPr>
          <a:xfrm>
            <a:off x="777240" y="2697480"/>
            <a:ext cx="219456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D6F4F0"/>
                </a:solidFill>
                <a:latin typeface="Arial" pitchFamily="34" charset="0"/>
                <a:ea typeface="Arial" pitchFamily="34" charset="-122"/>
                <a:cs typeface="Arial" pitchFamily="34" charset="-120"/>
              </a:rPr>
              <a:t>Phase 1 · Q4 2026</a:t>
            </a:r>
            <a:endParaRPr lang="en-US" sz="1100" dirty="0"/>
          </a:p>
        </p:txBody>
      </p:sp>
      <p:sp>
        <p:nvSpPr>
          <p:cNvPr id="8" name="Text 5"/>
          <p:cNvSpPr txBox="1"/>
          <p:nvPr/>
        </p:nvSpPr>
        <p:spPr>
          <a:xfrm>
            <a:off x="777240" y="2971800"/>
            <a:ext cx="2240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rial" pitchFamily="34" charset="0"/>
                <a:ea typeface="Arial" pitchFamily="34" charset="-122"/>
                <a:cs typeface="Arial" pitchFamily="34" charset="-120"/>
              </a:rPr>
              <a:t>10 pilot merchants</a:t>
            </a:r>
            <a:endParaRPr lang="en-US" sz="1800" dirty="0"/>
          </a:p>
        </p:txBody>
      </p:sp>
      <p:sp>
        <p:nvSpPr>
          <p:cNvPr id="9" name="Text 6"/>
          <p:cNvSpPr txBox="1"/>
          <p:nvPr/>
        </p:nvSpPr>
        <p:spPr>
          <a:xfrm>
            <a:off x="777240" y="3566160"/>
            <a:ext cx="2240280" cy="173736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Shop visits in Phnom Penh markets</a:t>
            </a:r>
            <a:endParaRPr lang="en-US" sz="1300" dirty="0"/>
          </a:p>
          <a:p>
            <a:pPr algn="l" marL="177800" indent="-177800">
              <a:lnSpc>
                <a:spcPct val="10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Facebook seller groups</a:t>
            </a:r>
            <a:endParaRPr lang="en-US" sz="1300" dirty="0"/>
          </a:p>
          <a:p>
            <a:pPr algn="l" marL="177800" indent="-177800">
              <a:lnSpc>
                <a:spcPct val="10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UniPreneur introductions</a:t>
            </a:r>
            <a:endParaRPr lang="en-US" sz="1300" dirty="0"/>
          </a:p>
        </p:txBody>
      </p:sp>
      <p:sp>
        <p:nvSpPr>
          <p:cNvPr id="10" name="Shape 7"/>
          <p:cNvSpPr/>
          <p:nvPr/>
        </p:nvSpPr>
        <p:spPr>
          <a:xfrm>
            <a:off x="3337560" y="1783080"/>
            <a:ext cx="2606040" cy="4160520"/>
          </a:xfrm>
          <a:prstGeom prst="roundRect">
            <a:avLst>
              <a:gd name="adj" fmla="val 4211"/>
            </a:avLst>
          </a:prstGeom>
          <a:solidFill>
            <a:srgbClr val="F5F8FC"/>
          </a:solidFill>
          <a:ln/>
        </p:spPr>
      </p:sp>
      <p:sp>
        <p:nvSpPr>
          <p:cNvPr id="11" name="Shape 8"/>
          <p:cNvSpPr/>
          <p:nvPr/>
        </p:nvSpPr>
        <p:spPr>
          <a:xfrm>
            <a:off x="3566160" y="2011680"/>
            <a:ext cx="512064" cy="512064"/>
          </a:xfrm>
          <a:prstGeom prst="ellipse">
            <a:avLst/>
          </a:prstGeom>
          <a:solidFill>
            <a:srgbClr val="DCEBFF"/>
          </a:solidFill>
          <a:ln/>
        </p:spPr>
      </p:sp>
      <p:pic>
        <p:nvPicPr>
          <p:cNvPr id="12" name="Image 1" descr="preencoded.png">    </p:cNvPr>
          <p:cNvPicPr>
            <a:picLocks noChangeAspect="1"/>
          </p:cNvPicPr>
          <p:nvPr/>
        </p:nvPicPr>
        <p:blipFill>
          <a:blip r:embed="rId2"/>
          <a:stretch>
            <a:fillRect/>
          </a:stretch>
        </p:blipFill>
        <p:spPr>
          <a:xfrm>
            <a:off x="3689055" y="2134575"/>
            <a:ext cx="266273" cy="266273"/>
          </a:xfrm>
          <a:prstGeom prst="rect">
            <a:avLst/>
          </a:prstGeom>
        </p:spPr>
      </p:pic>
      <p:sp>
        <p:nvSpPr>
          <p:cNvPr id="13" name="Text 9"/>
          <p:cNvSpPr txBox="1"/>
          <p:nvPr/>
        </p:nvSpPr>
        <p:spPr>
          <a:xfrm>
            <a:off x="3566160" y="2697480"/>
            <a:ext cx="219456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AA7A2"/>
                </a:solidFill>
                <a:latin typeface="Arial" pitchFamily="34" charset="0"/>
                <a:ea typeface="Arial" pitchFamily="34" charset="-122"/>
                <a:cs typeface="Arial" pitchFamily="34" charset="-120"/>
              </a:rPr>
              <a:t>Phase 2 · 2027</a:t>
            </a:r>
            <a:endParaRPr lang="en-US" sz="1100" dirty="0"/>
          </a:p>
        </p:txBody>
      </p:sp>
      <p:sp>
        <p:nvSpPr>
          <p:cNvPr id="14" name="Text 10"/>
          <p:cNvSpPr txBox="1"/>
          <p:nvPr/>
        </p:nvSpPr>
        <p:spPr>
          <a:xfrm>
            <a:off x="3566160" y="2971800"/>
            <a:ext cx="2240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5243A"/>
                </a:solidFill>
                <a:latin typeface="Arial" pitchFamily="34" charset="0"/>
                <a:ea typeface="Arial" pitchFamily="34" charset="-122"/>
                <a:cs typeface="Arial" pitchFamily="34" charset="-120"/>
              </a:rPr>
              <a:t>Merchant-led buyers</a:t>
            </a:r>
            <a:endParaRPr lang="en-US" sz="1800" dirty="0"/>
          </a:p>
        </p:txBody>
      </p:sp>
      <p:sp>
        <p:nvSpPr>
          <p:cNvPr id="15" name="Text 11"/>
          <p:cNvSpPr txBox="1"/>
          <p:nvPr/>
        </p:nvSpPr>
        <p:spPr>
          <a:xfrm>
            <a:off x="3566160" y="3566160"/>
            <a:ext cx="2240280" cy="173736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Merchants share storefront links</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Referral credit for merchants</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Cross-store discovery in the marketplace</a:t>
            </a:r>
            <a:endParaRPr lang="en-US" sz="1300" dirty="0"/>
          </a:p>
        </p:txBody>
      </p:sp>
      <p:sp>
        <p:nvSpPr>
          <p:cNvPr id="16" name="Shape 12"/>
          <p:cNvSpPr/>
          <p:nvPr/>
        </p:nvSpPr>
        <p:spPr>
          <a:xfrm>
            <a:off x="6126480" y="1783080"/>
            <a:ext cx="2606040" cy="4160520"/>
          </a:xfrm>
          <a:prstGeom prst="roundRect">
            <a:avLst>
              <a:gd name="adj" fmla="val 4211"/>
            </a:avLst>
          </a:prstGeom>
          <a:solidFill>
            <a:srgbClr val="F5F8FC"/>
          </a:solidFill>
          <a:ln/>
        </p:spPr>
      </p:sp>
      <p:sp>
        <p:nvSpPr>
          <p:cNvPr id="17" name="Shape 13"/>
          <p:cNvSpPr/>
          <p:nvPr/>
        </p:nvSpPr>
        <p:spPr>
          <a:xfrm>
            <a:off x="6355080" y="2011680"/>
            <a:ext cx="512064" cy="512064"/>
          </a:xfrm>
          <a:prstGeom prst="ellipse">
            <a:avLst/>
          </a:prstGeom>
          <a:solidFill>
            <a:srgbClr val="DCEBFF"/>
          </a:solidFill>
          <a:ln/>
        </p:spPr>
      </p:sp>
      <p:pic>
        <p:nvPicPr>
          <p:cNvPr id="18" name="Image 2" descr="preencoded.png">    </p:cNvPr>
          <p:cNvPicPr>
            <a:picLocks noChangeAspect="1"/>
          </p:cNvPicPr>
          <p:nvPr/>
        </p:nvPicPr>
        <p:blipFill>
          <a:blip r:embed="rId3"/>
          <a:stretch>
            <a:fillRect/>
          </a:stretch>
        </p:blipFill>
        <p:spPr>
          <a:xfrm>
            <a:off x="6477975" y="2134575"/>
            <a:ext cx="266273" cy="266273"/>
          </a:xfrm>
          <a:prstGeom prst="rect">
            <a:avLst/>
          </a:prstGeom>
        </p:spPr>
      </p:pic>
      <p:sp>
        <p:nvSpPr>
          <p:cNvPr id="19" name="Text 14"/>
          <p:cNvSpPr txBox="1"/>
          <p:nvPr/>
        </p:nvSpPr>
        <p:spPr>
          <a:xfrm>
            <a:off x="6355080" y="2697480"/>
            <a:ext cx="219456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AA7A2"/>
                </a:solidFill>
                <a:latin typeface="Arial" pitchFamily="34" charset="0"/>
                <a:ea typeface="Arial" pitchFamily="34" charset="-122"/>
                <a:cs typeface="Arial" pitchFamily="34" charset="-120"/>
              </a:rPr>
              <a:t>Phase 3 · 2027+</a:t>
            </a:r>
            <a:endParaRPr lang="en-US" sz="1100" dirty="0"/>
          </a:p>
        </p:txBody>
      </p:sp>
      <p:sp>
        <p:nvSpPr>
          <p:cNvPr id="20" name="Text 15"/>
          <p:cNvSpPr txBox="1"/>
          <p:nvPr/>
        </p:nvSpPr>
        <p:spPr>
          <a:xfrm>
            <a:off x="6355080" y="2971800"/>
            <a:ext cx="2240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5243A"/>
                </a:solidFill>
                <a:latin typeface="Arial" pitchFamily="34" charset="0"/>
                <a:ea typeface="Arial" pitchFamily="34" charset="-122"/>
                <a:cs typeface="Arial" pitchFamily="34" charset="-120"/>
              </a:rPr>
              <a:t>Partners at scale</a:t>
            </a:r>
            <a:endParaRPr lang="en-US" sz="1800" dirty="0"/>
          </a:p>
        </p:txBody>
      </p:sp>
      <p:sp>
        <p:nvSpPr>
          <p:cNvPr id="21" name="Text 16"/>
          <p:cNvSpPr txBox="1"/>
          <p:nvPr/>
        </p:nvSpPr>
        <p:spPr>
          <a:xfrm>
            <a:off x="6355080" y="3566160"/>
            <a:ext cx="2240280" cy="173736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SME associations and business desks</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Delivery partner bundles</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Category campaigns (e.g. festivals)</a:t>
            </a:r>
            <a:endParaRPr lang="en-US" sz="1300" dirty="0"/>
          </a:p>
        </p:txBody>
      </p:sp>
      <p:sp>
        <p:nvSpPr>
          <p:cNvPr id="22" name="Shape 17"/>
          <p:cNvSpPr/>
          <p:nvPr/>
        </p:nvSpPr>
        <p:spPr>
          <a:xfrm>
            <a:off x="9006840" y="1783080"/>
            <a:ext cx="2633472" cy="4160520"/>
          </a:xfrm>
          <a:prstGeom prst="roundRect">
            <a:avLst>
              <a:gd name="adj" fmla="val 4167"/>
            </a:avLst>
          </a:prstGeom>
          <a:solidFill>
            <a:srgbClr val="D6F4F0"/>
          </a:solidFill>
          <a:ln/>
        </p:spPr>
      </p:sp>
      <p:sp>
        <p:nvSpPr>
          <p:cNvPr id="23" name="Text 18"/>
          <p:cNvSpPr txBox="1"/>
          <p:nvPr/>
        </p:nvSpPr>
        <p:spPr>
          <a:xfrm>
            <a:off x="9235440" y="2011680"/>
            <a:ext cx="2286000" cy="274320"/>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AA7A2"/>
                </a:solidFill>
                <a:latin typeface="Arial" pitchFamily="34" charset="0"/>
                <a:ea typeface="Arial" pitchFamily="34" charset="-122"/>
                <a:cs typeface="Arial" pitchFamily="34" charset="-120"/>
              </a:rPr>
              <a:t>PILOT PASSES IF</a:t>
            </a:r>
            <a:endParaRPr lang="en-US" sz="1100" dirty="0"/>
          </a:p>
        </p:txBody>
      </p:sp>
      <p:sp>
        <p:nvSpPr>
          <p:cNvPr id="24" name="Text 19"/>
          <p:cNvSpPr txBox="1"/>
          <p:nvPr/>
        </p:nvSpPr>
        <p:spPr>
          <a:xfrm>
            <a:off x="9235440" y="2423160"/>
            <a:ext cx="2286000" cy="411480"/>
          </a:xfrm>
          <a:prstGeom prst="rect">
            <a:avLst/>
          </a:prstGeom>
          <a:noFill/>
          <a:ln/>
        </p:spPr>
        <p:txBody>
          <a:bodyPr wrap="square" lIns="0" tIns="0" rIns="0" bIns="0" rtlCol="0" anchor="t"/>
          <a:lstStyle/>
          <a:p>
            <a:pPr algn="l" indent="0" marL="0">
              <a:lnSpc>
                <a:spcPct val="100000"/>
              </a:lnSpc>
              <a:buNone/>
            </a:pPr>
            <a:r>
              <a:rPr lang="en-US" sz="2200" b="1" dirty="0">
                <a:solidFill>
                  <a:srgbClr val="15243A"/>
                </a:solidFill>
                <a:latin typeface="Arial" pitchFamily="34" charset="0"/>
                <a:ea typeface="Arial" pitchFamily="34" charset="-122"/>
                <a:cs typeface="Arial" pitchFamily="34" charset="-120"/>
              </a:rPr>
              <a:t>7 of 10</a:t>
            </a:r>
            <a:endParaRPr lang="en-US" sz="2200" dirty="0"/>
          </a:p>
        </p:txBody>
      </p:sp>
      <p:sp>
        <p:nvSpPr>
          <p:cNvPr id="25" name="Text 20"/>
          <p:cNvSpPr txBox="1"/>
          <p:nvPr/>
        </p:nvSpPr>
        <p:spPr>
          <a:xfrm>
            <a:off x="9235440" y="2834640"/>
            <a:ext cx="2286000" cy="457200"/>
          </a:xfrm>
          <a:prstGeom prst="rect">
            <a:avLst/>
          </a:prstGeom>
          <a:noFill/>
          <a:ln/>
        </p:spPr>
        <p:txBody>
          <a:bodyPr wrap="square" lIns="0" tIns="0" rIns="0" bIns="0" rtlCol="0" anchor="t"/>
          <a:lstStyle/>
          <a:p>
            <a:pPr algn="l" indent="0" marL="0">
              <a:lnSpc>
                <a:spcPct val="100000"/>
              </a:lnSpc>
              <a:buNone/>
            </a:pPr>
            <a:r>
              <a:rPr lang="en-US" sz="1200" dirty="0">
                <a:solidFill>
                  <a:srgbClr val="52637A"/>
                </a:solidFill>
                <a:latin typeface="Arial" pitchFamily="34" charset="0"/>
                <a:ea typeface="Arial" pitchFamily="34" charset="-122"/>
                <a:cs typeface="Arial" pitchFamily="34" charset="-120"/>
              </a:rPr>
              <a:t>merchants still active after 30 days</a:t>
            </a:r>
            <a:endParaRPr lang="en-US" sz="1200" dirty="0"/>
          </a:p>
        </p:txBody>
      </p:sp>
      <p:sp>
        <p:nvSpPr>
          <p:cNvPr id="26" name="Text 21"/>
          <p:cNvSpPr txBox="1"/>
          <p:nvPr/>
        </p:nvSpPr>
        <p:spPr>
          <a:xfrm>
            <a:off x="9235440" y="3566160"/>
            <a:ext cx="2286000" cy="411480"/>
          </a:xfrm>
          <a:prstGeom prst="rect">
            <a:avLst/>
          </a:prstGeom>
          <a:noFill/>
          <a:ln/>
        </p:spPr>
        <p:txBody>
          <a:bodyPr wrap="square" lIns="0" tIns="0" rIns="0" bIns="0" rtlCol="0" anchor="t"/>
          <a:lstStyle/>
          <a:p>
            <a:pPr algn="l" indent="0" marL="0">
              <a:lnSpc>
                <a:spcPct val="100000"/>
              </a:lnSpc>
              <a:buNone/>
            </a:pPr>
            <a:r>
              <a:rPr lang="en-US" sz="2200" b="1" dirty="0">
                <a:solidFill>
                  <a:srgbClr val="15243A"/>
                </a:solidFill>
                <a:latin typeface="Arial" pitchFamily="34" charset="0"/>
                <a:ea typeface="Arial" pitchFamily="34" charset="-122"/>
                <a:cs typeface="Arial" pitchFamily="34" charset="-120"/>
              </a:rPr>
              <a:t>≥99%</a:t>
            </a:r>
            <a:endParaRPr lang="en-US" sz="2200" dirty="0"/>
          </a:p>
        </p:txBody>
      </p:sp>
      <p:sp>
        <p:nvSpPr>
          <p:cNvPr id="27" name="Text 22"/>
          <p:cNvSpPr txBox="1"/>
          <p:nvPr/>
        </p:nvSpPr>
        <p:spPr>
          <a:xfrm>
            <a:off x="9235440" y="3977640"/>
            <a:ext cx="2286000" cy="457200"/>
          </a:xfrm>
          <a:prstGeom prst="rect">
            <a:avLst/>
          </a:prstGeom>
          <a:noFill/>
          <a:ln/>
        </p:spPr>
        <p:txBody>
          <a:bodyPr wrap="square" lIns="0" tIns="0" rIns="0" bIns="0" rtlCol="0" anchor="t"/>
          <a:lstStyle/>
          <a:p>
            <a:pPr algn="l" indent="0" marL="0">
              <a:lnSpc>
                <a:spcPct val="100000"/>
              </a:lnSpc>
              <a:buNone/>
            </a:pPr>
            <a:r>
              <a:rPr lang="en-US" sz="1200" dirty="0">
                <a:solidFill>
                  <a:srgbClr val="52637A"/>
                </a:solidFill>
                <a:latin typeface="Arial" pitchFamily="34" charset="0"/>
                <a:ea typeface="Arial" pitchFamily="34" charset="-122"/>
                <a:cs typeface="Arial" pitchFamily="34" charset="-120"/>
              </a:rPr>
              <a:t>stock accuracy across channels</a:t>
            </a:r>
            <a:endParaRPr lang="en-US" sz="1200" dirty="0"/>
          </a:p>
        </p:txBody>
      </p:sp>
      <p:sp>
        <p:nvSpPr>
          <p:cNvPr id="28" name="Text 23"/>
          <p:cNvSpPr txBox="1"/>
          <p:nvPr/>
        </p:nvSpPr>
        <p:spPr>
          <a:xfrm>
            <a:off x="9235440" y="4709160"/>
            <a:ext cx="2286000" cy="411480"/>
          </a:xfrm>
          <a:prstGeom prst="rect">
            <a:avLst/>
          </a:prstGeom>
          <a:noFill/>
          <a:ln/>
        </p:spPr>
        <p:txBody>
          <a:bodyPr wrap="square" lIns="0" tIns="0" rIns="0" bIns="0" rtlCol="0" anchor="t"/>
          <a:lstStyle/>
          <a:p>
            <a:pPr algn="l" indent="0" marL="0">
              <a:lnSpc>
                <a:spcPct val="100000"/>
              </a:lnSpc>
              <a:buNone/>
            </a:pPr>
            <a:r>
              <a:rPr lang="en-US" sz="2200" b="1" dirty="0">
                <a:solidFill>
                  <a:srgbClr val="15243A"/>
                </a:solidFill>
                <a:latin typeface="Arial" pitchFamily="34" charset="0"/>
                <a:ea typeface="Arial" pitchFamily="34" charset="-122"/>
                <a:cs typeface="Arial" pitchFamily="34" charset="-120"/>
              </a:rPr>
              <a:t>6 of 10</a:t>
            </a:r>
            <a:endParaRPr lang="en-US" sz="2200" dirty="0"/>
          </a:p>
        </p:txBody>
      </p:sp>
      <p:sp>
        <p:nvSpPr>
          <p:cNvPr id="29" name="Text 24"/>
          <p:cNvSpPr txBox="1"/>
          <p:nvPr/>
        </p:nvSpPr>
        <p:spPr>
          <a:xfrm>
            <a:off x="9235440" y="5120640"/>
            <a:ext cx="2286000" cy="457200"/>
          </a:xfrm>
          <a:prstGeom prst="rect">
            <a:avLst/>
          </a:prstGeom>
          <a:noFill/>
          <a:ln/>
        </p:spPr>
        <p:txBody>
          <a:bodyPr wrap="square" lIns="0" tIns="0" rIns="0" bIns="0" rtlCol="0" anchor="t"/>
          <a:lstStyle/>
          <a:p>
            <a:pPr algn="l" indent="0" marL="0">
              <a:lnSpc>
                <a:spcPct val="100000"/>
              </a:lnSpc>
              <a:buNone/>
            </a:pPr>
            <a:r>
              <a:rPr lang="en-US" sz="1200" dirty="0">
                <a:solidFill>
                  <a:srgbClr val="52637A"/>
                </a:solidFill>
                <a:latin typeface="Arial" pitchFamily="34" charset="0"/>
                <a:ea typeface="Arial" pitchFamily="34" charset="-122"/>
                <a:cs typeface="Arial" pitchFamily="34" charset="-120"/>
              </a:rPr>
              <a:t>willing to pay a subscription</a:t>
            </a:r>
            <a:endParaRPr lang="en-US" sz="1200" dirty="0"/>
          </a:p>
        </p:txBody>
      </p:sp>
      <p:sp>
        <p:nvSpPr>
          <p:cNvPr id="30" name="Text 25"/>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Proposed targets, set before the pilot starts. Marketplace-discovered orders are measured separately from merchants’ own customers.</a:t>
            </a:r>
            <a:endParaRPr lang="en-US" sz="1000" dirty="0"/>
          </a:p>
        </p:txBody>
      </p:sp>
      <p:sp>
        <p:nvSpPr>
          <p:cNvPr id="31" name="Text 26"/>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Roadmap</a:t>
            </a:r>
            <a:endParaRPr lang="en-US" sz="3400" dirty="0"/>
          </a:p>
        </p:txBody>
      </p:sp>
      <p:sp>
        <p:nvSpPr>
          <p:cNvPr id="3" name="Shape 1"/>
          <p:cNvSpPr/>
          <p:nvPr/>
        </p:nvSpPr>
        <p:spPr>
          <a:xfrm>
            <a:off x="822960" y="1691640"/>
            <a:ext cx="10515600" cy="0"/>
          </a:xfrm>
          <a:prstGeom prst="line">
            <a:avLst/>
          </a:prstGeom>
          <a:noFill/>
          <a:ln w="38100">
            <a:solidFill>
              <a:srgbClr val="D7E1ED"/>
            </a:solidFill>
            <a:prstDash val="solid"/>
          </a:ln>
        </p:spPr>
      </p:sp>
      <p:sp>
        <p:nvSpPr>
          <p:cNvPr id="4" name="Shape 2"/>
          <p:cNvSpPr/>
          <p:nvPr/>
        </p:nvSpPr>
        <p:spPr>
          <a:xfrm>
            <a:off x="658368" y="1508760"/>
            <a:ext cx="365760" cy="365760"/>
          </a:xfrm>
          <a:prstGeom prst="ellipse">
            <a:avLst/>
          </a:prstGeom>
          <a:solidFill>
            <a:srgbClr val="111D35"/>
          </a:solidFill>
          <a:ln/>
        </p:spPr>
      </p:sp>
      <p:pic>
        <p:nvPicPr>
          <p:cNvPr id="5" name="Image 0" descr="preencoded.png">    </p:cNvPr>
          <p:cNvPicPr>
            <a:picLocks noChangeAspect="1"/>
          </p:cNvPicPr>
          <p:nvPr/>
        </p:nvPicPr>
        <p:blipFill>
          <a:blip r:embed="rId1"/>
          <a:stretch>
            <a:fillRect/>
          </a:stretch>
        </p:blipFill>
        <p:spPr>
          <a:xfrm>
            <a:off x="740664" y="1591056"/>
            <a:ext cx="201168" cy="201168"/>
          </a:xfrm>
          <a:prstGeom prst="rect">
            <a:avLst/>
          </a:prstGeom>
        </p:spPr>
      </p:pic>
      <p:sp>
        <p:nvSpPr>
          <p:cNvPr id="6" name="Text 3"/>
          <p:cNvSpPr txBox="1"/>
          <p:nvPr/>
        </p:nvSpPr>
        <p:spPr>
          <a:xfrm>
            <a:off x="548640" y="2057400"/>
            <a:ext cx="2103120" cy="27432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111D35"/>
                </a:solidFill>
                <a:latin typeface="Arial" pitchFamily="34" charset="0"/>
                <a:ea typeface="Arial" pitchFamily="34" charset="-122"/>
                <a:cs typeface="Arial" pitchFamily="34" charset="-120"/>
              </a:rPr>
              <a:t>Built · 2026</a:t>
            </a:r>
            <a:endParaRPr lang="en-US" sz="1200" dirty="0"/>
          </a:p>
        </p:txBody>
      </p:sp>
      <p:sp>
        <p:nvSpPr>
          <p:cNvPr id="7" name="Text 4"/>
          <p:cNvSpPr txBox="1"/>
          <p:nvPr/>
        </p:nvSpPr>
        <p:spPr>
          <a:xfrm>
            <a:off x="548640" y="2331720"/>
            <a:ext cx="2103120" cy="685800"/>
          </a:xfrm>
          <a:prstGeom prst="rect">
            <a:avLst/>
          </a:prstGeom>
          <a:noFill/>
          <a:ln/>
        </p:spPr>
        <p:txBody>
          <a:bodyPr wrap="square" lIns="0" tIns="0" rIns="0" bIns="0" rtlCol="0" anchor="t"/>
          <a:lstStyle/>
          <a:p>
            <a:pPr algn="l" indent="0" marL="0">
              <a:lnSpc>
                <a:spcPct val="95000"/>
              </a:lnSpc>
              <a:buNone/>
            </a:pPr>
            <a:r>
              <a:rPr lang="en-US" sz="1800" b="1" dirty="0">
                <a:solidFill>
                  <a:srgbClr val="15243A"/>
                </a:solidFill>
                <a:latin typeface="Arial" pitchFamily="34" charset="0"/>
                <a:ea typeface="Arial" pitchFamily="34" charset="-122"/>
                <a:cs typeface="Arial" pitchFamily="34" charset="-120"/>
              </a:rPr>
              <a:t>Working build</a:t>
            </a:r>
            <a:endParaRPr lang="en-US" sz="1800" dirty="0"/>
          </a:p>
        </p:txBody>
      </p:sp>
      <p:sp>
        <p:nvSpPr>
          <p:cNvPr id="8" name="Shape 5"/>
          <p:cNvSpPr/>
          <p:nvPr/>
        </p:nvSpPr>
        <p:spPr>
          <a:xfrm>
            <a:off x="548640" y="3108960"/>
            <a:ext cx="2103120" cy="2834640"/>
          </a:xfrm>
          <a:prstGeom prst="roundRect">
            <a:avLst>
              <a:gd name="adj" fmla="val 4348"/>
            </a:avLst>
          </a:prstGeom>
          <a:solidFill>
            <a:srgbClr val="111D35"/>
          </a:solidFill>
          <a:ln/>
        </p:spPr>
      </p:sp>
      <p:sp>
        <p:nvSpPr>
          <p:cNvPr id="9" name="Text 6"/>
          <p:cNvSpPr txBox="1"/>
          <p:nvPr/>
        </p:nvSpPr>
        <p:spPr>
          <a:xfrm>
            <a:off x="685800" y="3246120"/>
            <a:ext cx="1874520" cy="260604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Storefront templates</a:t>
            </a:r>
            <a:endParaRPr lang="en-US" sz="1300" dirty="0"/>
          </a:p>
          <a:p>
            <a:pPr algn="l" marL="177800" indent="-177800">
              <a:lnSpc>
                <a:spcPct val="10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Shared marketplace</a:t>
            </a:r>
            <a:endParaRPr lang="en-US" sz="1300" dirty="0"/>
          </a:p>
          <a:p>
            <a:pPr algn="l" marL="177800" indent="-177800">
              <a:lnSpc>
                <a:spcPct val="10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POS and invoices</a:t>
            </a:r>
            <a:endParaRPr lang="en-US" sz="1300" dirty="0"/>
          </a:p>
          <a:p>
            <a:pPr algn="l" marL="177800" indent="-177800">
              <a:lnSpc>
                <a:spcPct val="100000"/>
              </a:lnSpc>
              <a:spcAft>
                <a:spcPts val="800"/>
              </a:spcAft>
              <a:buSzPct val="100000"/>
              <a:buChar char="•"/>
            </a:pPr>
            <a:r>
              <a:rPr lang="en-US" sz="1300" dirty="0">
                <a:solidFill>
                  <a:srgbClr val="FFFFFF"/>
                </a:solidFill>
                <a:latin typeface="Arial" pitchFamily="34" charset="0"/>
                <a:ea typeface="Arial" pitchFamily="34" charset="-122"/>
                <a:cs typeface="Arial" pitchFamily="34" charset="-120"/>
              </a:rPr>
              <a:t>One store catalog and stock</a:t>
            </a:r>
            <a:endParaRPr lang="en-US" sz="1300" dirty="0"/>
          </a:p>
        </p:txBody>
      </p:sp>
      <p:sp>
        <p:nvSpPr>
          <p:cNvPr id="10" name="Shape 7"/>
          <p:cNvSpPr/>
          <p:nvPr/>
        </p:nvSpPr>
        <p:spPr>
          <a:xfrm>
            <a:off x="2898648" y="1508760"/>
            <a:ext cx="365760" cy="365760"/>
          </a:xfrm>
          <a:prstGeom prst="ellipse">
            <a:avLst/>
          </a:prstGeom>
          <a:solidFill>
            <a:srgbClr val="2463E8"/>
          </a:solidFill>
          <a:ln/>
        </p:spPr>
      </p:sp>
      <p:sp>
        <p:nvSpPr>
          <p:cNvPr id="11" name="Text 8"/>
          <p:cNvSpPr txBox="1"/>
          <p:nvPr/>
        </p:nvSpPr>
        <p:spPr>
          <a:xfrm>
            <a:off x="2788920" y="2057400"/>
            <a:ext cx="2103120" cy="27432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2463E8"/>
                </a:solidFill>
                <a:latin typeface="Arial" pitchFamily="34" charset="0"/>
                <a:ea typeface="Arial" pitchFamily="34" charset="-122"/>
                <a:cs typeface="Arial" pitchFamily="34" charset="-120"/>
              </a:rPr>
              <a:t>Q4 2026</a:t>
            </a:r>
            <a:endParaRPr lang="en-US" sz="1200" dirty="0"/>
          </a:p>
        </p:txBody>
      </p:sp>
      <p:sp>
        <p:nvSpPr>
          <p:cNvPr id="12" name="Text 9"/>
          <p:cNvSpPr txBox="1"/>
          <p:nvPr/>
        </p:nvSpPr>
        <p:spPr>
          <a:xfrm>
            <a:off x="2788920" y="2331720"/>
            <a:ext cx="2103120" cy="685800"/>
          </a:xfrm>
          <a:prstGeom prst="rect">
            <a:avLst/>
          </a:prstGeom>
          <a:noFill/>
          <a:ln/>
        </p:spPr>
        <p:txBody>
          <a:bodyPr wrap="square" lIns="0" tIns="0" rIns="0" bIns="0" rtlCol="0" anchor="t"/>
          <a:lstStyle/>
          <a:p>
            <a:pPr algn="l" indent="0" marL="0">
              <a:lnSpc>
                <a:spcPct val="95000"/>
              </a:lnSpc>
              <a:buNone/>
            </a:pPr>
            <a:r>
              <a:rPr lang="en-US" sz="1800" b="1" dirty="0">
                <a:solidFill>
                  <a:srgbClr val="15243A"/>
                </a:solidFill>
                <a:latin typeface="Arial" pitchFamily="34" charset="0"/>
                <a:ea typeface="Arial" pitchFamily="34" charset="-122"/>
                <a:cs typeface="Arial" pitchFamily="34" charset="-120"/>
              </a:rPr>
              <a:t>Pilot</a:t>
            </a:r>
            <a:endParaRPr lang="en-US" sz="1800" dirty="0"/>
          </a:p>
        </p:txBody>
      </p:sp>
      <p:sp>
        <p:nvSpPr>
          <p:cNvPr id="13" name="Shape 10"/>
          <p:cNvSpPr/>
          <p:nvPr/>
        </p:nvSpPr>
        <p:spPr>
          <a:xfrm>
            <a:off x="2788920" y="3108960"/>
            <a:ext cx="2103120" cy="2834640"/>
          </a:xfrm>
          <a:prstGeom prst="roundRect">
            <a:avLst>
              <a:gd name="adj" fmla="val 4348"/>
            </a:avLst>
          </a:prstGeom>
          <a:solidFill>
            <a:srgbClr val="FFFFFF"/>
          </a:solidFill>
          <a:ln/>
        </p:spPr>
      </p:sp>
      <p:sp>
        <p:nvSpPr>
          <p:cNvPr id="14" name="Text 11"/>
          <p:cNvSpPr txBox="1"/>
          <p:nvPr/>
        </p:nvSpPr>
        <p:spPr>
          <a:xfrm>
            <a:off x="2926080" y="3246120"/>
            <a:ext cx="1874520" cy="260604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10 merchants in Phnom Penh</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Measure setup time and stock accuracy</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Test prices</a:t>
            </a:r>
            <a:endParaRPr lang="en-US" sz="1300" dirty="0"/>
          </a:p>
        </p:txBody>
      </p:sp>
      <p:sp>
        <p:nvSpPr>
          <p:cNvPr id="15" name="Shape 12"/>
          <p:cNvSpPr/>
          <p:nvPr/>
        </p:nvSpPr>
        <p:spPr>
          <a:xfrm>
            <a:off x="5138928" y="1508760"/>
            <a:ext cx="365760" cy="365760"/>
          </a:xfrm>
          <a:prstGeom prst="ellipse">
            <a:avLst/>
          </a:prstGeom>
          <a:solidFill>
            <a:srgbClr val="2463E8"/>
          </a:solidFill>
          <a:ln/>
        </p:spPr>
      </p:sp>
      <p:sp>
        <p:nvSpPr>
          <p:cNvPr id="16" name="Text 13"/>
          <p:cNvSpPr txBox="1"/>
          <p:nvPr/>
        </p:nvSpPr>
        <p:spPr>
          <a:xfrm>
            <a:off x="5029200" y="2057400"/>
            <a:ext cx="2103120" cy="27432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2463E8"/>
                </a:solidFill>
                <a:latin typeface="Arial" pitchFamily="34" charset="0"/>
                <a:ea typeface="Arial" pitchFamily="34" charset="-122"/>
                <a:cs typeface="Arial" pitchFamily="34" charset="-120"/>
              </a:rPr>
              <a:t>H1 2027</a:t>
            </a:r>
            <a:endParaRPr lang="en-US" sz="1200" dirty="0"/>
          </a:p>
        </p:txBody>
      </p:sp>
      <p:sp>
        <p:nvSpPr>
          <p:cNvPr id="17" name="Text 14"/>
          <p:cNvSpPr txBox="1"/>
          <p:nvPr/>
        </p:nvSpPr>
        <p:spPr>
          <a:xfrm>
            <a:off x="5029200" y="2331720"/>
            <a:ext cx="2103120" cy="685800"/>
          </a:xfrm>
          <a:prstGeom prst="rect">
            <a:avLst/>
          </a:prstGeom>
          <a:noFill/>
          <a:ln/>
        </p:spPr>
        <p:txBody>
          <a:bodyPr wrap="square" lIns="0" tIns="0" rIns="0" bIns="0" rtlCol="0" anchor="t"/>
          <a:lstStyle/>
          <a:p>
            <a:pPr algn="l" indent="0" marL="0">
              <a:lnSpc>
                <a:spcPct val="95000"/>
              </a:lnSpc>
              <a:buNone/>
            </a:pPr>
            <a:r>
              <a:rPr lang="en-US" sz="1800" b="1" dirty="0">
                <a:solidFill>
                  <a:srgbClr val="15243A"/>
                </a:solidFill>
                <a:latin typeface="Arial" pitchFamily="34" charset="0"/>
                <a:ea typeface="Arial" pitchFamily="34" charset="-122"/>
                <a:cs typeface="Arial" pitchFamily="34" charset="-120"/>
              </a:rPr>
              <a:t>Public launch</a:t>
            </a:r>
            <a:endParaRPr lang="en-US" sz="1800" dirty="0"/>
          </a:p>
        </p:txBody>
      </p:sp>
      <p:sp>
        <p:nvSpPr>
          <p:cNvPr id="18" name="Shape 15"/>
          <p:cNvSpPr/>
          <p:nvPr/>
        </p:nvSpPr>
        <p:spPr>
          <a:xfrm>
            <a:off x="5029200" y="3108960"/>
            <a:ext cx="2103120" cy="2834640"/>
          </a:xfrm>
          <a:prstGeom prst="roundRect">
            <a:avLst>
              <a:gd name="adj" fmla="val 4348"/>
            </a:avLst>
          </a:prstGeom>
          <a:solidFill>
            <a:srgbClr val="FFFFFF"/>
          </a:solidFill>
          <a:ln/>
        </p:spPr>
      </p:sp>
      <p:sp>
        <p:nvSpPr>
          <p:cNvPr id="19" name="Text 16"/>
          <p:cNvSpPr txBox="1"/>
          <p:nvPr/>
        </p:nvSpPr>
        <p:spPr>
          <a:xfrm>
            <a:off x="5166360" y="3246120"/>
            <a:ext cx="1874520" cy="260604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Seller approval and buyer support</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Delivery partner options</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KHQR online payments</a:t>
            </a:r>
            <a:endParaRPr lang="en-US" sz="1300" dirty="0"/>
          </a:p>
        </p:txBody>
      </p:sp>
      <p:sp>
        <p:nvSpPr>
          <p:cNvPr id="20" name="Shape 17"/>
          <p:cNvSpPr/>
          <p:nvPr/>
        </p:nvSpPr>
        <p:spPr>
          <a:xfrm>
            <a:off x="7379208" y="1508760"/>
            <a:ext cx="365760" cy="365760"/>
          </a:xfrm>
          <a:prstGeom prst="ellipse">
            <a:avLst/>
          </a:prstGeom>
          <a:solidFill>
            <a:srgbClr val="0AA7A2"/>
          </a:solidFill>
          <a:ln/>
        </p:spPr>
      </p:sp>
      <p:sp>
        <p:nvSpPr>
          <p:cNvPr id="21" name="Text 18"/>
          <p:cNvSpPr txBox="1"/>
          <p:nvPr/>
        </p:nvSpPr>
        <p:spPr>
          <a:xfrm>
            <a:off x="7269480" y="2057400"/>
            <a:ext cx="2103120" cy="27432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0AA7A2"/>
                </a:solidFill>
                <a:latin typeface="Arial" pitchFamily="34" charset="0"/>
                <a:ea typeface="Arial" pitchFamily="34" charset="-122"/>
                <a:cs typeface="Arial" pitchFamily="34" charset="-120"/>
              </a:rPr>
              <a:t>H2 2027</a:t>
            </a:r>
            <a:endParaRPr lang="en-US" sz="1200" dirty="0"/>
          </a:p>
        </p:txBody>
      </p:sp>
      <p:sp>
        <p:nvSpPr>
          <p:cNvPr id="22" name="Text 19"/>
          <p:cNvSpPr txBox="1"/>
          <p:nvPr/>
        </p:nvSpPr>
        <p:spPr>
          <a:xfrm>
            <a:off x="7269480" y="2331720"/>
            <a:ext cx="2103120" cy="685800"/>
          </a:xfrm>
          <a:prstGeom prst="rect">
            <a:avLst/>
          </a:prstGeom>
          <a:noFill/>
          <a:ln/>
        </p:spPr>
        <p:txBody>
          <a:bodyPr wrap="square" lIns="0" tIns="0" rIns="0" bIns="0" rtlCol="0" anchor="t"/>
          <a:lstStyle/>
          <a:p>
            <a:pPr algn="l" indent="0" marL="0">
              <a:lnSpc>
                <a:spcPct val="95000"/>
              </a:lnSpc>
              <a:buNone/>
            </a:pPr>
            <a:r>
              <a:rPr lang="en-US" sz="1800" b="1" dirty="0">
                <a:solidFill>
                  <a:srgbClr val="15243A"/>
                </a:solidFill>
                <a:latin typeface="Arial" pitchFamily="34" charset="0"/>
                <a:ea typeface="Arial" pitchFamily="34" charset="-122"/>
                <a:cs typeface="Arial" pitchFamily="34" charset="-120"/>
              </a:rPr>
              <a:t>Marketplace revenue</a:t>
            </a:r>
            <a:endParaRPr lang="en-US" sz="1800" dirty="0"/>
          </a:p>
        </p:txBody>
      </p:sp>
      <p:sp>
        <p:nvSpPr>
          <p:cNvPr id="23" name="Shape 20"/>
          <p:cNvSpPr/>
          <p:nvPr/>
        </p:nvSpPr>
        <p:spPr>
          <a:xfrm>
            <a:off x="7269480" y="3108960"/>
            <a:ext cx="2103120" cy="2834640"/>
          </a:xfrm>
          <a:prstGeom prst="roundRect">
            <a:avLst>
              <a:gd name="adj" fmla="val 4348"/>
            </a:avLst>
          </a:prstGeom>
          <a:solidFill>
            <a:srgbClr val="FFFFFF"/>
          </a:solidFill>
          <a:ln/>
        </p:spPr>
      </p:sp>
      <p:sp>
        <p:nvSpPr>
          <p:cNvPr id="24" name="Text 21"/>
          <p:cNvSpPr txBox="1"/>
          <p:nvPr/>
        </p:nvSpPr>
        <p:spPr>
          <a:xfrm>
            <a:off x="7406640" y="3246120"/>
            <a:ext cx="1874520" cy="260604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Commission on marketplace orders</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Merchant analytics</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Multi-staff roles</a:t>
            </a:r>
            <a:endParaRPr lang="en-US" sz="1300" dirty="0"/>
          </a:p>
        </p:txBody>
      </p:sp>
      <p:sp>
        <p:nvSpPr>
          <p:cNvPr id="25" name="Shape 22"/>
          <p:cNvSpPr/>
          <p:nvPr/>
        </p:nvSpPr>
        <p:spPr>
          <a:xfrm>
            <a:off x="9619488" y="1508760"/>
            <a:ext cx="365760" cy="365760"/>
          </a:xfrm>
          <a:prstGeom prst="ellipse">
            <a:avLst/>
          </a:prstGeom>
          <a:solidFill>
            <a:srgbClr val="0AA7A2"/>
          </a:solidFill>
          <a:ln/>
        </p:spPr>
      </p:sp>
      <p:sp>
        <p:nvSpPr>
          <p:cNvPr id="26" name="Text 23"/>
          <p:cNvSpPr txBox="1"/>
          <p:nvPr/>
        </p:nvSpPr>
        <p:spPr>
          <a:xfrm>
            <a:off x="9509760" y="2057400"/>
            <a:ext cx="2103120" cy="27432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0AA7A2"/>
                </a:solidFill>
                <a:latin typeface="Arial" pitchFamily="34" charset="0"/>
                <a:ea typeface="Arial" pitchFamily="34" charset="-122"/>
                <a:cs typeface="Arial" pitchFamily="34" charset="-120"/>
              </a:rPr>
              <a:t>2028+</a:t>
            </a:r>
            <a:endParaRPr lang="en-US" sz="1200" dirty="0"/>
          </a:p>
        </p:txBody>
      </p:sp>
      <p:sp>
        <p:nvSpPr>
          <p:cNvPr id="27" name="Text 24"/>
          <p:cNvSpPr txBox="1"/>
          <p:nvPr/>
        </p:nvSpPr>
        <p:spPr>
          <a:xfrm>
            <a:off x="9509760" y="2331720"/>
            <a:ext cx="2103120" cy="685800"/>
          </a:xfrm>
          <a:prstGeom prst="rect">
            <a:avLst/>
          </a:prstGeom>
          <a:noFill/>
          <a:ln/>
        </p:spPr>
        <p:txBody>
          <a:bodyPr wrap="square" lIns="0" tIns="0" rIns="0" bIns="0" rtlCol="0" anchor="t"/>
          <a:lstStyle/>
          <a:p>
            <a:pPr algn="l" indent="0" marL="0">
              <a:lnSpc>
                <a:spcPct val="95000"/>
              </a:lnSpc>
              <a:buNone/>
            </a:pPr>
            <a:r>
              <a:rPr lang="en-US" sz="1800" b="1" dirty="0">
                <a:solidFill>
                  <a:srgbClr val="15243A"/>
                </a:solidFill>
                <a:latin typeface="Arial" pitchFamily="34" charset="0"/>
                <a:ea typeface="Arial" pitchFamily="34" charset="-122"/>
                <a:cs typeface="Arial" pitchFamily="34" charset="-120"/>
              </a:rPr>
              <a:t>Scale</a:t>
            </a:r>
            <a:endParaRPr lang="en-US" sz="1800" dirty="0"/>
          </a:p>
        </p:txBody>
      </p:sp>
      <p:sp>
        <p:nvSpPr>
          <p:cNvPr id="28" name="Shape 25"/>
          <p:cNvSpPr/>
          <p:nvPr/>
        </p:nvSpPr>
        <p:spPr>
          <a:xfrm>
            <a:off x="9509760" y="3108960"/>
            <a:ext cx="2103120" cy="2834640"/>
          </a:xfrm>
          <a:prstGeom prst="roundRect">
            <a:avLst>
              <a:gd name="adj" fmla="val 4348"/>
            </a:avLst>
          </a:prstGeom>
          <a:solidFill>
            <a:srgbClr val="FFFFFF"/>
          </a:solidFill>
          <a:ln/>
        </p:spPr>
      </p:sp>
      <p:sp>
        <p:nvSpPr>
          <p:cNvPr id="29" name="Text 26"/>
          <p:cNvSpPr txBox="1"/>
          <p:nvPr/>
        </p:nvSpPr>
        <p:spPr>
          <a:xfrm>
            <a:off x="9646920" y="3246120"/>
            <a:ext cx="1874520" cy="260604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Multi-branch stock</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Deeper delivery integrations</a:t>
            </a:r>
            <a:endParaRPr lang="en-US" sz="1300" dirty="0"/>
          </a:p>
          <a:p>
            <a:pPr algn="l" marL="177800" indent="-177800">
              <a:lnSpc>
                <a:spcPct val="100000"/>
              </a:lnSpc>
              <a:spcAft>
                <a:spcPts val="800"/>
              </a:spcAft>
              <a:buSzPct val="100000"/>
              <a:buChar char="•"/>
            </a:pPr>
            <a:r>
              <a:rPr lang="en-US" sz="1300" dirty="0">
                <a:solidFill>
                  <a:srgbClr val="15243A"/>
                </a:solidFill>
                <a:latin typeface="Arial" pitchFamily="34" charset="0"/>
                <a:ea typeface="Arial" pitchFamily="34" charset="-122"/>
                <a:cs typeface="Arial" pitchFamily="34" charset="-120"/>
              </a:rPr>
              <a:t>Explore nearby ASEAN markets</a:t>
            </a:r>
            <a:endParaRPr lang="en-US" sz="1300" dirty="0"/>
          </a:p>
        </p:txBody>
      </p:sp>
      <p:sp>
        <p:nvSpPr>
          <p:cNvPr id="30" name="Text 27"/>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Built items run in our development build; production launch, payments and commission are planned.</a:t>
            </a:r>
            <a:endParaRPr lang="en-US" sz="1000" dirty="0"/>
          </a:p>
        </p:txBody>
      </p:sp>
      <p:sp>
        <p:nvSpPr>
          <p:cNvPr id="31" name="Text 28"/>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Three-year projection</a:t>
            </a:r>
            <a:endParaRPr lang="en-US" sz="3400" dirty="0"/>
          </a:p>
        </p:txBody>
      </p:sp>
      <p:sp>
        <p:nvSpPr>
          <p:cNvPr id="3" name="Text 1"/>
          <p:cNvSpPr txBox="1"/>
          <p:nvPr/>
        </p:nvSpPr>
        <p:spPr>
          <a:xfrm>
            <a:off x="548640" y="1115568"/>
            <a:ext cx="11064240" cy="411480"/>
          </a:xfrm>
          <a:prstGeom prst="rect">
            <a:avLst/>
          </a:prstGeom>
          <a:noFill/>
          <a:ln/>
        </p:spPr>
        <p:txBody>
          <a:bodyPr wrap="square" lIns="0" tIns="0" rIns="0" bIns="0" rtlCol="0" anchor="t"/>
          <a:lstStyle/>
          <a:p>
            <a:pPr algn="l" indent="0" marL="0">
              <a:lnSpc>
                <a:spcPct val="100000"/>
              </a:lnSpc>
              <a:buNone/>
            </a:pPr>
            <a:r>
              <a:rPr lang="en-US" sz="1700" dirty="0">
                <a:solidFill>
                  <a:srgbClr val="52637A"/>
                </a:solidFill>
                <a:latin typeface="Arial" pitchFamily="34" charset="0"/>
                <a:ea typeface="Arial" pitchFamily="34" charset="-122"/>
                <a:cs typeface="Arial" pitchFamily="34" charset="-120"/>
              </a:rPr>
              <a:t>Lean scenario · subscriptions only · marketplace commission not included</a:t>
            </a:r>
            <a:endParaRPr lang="en-US" sz="1700" dirty="0"/>
          </a:p>
        </p:txBody>
      </p:sp>
      <p:graphicFrame>
        <p:nvGraphicFramePr>
          <p:cNvPr id="4" name="Chart 0" descr=""/>
          <p:cNvGraphicFramePr/>
          <p:nvPr/>
        </p:nvGraphicFramePr>
        <p:xfrm>
          <a:off x="548640" y="169164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737360"/>
            <a:ext cx="4050792" cy="896112"/>
          </a:xfrm>
          <a:prstGeom prst="roundRect">
            <a:avLst>
              <a:gd name="adj" fmla="val 10204"/>
            </a:avLst>
          </a:prstGeom>
          <a:solidFill>
            <a:srgbClr val="F5F8FC"/>
          </a:solidFill>
          <a:ln/>
        </p:spPr>
      </p:sp>
      <p:sp>
        <p:nvSpPr>
          <p:cNvPr id="6" name="Text 3"/>
          <p:cNvSpPr txBox="1"/>
          <p:nvPr/>
        </p:nvSpPr>
        <p:spPr>
          <a:xfrm>
            <a:off x="7818120" y="1737360"/>
            <a:ext cx="1783080" cy="896112"/>
          </a:xfrm>
          <a:prstGeom prst="rect">
            <a:avLst/>
          </a:prstGeom>
          <a:noFill/>
          <a:ln/>
        </p:spPr>
        <p:txBody>
          <a:bodyPr wrap="square" lIns="0" tIns="0" rIns="0" bIns="0" rtlCol="0" anchor="ctr"/>
          <a:lstStyle/>
          <a:p>
            <a:pPr algn="l" indent="0" marL="0">
              <a:lnSpc>
                <a:spcPct val="100000"/>
              </a:lnSpc>
              <a:buNone/>
            </a:pPr>
            <a:r>
              <a:rPr lang="en-US" sz="2200" b="1" dirty="0">
                <a:solidFill>
                  <a:srgbClr val="15243A"/>
                </a:solidFill>
                <a:latin typeface="Arial" pitchFamily="34" charset="0"/>
                <a:ea typeface="Arial" pitchFamily="34" charset="-122"/>
                <a:cs typeface="Arial" pitchFamily="34" charset="-120"/>
              </a:rPr>
              <a:t>US$67.7K</a:t>
            </a:r>
            <a:endParaRPr lang="en-US" sz="2200" dirty="0"/>
          </a:p>
        </p:txBody>
      </p:sp>
      <p:sp>
        <p:nvSpPr>
          <p:cNvPr id="7" name="Text 4"/>
          <p:cNvSpPr txBox="1"/>
          <p:nvPr/>
        </p:nvSpPr>
        <p:spPr>
          <a:xfrm>
            <a:off x="9601200" y="1737360"/>
            <a:ext cx="1920240" cy="896112"/>
          </a:xfrm>
          <a:prstGeom prst="rect">
            <a:avLst/>
          </a:prstGeom>
          <a:noFill/>
          <a:ln/>
        </p:spPr>
        <p:txBody>
          <a:bodyPr wrap="square" lIns="0" tIns="0" rIns="0" bIns="0" rtlCol="0" anchor="ctr"/>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Year 3 revenue</a:t>
            </a:r>
            <a:endParaRPr lang="en-US" sz="1250" dirty="0"/>
          </a:p>
        </p:txBody>
      </p:sp>
      <p:sp>
        <p:nvSpPr>
          <p:cNvPr id="8" name="Shape 5"/>
          <p:cNvSpPr/>
          <p:nvPr/>
        </p:nvSpPr>
        <p:spPr>
          <a:xfrm>
            <a:off x="7589520" y="2761488"/>
            <a:ext cx="4050792" cy="896112"/>
          </a:xfrm>
          <a:prstGeom prst="roundRect">
            <a:avLst>
              <a:gd name="adj" fmla="val 10204"/>
            </a:avLst>
          </a:prstGeom>
          <a:solidFill>
            <a:srgbClr val="F5F8FC"/>
          </a:solidFill>
          <a:ln/>
        </p:spPr>
      </p:sp>
      <p:sp>
        <p:nvSpPr>
          <p:cNvPr id="9" name="Text 6"/>
          <p:cNvSpPr txBox="1"/>
          <p:nvPr/>
        </p:nvSpPr>
        <p:spPr>
          <a:xfrm>
            <a:off x="7818120" y="2761488"/>
            <a:ext cx="1783080" cy="896112"/>
          </a:xfrm>
          <a:prstGeom prst="rect">
            <a:avLst/>
          </a:prstGeom>
          <a:noFill/>
          <a:ln/>
        </p:spPr>
        <p:txBody>
          <a:bodyPr wrap="square" lIns="0" tIns="0" rIns="0" bIns="0" rtlCol="0" anchor="ctr"/>
          <a:lstStyle/>
          <a:p>
            <a:pPr algn="l" indent="0" marL="0">
              <a:lnSpc>
                <a:spcPct val="100000"/>
              </a:lnSpc>
              <a:buNone/>
            </a:pPr>
            <a:r>
              <a:rPr lang="en-US" sz="2200" b="1" dirty="0">
                <a:solidFill>
                  <a:srgbClr val="15243A"/>
                </a:solidFill>
                <a:latin typeface="Arial" pitchFamily="34" charset="0"/>
                <a:ea typeface="Arial" pitchFamily="34" charset="-122"/>
                <a:cs typeface="Arial" pitchFamily="34" charset="-120"/>
              </a:rPr>
              <a:t>–US$26.1K</a:t>
            </a:r>
            <a:endParaRPr lang="en-US" sz="2200" dirty="0"/>
          </a:p>
        </p:txBody>
      </p:sp>
      <p:sp>
        <p:nvSpPr>
          <p:cNvPr id="10" name="Text 7"/>
          <p:cNvSpPr txBox="1"/>
          <p:nvPr/>
        </p:nvSpPr>
        <p:spPr>
          <a:xfrm>
            <a:off x="9601200" y="2761488"/>
            <a:ext cx="1920240" cy="896112"/>
          </a:xfrm>
          <a:prstGeom prst="rect">
            <a:avLst/>
          </a:prstGeom>
          <a:noFill/>
          <a:ln/>
        </p:spPr>
        <p:txBody>
          <a:bodyPr wrap="square" lIns="0" tIns="0" rIns="0" bIns="0" rtlCol="0" anchor="ctr"/>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Year 3 net result; losses narrow after Year 2</a:t>
            </a:r>
            <a:endParaRPr lang="en-US" sz="1250" dirty="0"/>
          </a:p>
        </p:txBody>
      </p:sp>
      <p:sp>
        <p:nvSpPr>
          <p:cNvPr id="11" name="Shape 8"/>
          <p:cNvSpPr/>
          <p:nvPr/>
        </p:nvSpPr>
        <p:spPr>
          <a:xfrm>
            <a:off x="7589520" y="3785616"/>
            <a:ext cx="4050792" cy="896112"/>
          </a:xfrm>
          <a:prstGeom prst="roundRect">
            <a:avLst>
              <a:gd name="adj" fmla="val 10204"/>
            </a:avLst>
          </a:prstGeom>
          <a:solidFill>
            <a:srgbClr val="111D35"/>
          </a:solidFill>
          <a:ln/>
        </p:spPr>
      </p:sp>
      <p:sp>
        <p:nvSpPr>
          <p:cNvPr id="12" name="Text 9"/>
          <p:cNvSpPr txBox="1"/>
          <p:nvPr/>
        </p:nvSpPr>
        <p:spPr>
          <a:xfrm>
            <a:off x="7818120" y="3785616"/>
            <a:ext cx="1783080" cy="896112"/>
          </a:xfrm>
          <a:prstGeom prst="rect">
            <a:avLst/>
          </a:prstGeom>
          <a:noFill/>
          <a:ln/>
        </p:spPr>
        <p:txBody>
          <a:bodyPr wrap="square" lIns="0" tIns="0" rIns="0" bIns="0" rtlCol="0" anchor="ctr"/>
          <a:lstStyle/>
          <a:p>
            <a:pPr algn="l" indent="0" marL="0">
              <a:lnSpc>
                <a:spcPct val="100000"/>
              </a:lnSpc>
              <a:buNone/>
            </a:pPr>
            <a:r>
              <a:rPr lang="en-US" sz="2200" b="1" dirty="0">
                <a:solidFill>
                  <a:srgbClr val="FFFFFF"/>
                </a:solidFill>
                <a:latin typeface="Arial" pitchFamily="34" charset="0"/>
                <a:ea typeface="Arial" pitchFamily="34" charset="-122"/>
                <a:cs typeface="Arial" pitchFamily="34" charset="-120"/>
              </a:rPr>
              <a:t>1,895</a:t>
            </a:r>
            <a:endParaRPr lang="en-US" sz="2200" dirty="0"/>
          </a:p>
        </p:txBody>
      </p:sp>
      <p:sp>
        <p:nvSpPr>
          <p:cNvPr id="13" name="Text 10"/>
          <p:cNvSpPr txBox="1"/>
          <p:nvPr/>
        </p:nvSpPr>
        <p:spPr>
          <a:xfrm>
            <a:off x="9601200" y="3785616"/>
            <a:ext cx="1920240" cy="896112"/>
          </a:xfrm>
          <a:prstGeom prst="rect">
            <a:avLst/>
          </a:prstGeom>
          <a:noFill/>
          <a:ln/>
        </p:spPr>
        <p:txBody>
          <a:bodyPr wrap="square" lIns="0" tIns="0" rIns="0" bIns="0" rtlCol="0" anchor="ctr"/>
          <a:lstStyle/>
          <a:p>
            <a:pPr algn="l" indent="0" marL="0">
              <a:lnSpc>
                <a:spcPct val="100000"/>
              </a:lnSpc>
              <a:buNone/>
            </a:pPr>
            <a:r>
              <a:rPr lang="en-US" sz="1250" dirty="0">
                <a:solidFill>
                  <a:srgbClr val="D6F4F0"/>
                </a:solidFill>
                <a:latin typeface="Arial" pitchFamily="34" charset="0"/>
                <a:ea typeface="Arial" pitchFamily="34" charset="-122"/>
                <a:cs typeface="Arial" pitchFamily="34" charset="-120"/>
              </a:rPr>
              <a:t>paying merchants to break even</a:t>
            </a:r>
            <a:endParaRPr lang="en-US" sz="1250" dirty="0"/>
          </a:p>
        </p:txBody>
      </p:sp>
      <p:sp>
        <p:nvSpPr>
          <p:cNvPr id="14" name="Shape 11"/>
          <p:cNvSpPr/>
          <p:nvPr/>
        </p:nvSpPr>
        <p:spPr>
          <a:xfrm>
            <a:off x="7589520" y="4809744"/>
            <a:ext cx="4050792" cy="896112"/>
          </a:xfrm>
          <a:prstGeom prst="roundRect">
            <a:avLst>
              <a:gd name="adj" fmla="val 10204"/>
            </a:avLst>
          </a:prstGeom>
          <a:solidFill>
            <a:srgbClr val="F5F8FC"/>
          </a:solidFill>
          <a:ln/>
        </p:spPr>
      </p:sp>
      <p:sp>
        <p:nvSpPr>
          <p:cNvPr id="15" name="Text 12"/>
          <p:cNvSpPr txBox="1"/>
          <p:nvPr/>
        </p:nvSpPr>
        <p:spPr>
          <a:xfrm>
            <a:off x="7818120" y="4809744"/>
            <a:ext cx="1783080" cy="896112"/>
          </a:xfrm>
          <a:prstGeom prst="rect">
            <a:avLst/>
          </a:prstGeom>
          <a:noFill/>
          <a:ln/>
        </p:spPr>
        <p:txBody>
          <a:bodyPr wrap="square" lIns="0" tIns="0" rIns="0" bIns="0" rtlCol="0" anchor="ctr"/>
          <a:lstStyle/>
          <a:p>
            <a:pPr algn="l" indent="0" marL="0">
              <a:lnSpc>
                <a:spcPct val="100000"/>
              </a:lnSpc>
              <a:buNone/>
            </a:pPr>
            <a:r>
              <a:rPr lang="en-US" sz="2200" b="1" dirty="0">
                <a:solidFill>
                  <a:srgbClr val="15243A"/>
                </a:solidFill>
                <a:latin typeface="Arial" pitchFamily="34" charset="0"/>
                <a:ea typeface="Arial" pitchFamily="34" charset="-122"/>
                <a:cs typeface="Arial" pitchFamily="34" charset="-120"/>
              </a:rPr>
              <a:t>US$5</a:t>
            </a:r>
            <a:endParaRPr lang="en-US" sz="2200" dirty="0"/>
          </a:p>
        </p:txBody>
      </p:sp>
      <p:sp>
        <p:nvSpPr>
          <p:cNvPr id="16" name="Text 13"/>
          <p:cNvSpPr txBox="1"/>
          <p:nvPr/>
        </p:nvSpPr>
        <p:spPr>
          <a:xfrm>
            <a:off x="9601200" y="4809744"/>
            <a:ext cx="1920240" cy="896112"/>
          </a:xfrm>
          <a:prstGeom prst="rect">
            <a:avLst/>
          </a:prstGeom>
          <a:noFill/>
          <a:ln/>
        </p:spPr>
        <p:txBody>
          <a:bodyPr wrap="square" lIns="0" tIns="0" rIns="0" bIns="0" rtlCol="0" anchor="ctr"/>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average plan per merchant each month</a:t>
            </a:r>
            <a:endParaRPr lang="en-US" sz="1250" dirty="0"/>
          </a:p>
        </p:txBody>
      </p:sp>
      <p:sp>
        <p:nvSpPr>
          <p:cNvPr id="17" name="Text 14"/>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Team 36-month model (lean cost base). Price, conversion, churn and cost inputs are assumptions to validate in the pilot. Full table in appendix.</a:t>
            </a:r>
            <a:endParaRPr lang="en-US" sz="1000" dirty="0"/>
          </a:p>
        </p:txBody>
      </p:sp>
      <p:sp>
        <p:nvSpPr>
          <p:cNvPr id="18" name="Text 15"/>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D35"/>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FFFFFF"/>
                </a:solidFill>
                <a:latin typeface="Arial" pitchFamily="34" charset="0"/>
                <a:ea typeface="Arial" pitchFamily="34" charset="-122"/>
                <a:cs typeface="Arial" pitchFamily="34" charset="-120"/>
              </a:rPr>
              <a:t>The team behind Rentify</a:t>
            </a:r>
            <a:endParaRPr lang="en-US" sz="3400" dirty="0"/>
          </a:p>
        </p:txBody>
      </p:sp>
      <p:pic>
        <p:nvPicPr>
          <p:cNvPr id="3" name="Image 0" descr="Long Mengchheng">    </p:cNvPr>
          <p:cNvPicPr>
            <a:picLocks noChangeAspect="1"/>
          </p:cNvPicPr>
          <p:nvPr/>
        </p:nvPicPr>
        <p:blipFill>
          <a:blip r:embed="rId1"/>
          <a:stretch>
            <a:fillRect/>
          </a:stretch>
        </p:blipFill>
        <p:spPr>
          <a:xfrm>
            <a:off x="640080" y="1383753"/>
            <a:ext cx="1188720" cy="1301573"/>
          </a:xfrm>
          <a:prstGeom prst="rect">
            <a:avLst/>
          </a:prstGeom>
        </p:spPr>
      </p:pic>
      <p:sp>
        <p:nvSpPr>
          <p:cNvPr id="4" name="Text 1"/>
          <p:cNvSpPr txBox="1"/>
          <p:nvPr/>
        </p:nvSpPr>
        <p:spPr>
          <a:xfrm>
            <a:off x="502920" y="2788920"/>
            <a:ext cx="1463040" cy="32004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rial" pitchFamily="34" charset="0"/>
                <a:ea typeface="Arial" pitchFamily="34" charset="-122"/>
                <a:cs typeface="Arial" pitchFamily="34" charset="-120"/>
              </a:rPr>
              <a:t>Long Mengchheng</a:t>
            </a:r>
            <a:endParaRPr lang="en-US" sz="1250" dirty="0"/>
          </a:p>
        </p:txBody>
      </p:sp>
      <p:sp>
        <p:nvSpPr>
          <p:cNvPr id="5" name="Text 2"/>
          <p:cNvSpPr txBox="1"/>
          <p:nvPr/>
        </p:nvSpPr>
        <p:spPr>
          <a:xfrm>
            <a:off x="502920" y="3090672"/>
            <a:ext cx="1463040" cy="274320"/>
          </a:xfrm>
          <a:prstGeom prst="rect">
            <a:avLst/>
          </a:prstGeom>
          <a:noFill/>
          <a:ln/>
        </p:spPr>
        <p:txBody>
          <a:bodyPr wrap="square" lIns="0" tIns="0" rIns="0" bIns="0" rtlCol="0" anchor="t"/>
          <a:lstStyle/>
          <a:p>
            <a:pPr algn="ctr" indent="0" marL="0">
              <a:lnSpc>
                <a:spcPct val="100000"/>
              </a:lnSpc>
              <a:buNone/>
            </a:pPr>
            <a:r>
              <a:rPr lang="en-US" sz="1150" dirty="0">
                <a:solidFill>
                  <a:srgbClr val="D6F4F0"/>
                </a:solidFill>
                <a:latin typeface="Arial" pitchFamily="34" charset="0"/>
                <a:ea typeface="Arial" pitchFamily="34" charset="-122"/>
                <a:cs typeface="Arial" pitchFamily="34" charset="-120"/>
              </a:rPr>
              <a:t>Team Lead</a:t>
            </a:r>
            <a:endParaRPr lang="en-US" sz="1150" dirty="0"/>
          </a:p>
        </p:txBody>
      </p:sp>
      <p:sp>
        <p:nvSpPr>
          <p:cNvPr id="6" name="Text 3"/>
          <p:cNvSpPr txBox="1"/>
          <p:nvPr/>
        </p:nvSpPr>
        <p:spPr>
          <a:xfrm>
            <a:off x="502920" y="3346704"/>
            <a:ext cx="1463040" cy="457200"/>
          </a:xfrm>
          <a:prstGeom prst="rect">
            <a:avLst/>
          </a:prstGeom>
          <a:noFill/>
          <a:ln/>
        </p:spPr>
        <p:txBody>
          <a:bodyPr wrap="square" lIns="0" tIns="0" rIns="0" bIns="0" rtlCol="0" anchor="t"/>
          <a:lstStyle/>
          <a:p>
            <a:pPr algn="ctr" indent="0" marL="0">
              <a:lnSpc>
                <a:spcPct val="100000"/>
              </a:lnSpc>
              <a:buNone/>
            </a:pPr>
            <a:r>
              <a:rPr lang="en-US" sz="1050" dirty="0">
                <a:solidFill>
                  <a:srgbClr val="9FB3CF"/>
                </a:solidFill>
                <a:latin typeface="Arial" pitchFamily="34" charset="0"/>
                <a:ea typeface="Arial" pitchFamily="34" charset="-122"/>
                <a:cs typeface="Arial" pitchFamily="34" charset="-120"/>
              </a:rPr>
              <a:t>Developer · Management</a:t>
            </a:r>
            <a:endParaRPr lang="en-US" sz="1050" dirty="0"/>
          </a:p>
        </p:txBody>
      </p:sp>
      <p:pic>
        <p:nvPicPr>
          <p:cNvPr id="7" name="Image 1" descr="Hong Thanbrathna">    </p:cNvPr>
          <p:cNvPicPr>
            <a:picLocks noChangeAspect="1"/>
          </p:cNvPicPr>
          <p:nvPr/>
        </p:nvPicPr>
        <p:blipFill>
          <a:blip r:embed="rId2"/>
          <a:stretch>
            <a:fillRect/>
          </a:stretch>
        </p:blipFill>
        <p:spPr>
          <a:xfrm>
            <a:off x="2121408" y="1387348"/>
            <a:ext cx="1188720" cy="1294384"/>
          </a:xfrm>
          <a:prstGeom prst="rect">
            <a:avLst/>
          </a:prstGeom>
        </p:spPr>
      </p:pic>
      <p:sp>
        <p:nvSpPr>
          <p:cNvPr id="8" name="Text 4"/>
          <p:cNvSpPr txBox="1"/>
          <p:nvPr/>
        </p:nvSpPr>
        <p:spPr>
          <a:xfrm>
            <a:off x="1984248" y="2788920"/>
            <a:ext cx="1463040" cy="32004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rial" pitchFamily="34" charset="0"/>
                <a:ea typeface="Arial" pitchFamily="34" charset="-122"/>
                <a:cs typeface="Arial" pitchFamily="34" charset="-120"/>
              </a:rPr>
              <a:t>Hong Thanbrathna</a:t>
            </a:r>
            <a:endParaRPr lang="en-US" sz="1250" dirty="0"/>
          </a:p>
        </p:txBody>
      </p:sp>
      <p:sp>
        <p:nvSpPr>
          <p:cNvPr id="9" name="Text 5"/>
          <p:cNvSpPr txBox="1"/>
          <p:nvPr/>
        </p:nvSpPr>
        <p:spPr>
          <a:xfrm>
            <a:off x="1984248" y="3090672"/>
            <a:ext cx="1463040" cy="274320"/>
          </a:xfrm>
          <a:prstGeom prst="rect">
            <a:avLst/>
          </a:prstGeom>
          <a:noFill/>
          <a:ln/>
        </p:spPr>
        <p:txBody>
          <a:bodyPr wrap="square" lIns="0" tIns="0" rIns="0" bIns="0" rtlCol="0" anchor="t"/>
          <a:lstStyle/>
          <a:p>
            <a:pPr algn="ctr" indent="0" marL="0">
              <a:lnSpc>
                <a:spcPct val="100000"/>
              </a:lnSpc>
              <a:buNone/>
            </a:pPr>
            <a:r>
              <a:rPr lang="en-US" sz="1150" dirty="0">
                <a:solidFill>
                  <a:srgbClr val="D6F4F0"/>
                </a:solidFill>
                <a:latin typeface="Arial" pitchFamily="34" charset="0"/>
                <a:ea typeface="Arial" pitchFamily="34" charset="-122"/>
                <a:cs typeface="Arial" pitchFamily="34" charset="-120"/>
              </a:rPr>
              <a:t>Idea Founder</a:t>
            </a:r>
            <a:endParaRPr lang="en-US" sz="1150" dirty="0"/>
          </a:p>
        </p:txBody>
      </p:sp>
      <p:sp>
        <p:nvSpPr>
          <p:cNvPr id="10" name="Text 6"/>
          <p:cNvSpPr txBox="1"/>
          <p:nvPr/>
        </p:nvSpPr>
        <p:spPr>
          <a:xfrm>
            <a:off x="1984248" y="3346704"/>
            <a:ext cx="1463040" cy="457200"/>
          </a:xfrm>
          <a:prstGeom prst="rect">
            <a:avLst/>
          </a:prstGeom>
          <a:noFill/>
          <a:ln/>
        </p:spPr>
        <p:txBody>
          <a:bodyPr wrap="square" lIns="0" tIns="0" rIns="0" bIns="0" rtlCol="0" anchor="t"/>
          <a:lstStyle/>
          <a:p>
            <a:pPr algn="ctr" indent="0" marL="0">
              <a:lnSpc>
                <a:spcPct val="100000"/>
              </a:lnSpc>
              <a:buNone/>
            </a:pPr>
            <a:r>
              <a:rPr lang="en-US" sz="1050" dirty="0">
                <a:solidFill>
                  <a:srgbClr val="9FB3CF"/>
                </a:solidFill>
                <a:latin typeface="Arial" pitchFamily="34" charset="0"/>
                <a:ea typeface="Arial" pitchFamily="34" charset="-122"/>
                <a:cs typeface="Arial" pitchFamily="34" charset="-120"/>
              </a:rPr>
              <a:t>Developer</a:t>
            </a:r>
            <a:endParaRPr lang="en-US" sz="1050" dirty="0"/>
          </a:p>
        </p:txBody>
      </p:sp>
      <p:pic>
        <p:nvPicPr>
          <p:cNvPr id="11" name="Image 2" descr="Khemrak Pasey">    </p:cNvPr>
          <p:cNvPicPr>
            <a:picLocks noChangeAspect="1"/>
          </p:cNvPicPr>
          <p:nvPr/>
        </p:nvPicPr>
        <p:blipFill>
          <a:blip r:embed="rId3"/>
          <a:stretch>
            <a:fillRect/>
          </a:stretch>
        </p:blipFill>
        <p:spPr>
          <a:xfrm>
            <a:off x="3615182" y="1371600"/>
            <a:ext cx="1163828" cy="1325880"/>
          </a:xfrm>
          <a:prstGeom prst="rect">
            <a:avLst/>
          </a:prstGeom>
        </p:spPr>
      </p:pic>
      <p:sp>
        <p:nvSpPr>
          <p:cNvPr id="12" name="Text 7"/>
          <p:cNvSpPr txBox="1"/>
          <p:nvPr/>
        </p:nvSpPr>
        <p:spPr>
          <a:xfrm>
            <a:off x="3465576" y="2788920"/>
            <a:ext cx="1463040" cy="32004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rial" pitchFamily="34" charset="0"/>
                <a:ea typeface="Arial" pitchFamily="34" charset="-122"/>
                <a:cs typeface="Arial" pitchFamily="34" charset="-120"/>
              </a:rPr>
              <a:t>Khemrak Pasey</a:t>
            </a:r>
            <a:endParaRPr lang="en-US" sz="1250" dirty="0"/>
          </a:p>
        </p:txBody>
      </p:sp>
      <p:sp>
        <p:nvSpPr>
          <p:cNvPr id="13" name="Text 8"/>
          <p:cNvSpPr txBox="1"/>
          <p:nvPr/>
        </p:nvSpPr>
        <p:spPr>
          <a:xfrm>
            <a:off x="3465576" y="3090672"/>
            <a:ext cx="1463040" cy="274320"/>
          </a:xfrm>
          <a:prstGeom prst="rect">
            <a:avLst/>
          </a:prstGeom>
          <a:noFill/>
          <a:ln/>
        </p:spPr>
        <p:txBody>
          <a:bodyPr wrap="square" lIns="0" tIns="0" rIns="0" bIns="0" rtlCol="0" anchor="t"/>
          <a:lstStyle/>
          <a:p>
            <a:pPr algn="ctr" indent="0" marL="0">
              <a:lnSpc>
                <a:spcPct val="100000"/>
              </a:lnSpc>
              <a:buNone/>
            </a:pPr>
            <a:r>
              <a:rPr lang="en-US" sz="1150" dirty="0">
                <a:solidFill>
                  <a:srgbClr val="D6F4F0"/>
                </a:solidFill>
                <a:latin typeface="Arial" pitchFamily="34" charset="0"/>
                <a:ea typeface="Arial" pitchFamily="34" charset="-122"/>
                <a:cs typeface="Arial" pitchFamily="34" charset="-120"/>
              </a:rPr>
              <a:t>Business Lead</a:t>
            </a:r>
            <a:endParaRPr lang="en-US" sz="1150" dirty="0"/>
          </a:p>
        </p:txBody>
      </p:sp>
      <p:sp>
        <p:nvSpPr>
          <p:cNvPr id="14" name="Text 9"/>
          <p:cNvSpPr txBox="1"/>
          <p:nvPr/>
        </p:nvSpPr>
        <p:spPr>
          <a:xfrm>
            <a:off x="3465576" y="3346704"/>
            <a:ext cx="1463040" cy="457200"/>
          </a:xfrm>
          <a:prstGeom prst="rect">
            <a:avLst/>
          </a:prstGeom>
          <a:noFill/>
          <a:ln/>
        </p:spPr>
        <p:txBody>
          <a:bodyPr wrap="square" lIns="0" tIns="0" rIns="0" bIns="0" rtlCol="0" anchor="t"/>
          <a:lstStyle/>
          <a:p>
            <a:pPr algn="ctr" indent="0" marL="0">
              <a:lnSpc>
                <a:spcPct val="100000"/>
              </a:lnSpc>
              <a:buNone/>
            </a:pPr>
            <a:r>
              <a:rPr lang="en-US" sz="1050" dirty="0">
                <a:solidFill>
                  <a:srgbClr val="9FB3CF"/>
                </a:solidFill>
                <a:latin typeface="Arial" pitchFamily="34" charset="0"/>
                <a:ea typeface="Arial" pitchFamily="34" charset="-122"/>
                <a:cs typeface="Arial" pitchFamily="34" charset="-120"/>
              </a:rPr>
              <a:t>Advisor outreach · Strategy</a:t>
            </a:r>
            <a:endParaRPr lang="en-US" sz="1050" dirty="0"/>
          </a:p>
        </p:txBody>
      </p:sp>
      <p:pic>
        <p:nvPicPr>
          <p:cNvPr id="15" name="Image 3" descr="Mom Sothireak">    </p:cNvPr>
          <p:cNvPicPr>
            <a:picLocks noChangeAspect="1"/>
          </p:cNvPicPr>
          <p:nvPr/>
        </p:nvPicPr>
        <p:blipFill>
          <a:blip r:embed="rId4"/>
          <a:stretch>
            <a:fillRect/>
          </a:stretch>
        </p:blipFill>
        <p:spPr>
          <a:xfrm>
            <a:off x="5089972" y="1371600"/>
            <a:ext cx="1176905" cy="1325880"/>
          </a:xfrm>
          <a:prstGeom prst="rect">
            <a:avLst/>
          </a:prstGeom>
        </p:spPr>
      </p:pic>
      <p:sp>
        <p:nvSpPr>
          <p:cNvPr id="16" name="Text 10"/>
          <p:cNvSpPr txBox="1"/>
          <p:nvPr/>
        </p:nvSpPr>
        <p:spPr>
          <a:xfrm>
            <a:off x="4946904" y="2788920"/>
            <a:ext cx="1463040" cy="32004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rial" pitchFamily="34" charset="0"/>
                <a:ea typeface="Arial" pitchFamily="34" charset="-122"/>
                <a:cs typeface="Arial" pitchFamily="34" charset="-120"/>
              </a:rPr>
              <a:t>Mom Sothireak</a:t>
            </a:r>
            <a:endParaRPr lang="en-US" sz="1250" dirty="0"/>
          </a:p>
        </p:txBody>
      </p:sp>
      <p:sp>
        <p:nvSpPr>
          <p:cNvPr id="17" name="Text 11"/>
          <p:cNvSpPr txBox="1"/>
          <p:nvPr/>
        </p:nvSpPr>
        <p:spPr>
          <a:xfrm>
            <a:off x="4946904" y="3090672"/>
            <a:ext cx="1463040" cy="274320"/>
          </a:xfrm>
          <a:prstGeom prst="rect">
            <a:avLst/>
          </a:prstGeom>
          <a:noFill/>
          <a:ln/>
        </p:spPr>
        <p:txBody>
          <a:bodyPr wrap="square" lIns="0" tIns="0" rIns="0" bIns="0" rtlCol="0" anchor="t"/>
          <a:lstStyle/>
          <a:p>
            <a:pPr algn="ctr" indent="0" marL="0">
              <a:lnSpc>
                <a:spcPct val="100000"/>
              </a:lnSpc>
              <a:buNone/>
            </a:pPr>
            <a:r>
              <a:rPr lang="en-US" sz="1150" dirty="0">
                <a:solidFill>
                  <a:srgbClr val="D6F4F0"/>
                </a:solidFill>
                <a:latin typeface="Arial" pitchFamily="34" charset="0"/>
                <a:ea typeface="Arial" pitchFamily="34" charset="-122"/>
                <a:cs typeface="Arial" pitchFamily="34" charset="-120"/>
              </a:rPr>
              <a:t>Pitch Lead</a:t>
            </a:r>
            <a:endParaRPr lang="en-US" sz="1150" dirty="0"/>
          </a:p>
        </p:txBody>
      </p:sp>
      <p:sp>
        <p:nvSpPr>
          <p:cNvPr id="18" name="Text 12"/>
          <p:cNvSpPr txBox="1"/>
          <p:nvPr/>
        </p:nvSpPr>
        <p:spPr>
          <a:xfrm>
            <a:off x="4946904" y="3346704"/>
            <a:ext cx="1463040" cy="457200"/>
          </a:xfrm>
          <a:prstGeom prst="rect">
            <a:avLst/>
          </a:prstGeom>
          <a:noFill/>
          <a:ln/>
        </p:spPr>
        <p:txBody>
          <a:bodyPr wrap="square" lIns="0" tIns="0" rIns="0" bIns="0" rtlCol="0" anchor="t"/>
          <a:lstStyle/>
          <a:p>
            <a:pPr algn="ctr" indent="0" marL="0">
              <a:lnSpc>
                <a:spcPct val="100000"/>
              </a:lnSpc>
              <a:buNone/>
            </a:pPr>
            <a:r>
              <a:rPr lang="en-US" sz="1050" dirty="0">
                <a:solidFill>
                  <a:srgbClr val="9FB3CF"/>
                </a:solidFill>
                <a:latin typeface="Arial" pitchFamily="34" charset="0"/>
                <a:ea typeface="Arial" pitchFamily="34" charset="-122"/>
                <a:cs typeface="Arial" pitchFamily="34" charset="-120"/>
              </a:rPr>
              <a:t>Presenter · Brand story</a:t>
            </a:r>
            <a:endParaRPr lang="en-US" sz="1050" dirty="0"/>
          </a:p>
        </p:txBody>
      </p:sp>
      <p:pic>
        <p:nvPicPr>
          <p:cNvPr id="19" name="Image 4" descr="Vy Seoul">    </p:cNvPr>
          <p:cNvPicPr>
            <a:picLocks noChangeAspect="1"/>
          </p:cNvPicPr>
          <p:nvPr/>
        </p:nvPicPr>
        <p:blipFill>
          <a:blip r:embed="rId5"/>
          <a:stretch>
            <a:fillRect/>
          </a:stretch>
        </p:blipFill>
        <p:spPr>
          <a:xfrm>
            <a:off x="6593828" y="1371600"/>
            <a:ext cx="1131849" cy="1325880"/>
          </a:xfrm>
          <a:prstGeom prst="rect">
            <a:avLst/>
          </a:prstGeom>
        </p:spPr>
      </p:pic>
      <p:sp>
        <p:nvSpPr>
          <p:cNvPr id="20" name="Text 13"/>
          <p:cNvSpPr txBox="1"/>
          <p:nvPr/>
        </p:nvSpPr>
        <p:spPr>
          <a:xfrm>
            <a:off x="6428232" y="2788920"/>
            <a:ext cx="1463040" cy="32004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rial" pitchFamily="34" charset="0"/>
                <a:ea typeface="Arial" pitchFamily="34" charset="-122"/>
                <a:cs typeface="Arial" pitchFamily="34" charset="-120"/>
              </a:rPr>
              <a:t>Vy Seoul</a:t>
            </a:r>
            <a:endParaRPr lang="en-US" sz="1250" dirty="0"/>
          </a:p>
        </p:txBody>
      </p:sp>
      <p:sp>
        <p:nvSpPr>
          <p:cNvPr id="21" name="Text 14"/>
          <p:cNvSpPr txBox="1"/>
          <p:nvPr/>
        </p:nvSpPr>
        <p:spPr>
          <a:xfrm>
            <a:off x="6428232" y="3090672"/>
            <a:ext cx="1463040" cy="274320"/>
          </a:xfrm>
          <a:prstGeom prst="rect">
            <a:avLst/>
          </a:prstGeom>
          <a:noFill/>
          <a:ln/>
        </p:spPr>
        <p:txBody>
          <a:bodyPr wrap="square" lIns="0" tIns="0" rIns="0" bIns="0" rtlCol="0" anchor="t"/>
          <a:lstStyle/>
          <a:p>
            <a:pPr algn="ctr" indent="0" marL="0">
              <a:lnSpc>
                <a:spcPct val="100000"/>
              </a:lnSpc>
              <a:buNone/>
            </a:pPr>
            <a:r>
              <a:rPr lang="en-US" sz="1150" dirty="0">
                <a:solidFill>
                  <a:srgbClr val="D6F4F0"/>
                </a:solidFill>
                <a:latin typeface="Arial" pitchFamily="34" charset="0"/>
                <a:ea typeface="Arial" pitchFamily="34" charset="-122"/>
                <a:cs typeface="Arial" pitchFamily="34" charset="-120"/>
              </a:rPr>
              <a:t>Developer</a:t>
            </a:r>
            <a:endParaRPr lang="en-US" sz="1150" dirty="0"/>
          </a:p>
        </p:txBody>
      </p:sp>
      <p:sp>
        <p:nvSpPr>
          <p:cNvPr id="22" name="Text 15"/>
          <p:cNvSpPr txBox="1"/>
          <p:nvPr/>
        </p:nvSpPr>
        <p:spPr>
          <a:xfrm>
            <a:off x="6428232" y="3346704"/>
            <a:ext cx="1463040" cy="457200"/>
          </a:xfrm>
          <a:prstGeom prst="rect">
            <a:avLst/>
          </a:prstGeom>
          <a:noFill/>
          <a:ln/>
        </p:spPr>
        <p:txBody>
          <a:bodyPr wrap="square" lIns="0" tIns="0" rIns="0" bIns="0" rtlCol="0" anchor="t"/>
          <a:lstStyle/>
          <a:p>
            <a:pPr algn="ctr" indent="0" marL="0">
              <a:lnSpc>
                <a:spcPct val="100000"/>
              </a:lnSpc>
              <a:buNone/>
            </a:pPr>
            <a:r>
              <a:rPr lang="en-US" sz="1050" dirty="0">
                <a:solidFill>
                  <a:srgbClr val="9FB3CF"/>
                </a:solidFill>
                <a:latin typeface="Arial" pitchFamily="34" charset="0"/>
                <a:ea typeface="Arial" pitchFamily="34" charset="-122"/>
                <a:cs typeface="Arial" pitchFamily="34" charset="-120"/>
              </a:rPr>
              <a:t>UX/UI design</a:t>
            </a:r>
            <a:endParaRPr lang="en-US" sz="1050" dirty="0"/>
          </a:p>
        </p:txBody>
      </p:sp>
      <p:sp>
        <p:nvSpPr>
          <p:cNvPr id="23" name="Shape 16"/>
          <p:cNvSpPr/>
          <p:nvPr/>
        </p:nvSpPr>
        <p:spPr>
          <a:xfrm>
            <a:off x="8183880" y="1371600"/>
            <a:ext cx="3456432" cy="4480560"/>
          </a:xfrm>
          <a:prstGeom prst="roundRect">
            <a:avLst>
              <a:gd name="adj" fmla="val 3704"/>
            </a:avLst>
          </a:prstGeom>
          <a:solidFill>
            <a:srgbClr val="FFFFFF"/>
          </a:solidFill>
          <a:ln/>
        </p:spPr>
      </p:sp>
      <p:sp>
        <p:nvSpPr>
          <p:cNvPr id="24" name="Text 17"/>
          <p:cNvSpPr txBox="1"/>
          <p:nvPr/>
        </p:nvSpPr>
        <p:spPr>
          <a:xfrm>
            <a:off x="8458200" y="1600200"/>
            <a:ext cx="2926080" cy="27432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0AA7A2"/>
                </a:solidFill>
                <a:latin typeface="Arial" pitchFamily="34" charset="0"/>
                <a:ea typeface="Arial" pitchFamily="34" charset="-122"/>
                <a:cs typeface="Arial" pitchFamily="34" charset="-120"/>
              </a:rPr>
              <a:t>OUR ASK</a:t>
            </a:r>
            <a:endParaRPr lang="en-US" sz="1200" dirty="0"/>
          </a:p>
        </p:txBody>
      </p:sp>
      <p:sp>
        <p:nvSpPr>
          <p:cNvPr id="25" name="Shape 18"/>
          <p:cNvSpPr/>
          <p:nvPr/>
        </p:nvSpPr>
        <p:spPr>
          <a:xfrm>
            <a:off x="8458200" y="2057400"/>
            <a:ext cx="457200" cy="457200"/>
          </a:xfrm>
          <a:prstGeom prst="ellipse">
            <a:avLst/>
          </a:prstGeom>
          <a:solidFill>
            <a:srgbClr val="D6F4F0"/>
          </a:solidFill>
          <a:ln/>
        </p:spPr>
      </p:sp>
      <p:pic>
        <p:nvPicPr>
          <p:cNvPr id="26" name="Image 5" descr="preencoded.png">    </p:cNvPr>
          <p:cNvPicPr>
            <a:picLocks noChangeAspect="1"/>
          </p:cNvPicPr>
          <p:nvPr/>
        </p:nvPicPr>
        <p:blipFill>
          <a:blip r:embed="rId6"/>
          <a:stretch>
            <a:fillRect/>
          </a:stretch>
        </p:blipFill>
        <p:spPr>
          <a:xfrm>
            <a:off x="8567928" y="2167128"/>
            <a:ext cx="237744" cy="237744"/>
          </a:xfrm>
          <a:prstGeom prst="rect">
            <a:avLst/>
          </a:prstGeom>
        </p:spPr>
      </p:pic>
      <p:sp>
        <p:nvSpPr>
          <p:cNvPr id="27" name="Text 19"/>
          <p:cNvSpPr txBox="1"/>
          <p:nvPr/>
        </p:nvSpPr>
        <p:spPr>
          <a:xfrm>
            <a:off x="9052560" y="2011680"/>
            <a:ext cx="2468880" cy="365760"/>
          </a:xfrm>
          <a:prstGeom prst="rect">
            <a:avLst/>
          </a:prstGeom>
          <a:noFill/>
          <a:ln/>
        </p:spPr>
        <p:txBody>
          <a:bodyPr wrap="square" lIns="0" tIns="0" rIns="0" bIns="0" rtlCol="0" anchor="t"/>
          <a:lstStyle/>
          <a:p>
            <a:pPr algn="l" indent="0" marL="0">
              <a:lnSpc>
                <a:spcPct val="100000"/>
              </a:lnSpc>
              <a:buNone/>
            </a:pPr>
            <a:r>
              <a:rPr lang="en-US" sz="1500" b="1" dirty="0">
                <a:solidFill>
                  <a:srgbClr val="15243A"/>
                </a:solidFill>
                <a:latin typeface="Arial" pitchFamily="34" charset="0"/>
                <a:ea typeface="Arial" pitchFamily="34" charset="-122"/>
                <a:cs typeface="Arial" pitchFamily="34" charset="-120"/>
              </a:rPr>
              <a:t>10 retailer introductions</a:t>
            </a:r>
            <a:endParaRPr lang="en-US" sz="1500" dirty="0"/>
          </a:p>
        </p:txBody>
      </p:sp>
      <p:sp>
        <p:nvSpPr>
          <p:cNvPr id="28" name="Text 20"/>
          <p:cNvSpPr txBox="1"/>
          <p:nvPr/>
        </p:nvSpPr>
        <p:spPr>
          <a:xfrm>
            <a:off x="9052560" y="2359152"/>
            <a:ext cx="2468880" cy="548640"/>
          </a:xfrm>
          <a:prstGeom prst="rect">
            <a:avLst/>
          </a:prstGeom>
          <a:noFill/>
          <a:ln/>
        </p:spPr>
        <p:txBody>
          <a:bodyPr wrap="square" lIns="0" tIns="0" rIns="0" bIns="0" rtlCol="0" anchor="t"/>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shops that sell online and at a counter</a:t>
            </a:r>
            <a:endParaRPr lang="en-US" sz="1250" dirty="0"/>
          </a:p>
        </p:txBody>
      </p:sp>
      <p:sp>
        <p:nvSpPr>
          <p:cNvPr id="29" name="Shape 21"/>
          <p:cNvSpPr/>
          <p:nvPr/>
        </p:nvSpPr>
        <p:spPr>
          <a:xfrm>
            <a:off x="8458200" y="3154680"/>
            <a:ext cx="457200" cy="457200"/>
          </a:xfrm>
          <a:prstGeom prst="ellipse">
            <a:avLst/>
          </a:prstGeom>
          <a:solidFill>
            <a:srgbClr val="D6F4F0"/>
          </a:solidFill>
          <a:ln/>
        </p:spPr>
      </p:sp>
      <p:pic>
        <p:nvPicPr>
          <p:cNvPr id="30" name="Image 6" descr="preencoded.png">    </p:cNvPr>
          <p:cNvPicPr>
            <a:picLocks noChangeAspect="1"/>
          </p:cNvPicPr>
          <p:nvPr/>
        </p:nvPicPr>
        <p:blipFill>
          <a:blip r:embed="rId7"/>
          <a:stretch>
            <a:fillRect/>
          </a:stretch>
        </p:blipFill>
        <p:spPr>
          <a:xfrm>
            <a:off x="8567928" y="3264408"/>
            <a:ext cx="237744" cy="237744"/>
          </a:xfrm>
          <a:prstGeom prst="rect">
            <a:avLst/>
          </a:prstGeom>
        </p:spPr>
      </p:pic>
      <p:sp>
        <p:nvSpPr>
          <p:cNvPr id="31" name="Text 22"/>
          <p:cNvSpPr txBox="1"/>
          <p:nvPr/>
        </p:nvSpPr>
        <p:spPr>
          <a:xfrm>
            <a:off x="9052560" y="3108960"/>
            <a:ext cx="2468880" cy="365760"/>
          </a:xfrm>
          <a:prstGeom prst="rect">
            <a:avLst/>
          </a:prstGeom>
          <a:noFill/>
          <a:ln/>
        </p:spPr>
        <p:txBody>
          <a:bodyPr wrap="square" lIns="0" tIns="0" rIns="0" bIns="0" rtlCol="0" anchor="t"/>
          <a:lstStyle/>
          <a:p>
            <a:pPr algn="l" indent="0" marL="0">
              <a:lnSpc>
                <a:spcPct val="100000"/>
              </a:lnSpc>
              <a:buNone/>
            </a:pPr>
            <a:r>
              <a:rPr lang="en-US" sz="1500" b="1" dirty="0">
                <a:solidFill>
                  <a:srgbClr val="15243A"/>
                </a:solidFill>
                <a:latin typeface="Arial" pitchFamily="34" charset="0"/>
                <a:ea typeface="Arial" pitchFamily="34" charset="-122"/>
                <a:cs typeface="Arial" pitchFamily="34" charset="-120"/>
              </a:rPr>
              <a:t>Mentors</a:t>
            </a:r>
            <a:endParaRPr lang="en-US" sz="1500" dirty="0"/>
          </a:p>
        </p:txBody>
      </p:sp>
      <p:sp>
        <p:nvSpPr>
          <p:cNvPr id="32" name="Text 23"/>
          <p:cNvSpPr txBox="1"/>
          <p:nvPr/>
        </p:nvSpPr>
        <p:spPr>
          <a:xfrm>
            <a:off x="9052560" y="3456432"/>
            <a:ext cx="2468880" cy="548640"/>
          </a:xfrm>
          <a:prstGeom prst="rect">
            <a:avLst/>
          </a:prstGeom>
          <a:noFill/>
          <a:ln/>
        </p:spPr>
        <p:txBody>
          <a:bodyPr wrap="square" lIns="0" tIns="0" rIns="0" bIns="0" rtlCol="0" anchor="t"/>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in retail, payments and marketplaces</a:t>
            </a:r>
            <a:endParaRPr lang="en-US" sz="1250" dirty="0"/>
          </a:p>
        </p:txBody>
      </p:sp>
      <p:sp>
        <p:nvSpPr>
          <p:cNvPr id="33" name="Shape 24"/>
          <p:cNvSpPr/>
          <p:nvPr/>
        </p:nvSpPr>
        <p:spPr>
          <a:xfrm>
            <a:off x="8458200" y="4251960"/>
            <a:ext cx="457200" cy="457200"/>
          </a:xfrm>
          <a:prstGeom prst="ellipse">
            <a:avLst/>
          </a:prstGeom>
          <a:solidFill>
            <a:srgbClr val="D6F4F0"/>
          </a:solidFill>
          <a:ln/>
        </p:spPr>
      </p:sp>
      <p:pic>
        <p:nvPicPr>
          <p:cNvPr id="34" name="Image 7" descr="preencoded.png">    </p:cNvPr>
          <p:cNvPicPr>
            <a:picLocks noChangeAspect="1"/>
          </p:cNvPicPr>
          <p:nvPr/>
        </p:nvPicPr>
        <p:blipFill>
          <a:blip r:embed="rId8"/>
          <a:stretch>
            <a:fillRect/>
          </a:stretch>
        </p:blipFill>
        <p:spPr>
          <a:xfrm>
            <a:off x="8567928" y="4361688"/>
            <a:ext cx="237744" cy="237744"/>
          </a:xfrm>
          <a:prstGeom prst="rect">
            <a:avLst/>
          </a:prstGeom>
        </p:spPr>
      </p:pic>
      <p:sp>
        <p:nvSpPr>
          <p:cNvPr id="35" name="Text 25"/>
          <p:cNvSpPr txBox="1"/>
          <p:nvPr/>
        </p:nvSpPr>
        <p:spPr>
          <a:xfrm>
            <a:off x="9052560" y="4206240"/>
            <a:ext cx="2468880" cy="365760"/>
          </a:xfrm>
          <a:prstGeom prst="rect">
            <a:avLst/>
          </a:prstGeom>
          <a:noFill/>
          <a:ln/>
        </p:spPr>
        <p:txBody>
          <a:bodyPr wrap="square" lIns="0" tIns="0" rIns="0" bIns="0" rtlCol="0" anchor="t"/>
          <a:lstStyle/>
          <a:p>
            <a:pPr algn="l" indent="0" marL="0">
              <a:lnSpc>
                <a:spcPct val="100000"/>
              </a:lnSpc>
              <a:buNone/>
            </a:pPr>
            <a:r>
              <a:rPr lang="en-US" sz="1500" b="1" dirty="0">
                <a:solidFill>
                  <a:srgbClr val="15243A"/>
                </a:solidFill>
                <a:latin typeface="Arial" pitchFamily="34" charset="0"/>
                <a:ea typeface="Arial" pitchFamily="34" charset="-122"/>
                <a:cs typeface="Arial" pitchFamily="34" charset="-120"/>
              </a:rPr>
              <a:t>Pilot support</a:t>
            </a:r>
            <a:endParaRPr lang="en-US" sz="1500" dirty="0"/>
          </a:p>
        </p:txBody>
      </p:sp>
      <p:sp>
        <p:nvSpPr>
          <p:cNvPr id="36" name="Text 26"/>
          <p:cNvSpPr txBox="1"/>
          <p:nvPr/>
        </p:nvSpPr>
        <p:spPr>
          <a:xfrm>
            <a:off x="9052560" y="4553712"/>
            <a:ext cx="2468880" cy="548640"/>
          </a:xfrm>
          <a:prstGeom prst="rect">
            <a:avLst/>
          </a:prstGeom>
          <a:noFill/>
          <a:ln/>
        </p:spPr>
        <p:txBody>
          <a:bodyPr wrap="square" lIns="0" tIns="0" rIns="0" bIns="0" rtlCol="0" anchor="t"/>
          <a:lstStyle/>
          <a:p>
            <a:pPr algn="l" indent="0" marL="0">
              <a:lnSpc>
                <a:spcPct val="100000"/>
              </a:lnSpc>
              <a:buNone/>
            </a:pPr>
            <a:r>
              <a:rPr lang="en-US" sz="1250" dirty="0">
                <a:solidFill>
                  <a:srgbClr val="52637A"/>
                </a:solidFill>
                <a:latin typeface="Arial" pitchFamily="34" charset="0"/>
                <a:ea typeface="Arial" pitchFamily="34" charset="-122"/>
                <a:cs typeface="Arial" pitchFamily="34" charset="-120"/>
              </a:rPr>
              <a:t>to run and measure the Q4 pilot</a:t>
            </a:r>
            <a:endParaRPr lang="en-US" sz="1250" dirty="0"/>
          </a:p>
        </p:txBody>
      </p:sp>
      <p:sp>
        <p:nvSpPr>
          <p:cNvPr id="37" name="Text 27"/>
          <p:cNvSpPr txBox="1"/>
          <p:nvPr/>
        </p:nvSpPr>
        <p:spPr>
          <a:xfrm>
            <a:off x="548640" y="4343400"/>
            <a:ext cx="7315200" cy="640080"/>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Sell everywhere. Manage once.</a:t>
            </a:r>
            <a:endParaRPr lang="en-US" sz="3000" dirty="0"/>
          </a:p>
        </p:txBody>
      </p:sp>
      <p:sp>
        <p:nvSpPr>
          <p:cNvPr id="38" name="Text 28"/>
          <p:cNvSpPr txBox="1"/>
          <p:nvPr/>
        </p:nvSpPr>
        <p:spPr>
          <a:xfrm>
            <a:off x="548640" y="4983480"/>
            <a:ext cx="7315200" cy="457200"/>
          </a:xfrm>
          <a:prstGeom prst="rect">
            <a:avLst/>
          </a:prstGeom>
          <a:noFill/>
          <a:ln/>
        </p:spPr>
        <p:txBody>
          <a:bodyPr wrap="square" lIns="0" tIns="0" rIns="0" bIns="0" rtlCol="0" anchor="t"/>
          <a:lstStyle/>
          <a:p>
            <a:pPr algn="l" indent="0" marL="0">
              <a:lnSpc>
                <a:spcPct val="100000"/>
              </a:lnSpc>
              <a:buNone/>
            </a:pPr>
            <a:r>
              <a:rPr lang="en-US" sz="1600" dirty="0">
                <a:solidFill>
                  <a:srgbClr val="D6F4F0"/>
                </a:solidFill>
                <a:latin typeface="Arial" pitchFamily="34" charset="0"/>
                <a:ea typeface="Arial" pitchFamily="34" charset="-122"/>
                <a:cs typeface="Arial" pitchFamily="34" charset="-120"/>
              </a:rPr>
              <a:t>Rentify — one store behind every way a Cambodian merchant sells.</a:t>
            </a:r>
            <a:endParaRPr lang="en-US" sz="1600" dirty="0"/>
          </a:p>
        </p:txBody>
      </p:sp>
      <p:sp>
        <p:nvSpPr>
          <p:cNvPr id="39" name="Text 29"/>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9FB3CF"/>
                </a:solidFill>
                <a:latin typeface="Arial" pitchFamily="34" charset="0"/>
                <a:ea typeface="Arial" pitchFamily="34" charset="-122"/>
                <a:cs typeface="Arial" pitchFamily="34" charset="-120"/>
              </a:rPr>
              <a:t>Thank you.</a:t>
            </a:r>
            <a:endParaRPr lang="en-US" sz="1000" dirty="0"/>
          </a:p>
        </p:txBody>
      </p:sp>
      <p:sp>
        <p:nvSpPr>
          <p:cNvPr id="40" name="Text 30"/>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9FB3CF"/>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D35"/>
        </a:solidFill>
      </p:bgPr>
    </p:bg>
    <p:spTree>
      <p:nvGrpSpPr>
        <p:cNvPr id="1" name=""/>
        <p:cNvGrpSpPr/>
        <p:nvPr/>
      </p:nvGrpSpPr>
      <p:grpSpPr>
        <a:xfrm>
          <a:off x="0" y="0"/>
          <a:ext cx="0" cy="0"/>
          <a:chOff x="0" y="0"/>
          <a:chExt cx="0" cy="0"/>
        </a:xfrm>
      </p:grpSpPr>
      <p:sp>
        <p:nvSpPr>
          <p:cNvPr id="2" name="Text 0"/>
          <p:cNvSpPr txBox="1"/>
          <p:nvPr/>
        </p:nvSpPr>
        <p:spPr>
          <a:xfrm>
            <a:off x="548640" y="2468880"/>
            <a:ext cx="10972800" cy="914400"/>
          </a:xfrm>
          <a:prstGeom prst="rect">
            <a:avLst/>
          </a:prstGeom>
          <a:noFill/>
          <a:ln/>
        </p:spPr>
        <p:txBody>
          <a:bodyPr wrap="square" lIns="0" tIns="0" rIns="0" bIns="0" rtlCol="0" anchor="t"/>
          <a:lstStyle/>
          <a:p>
            <a:pPr algn="l" indent="0" marL="0">
              <a:lnSpc>
                <a:spcPct val="100000"/>
              </a:lnSpc>
              <a:buNone/>
            </a:pPr>
            <a:r>
              <a:rPr lang="en-US" sz="4800" b="1" dirty="0">
                <a:solidFill>
                  <a:srgbClr val="FFFFFF"/>
                </a:solidFill>
                <a:latin typeface="Arial" pitchFamily="34" charset="0"/>
                <a:ea typeface="Arial" pitchFamily="34" charset="-122"/>
                <a:cs typeface="Arial" pitchFamily="34" charset="-120"/>
              </a:rPr>
              <a:t>Appendix</a:t>
            </a:r>
            <a:endParaRPr lang="en-US" sz="4800" dirty="0"/>
          </a:p>
        </p:txBody>
      </p:sp>
      <p:sp>
        <p:nvSpPr>
          <p:cNvPr id="3" name="Text 1"/>
          <p:cNvSpPr txBox="1"/>
          <p:nvPr/>
        </p:nvSpPr>
        <p:spPr>
          <a:xfrm>
            <a:off x="548640" y="3429000"/>
            <a:ext cx="10972800" cy="457200"/>
          </a:xfrm>
          <a:prstGeom prst="rect">
            <a:avLst/>
          </a:prstGeom>
          <a:noFill/>
          <a:ln/>
        </p:spPr>
        <p:txBody>
          <a:bodyPr wrap="square" lIns="0" tIns="0" rIns="0" bIns="0" rtlCol="0" anchor="t"/>
          <a:lstStyle/>
          <a:p>
            <a:pPr algn="l" indent="0" marL="0">
              <a:lnSpc>
                <a:spcPct val="100000"/>
              </a:lnSpc>
              <a:buNone/>
            </a:pPr>
            <a:r>
              <a:rPr lang="en-US" sz="1600" dirty="0">
                <a:solidFill>
                  <a:srgbClr val="D6F4F0"/>
                </a:solidFill>
                <a:latin typeface="Arial" pitchFamily="34" charset="0"/>
                <a:ea typeface="Arial" pitchFamily="34" charset="-122"/>
                <a:cs typeface="Arial" pitchFamily="34" charset="-120"/>
              </a:rPr>
              <a:t>Competitors · Market math · Financial detail · Business model canvas · Delivery partners · Build status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Competitor evidence</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011680"/>
                <a:gridCol w="4846320"/>
                <a:gridCol w="4233672"/>
              </a:tblGrid>
              <a:tr h="566928">
                <a:tc>
                  <a:txBody>
                    <a:bodyPr/>
                    <a:lstStyle/>
                    <a:p>
                      <a:pPr indent="0" marL="0">
                        <a:buNone/>
                      </a:pPr>
                      <a:r>
                        <a:rPr lang="en-US" sz="1400" b="1" dirty="0">
                          <a:solidFill>
                            <a:srgbClr val="FFFFFF"/>
                          </a:solidFill>
                          <a:latin typeface="Arial" pitchFamily="34" charset="0"/>
                          <a:ea typeface="Arial" pitchFamily="34" charset="-122"/>
                          <a:cs typeface="Arial" pitchFamily="34" charset="-120"/>
                        </a:rPr>
                        <a:t>Alternative</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Publicly described offer</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we compare in pilots</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r>
              <a:tr h="566928">
                <a:tc>
                  <a:txBody>
                    <a:bodyPr/>
                    <a:lstStyle/>
                    <a:p>
                      <a:pPr indent="0" marL="0">
                        <a:buNone/>
                      </a:pPr>
                      <a:r>
                        <a:rPr lang="en-US" sz="1400" dirty="0">
                          <a:solidFill>
                            <a:srgbClr val="15243A"/>
                          </a:solidFill>
                          <a:latin typeface="Arial" pitchFamily="34" charset="0"/>
                          <a:ea typeface="Arial" pitchFamily="34" charset="-122"/>
                          <a:cs typeface="Arial" pitchFamily="34" charset="-120"/>
                        </a:rPr>
                        <a:t>Khmer24</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Broad listings across goods, property, jobs and services</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Seller workflow for stock and orders</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566928">
                <a:tc>
                  <a:txBody>
                    <a:bodyPr/>
                    <a:lstStyle/>
                    <a:p>
                      <a:pPr indent="0" marL="0">
                        <a:buNone/>
                      </a:pPr>
                      <a:r>
                        <a:rPr lang="en-US" sz="1400" dirty="0">
                          <a:solidFill>
                            <a:srgbClr val="15243A"/>
                          </a:solidFill>
                          <a:latin typeface="Arial" pitchFamily="34" charset="0"/>
                          <a:ea typeface="Arial" pitchFamily="34" charset="-122"/>
                          <a:cs typeface="Arial" pitchFamily="34" charset="-120"/>
                        </a:rPr>
                        <a:t>Smile Shop</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Multi-merchant app with delivery, payment and returns</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Merchant brand and storefront control</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566928">
                <a:tc>
                  <a:txBody>
                    <a:bodyPr/>
                    <a:lstStyle/>
                    <a:p>
                      <a:pPr indent="0" marL="0">
                        <a:buNone/>
                      </a:pPr>
                      <a:r>
                        <a:rPr lang="en-US" sz="1400" dirty="0">
                          <a:solidFill>
                            <a:srgbClr val="15243A"/>
                          </a:solidFill>
                          <a:latin typeface="Arial" pitchFamily="34" charset="0"/>
                          <a:ea typeface="Arial" pitchFamily="34" charset="-122"/>
                          <a:cs typeface="Arial" pitchFamily="34" charset="-120"/>
                        </a:rPr>
                        <a:t>VTENH</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Marketplace with nationwide delivery, card and ABA payments</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Seller terms and total cost</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566928">
                <a:tc>
                  <a:txBody>
                    <a:bodyPr/>
                    <a:lstStyle/>
                    <a:p>
                      <a:pPr indent="0" marL="0">
                        <a:buNone/>
                      </a:pPr>
                      <a:r>
                        <a:rPr lang="en-US" sz="1400" dirty="0">
                          <a:solidFill>
                            <a:srgbClr val="15243A"/>
                          </a:solidFill>
                          <a:latin typeface="Arial" pitchFamily="34" charset="0"/>
                          <a:ea typeface="Arial" pitchFamily="34" charset="-122"/>
                          <a:cs typeface="Arial" pitchFamily="34" charset="-120"/>
                        </a:rPr>
                        <a:t>Shopify</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Online store and POS with synced inventory</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Local fit, setup effort and cost</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566928">
                <a:tc>
                  <a:txBody>
                    <a:bodyPr/>
                    <a:lstStyle/>
                    <a:p>
                      <a:pPr indent="0" marL="0">
                        <a:buNone/>
                      </a:pPr>
                      <a:r>
                        <a:rPr lang="en-US" sz="1400" dirty="0">
                          <a:solidFill>
                            <a:srgbClr val="15243A"/>
                          </a:solidFill>
                          <a:latin typeface="Arial" pitchFamily="34" charset="0"/>
                          <a:ea typeface="Arial" pitchFamily="34" charset="-122"/>
                          <a:cs typeface="Arial" pitchFamily="34" charset="-120"/>
                        </a:rPr>
                        <a:t>Khmum eShop</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Marketplace, merchant tools, POS and white-label (closest)</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Setup time, storefront, stock accuracy</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bl>
          </a:graphicData>
        </a:graphic>
      </p:graphicFrame>
      <p:sp>
        <p:nvSpPr>
          <p:cNvPr id="4" name="Text 1"/>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Public descriptions checked 24–25 Sep 2026: khmer24.com, khsmileshop.com, vtenh.com, shopify.com/pos, startupcambodia.gov.kh (Khmum). Not a hands-on feature audit.</a:t>
            </a:r>
            <a:endParaRPr lang="en-US" sz="1000" dirty="0"/>
          </a:p>
        </p:txBody>
      </p:sp>
      <p:sp>
        <p:nvSpPr>
          <p:cNvPr id="5" name="Text 2"/>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Market sizing: how we counted</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005840"/>
                <a:gridCol w="1554480"/>
                <a:gridCol w="6583680"/>
                <a:gridCol w="1947672"/>
              </a:tblGrid>
              <a:tr h="457200">
                <a:tc>
                  <a:txBody>
                    <a:bodyPr/>
                    <a:lstStyle/>
                    <a:p>
                      <a:pPr indent="0" marL="0">
                        <a:buNone/>
                      </a:pP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Merchants</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Basis</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 US$60 / year</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r>
              <a:tr h="777240">
                <a:tc>
                  <a:txBody>
                    <a:bodyPr/>
                    <a:lstStyle/>
                    <a:p>
                      <a:pPr indent="0" marL="0">
                        <a:buNone/>
                      </a:pPr>
                      <a:r>
                        <a:rPr lang="en-US" sz="1400" dirty="0">
                          <a:solidFill>
                            <a:srgbClr val="15243A"/>
                          </a:solidFill>
                          <a:latin typeface="Arial" pitchFamily="34" charset="0"/>
                          <a:ea typeface="Arial" pitchFamily="34" charset="-122"/>
                          <a:cs typeface="Arial" pitchFamily="34" charset="-120"/>
                        </a:rPr>
                        <a:t>TAM</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410,623</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All retail establishments, ISIC division 47, excluding fuel stations (4730)</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US$24.6M</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868680">
                <a:tc>
                  <a:txBody>
                    <a:bodyPr/>
                    <a:lstStyle/>
                    <a:p>
                      <a:pPr indent="0" marL="0">
                        <a:buNone/>
                      </a:pPr>
                      <a:r>
                        <a:rPr lang="en-US" sz="1400" dirty="0">
                          <a:solidFill>
                            <a:srgbClr val="15243A"/>
                          </a:solidFill>
                          <a:latin typeface="Arial" pitchFamily="34" charset="0"/>
                          <a:ea typeface="Arial" pitchFamily="34" charset="-122"/>
                          <a:cs typeface="Arial" pitchFamily="34" charset="-120"/>
                        </a:rPr>
                        <a:t>SAM</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65,433</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Specialized non-food retail, ISIC 4741–4774: electronics, clothing, cosmetics, household, books, toys, sports, second-hand</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US$3.9M</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777240">
                <a:tc>
                  <a:txBody>
                    <a:bodyPr/>
                    <a:lstStyle/>
                    <a:p>
                      <a:pPr indent="0" marL="0">
                        <a:buNone/>
                      </a:pPr>
                      <a:r>
                        <a:rPr lang="en-US" sz="1400" dirty="0">
                          <a:solidFill>
                            <a:srgbClr val="15243A"/>
                          </a:solidFill>
                          <a:latin typeface="Arial" pitchFamily="34" charset="0"/>
                          <a:ea typeface="Arial" pitchFamily="34" charset="-122"/>
                          <a:cs typeface="Arial" pitchFamily="34" charset="-120"/>
                        </a:rPr>
                        <a:t>SOM</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≈1,129</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Year 3 subscription revenue (US$67,744) ÷ US$60 — average paying merchants in the team model</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400" dirty="0">
                          <a:solidFill>
                            <a:srgbClr val="15243A"/>
                          </a:solidFill>
                          <a:latin typeface="Arial" pitchFamily="34" charset="0"/>
                          <a:ea typeface="Arial" pitchFamily="34" charset="-122"/>
                          <a:cs typeface="Arial" pitchFamily="34" charset="-120"/>
                        </a:rPr>
                        <a:t>US$67.7K</a:t>
                      </a:r>
                      <a:endParaRPr lang="en-US" sz="14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bl>
          </a:graphicData>
        </a:graphic>
      </p:graphicFrame>
      <p:sp>
        <p:nvSpPr>
          <p:cNvPr id="4" name="Text 1"/>
          <p:cNvSpPr txBox="1"/>
          <p:nvPr/>
        </p:nvSpPr>
        <p:spPr>
          <a:xfrm>
            <a:off x="548640" y="4572000"/>
            <a:ext cx="11064240" cy="548640"/>
          </a:xfrm>
          <a:prstGeom prst="rect">
            <a:avLst/>
          </a:prstGeom>
          <a:noFill/>
          <a:ln/>
        </p:spPr>
        <p:txBody>
          <a:bodyPr wrap="square" lIns="0" tIns="0" rIns="0" bIns="0" rtlCol="0" anchor="t"/>
          <a:lstStyle/>
          <a:p>
            <a:pPr algn="l" indent="0" marL="0">
              <a:lnSpc>
                <a:spcPct val="100000"/>
              </a:lnSpc>
              <a:buNone/>
            </a:pPr>
            <a:r>
              <a:rPr lang="en-US" sz="1400" b="1" dirty="0">
                <a:solidFill>
                  <a:srgbClr val="15243A"/>
                </a:solidFill>
                <a:latin typeface="Arial" pitchFamily="34" charset="0"/>
                <a:ea typeface="Arial" pitchFamily="34" charset="-122"/>
                <a:cs typeface="Arial" pitchFamily="34" charset="-120"/>
              </a:rPr>
              <a:t>Why not US$1.51B? </a:t>
            </a:r>
            <a:pPr algn="l" indent="0" marL="0">
              <a:lnSpc>
                <a:spcPct val="100000"/>
              </a:lnSpc>
              <a:buNone/>
            </a:pPr>
            <a:r>
              <a:rPr lang="en-US" sz="1400" dirty="0">
                <a:solidFill>
                  <a:srgbClr val="15243A"/>
                </a:solidFill>
                <a:latin typeface="Arial" pitchFamily="34" charset="0"/>
                <a:ea typeface="Arial" pitchFamily="34" charset="-122"/>
                <a:cs typeface="Arial" pitchFamily="34" charset="-120"/>
              </a:rPr>
              <a:t>That is the 2024 value of all Cambodian e-commerce (Ministry of Commerce). It is market context, not revenue Rentify can capture.</a:t>
            </a:r>
            <a:endParaRPr lang="en-US" sz="1400" dirty="0"/>
          </a:p>
        </p:txBody>
      </p:sp>
      <p:sp>
        <p:nvSpPr>
          <p:cNvPr id="5" name="Text 2"/>
          <p:cNvSpPr txBox="1"/>
          <p:nvPr/>
        </p:nvSpPr>
        <p:spPr>
          <a:xfrm>
            <a:off x="548640" y="5166360"/>
            <a:ext cx="11064240" cy="731520"/>
          </a:xfrm>
          <a:prstGeom prst="rect">
            <a:avLst/>
          </a:prstGeom>
          <a:noFill/>
          <a:ln/>
        </p:spPr>
        <p:txBody>
          <a:bodyPr wrap="square" lIns="0" tIns="0" rIns="0" bIns="0" rtlCol="0" anchor="t"/>
          <a:lstStyle/>
          <a:p>
            <a:pPr algn="l" indent="0" marL="0">
              <a:lnSpc>
                <a:spcPct val="100000"/>
              </a:lnSpc>
              <a:buNone/>
            </a:pPr>
            <a:r>
              <a:rPr lang="en-US" sz="1400" b="1" dirty="0">
                <a:solidFill>
                  <a:srgbClr val="15243A"/>
                </a:solidFill>
                <a:latin typeface="Arial" pitchFamily="34" charset="0"/>
                <a:ea typeface="Arial" pitchFamily="34" charset="-122"/>
                <a:cs typeface="Arial" pitchFamily="34" charset="-120"/>
              </a:rPr>
              <a:t>Not counted: </a:t>
            </a:r>
            <a:pPr algn="l" indent="0" marL="0">
              <a:lnSpc>
                <a:spcPct val="100000"/>
              </a:lnSpc>
              <a:buNone/>
            </a:pPr>
            <a:r>
              <a:rPr lang="en-US" sz="1400" dirty="0">
                <a:solidFill>
                  <a:srgbClr val="15243A"/>
                </a:solidFill>
                <a:latin typeface="Arial" pitchFamily="34" charset="0"/>
                <a:ea typeface="Arial" pitchFamily="34" charset="-122"/>
                <a:cs typeface="Arial" pitchFamily="34" charset="-120"/>
              </a:rPr>
              <a:t>marketplace commission, and home-based Facebook sellers, which the census barely captures (only 162 establishments list internet retail as their main activity).</a:t>
            </a:r>
            <a:endParaRPr lang="en-US" sz="1400" dirty="0"/>
          </a:p>
        </p:txBody>
      </p:sp>
      <p:sp>
        <p:nvSpPr>
          <p:cNvPr id="6" name="Text 3"/>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Source: NIS, National Report on Final Census Results, Economic Census of Cambodia 2022, Table 2.10. US$60 = US$5 average plan × 12.</a:t>
            </a:r>
            <a:endParaRPr lang="en-US" sz="1000" dirty="0"/>
          </a:p>
        </p:txBody>
      </p:sp>
      <p:sp>
        <p:nvSpPr>
          <p:cNvPr id="7" name="Text 4"/>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Financial detail (team model, lean scenario)</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377440"/>
                <a:gridCol w="1234440"/>
                <a:gridCol w="1234440"/>
                <a:gridCol w="1234440"/>
                <a:gridCol w="5010912"/>
              </a:tblGrid>
              <a:tr h="45720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US$</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Year 1</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Year 2</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Year 3</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Assumption</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r>
              <a:tr h="457200">
                <a:tc>
                  <a:txBody>
                    <a:bodyPr/>
                    <a:lstStyle/>
                    <a:p>
                      <a:pPr indent="0" marL="0">
                        <a:buNone/>
                      </a:pPr>
                      <a:r>
                        <a:rPr lang="en-US" sz="1300" dirty="0">
                          <a:solidFill>
                            <a:srgbClr val="15243A"/>
                          </a:solidFill>
                          <a:latin typeface="Arial" pitchFamily="34" charset="0"/>
                          <a:ea typeface="Arial" pitchFamily="34" charset="-122"/>
                          <a:cs typeface="Arial" pitchFamily="34" charset="-120"/>
                        </a:rPr>
                        <a:t>Subscription revenue</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3,456</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25,131</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67,744</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300" dirty="0">
                          <a:solidFill>
                            <a:srgbClr val="15243A"/>
                          </a:solidFill>
                          <a:latin typeface="Arial" pitchFamily="34" charset="0"/>
                          <a:ea typeface="Arial" pitchFamily="34" charset="-122"/>
                          <a:cs typeface="Arial" pitchFamily="34" charset="-120"/>
                        </a:rPr>
                        <a:t>US$5 average plan across tiers</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457200">
                <a:tc>
                  <a:txBody>
                    <a:bodyPr/>
                    <a:lstStyle/>
                    <a:p>
                      <a:pPr indent="0" marL="0">
                        <a:buNone/>
                      </a:pPr>
                      <a:r>
                        <a:rPr lang="en-US" sz="1300" dirty="0">
                          <a:solidFill>
                            <a:srgbClr val="15243A"/>
                          </a:solidFill>
                          <a:latin typeface="Arial" pitchFamily="34" charset="0"/>
                          <a:ea typeface="Arial" pitchFamily="34" charset="-122"/>
                          <a:cs typeface="Arial" pitchFamily="34" charset="-120"/>
                        </a:rPr>
                        <a:t>Commission revenue</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300" dirty="0">
                          <a:solidFill>
                            <a:srgbClr val="15243A"/>
                          </a:solidFill>
                          <a:latin typeface="Arial" pitchFamily="34" charset="0"/>
                          <a:ea typeface="Arial" pitchFamily="34" charset="-122"/>
                          <a:cs typeface="Arial" pitchFamily="34" charset="-120"/>
                        </a:rPr>
                        <a:t>Excluded from this scenario (upside)</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457200">
                <a:tc>
                  <a:txBody>
                    <a:bodyPr/>
                    <a:lstStyle/>
                    <a:p>
                      <a:pPr indent="0" marL="0">
                        <a:buNone/>
                      </a:pPr>
                      <a:r>
                        <a:rPr lang="en-US" sz="1300" dirty="0">
                          <a:solidFill>
                            <a:srgbClr val="15243A"/>
                          </a:solidFill>
                          <a:latin typeface="Arial" pitchFamily="34" charset="0"/>
                          <a:ea typeface="Arial" pitchFamily="34" charset="-122"/>
                          <a:cs typeface="Arial" pitchFamily="34" charset="-120"/>
                        </a:rPr>
                        <a:t>Cost of service</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1,543</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8,939</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21,669</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300" dirty="0">
                          <a:solidFill>
                            <a:srgbClr val="15243A"/>
                          </a:solidFill>
                          <a:latin typeface="Arial" pitchFamily="34" charset="0"/>
                          <a:ea typeface="Arial" pitchFamily="34" charset="-122"/>
                          <a:cs typeface="Arial" pitchFamily="34" charset="-120"/>
                        </a:rPr>
                        <a:t>$0.30 per active + $0.75 per paying merchant / month</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457200">
                <a:tc>
                  <a:txBody>
                    <a:bodyPr/>
                    <a:lstStyle/>
                    <a:p>
                      <a:pPr algn="l" indent="0" marL="0">
                        <a:buNone/>
                      </a:pPr>
                      <a:r>
                        <a:rPr lang="en-US" sz="1300" b="1" dirty="0">
                          <a:solidFill>
                            <a:srgbClr val="15243A"/>
                          </a:solidFill>
                          <a:latin typeface="Arial" pitchFamily="34" charset="0"/>
                          <a:ea typeface="Arial" pitchFamily="34" charset="-122"/>
                          <a:cs typeface="Arial" pitchFamily="34" charset="-120"/>
                        </a:rPr>
                        <a:t>Gross profit</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c>
                  <a:txBody>
                    <a:bodyPr/>
                    <a:lstStyle/>
                    <a:p>
                      <a:pPr algn="r" indent="0" marL="0">
                        <a:buNone/>
                      </a:pPr>
                      <a:r>
                        <a:rPr lang="en-US" sz="1300" b="1" dirty="0">
                          <a:solidFill>
                            <a:srgbClr val="15243A"/>
                          </a:solidFill>
                          <a:latin typeface="Arial" pitchFamily="34" charset="0"/>
                          <a:ea typeface="Arial" pitchFamily="34" charset="-122"/>
                          <a:cs typeface="Arial" pitchFamily="34" charset="-120"/>
                        </a:rPr>
                        <a:t>1,913</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c>
                  <a:txBody>
                    <a:bodyPr/>
                    <a:lstStyle/>
                    <a:p>
                      <a:pPr algn="r" indent="0" marL="0">
                        <a:buNone/>
                      </a:pPr>
                      <a:r>
                        <a:rPr lang="en-US" sz="1300" b="1" dirty="0">
                          <a:solidFill>
                            <a:srgbClr val="15243A"/>
                          </a:solidFill>
                          <a:latin typeface="Arial" pitchFamily="34" charset="0"/>
                          <a:ea typeface="Arial" pitchFamily="34" charset="-122"/>
                          <a:cs typeface="Arial" pitchFamily="34" charset="-120"/>
                        </a:rPr>
                        <a:t>16,193</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c>
                  <a:txBody>
                    <a:bodyPr/>
                    <a:lstStyle/>
                    <a:p>
                      <a:pPr algn="r" indent="0" marL="0">
                        <a:buNone/>
                      </a:pPr>
                      <a:r>
                        <a:rPr lang="en-US" sz="1300" b="1" dirty="0">
                          <a:solidFill>
                            <a:srgbClr val="15243A"/>
                          </a:solidFill>
                          <a:latin typeface="Arial" pitchFamily="34" charset="0"/>
                          <a:ea typeface="Arial" pitchFamily="34" charset="-122"/>
                          <a:cs typeface="Arial" pitchFamily="34" charset="-120"/>
                        </a:rPr>
                        <a:t>46,074</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c>
                  <a:txBody>
                    <a:bodyPr/>
                    <a:lstStyle/>
                    <a:p>
                      <a:pPr indent="0" marL="0">
                        <a:buNone/>
                      </a:pP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r>
              <a:tr h="457200">
                <a:tc>
                  <a:txBody>
                    <a:bodyPr/>
                    <a:lstStyle/>
                    <a:p>
                      <a:pPr indent="0" marL="0">
                        <a:buNone/>
                      </a:pPr>
                      <a:r>
                        <a:rPr lang="en-US" sz="1300" dirty="0">
                          <a:solidFill>
                            <a:srgbClr val="15243A"/>
                          </a:solidFill>
                          <a:latin typeface="Arial" pitchFamily="34" charset="0"/>
                          <a:ea typeface="Arial" pitchFamily="34" charset="-122"/>
                          <a:cs typeface="Arial" pitchFamily="34" charset="-120"/>
                        </a:rPr>
                        <a:t>Team</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20,250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35,300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46,000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300" dirty="0">
                          <a:solidFill>
                            <a:srgbClr val="15243A"/>
                          </a:solidFill>
                          <a:latin typeface="Arial" pitchFamily="34" charset="0"/>
                          <a:ea typeface="Arial" pitchFamily="34" charset="-122"/>
                          <a:cs typeface="Arial" pitchFamily="34" charset="-120"/>
                        </a:rPr>
                        <a:t>Founders, lean hiring path</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457200">
                <a:tc>
                  <a:txBody>
                    <a:bodyPr/>
                    <a:lstStyle/>
                    <a:p>
                      <a:pPr indent="0" marL="0">
                        <a:buNone/>
                      </a:pPr>
                      <a:r>
                        <a:rPr lang="en-US" sz="1300" dirty="0">
                          <a:solidFill>
                            <a:srgbClr val="15243A"/>
                          </a:solidFill>
                          <a:latin typeface="Arial" pitchFamily="34" charset="0"/>
                          <a:ea typeface="Arial" pitchFamily="34" charset="-122"/>
                          <a:cs typeface="Arial" pitchFamily="34" charset="-120"/>
                        </a:rPr>
                        <a:t>Sales &amp; marketing</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4,110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10,450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16,450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300" dirty="0">
                          <a:solidFill>
                            <a:srgbClr val="15243A"/>
                          </a:solidFill>
                          <a:latin typeface="Arial" pitchFamily="34" charset="0"/>
                          <a:ea typeface="Arial" pitchFamily="34" charset="-122"/>
                          <a:cs typeface="Arial" pitchFamily="34" charset="-120"/>
                        </a:rPr>
                        <a:t>Field onboarding, referrals, paid ads</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457200">
                <a:tc>
                  <a:txBody>
                    <a:bodyPr/>
                    <a:lstStyle/>
                    <a:p>
                      <a:pPr indent="0" marL="0">
                        <a:buNone/>
                      </a:pPr>
                      <a:r>
                        <a:rPr lang="en-US" sz="1300" dirty="0">
                          <a:solidFill>
                            <a:srgbClr val="15243A"/>
                          </a:solidFill>
                          <a:latin typeface="Arial" pitchFamily="34" charset="0"/>
                          <a:ea typeface="Arial" pitchFamily="34" charset="-122"/>
                          <a:cs typeface="Arial" pitchFamily="34" charset="-120"/>
                        </a:rPr>
                        <a:t>Software, office, legal</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4,355</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7,190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algn="r" indent="0" marL="0">
                        <a:buNone/>
                      </a:pPr>
                      <a:r>
                        <a:rPr lang="en-US" sz="1300" dirty="0">
                          <a:solidFill>
                            <a:srgbClr val="15243A"/>
                          </a:solidFill>
                          <a:latin typeface="Arial" pitchFamily="34" charset="0"/>
                          <a:ea typeface="Arial" pitchFamily="34" charset="-122"/>
                          <a:cs typeface="Arial" pitchFamily="34" charset="-120"/>
                        </a:rPr>
                        <a:t>9,700</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300" dirty="0">
                          <a:solidFill>
                            <a:srgbClr val="15243A"/>
                          </a:solidFill>
                          <a:latin typeface="Arial" pitchFamily="34" charset="0"/>
                          <a:ea typeface="Arial" pitchFamily="34" charset="-122"/>
                          <a:cs typeface="Arial" pitchFamily="34" charset="-120"/>
                        </a:rPr>
                        <a:t>Fixed lean overhead</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457200">
                <a:tc>
                  <a:txBody>
                    <a:bodyPr/>
                    <a:lstStyle/>
                    <a:p>
                      <a:pPr algn="l" indent="0" marL="0">
                        <a:buNone/>
                      </a:pPr>
                      <a:r>
                        <a:rPr lang="en-US" sz="1300" b="1" dirty="0">
                          <a:solidFill>
                            <a:srgbClr val="15243A"/>
                          </a:solidFill>
                          <a:latin typeface="Arial" pitchFamily="34" charset="0"/>
                          <a:ea typeface="Arial" pitchFamily="34" charset="-122"/>
                          <a:cs typeface="Arial" pitchFamily="34" charset="-120"/>
                        </a:rPr>
                        <a:t>Net result</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c>
                  <a:txBody>
                    <a:bodyPr/>
                    <a:lstStyle/>
                    <a:p>
                      <a:pPr algn="r" indent="0" marL="0">
                        <a:buNone/>
                      </a:pPr>
                      <a:r>
                        <a:rPr lang="en-US" sz="1300" b="1" dirty="0">
                          <a:solidFill>
                            <a:srgbClr val="15243A"/>
                          </a:solidFill>
                          <a:latin typeface="Arial" pitchFamily="34" charset="0"/>
                          <a:ea typeface="Arial" pitchFamily="34" charset="-122"/>
                          <a:cs typeface="Arial" pitchFamily="34" charset="-120"/>
                        </a:rPr>
                        <a:t>–26,802</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c>
                  <a:txBody>
                    <a:bodyPr/>
                    <a:lstStyle/>
                    <a:p>
                      <a:pPr algn="r" indent="0" marL="0">
                        <a:buNone/>
                      </a:pPr>
                      <a:r>
                        <a:rPr lang="en-US" sz="1300" b="1" dirty="0">
                          <a:solidFill>
                            <a:srgbClr val="15243A"/>
                          </a:solidFill>
                          <a:latin typeface="Arial" pitchFamily="34" charset="0"/>
                          <a:ea typeface="Arial" pitchFamily="34" charset="-122"/>
                          <a:cs typeface="Arial" pitchFamily="34" charset="-120"/>
                        </a:rPr>
                        <a:t>–36,747</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c>
                  <a:txBody>
                    <a:bodyPr/>
                    <a:lstStyle/>
                    <a:p>
                      <a:pPr algn="r" indent="0" marL="0">
                        <a:buNone/>
                      </a:pPr>
                      <a:r>
                        <a:rPr lang="en-US" sz="1300" b="1" dirty="0">
                          <a:solidFill>
                            <a:srgbClr val="15243A"/>
                          </a:solidFill>
                          <a:latin typeface="Arial" pitchFamily="34" charset="0"/>
                          <a:ea typeface="Arial" pitchFamily="34" charset="-122"/>
                          <a:cs typeface="Arial" pitchFamily="34" charset="-120"/>
                        </a:rPr>
                        <a:t>–26,076</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c>
                  <a:txBody>
                    <a:bodyPr/>
                    <a:lstStyle/>
                    <a:p>
                      <a:pPr indent="0" marL="0">
                        <a:buNone/>
                      </a:pPr>
                      <a:r>
                        <a:rPr lang="en-US" sz="1300" dirty="0">
                          <a:solidFill>
                            <a:srgbClr val="15243A"/>
                          </a:solidFill>
                          <a:latin typeface="Arial" pitchFamily="34" charset="0"/>
                          <a:ea typeface="Arial" pitchFamily="34" charset="-122"/>
                          <a:cs typeface="Arial" pitchFamily="34" charset="-120"/>
                        </a:rPr>
                        <a:t>No tax while loss-making</a:t>
                      </a:r>
                      <a:endParaRPr lang="en-US" sz="1300" dirty="0">
                        <a:latin typeface="Arial" charset="0"/>
                        <a:ea typeface="Arial" charset="0"/>
                        <a:cs typeface="Arial" charset="0"/>
                      </a:endParaRPr>
                    </a:p>
                  </a:txBody>
                  <a:tcPr marL="73152" marR="73152" marT="73152" marB="73152"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F5F8FC"/>
                    </a:solidFill>
                  </a:tcPr>
                </a:tc>
              </a:tr>
            </a:tbl>
          </a:graphicData>
        </a:graphic>
      </p:graphicFrame>
      <p:sp>
        <p:nvSpPr>
          <p:cNvPr id="4" name="Text 1"/>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Break-even: about 1,895 paying merchants (Month-36 operating cost ÷ contribution per merchant). All inputs are assumptions to validate.</a:t>
            </a:r>
            <a:endParaRPr lang="en-US" sz="1000" dirty="0"/>
          </a:p>
        </p:txBody>
      </p:sp>
      <p:sp>
        <p:nvSpPr>
          <p:cNvPr id="5" name="Text 2"/>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Business model canvas</a:t>
            </a:r>
            <a:endParaRPr lang="en-US" sz="3400" dirty="0"/>
          </a:p>
        </p:txBody>
      </p:sp>
      <p:sp>
        <p:nvSpPr>
          <p:cNvPr id="3" name="Shape 1"/>
          <p:cNvSpPr/>
          <p:nvPr/>
        </p:nvSpPr>
        <p:spPr>
          <a:xfrm>
            <a:off x="548640" y="1280160"/>
            <a:ext cx="2148840" cy="3291840"/>
          </a:xfrm>
          <a:prstGeom prst="roundRect">
            <a:avLst>
              <a:gd name="adj" fmla="val 3404"/>
            </a:avLst>
          </a:prstGeom>
          <a:solidFill>
            <a:srgbClr val="F5F8FC"/>
          </a:solidFill>
          <a:ln/>
        </p:spPr>
      </p:sp>
      <p:sp>
        <p:nvSpPr>
          <p:cNvPr id="4" name="Text 2"/>
          <p:cNvSpPr txBox="1"/>
          <p:nvPr/>
        </p:nvSpPr>
        <p:spPr>
          <a:xfrm>
            <a:off x="685800" y="1389888"/>
            <a:ext cx="1874520"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Key partners</a:t>
            </a:r>
            <a:endParaRPr lang="en-US" sz="1200" dirty="0"/>
          </a:p>
        </p:txBody>
      </p:sp>
      <p:sp>
        <p:nvSpPr>
          <p:cNvPr id="5" name="Text 3"/>
          <p:cNvSpPr txBox="1"/>
          <p:nvPr/>
        </p:nvSpPr>
        <p:spPr>
          <a:xfrm>
            <a:off x="685800" y="1691640"/>
            <a:ext cx="1874520" cy="2788920"/>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Pilot merchants</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Delivery carriers</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Payment provider (online payments, 2027)</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SME associations</a:t>
            </a:r>
            <a:endParaRPr lang="en-US" sz="1150" dirty="0"/>
          </a:p>
        </p:txBody>
      </p:sp>
      <p:sp>
        <p:nvSpPr>
          <p:cNvPr id="6" name="Shape 4"/>
          <p:cNvSpPr/>
          <p:nvPr/>
        </p:nvSpPr>
        <p:spPr>
          <a:xfrm>
            <a:off x="2784348" y="1280160"/>
            <a:ext cx="2148840" cy="1602486"/>
          </a:xfrm>
          <a:prstGeom prst="roundRect">
            <a:avLst>
              <a:gd name="adj" fmla="val 4565"/>
            </a:avLst>
          </a:prstGeom>
          <a:solidFill>
            <a:srgbClr val="F5F8FC"/>
          </a:solidFill>
          <a:ln/>
        </p:spPr>
      </p:sp>
      <p:sp>
        <p:nvSpPr>
          <p:cNvPr id="7" name="Text 5"/>
          <p:cNvSpPr txBox="1"/>
          <p:nvPr/>
        </p:nvSpPr>
        <p:spPr>
          <a:xfrm>
            <a:off x="2921508" y="1389888"/>
            <a:ext cx="1874520"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Key activities</a:t>
            </a:r>
            <a:endParaRPr lang="en-US" sz="1200" dirty="0"/>
          </a:p>
        </p:txBody>
      </p:sp>
      <p:sp>
        <p:nvSpPr>
          <p:cNvPr id="8" name="Text 6"/>
          <p:cNvSpPr txBox="1"/>
          <p:nvPr/>
        </p:nvSpPr>
        <p:spPr>
          <a:xfrm>
            <a:off x="2921508" y="1691640"/>
            <a:ext cx="1874520" cy="1099566"/>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Build and run the platform</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Onboard and approve sellers</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Buyer support and moderation</a:t>
            </a:r>
            <a:endParaRPr lang="en-US" sz="1150" dirty="0"/>
          </a:p>
        </p:txBody>
      </p:sp>
      <p:sp>
        <p:nvSpPr>
          <p:cNvPr id="9" name="Shape 7"/>
          <p:cNvSpPr/>
          <p:nvPr/>
        </p:nvSpPr>
        <p:spPr>
          <a:xfrm>
            <a:off x="2784348" y="2969514"/>
            <a:ext cx="2148840" cy="1602486"/>
          </a:xfrm>
          <a:prstGeom prst="roundRect">
            <a:avLst>
              <a:gd name="adj" fmla="val 4565"/>
            </a:avLst>
          </a:prstGeom>
          <a:solidFill>
            <a:srgbClr val="F5F8FC"/>
          </a:solidFill>
          <a:ln/>
        </p:spPr>
      </p:sp>
      <p:sp>
        <p:nvSpPr>
          <p:cNvPr id="10" name="Text 8"/>
          <p:cNvSpPr txBox="1"/>
          <p:nvPr/>
        </p:nvSpPr>
        <p:spPr>
          <a:xfrm>
            <a:off x="2921508" y="3079242"/>
            <a:ext cx="1874520"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Key resources</a:t>
            </a:r>
            <a:endParaRPr lang="en-US" sz="1200" dirty="0"/>
          </a:p>
        </p:txBody>
      </p:sp>
      <p:sp>
        <p:nvSpPr>
          <p:cNvPr id="11" name="Text 9"/>
          <p:cNvSpPr txBox="1"/>
          <p:nvPr/>
        </p:nvSpPr>
        <p:spPr>
          <a:xfrm>
            <a:off x="2921508" y="3380994"/>
            <a:ext cx="1874520" cy="1099566"/>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One-store catalog and stock</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Storefront templates, marketplace, POS</a:t>
            </a:r>
            <a:endParaRPr lang="en-US" sz="1150" dirty="0"/>
          </a:p>
        </p:txBody>
      </p:sp>
      <p:sp>
        <p:nvSpPr>
          <p:cNvPr id="12" name="Shape 10"/>
          <p:cNvSpPr/>
          <p:nvPr/>
        </p:nvSpPr>
        <p:spPr>
          <a:xfrm>
            <a:off x="5020056" y="1280160"/>
            <a:ext cx="2148840" cy="3291840"/>
          </a:xfrm>
          <a:prstGeom prst="roundRect">
            <a:avLst>
              <a:gd name="adj" fmla="val 3404"/>
            </a:avLst>
          </a:prstGeom>
          <a:solidFill>
            <a:srgbClr val="D6F4F0"/>
          </a:solidFill>
          <a:ln/>
        </p:spPr>
      </p:sp>
      <p:sp>
        <p:nvSpPr>
          <p:cNvPr id="13" name="Text 11"/>
          <p:cNvSpPr txBox="1"/>
          <p:nvPr/>
        </p:nvSpPr>
        <p:spPr>
          <a:xfrm>
            <a:off x="5157216" y="1389888"/>
            <a:ext cx="1874520"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Value proposition</a:t>
            </a:r>
            <a:endParaRPr lang="en-US" sz="1200" dirty="0"/>
          </a:p>
        </p:txBody>
      </p:sp>
      <p:sp>
        <p:nvSpPr>
          <p:cNvPr id="14" name="Text 12"/>
          <p:cNvSpPr txBox="1"/>
          <p:nvPr/>
        </p:nvSpPr>
        <p:spPr>
          <a:xfrm>
            <a:off x="5157216" y="1691640"/>
            <a:ext cx="1874520" cy="2788920"/>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Merchants: sell on their own storefront, the marketplace and at the counter from one store.</a:t>
            </a:r>
            <a:endParaRPr lang="en-US" sz="1150" dirty="0"/>
          </a:p>
          <a:p>
            <a:pPr algn="l" indent="0" marL="0">
              <a:lnSpc>
                <a:spcPct val="105000"/>
              </a:lnSpc>
              <a:buNone/>
            </a:pP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Buyers: products from many Cambodian stores with clear seller and delivery details.</a:t>
            </a:r>
            <a:endParaRPr lang="en-US" sz="1150" dirty="0"/>
          </a:p>
        </p:txBody>
      </p:sp>
      <p:sp>
        <p:nvSpPr>
          <p:cNvPr id="15" name="Shape 13"/>
          <p:cNvSpPr/>
          <p:nvPr/>
        </p:nvSpPr>
        <p:spPr>
          <a:xfrm>
            <a:off x="7255764" y="1280160"/>
            <a:ext cx="2148840" cy="1602486"/>
          </a:xfrm>
          <a:prstGeom prst="roundRect">
            <a:avLst>
              <a:gd name="adj" fmla="val 4565"/>
            </a:avLst>
          </a:prstGeom>
          <a:solidFill>
            <a:srgbClr val="F5F8FC"/>
          </a:solidFill>
          <a:ln/>
        </p:spPr>
      </p:sp>
      <p:sp>
        <p:nvSpPr>
          <p:cNvPr id="16" name="Text 14"/>
          <p:cNvSpPr txBox="1"/>
          <p:nvPr/>
        </p:nvSpPr>
        <p:spPr>
          <a:xfrm>
            <a:off x="7392924" y="1389888"/>
            <a:ext cx="1874520"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Relationships</a:t>
            </a:r>
            <a:endParaRPr lang="en-US" sz="1200" dirty="0"/>
          </a:p>
        </p:txBody>
      </p:sp>
      <p:sp>
        <p:nvSpPr>
          <p:cNvPr id="17" name="Text 15"/>
          <p:cNvSpPr txBox="1"/>
          <p:nvPr/>
        </p:nvSpPr>
        <p:spPr>
          <a:xfrm>
            <a:off x="7392924" y="1691640"/>
            <a:ext cx="1874520" cy="1099566"/>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Assisted onboarding</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Khmer and English support</a:t>
            </a:r>
            <a:endParaRPr lang="en-US" sz="1150" dirty="0"/>
          </a:p>
        </p:txBody>
      </p:sp>
      <p:sp>
        <p:nvSpPr>
          <p:cNvPr id="18" name="Shape 16"/>
          <p:cNvSpPr/>
          <p:nvPr/>
        </p:nvSpPr>
        <p:spPr>
          <a:xfrm>
            <a:off x="7255764" y="2969514"/>
            <a:ext cx="2148840" cy="1602486"/>
          </a:xfrm>
          <a:prstGeom prst="roundRect">
            <a:avLst>
              <a:gd name="adj" fmla="val 4565"/>
            </a:avLst>
          </a:prstGeom>
          <a:solidFill>
            <a:srgbClr val="F5F8FC"/>
          </a:solidFill>
          <a:ln/>
        </p:spPr>
      </p:sp>
      <p:sp>
        <p:nvSpPr>
          <p:cNvPr id="19" name="Text 17"/>
          <p:cNvSpPr txBox="1"/>
          <p:nvPr/>
        </p:nvSpPr>
        <p:spPr>
          <a:xfrm>
            <a:off x="7392924" y="3079242"/>
            <a:ext cx="1874520"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Channels</a:t>
            </a:r>
            <a:endParaRPr lang="en-US" sz="1200" dirty="0"/>
          </a:p>
        </p:txBody>
      </p:sp>
      <p:sp>
        <p:nvSpPr>
          <p:cNvPr id="20" name="Text 18"/>
          <p:cNvSpPr txBox="1"/>
          <p:nvPr/>
        </p:nvSpPr>
        <p:spPr>
          <a:xfrm>
            <a:off x="7392924" y="3380994"/>
            <a:ext cx="1874520" cy="1099566"/>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Shop visits, Facebook seller groups</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Merchant storefront links, referrals</a:t>
            </a:r>
            <a:endParaRPr lang="en-US" sz="1150" dirty="0"/>
          </a:p>
        </p:txBody>
      </p:sp>
      <p:sp>
        <p:nvSpPr>
          <p:cNvPr id="21" name="Shape 19"/>
          <p:cNvSpPr/>
          <p:nvPr/>
        </p:nvSpPr>
        <p:spPr>
          <a:xfrm>
            <a:off x="9491472" y="1280160"/>
            <a:ext cx="2148840" cy="3291840"/>
          </a:xfrm>
          <a:prstGeom prst="roundRect">
            <a:avLst>
              <a:gd name="adj" fmla="val 3404"/>
            </a:avLst>
          </a:prstGeom>
          <a:solidFill>
            <a:srgbClr val="F5F8FC"/>
          </a:solidFill>
          <a:ln/>
        </p:spPr>
      </p:sp>
      <p:sp>
        <p:nvSpPr>
          <p:cNvPr id="22" name="Text 20"/>
          <p:cNvSpPr txBox="1"/>
          <p:nvPr/>
        </p:nvSpPr>
        <p:spPr>
          <a:xfrm>
            <a:off x="9628632" y="1389888"/>
            <a:ext cx="1874520"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Customer segments</a:t>
            </a:r>
            <a:endParaRPr lang="en-US" sz="1200" dirty="0"/>
          </a:p>
        </p:txBody>
      </p:sp>
      <p:sp>
        <p:nvSpPr>
          <p:cNvPr id="23" name="Text 21"/>
          <p:cNvSpPr txBox="1"/>
          <p:nvPr/>
        </p:nvSpPr>
        <p:spPr>
          <a:xfrm>
            <a:off x="9628632" y="1691640"/>
            <a:ext cx="1874520" cy="2788920"/>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Facebook sellers</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Small retail shops selling online and at a counter</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Buyers in Cambodia</a:t>
            </a:r>
            <a:endParaRPr lang="en-US" sz="1150" dirty="0"/>
          </a:p>
        </p:txBody>
      </p:sp>
      <p:sp>
        <p:nvSpPr>
          <p:cNvPr id="24" name="Shape 22"/>
          <p:cNvSpPr/>
          <p:nvPr/>
        </p:nvSpPr>
        <p:spPr>
          <a:xfrm>
            <a:off x="548640" y="4658868"/>
            <a:ext cx="5504688" cy="1463040"/>
          </a:xfrm>
          <a:prstGeom prst="roundRect">
            <a:avLst>
              <a:gd name="adj" fmla="val 5000"/>
            </a:avLst>
          </a:prstGeom>
          <a:solidFill>
            <a:srgbClr val="F5F8FC"/>
          </a:solidFill>
          <a:ln/>
        </p:spPr>
      </p:sp>
      <p:sp>
        <p:nvSpPr>
          <p:cNvPr id="25" name="Text 23"/>
          <p:cNvSpPr txBox="1"/>
          <p:nvPr/>
        </p:nvSpPr>
        <p:spPr>
          <a:xfrm>
            <a:off x="685800" y="4768596"/>
            <a:ext cx="5230368"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Cost structure</a:t>
            </a:r>
            <a:endParaRPr lang="en-US" sz="1200" dirty="0"/>
          </a:p>
        </p:txBody>
      </p:sp>
      <p:sp>
        <p:nvSpPr>
          <p:cNvPr id="26" name="Text 24"/>
          <p:cNvSpPr txBox="1"/>
          <p:nvPr/>
        </p:nvSpPr>
        <p:spPr>
          <a:xfrm>
            <a:off x="685800" y="5070348"/>
            <a:ext cx="5230368" cy="960120"/>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Engineering and hosting · Seller onboarding and moderation · Buyer support · Sales and marketing</a:t>
            </a:r>
            <a:endParaRPr lang="en-US" sz="1150" dirty="0"/>
          </a:p>
        </p:txBody>
      </p:sp>
      <p:sp>
        <p:nvSpPr>
          <p:cNvPr id="27" name="Shape 25"/>
          <p:cNvSpPr/>
          <p:nvPr/>
        </p:nvSpPr>
        <p:spPr>
          <a:xfrm>
            <a:off x="6140196" y="4658868"/>
            <a:ext cx="5500116" cy="1463040"/>
          </a:xfrm>
          <a:prstGeom prst="roundRect">
            <a:avLst>
              <a:gd name="adj" fmla="val 5000"/>
            </a:avLst>
          </a:prstGeom>
          <a:solidFill>
            <a:srgbClr val="F5F8FC"/>
          </a:solidFill>
          <a:ln/>
        </p:spPr>
      </p:sp>
      <p:sp>
        <p:nvSpPr>
          <p:cNvPr id="28" name="Text 26"/>
          <p:cNvSpPr txBox="1"/>
          <p:nvPr/>
        </p:nvSpPr>
        <p:spPr>
          <a:xfrm>
            <a:off x="6277356" y="4768596"/>
            <a:ext cx="5225796" cy="274320"/>
          </a:xfrm>
          <a:prstGeom prst="rect">
            <a:avLst/>
          </a:prstGeom>
          <a:noFill/>
          <a:ln/>
        </p:spPr>
        <p:txBody>
          <a:bodyPr wrap="square" lIns="0" tIns="0" rIns="0" bIns="0" rtlCol="0" anchor="t"/>
          <a:lstStyle/>
          <a:p>
            <a:pPr algn="l" indent="0" marL="0">
              <a:lnSpc>
                <a:spcPct val="100000"/>
              </a:lnSpc>
              <a:buNone/>
            </a:pPr>
            <a:r>
              <a:rPr lang="en-US" sz="1200" b="1" dirty="0">
                <a:solidFill>
                  <a:srgbClr val="2463E8"/>
                </a:solidFill>
                <a:latin typeface="Arial" pitchFamily="34" charset="0"/>
                <a:ea typeface="Arial" pitchFamily="34" charset="-122"/>
                <a:cs typeface="Arial" pitchFamily="34" charset="-120"/>
              </a:rPr>
              <a:t>Revenue streams</a:t>
            </a:r>
            <a:endParaRPr lang="en-US" sz="1200" dirty="0"/>
          </a:p>
        </p:txBody>
      </p:sp>
      <p:sp>
        <p:nvSpPr>
          <p:cNvPr id="29" name="Text 27"/>
          <p:cNvSpPr txBox="1"/>
          <p:nvPr/>
        </p:nvSpPr>
        <p:spPr>
          <a:xfrm>
            <a:off x="6277356" y="5070348"/>
            <a:ext cx="5225796" cy="960120"/>
          </a:xfrm>
          <a:prstGeom prst="rect">
            <a:avLst/>
          </a:prstGeom>
          <a:noFill/>
          <a:ln/>
        </p:spPr>
        <p:txBody>
          <a:bodyPr wrap="square" lIns="0" tIns="0" rIns="0" bIns="0" rtlCol="0" anchor="t"/>
          <a:lstStyle/>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Subscriptions: Starter $3, Growth $5, Pro $10 per month (proposed)</a:t>
            </a:r>
            <a:endParaRPr lang="en-US" sz="1150" dirty="0"/>
          </a:p>
          <a:p>
            <a:pPr algn="l" indent="0" marL="0">
              <a:lnSpc>
                <a:spcPct val="105000"/>
              </a:lnSpc>
              <a:buNone/>
            </a:pPr>
            <a:r>
              <a:rPr lang="en-US" sz="1150" dirty="0">
                <a:solidFill>
                  <a:srgbClr val="15243A"/>
                </a:solidFill>
                <a:latin typeface="Arial" pitchFamily="34" charset="0"/>
                <a:ea typeface="Arial" pitchFamily="34" charset="-122"/>
                <a:cs typeface="Arial" pitchFamily="34" charset="-120"/>
              </a:rPr>
              <a:t>Marketplace commission on marketplace-sourced online orders (from 2027, rate to be set)</a:t>
            </a:r>
            <a:endParaRPr lang="en-US" sz="1150" dirty="0"/>
          </a:p>
        </p:txBody>
      </p:sp>
      <p:sp>
        <p:nvSpPr>
          <p:cNvPr id="30" name="Text 28"/>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Update each block with what the pilot shows.</a:t>
            </a:r>
            <a:endParaRPr lang="en-US" sz="1000" dirty="0"/>
          </a:p>
        </p:txBody>
      </p:sp>
      <p:sp>
        <p:nvSpPr>
          <p:cNvPr id="31" name="Text 29"/>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Cambodia delivery partner options</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560320"/>
                <a:gridCol w="4480560"/>
                <a:gridCol w="4050792"/>
              </a:tblGrid>
              <a:tr h="603504">
                <a:tc>
                  <a:txBody>
                    <a:bodyPr/>
                    <a:lstStyle/>
                    <a:p>
                      <a:pPr indent="0" marL="0">
                        <a:buNone/>
                      </a:pPr>
                      <a:r>
                        <a:rPr lang="en-US" sz="1500" b="1" dirty="0">
                          <a:solidFill>
                            <a:srgbClr val="FFFFFF"/>
                          </a:solidFill>
                          <a:latin typeface="Arial" pitchFamily="34" charset="0"/>
                          <a:ea typeface="Arial" pitchFamily="34" charset="-122"/>
                          <a:cs typeface="Arial" pitchFamily="34" charset="-120"/>
                        </a:rPr>
                        <a:t>Carrier</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Publicly described offer</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Confirm before pilot</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solidFill>
                      <a:srgbClr val="111D35"/>
                    </a:solidFill>
                  </a:tcPr>
                </a:tc>
              </a:tr>
              <a:tr h="603504">
                <a:tc>
                  <a:txBody>
                    <a:bodyPr/>
                    <a:lstStyle/>
                    <a:p>
                      <a:pPr indent="0" marL="0">
                        <a:buNone/>
                      </a:pPr>
                      <a:r>
                        <a:rPr lang="en-US" sz="1500" dirty="0">
                          <a:solidFill>
                            <a:srgbClr val="15243A"/>
                          </a:solidFill>
                          <a:latin typeface="Arial" pitchFamily="34" charset="0"/>
                          <a:ea typeface="Arial" pitchFamily="34" charset="-122"/>
                          <a:cs typeface="Arial" pitchFamily="34" charset="-120"/>
                        </a:rPr>
                        <a:t>Vireak Buntham</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500" dirty="0">
                          <a:solidFill>
                            <a:srgbClr val="15243A"/>
                          </a:solidFill>
                          <a:latin typeface="Arial" pitchFamily="34" charset="0"/>
                          <a:ea typeface="Arial" pitchFamily="34" charset="-122"/>
                          <a:cs typeface="Arial" pitchFamily="34" charset="-120"/>
                        </a:rPr>
                        <a:t>Parcels, tracking, COD, insurance</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500" dirty="0">
                          <a:solidFill>
                            <a:srgbClr val="15243A"/>
                          </a:solidFill>
                          <a:latin typeface="Arial" pitchFamily="34" charset="0"/>
                          <a:ea typeface="Arial" pitchFamily="34" charset="-122"/>
                          <a:cs typeface="Arial" pitchFamily="34" charset="-120"/>
                        </a:rPr>
                        <a:t>Routes, prices, remittance</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603504">
                <a:tc>
                  <a:txBody>
                    <a:bodyPr/>
                    <a:lstStyle/>
                    <a:p>
                      <a:pPr indent="0" marL="0">
                        <a:buNone/>
                      </a:pPr>
                      <a:r>
                        <a:rPr lang="en-US" sz="1500" dirty="0">
                          <a:solidFill>
                            <a:srgbClr val="15243A"/>
                          </a:solidFill>
                          <a:latin typeface="Arial" pitchFamily="34" charset="0"/>
                          <a:ea typeface="Arial" pitchFamily="34" charset="-122"/>
                          <a:cs typeface="Arial" pitchFamily="34" charset="-120"/>
                        </a:rPr>
                        <a:t>J&amp;T Express</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500" dirty="0">
                          <a:solidFill>
                            <a:srgbClr val="15243A"/>
                          </a:solidFill>
                          <a:latin typeface="Arial" pitchFamily="34" charset="0"/>
                          <a:ea typeface="Arial" pitchFamily="34" charset="-122"/>
                          <a:cs typeface="Arial" pitchFamily="34" charset="-120"/>
                        </a:rPr>
                        <a:t>Cambodia parcel booking and tracking</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500" dirty="0">
                          <a:solidFill>
                            <a:srgbClr val="15243A"/>
                          </a:solidFill>
                          <a:latin typeface="Arial" pitchFamily="34" charset="0"/>
                          <a:ea typeface="Arial" pitchFamily="34" charset="-122"/>
                          <a:cs typeface="Arial" pitchFamily="34" charset="-120"/>
                        </a:rPr>
                        <a:t>Local COD, returns, insurance</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603504">
                <a:tc>
                  <a:txBody>
                    <a:bodyPr/>
                    <a:lstStyle/>
                    <a:p>
                      <a:pPr indent="0" marL="0">
                        <a:buNone/>
                      </a:pPr>
                      <a:r>
                        <a:rPr lang="en-US" sz="1500" dirty="0">
                          <a:solidFill>
                            <a:srgbClr val="15243A"/>
                          </a:solidFill>
                          <a:latin typeface="Arial" pitchFamily="34" charset="0"/>
                          <a:ea typeface="Arial" pitchFamily="34" charset="-122"/>
                          <a:cs typeface="Arial" pitchFamily="34" charset="-120"/>
                        </a:rPr>
                        <a:t>ZTO Cambodia</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500" dirty="0">
                          <a:solidFill>
                            <a:srgbClr val="15243A"/>
                          </a:solidFill>
                          <a:latin typeface="Arial" pitchFamily="34" charset="0"/>
                          <a:ea typeface="Arial" pitchFamily="34" charset="-122"/>
                          <a:cs typeface="Arial" pitchFamily="34" charset="-120"/>
                        </a:rPr>
                        <a:t>Domestic parcels; business inquiry</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500" dirty="0">
                          <a:solidFill>
                            <a:srgbClr val="15243A"/>
                          </a:solidFill>
                          <a:latin typeface="Arial" pitchFamily="34" charset="0"/>
                          <a:ea typeface="Arial" pitchFamily="34" charset="-122"/>
                          <a:cs typeface="Arial" pitchFamily="34" charset="-120"/>
                        </a:rPr>
                        <a:t>Quotes, COD and data link</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r h="603504">
                <a:tc>
                  <a:txBody>
                    <a:bodyPr/>
                    <a:lstStyle/>
                    <a:p>
                      <a:pPr indent="0" marL="0">
                        <a:buNone/>
                      </a:pPr>
                      <a:r>
                        <a:rPr lang="en-US" sz="1500" dirty="0">
                          <a:solidFill>
                            <a:srgbClr val="15243A"/>
                          </a:solidFill>
                          <a:latin typeface="Arial" pitchFamily="34" charset="0"/>
                          <a:ea typeface="Arial" pitchFamily="34" charset="-122"/>
                          <a:cs typeface="Arial" pitchFamily="34" charset="-120"/>
                        </a:rPr>
                        <a:t>Grab for Business</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500" dirty="0">
                          <a:solidFill>
                            <a:srgbClr val="15243A"/>
                          </a:solidFill>
                          <a:latin typeface="Arial" pitchFamily="34" charset="0"/>
                          <a:ea typeface="Arial" pitchFamily="34" charset="-122"/>
                          <a:cs typeface="Arial" pitchFamily="34" charset="-120"/>
                        </a:rPr>
                        <a:t>Urban parcel booking and tracking</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c>
                  <a:txBody>
                    <a:bodyPr/>
                    <a:lstStyle/>
                    <a:p>
                      <a:pPr indent="0" marL="0">
                        <a:buNone/>
                      </a:pPr>
                      <a:r>
                        <a:rPr lang="en-US" sz="1500" dirty="0">
                          <a:solidFill>
                            <a:srgbClr val="15243A"/>
                          </a:solidFill>
                          <a:latin typeface="Arial" pitchFamily="34" charset="0"/>
                          <a:ea typeface="Arial" pitchFamily="34" charset="-122"/>
                          <a:cs typeface="Arial" pitchFamily="34" charset="-120"/>
                        </a:rPr>
                        <a:t>Area, size limit and COD</a:t>
                      </a:r>
                      <a:endParaRPr lang="en-US" sz="1500" dirty="0">
                        <a:latin typeface="Arial" charset="0"/>
                        <a:ea typeface="Arial" charset="0"/>
                        <a:cs typeface="Arial" charset="0"/>
                      </a:endParaRPr>
                    </a:p>
                  </a:txBody>
                  <a:tcPr marL="91440" marR="91440" marT="91440" marB="91440" anchor="ctr">
                    <a:lnL w="9525" cap="flat" cmpd="sng" algn="ctr">
                      <a:solidFill>
                        <a:srgbClr val="D7E1ED"/>
                      </a:solidFill>
                      <a:prstDash val="solid"/>
                      <a:round/>
                      <a:headEnd type="none" w="med" len="med"/>
                      <a:tailEnd type="none" w="med" len="med"/>
                    </a:lnL>
                    <a:lnR w="9525" cap="flat" cmpd="sng" algn="ctr">
                      <a:solidFill>
                        <a:srgbClr val="D7E1ED"/>
                      </a:solidFill>
                      <a:prstDash val="solid"/>
                      <a:round/>
                      <a:headEnd type="none" w="med" len="med"/>
                      <a:tailEnd type="none" w="med" len="med"/>
                    </a:lnR>
                    <a:lnT w="9525" cap="flat" cmpd="sng" algn="ctr">
                      <a:solidFill>
                        <a:srgbClr val="D7E1ED"/>
                      </a:solidFill>
                      <a:prstDash val="solid"/>
                      <a:round/>
                      <a:headEnd type="none" w="med" len="med"/>
                      <a:tailEnd type="none" w="med" len="med"/>
                    </a:lnT>
                    <a:lnB w="9525" cap="flat" cmpd="sng" algn="ctr">
                      <a:solidFill>
                        <a:srgbClr val="D7E1ED"/>
                      </a:solidFill>
                      <a:prstDash val="solid"/>
                      <a:round/>
                      <a:headEnd type="none" w="med" len="med"/>
                      <a:tailEnd type="none" w="med" len="med"/>
                    </a:lnB>
                  </a:tcPr>
                </a:tc>
              </a:tr>
            </a:tbl>
          </a:graphicData>
        </a:graphic>
      </p:graphicFrame>
      <p:sp>
        <p:nvSpPr>
          <p:cNvPr id="4" name="Text 1"/>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All candidates are prospective. Compare identical parcels; no carrier terms are signed.</a:t>
            </a:r>
            <a:endParaRPr lang="en-US" sz="1000" dirty="0"/>
          </a:p>
        </p:txBody>
      </p:sp>
      <p:sp>
        <p:nvSpPr>
          <p:cNvPr id="5" name="Text 2"/>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algn="l" indent="0" marL="0">
              <a:lnSpc>
                <a:spcPct val="100000"/>
              </a:lnSpc>
              <a:buNone/>
            </a:pPr>
            <a:r>
              <a:rPr lang="en-US" sz="3400" b="1" dirty="0">
                <a:solidFill>
                  <a:srgbClr val="15243A"/>
                </a:solidFill>
                <a:latin typeface="Arial" pitchFamily="34" charset="0"/>
                <a:ea typeface="Arial" pitchFamily="34" charset="-122"/>
                <a:cs typeface="Arial" pitchFamily="34" charset="-120"/>
              </a:rPr>
              <a:t>What is built and what comes next</a:t>
            </a:r>
            <a:endParaRPr lang="en-US" sz="3400" dirty="0"/>
          </a:p>
        </p:txBody>
      </p:sp>
      <p:sp>
        <p:nvSpPr>
          <p:cNvPr id="3" name="Shape 1"/>
          <p:cNvSpPr/>
          <p:nvPr/>
        </p:nvSpPr>
        <p:spPr>
          <a:xfrm>
            <a:off x="548640" y="1280160"/>
            <a:ext cx="5440680" cy="4572000"/>
          </a:xfrm>
          <a:prstGeom prst="roundRect">
            <a:avLst>
              <a:gd name="adj" fmla="val 2400"/>
            </a:avLst>
          </a:prstGeom>
          <a:solidFill>
            <a:srgbClr val="FFFFFF"/>
          </a:solidFill>
          <a:ln/>
        </p:spPr>
      </p:sp>
      <p:sp>
        <p:nvSpPr>
          <p:cNvPr id="4" name="Shape 2"/>
          <p:cNvSpPr/>
          <p:nvPr/>
        </p:nvSpPr>
        <p:spPr>
          <a:xfrm>
            <a:off x="777240" y="1481328"/>
            <a:ext cx="457200" cy="457200"/>
          </a:xfrm>
          <a:prstGeom prst="ellipse">
            <a:avLst/>
          </a:prstGeom>
          <a:solidFill>
            <a:srgbClr val="D6F4F0"/>
          </a:solidFill>
          <a:ln/>
        </p:spPr>
      </p:sp>
      <p:pic>
        <p:nvPicPr>
          <p:cNvPr id="5" name="Image 0" descr="preencoded.png">    </p:cNvPr>
          <p:cNvPicPr>
            <a:picLocks noChangeAspect="1"/>
          </p:cNvPicPr>
          <p:nvPr/>
        </p:nvPicPr>
        <p:blipFill>
          <a:blip r:embed="rId1"/>
          <a:stretch>
            <a:fillRect/>
          </a:stretch>
        </p:blipFill>
        <p:spPr>
          <a:xfrm>
            <a:off x="886968" y="1591056"/>
            <a:ext cx="237744" cy="237744"/>
          </a:xfrm>
          <a:prstGeom prst="rect">
            <a:avLst/>
          </a:prstGeom>
        </p:spPr>
      </p:pic>
      <p:sp>
        <p:nvSpPr>
          <p:cNvPr id="6" name="Text 3"/>
          <p:cNvSpPr txBox="1"/>
          <p:nvPr/>
        </p:nvSpPr>
        <p:spPr>
          <a:xfrm>
            <a:off x="1371600" y="1481328"/>
            <a:ext cx="4389120" cy="457200"/>
          </a:xfrm>
          <a:prstGeom prst="rect">
            <a:avLst/>
          </a:prstGeom>
          <a:noFill/>
          <a:ln/>
        </p:spPr>
        <p:txBody>
          <a:bodyPr wrap="square" lIns="0" tIns="0" rIns="0" bIns="0" rtlCol="0" anchor="ctr"/>
          <a:lstStyle/>
          <a:p>
            <a:pPr algn="l" indent="0" marL="0">
              <a:lnSpc>
                <a:spcPct val="100000"/>
              </a:lnSpc>
              <a:buNone/>
            </a:pPr>
            <a:r>
              <a:rPr lang="en-US" sz="1900" b="1" dirty="0">
                <a:solidFill>
                  <a:srgbClr val="15243A"/>
                </a:solidFill>
                <a:latin typeface="Arial" pitchFamily="34" charset="0"/>
                <a:ea typeface="Arial" pitchFamily="34" charset="-122"/>
                <a:cs typeface="Arial" pitchFamily="34" charset="-120"/>
              </a:rPr>
              <a:t>Working in development</a:t>
            </a:r>
            <a:endParaRPr lang="en-US" sz="1900" dirty="0"/>
          </a:p>
        </p:txBody>
      </p:sp>
      <p:sp>
        <p:nvSpPr>
          <p:cNvPr id="7" name="Text 4"/>
          <p:cNvSpPr txBox="1"/>
          <p:nvPr/>
        </p:nvSpPr>
        <p:spPr>
          <a:xfrm>
            <a:off x="822960" y="2148840"/>
            <a:ext cx="4937760" cy="3566160"/>
          </a:xfrm>
          <a:prstGeom prst="rect">
            <a:avLst/>
          </a:prstGeom>
          <a:noFill/>
          <a:ln/>
        </p:spPr>
        <p:txBody>
          <a:bodyPr wrap="square" lIns="0" tIns="0" rIns="0" bIns="0" rtlCol="0" anchor="t"/>
          <a:lstStyle/>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Merchant sign-up and one store per merchant</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Store catalog with shared price and stock</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Two storefront templates</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Shared marketplace with seller approval</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POS with cash sales and receipts</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Marketplace checkout with cash on delivery</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Admin console for sellers, products and reviews</a:t>
            </a:r>
            <a:endParaRPr lang="en-US" sz="1400" dirty="0"/>
          </a:p>
        </p:txBody>
      </p:sp>
      <p:sp>
        <p:nvSpPr>
          <p:cNvPr id="8" name="Shape 5"/>
          <p:cNvSpPr/>
          <p:nvPr/>
        </p:nvSpPr>
        <p:spPr>
          <a:xfrm>
            <a:off x="6199632" y="1280160"/>
            <a:ext cx="5440680" cy="4572000"/>
          </a:xfrm>
          <a:prstGeom prst="roundRect">
            <a:avLst>
              <a:gd name="adj" fmla="val 2400"/>
            </a:avLst>
          </a:prstGeom>
          <a:solidFill>
            <a:srgbClr val="FFFFFF"/>
          </a:solidFill>
          <a:ln/>
        </p:spPr>
      </p:sp>
      <p:sp>
        <p:nvSpPr>
          <p:cNvPr id="9" name="Shape 6"/>
          <p:cNvSpPr/>
          <p:nvPr/>
        </p:nvSpPr>
        <p:spPr>
          <a:xfrm>
            <a:off x="6428232" y="1481328"/>
            <a:ext cx="457200" cy="457200"/>
          </a:xfrm>
          <a:prstGeom prst="ellipse">
            <a:avLst/>
          </a:prstGeom>
          <a:solidFill>
            <a:srgbClr val="DCEBFF"/>
          </a:solidFill>
          <a:ln/>
        </p:spPr>
      </p:sp>
      <p:pic>
        <p:nvPicPr>
          <p:cNvPr id="10" name="Image 1" descr="preencoded.png">    </p:cNvPr>
          <p:cNvPicPr>
            <a:picLocks noChangeAspect="1"/>
          </p:cNvPicPr>
          <p:nvPr/>
        </p:nvPicPr>
        <p:blipFill>
          <a:blip r:embed="rId2"/>
          <a:stretch>
            <a:fillRect/>
          </a:stretch>
        </p:blipFill>
        <p:spPr>
          <a:xfrm>
            <a:off x="6537960" y="1591056"/>
            <a:ext cx="237744" cy="237744"/>
          </a:xfrm>
          <a:prstGeom prst="rect">
            <a:avLst/>
          </a:prstGeom>
        </p:spPr>
      </p:pic>
      <p:sp>
        <p:nvSpPr>
          <p:cNvPr id="11" name="Text 7"/>
          <p:cNvSpPr txBox="1"/>
          <p:nvPr/>
        </p:nvSpPr>
        <p:spPr>
          <a:xfrm>
            <a:off x="7022592" y="1481328"/>
            <a:ext cx="4389120" cy="457200"/>
          </a:xfrm>
          <a:prstGeom prst="rect">
            <a:avLst/>
          </a:prstGeom>
          <a:noFill/>
          <a:ln/>
        </p:spPr>
        <p:txBody>
          <a:bodyPr wrap="square" lIns="0" tIns="0" rIns="0" bIns="0" rtlCol="0" anchor="ctr"/>
          <a:lstStyle/>
          <a:p>
            <a:pPr algn="l" indent="0" marL="0">
              <a:lnSpc>
                <a:spcPct val="100000"/>
              </a:lnSpc>
              <a:buNone/>
            </a:pPr>
            <a:r>
              <a:rPr lang="en-US" sz="1900" b="1" dirty="0">
                <a:solidFill>
                  <a:srgbClr val="15243A"/>
                </a:solidFill>
                <a:latin typeface="Arial" pitchFamily="34" charset="0"/>
                <a:ea typeface="Arial" pitchFamily="34" charset="-122"/>
                <a:cs typeface="Arial" pitchFamily="34" charset="-120"/>
              </a:rPr>
              <a:t>Next</a:t>
            </a:r>
            <a:endParaRPr lang="en-US" sz="1900" dirty="0"/>
          </a:p>
        </p:txBody>
      </p:sp>
      <p:sp>
        <p:nvSpPr>
          <p:cNvPr id="12" name="Text 8"/>
          <p:cNvSpPr txBox="1"/>
          <p:nvPr/>
        </p:nvSpPr>
        <p:spPr>
          <a:xfrm>
            <a:off x="6473952" y="2148840"/>
            <a:ext cx="4937760" cy="3566160"/>
          </a:xfrm>
          <a:prstGeom prst="rect">
            <a:avLst/>
          </a:prstGeom>
          <a:noFill/>
          <a:ln/>
        </p:spPr>
        <p:txBody>
          <a:bodyPr wrap="square" lIns="0" tIns="0" rIns="0" bIns="0" rtlCol="0" anchor="t"/>
          <a:lstStyle/>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10-merchant pilot and real usage data</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Production hosting, backups and rollback drills</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Merchant custom domains</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KHQR and online payments</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Marketplace commission and seller payouts</a:t>
            </a:r>
            <a:endParaRPr lang="en-US" sz="1400" dirty="0"/>
          </a:p>
          <a:p>
            <a:pPr algn="l" marL="177800" indent="-177800">
              <a:lnSpc>
                <a:spcPct val="100000"/>
              </a:lnSpc>
              <a:spcAft>
                <a:spcPts val="700"/>
              </a:spcAft>
              <a:buSzPct val="100000"/>
              <a:buChar char="•"/>
            </a:pPr>
            <a:r>
              <a:rPr lang="en-US" sz="1400" dirty="0">
                <a:solidFill>
                  <a:srgbClr val="15243A"/>
                </a:solidFill>
                <a:latin typeface="Arial" pitchFamily="34" charset="0"/>
                <a:ea typeface="Arial" pitchFamily="34" charset="-122"/>
                <a:cs typeface="Arial" pitchFamily="34" charset="-120"/>
              </a:rPr>
              <a:t>Restricted-product and returns policies</a:t>
            </a:r>
            <a:endParaRPr lang="en-US" sz="1400" dirty="0"/>
          </a:p>
        </p:txBody>
      </p:sp>
      <p:sp>
        <p:nvSpPr>
          <p:cNvPr id="13" name="Text 9"/>
          <p:cNvSpPr txBox="1"/>
          <p:nvPr/>
        </p:nvSpPr>
        <p:spPr>
          <a:xfrm>
            <a:off x="548640" y="6355080"/>
            <a:ext cx="10424160" cy="274320"/>
          </a:xfrm>
          <a:prstGeom prst="rect">
            <a:avLst/>
          </a:prstGeom>
          <a:noFill/>
          <a:ln/>
        </p:spPr>
        <p:txBody>
          <a:bodyPr wrap="square" lIns="0" tIns="0" rIns="0" bIns="0" rtlCol="0" anchor="t"/>
          <a:lstStyle/>
          <a:p>
            <a:pPr algn="l" indent="0" marL="0">
              <a:lnSpc>
                <a:spcPct val="100000"/>
              </a:lnSpc>
              <a:buNone/>
            </a:pPr>
            <a:r>
              <a:rPr lang="en-US" sz="1000" dirty="0">
                <a:solidFill>
                  <a:srgbClr val="52637A"/>
                </a:solidFill>
                <a:latin typeface="Arial" pitchFamily="34" charset="0"/>
                <a:ea typeface="Arial" pitchFamily="34" charset="-122"/>
                <a:cs typeface="Arial" pitchFamily="34" charset="-120"/>
              </a:rPr>
              <a:t>Status as of 25 Sep 2026 from the Rentify repository. Demo data is seeded; there are no customer orders yet.</a:t>
            </a:r>
            <a:endParaRPr lang="en-US" sz="1000" dirty="0"/>
          </a:p>
        </p:txBody>
      </p:sp>
      <p:sp>
        <p:nvSpPr>
          <p:cNvPr id="14" name="Text 10"/>
          <p:cNvSpPr txBox="1"/>
          <p:nvPr/>
        </p:nvSpPr>
        <p:spPr>
          <a:xfrm>
            <a:off x="11201400" y="6355080"/>
            <a:ext cx="457200" cy="274320"/>
          </a:xfrm>
          <a:prstGeom prst="rect">
            <a:avLst/>
          </a:prstGeom>
          <a:noFill/>
          <a:ln/>
        </p:spPr>
        <p:txBody>
          <a:bodyPr wrap="square" lIns="0" tIns="0" rIns="0" bIns="0" rtlCol="0" anchor="t"/>
          <a:lstStyle/>
          <a:p>
            <a:pPr algn="r" indent="0" marL="0">
              <a:lnSpc>
                <a:spcPct val="100000"/>
              </a:lnSpc>
              <a:buNone/>
            </a:pPr>
            <a:r>
              <a:rPr lang="en-US" sz="1000" dirty="0">
                <a:solidFill>
                  <a:srgbClr val="52637A"/>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Rentify — UniPreneur pitch v6</dc:title>
  <dc:subject>PptxGenJS Presentation</dc:subject>
  <dc:creator>Rentify team</dc:creator>
  <cp:lastModifiedBy>Rentify team</cp:lastModifiedBy>
  <cp:revision>1</cp:revision>
  <dcterms:created xsi:type="dcterms:W3CDTF">2026-09-25T09:11:18Z</dcterms:created>
  <dcterms:modified xsi:type="dcterms:W3CDTF">2026-09-25T09:11:18Z</dcterms:modified>
</cp:coreProperties>
</file>